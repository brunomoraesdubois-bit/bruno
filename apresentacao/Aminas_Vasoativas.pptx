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 e objetivos" id="{a3c5d22d-e7f6-1932-325f-c61f7c6ef0de}">
          <p14:sldIdLst>
            <p14:sldId id="256"/>
            <p14:sldId id="257"/>
          </p14:sldIdLst>
        </p14:section>
        <p14:section name="Fisiologia da PAM e farmacologia dos receptores" id="{eccc9049-368a-4a0e-6968-46ba19b3ac2c}">
          <p14:sldIdLst>
            <p14:sldId id="258"/>
            <p14:sldId id="259"/>
            <p14:sldId id="260"/>
          </p14:sldIdLst>
        </p14:section>
        <p14:section name="Drogas: noradrenalina, adrenalina, dopamina, dobutamina, milrinona, fenilefrina, efedrina e vasopressina" id="{11e06aae-53e3-bd69-64d3-b8a1a24c4113}">
          <p14:sldIdLst>
            <p14:sldId id="261"/>
            <p14:sldId id="262"/>
            <p14:sldId id="263"/>
            <p14:sldId id="264"/>
            <p14:sldId id="265"/>
            <p14:sldId id="266"/>
          </p14:sldIdLst>
        </p14:section>
        <p14:section name="Choque séptico: a sequência da SSC 2026" id="{e0f59eb2-5836-f45b-c9f4-2176bb69aab1}">
          <p14:sldIdLst>
            <p14:sldId id="267"/>
          </p14:sldIdLst>
        </p14:section>
        <p14:section name="Perioperatório: escolha da droga e custo da hipotensão" id="{1d0231b9-9a25-96d4-a5d7-d72afda4961b}">
          <p14:sldIdLst>
            <p14:sldId id="268"/>
            <p14:sldId id="269"/>
          </p14:sldIdLst>
        </p14:section>
        <p14:section name="Mensagens finais" id="{9023ed7b-cd5e-db1c-5143-e0a3c8cce3f0}">
          <p14:sldIdLst>
            <p14:sldId id="270"/>
          </p14:sldIdLst>
        </p14:section>
        <p14:section name="Slides de reserva para perguntas" id="{b3c44fac-0153-9481-fdb5-49eaf16ac6cf}">
          <p14:sldIdLst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Duração-alvo: cerca de 13 minutos e meio, em 15 slides, deixando folga nos 15 minutos; ensaiar para 13 a 14 minutos. Tempos: capa (20 s), objetivos (30 s), fisiologia (1 min), receptores (1 min), classificação (45 s), noradrenalina (1 min 15 s), adrenalina (1 min), dopamina e dobutamina (1 min 15 s), milrinona (1 min), fenilefrina e efedrina (1 min), vasopressina e adjuvantes (1 min), SSC 2026 (1 min), intraoperatório (1 min 15 s), hipotensão intraoperatória (45 s), mensagens finais (30 s), total de 13 min 35 s. O foco é a droga e o mecanismo de ação; cada estudo aparece em uma frase, com os números nas notas. Depois das mensagens finais ficam os slides de reserva, para perguntas. Fontes principais: Surviving Sepsis Campaign 2026, ESICM 2025 e ensaios clínicos-chave. Farmacologia básica a conferir no Miller’s Anesthesia 10ª ed. (inserir capítulo e página nos rodapés marcados).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Trinta segundos. Apresentar os objetivos e a pergunta que guia toda a sessão: qual componente da PAM está falhando? Tônus vascular baixo pede vasopressor, bomba fraca pede inotrópico e pré-carga baixa pede volume. Depois vêm os receptores, que explicam o efeito de cada droga, as drogas uma a uma e, no fim, a aplicação no choque séptico e no centro cirúrgico.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 minuto. Abrir com a pergunta clínica: qual componente da PAM está falhando? Vasoplegia pede vasopressor, falência de bomba pede inotrópico, hipovolemia pede volume. A relação completa é PAM − PVC = DC × RVS; a PVC costuma ser pequena, mas pesa quando está alta. O DC depende de FC × volume sistólico: agonistas β1 elevam os dois, à custa de consumo de O₂ miocárdico e arritmia. Ponto menos lembrado: a noradrenalina aumenta a pressão média de enchimento sistêmico e o retorno venoso no choque séptico (Persichini, Crit Care Med 2012), por isso o DC pode subir mesmo com aumento da pós-carga. Como saber qual componente falha (ESICM 2025): ecocardiograma como primeira imagem para o tipo de choque, responsividade a volume por parâmetros dinâmicos antes de dar mais fluido, e perfusão seriada pelo tempo de enchimento capilar, com temperatura e livedo da pele.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 minuto. V1 entra na tabela porque a vasopressina é a principal alternativa não adrenérgica. α2 aparece para lembrar que agonistas α2 (clonidina, dexmedetomidina) são simpatolíticos, não vasopressores de uso clínico. A dessensibilização ajuda a explicar a taquifilaxia e a lógica de associar um vasopressor de outra via. PDE3 não é receptor: é a enzima que degrada o AMPc, logo depois do receptor β; entra na tabela porque é onde a milrinona age, e por isso ela funciona mesmo com betabloqueador.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Quarenta e cinco segundos. A via de síntese explica duas coisas práticas: a dopamina age em parte por conversão e liberação de noradrenalina, e a adrenalina depende de cortisol para ser sintetizada na medula adrenal. A distinção direta versus indireta explica a taquifilaxia da efedrina, que depende dos estoques de noradrenalina.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 minuto e quinze. Agonista α1 potente com β1 modesto: sobe a PAM pela RVS e pela venoconstrição, com DC preservado ou maior e FC estável ou menor por reflexo. SOAP II (n = 1.679): mortalidade em 28 dias 48,5% vs. 52,5% com dopamina (NS), arritmias 12,4% vs. 24,1%. SSC 2026: recomendação forte da noradrenalina sobre dopamina (certeza alta) e sobre adrenalina (certeza baixa). Prescrição no Brasil: ampolas de hemitartarato 2 mg/mL equivalem a 1 mg/mL de base; registrar se a dose está em base ou em sal. Início precoce (CENSER) e via periférica estão no slide de reserva sobre timing e via. Extravasamento: o antídoto clássico é a fentolamina infiltrada localmente.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 minuto. Efeito dose-dependente: em dose baixa, β1 e β2 dominam (DC alto, RVS pode cair); em dose alta, α1 prevalece. SSC 2026: adicionar adrenalina quando a PAM segue inadequada com NA + vasopressina (condicional, certeza muito baixa); na disfunção cardíaca, NA ou adrenalina como primeira linha, com adrenalina preferível na bradiarritmia. No estudo CAT, 12,9% dos pacientes em adrenalina foram retirados por efeitos metabólicos transitórios. Anafilaxia (ANZCA 2022): as doses EV valem para o ambiente anestésico monitorizado, com diluição e titulação; iniciar infusão após três bolus; IM 0,5 mg se não houver acesso venoso, a via padrão fora desse ambiente. Estudos, se perguntarem: CATS (Annane, Lancet 2007), no choque séptico, mortalidade semelhante a NA + dobutamina (40% vs. 34%, NS), com mais acidose; OptimaCC (Levy, J Am Coll Cardiol 2018; n = 57, choque cardiogênico pós-IAM), mais choque refratário que com NA (37% vs. 7%), mas foi pequeno, interrompido precocemente, e choque refratário não era desfecho pré-especificado.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 minuto e quinze. Dopamina: precursora da noradrenalina; a resposta a cada faixa de dose varia muito entre pacientes. A dose “renal” (ANZICS, n = 328) não mudou creatinina, diálise nem mortalidade. No SOAP II, mortalidade semelhante à da NA, com o dobro de arritmias; a SSC 2026 recomenda contra como primeira linha. Uso residual: bradicardia sintomática sem alternativa. Dobutamina: mistura racêmica; o isômero (+) é agonista β1 e β2 e antagonista α1, o isômero (−) é agonista α1, e o efeito líquido é inotropismo com queda discreta da RVS. Por isso, no paciente vasoplégico, entra junto com o vasopressor. SSC 2026: com disfunção cardíaca e hipoperfusão persistente, associar à NA ou usar adrenalina. A comparação com a milrinona está no próximo slide. As barras são uma escala qualitativa do efeito clínico, não afinidade medida.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 minuto. Inibidor da fosfodiesterase 3: impede a degradação do AMPc, a mesma via ativada pelo receptor β1, por isso funciona mesmo com betabloqueador ou com receptores β dessensibilizados. Inodilatador: aumenta a contratilidade e o relaxamento diastólico e reduz as resistências sistêmica e pulmonar, o que ajuda o VD com hipertensão pulmonar e o desmame da CEC. Por causar vasodilatação, muitas vezes precisa de noradrenalina junto. Eliminação renal e meia-vida bem mais longa que a da dobutamina: menos titulável e acumula na insuficiência renal; a dose máxima diária do rótulo é 1,13 mg/kg. Evidência em uma frase cada: OPTIME-CHF (JAMA 2002), na IC descompensada sem indicação clara de inotrópico, não trouxe benefício e causou mais hipotensão sustentada (10,7% vs. 3,2%) e arritmias atriais (4,6% vs. 1,5%); DOREMI (N Engl J Med 2021), no choque cardiogênico, não mostrou diferença estatisticamente significativa no desfecho composto em relação à dobutamina. A SSC 2026 não encontrou dados suficientes para comparar dobutamina e milrinona no choque séptico.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 minuto. Fenilefrina: agonista α1 puro, sem ação β; a PAM sobe pela RVS e a FC cai por reflexo. Isso ajuda quando a taquicardia atrapalha, mas pode reduzir o DC quando ele depende da FC. Na estenose aórtica, os objetivos são manter a pós-carga e evitar taquicardia; a droga é escolhida conforme a FC e a função ventricular, não por regra fixa. Cesárea: o consenso internacional de 2018 recomenda vasopressor α-agonista em infusão profilática, titulado para manter a PAS perto do basal; metanálises recentes mostram menos bradicardia materna com noradrenalina e pH umbilical semelhante. Efedrina: a ação indireta explica a taquifilaxia e a resposta menor com estoques depletados; atravessa a placenta e se associa a mais acidose fetal. As barras são uma escala qualitativa do efeito clínico, não afinidade medida.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 minuto. Vasopressina: hormônio não adrenérgico (receptor V1 do músculo liso vascular), com deficiência relativa no choque séptico; por agir fora da via adrenérgica, poupa catecolamina e mantém efeito em acidose. Dose fixa, sem titulação; ao desmamar, reduzir a NA primeiro. Indicações: choque séptico com NA em escalada (SSC 2026: condicional, certeza moderada; na enquete dos painelistas, mediana de NA de 0,3 mcg/kg/min para associá-la), vasoplegia após CEC (VANCS, estudo brasileiro do InCor: menos morte ou complicação grave que a NA, 32% vs. 49%) e hipotensão refratária às catecolaminas em quem usa IECA ou BRA. Riscos: isquemia digital e mesentérica, hiponatremia. Choque refratário: antes de somar drogas, corrigir causas tratáveis (volume, foco, acidose, cálcio, disfunção ventricular). Hidrocortisona: esquema usual de 200 mg/dia (50 mg 6/6 h ou infusão). Angiotensina II: no ATHOS-3, elevou a PAM em 3 h em 69,9% vs. 23,4%, sem diferença de mortalidade; checar disponibilidade. Azul de metileno: inibe a óxido nítrico sintase e a guanilato ciclase; usado como resgate na vasoplegia pós-CEC e na reperfusão do enxerto hepático, com evidência limitada; causa interferência na oximetria; evitar com inibidores de recaptação de serotonina (síndrome serotoninérgica) e na deficiência de G6PD.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 minuto. A SSC 2026 organiza as drogas em sequência: NA primeiro (forte sobre dopamina; a preferência sobre vasopressina e angiotensina II virou sugestão), iniciada cedo e, se preciso, por veia periférica até o acesso central; vasopressina quando a NA está em escalada (condicional, certeza moderada; sem limiar numérico, e na enquete dos painelistas a mediana de NA para associá-la foi 0,3 mcg/kg/min); adrenalina se a PAM continuar inadequada (condicional, certeza muito baixa). Alvo: 65 mmHg para começar (forte, certeza moderada), 60–65 a partir dos 65 anos (condicional, baixa); no OPTPRESS, alvo de 80–85 em idosos aumentou a mortalidade. VASSPR (JAMA 2026, n = 3.959): comparou políticas de início da vasopressina por hospital, com NA de 0,1 vs. 0,4 mcg/kg/min; a vasopressina foi de fato usada em 52,4% vs. 32,9%, e a mortalidade foi 31,8% vs. 33,0%. Mostra que antecipar como regra não traz ganho, mas não prova que o momento seja irrelevante para todos. Disfunção cardíaca: dobutamina associada à NA ou adrenalina isolada; sugestão contra levosimendan e terlipressina.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 minuto e quinze. Antes da droga, excluir causas tratáveis: plano anestésico profundo, hipovolemia, compressão de cava, pneumotórax, anafilaxia. Se a hipotensão persistir, avaliar a resposta a volume com parâmetros dinâmicos e fazer eco (ESICM 2025). Tônus baixo com FC preservada pede α1; bradicardia associada pede ação β1; baixo débito pede inotrópico, e a milrinona tem a vantagem de reduzir a resistência pulmonar (VD, hipertensão pulmonar, saída de CEC). Vasoplegia que não responde às catecolaminas (pós-CEC, uso crônico de IECA ou BRA, reperfusão do enxerto hepático) responde melhor à vasopressina; o azul de metileno fica como resgate. VANCS (InCor): na vasoplegia pós-CEC, vasopressina teve menos morte ou complicação grave que a NA (32% vs. 49%). Cesárea: metanálises recentes mostram menos bradicardia materna com noradrenalina e pH umbilical semelhante ao da fenilefrina. Anafilaxia: adrenalina, como no slide da adrenalina.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Quarenta e cinco segundos. Mensagem do editorial “The hidden cost of hypotension” (Braz J Anesthesiol 2025; entre os autores, Rodrigo Diaz, da UFRJ): mesmo episódios curtos de hipotensão intraoperatória se associam a lesão renal aguda, lesão miocárdica, delirium, AVC, reinternação e mortalidade, e o dano depende da profundidade e da duração (Salmasi: mais de 13 minutos acumulados com PAM abaixo de 65 aumentaram lesão miocárdica e renal). Em vez de corrigir só com bolus reativos, o editorial defende monitorização contínua e manejo proativo, com metas individualizadas; índice de previsão de hipotensão e sistemas em alça fechada reduzem a exposição à hipotensão, ainda sem benefício claro em desfechos. POQI 2024: PAM ≥60 mmHg em pacientes de risco é o limite mínimo, não garantia de perfusão; com pressão venosa ou de compartimento alta, o alvo é maior. HISTAP (n = 630): PAM ≥80 vs. ≥65 em hipertensos de alto risco reduziu morte ou disfunção orgânica (38,1% vs. 48,9%), sobretudo lesão renal aguda leve a moderada; a PAM alcançada foi 88 vs. 77 mmHg. IMPROVE-multi (n = 1.134): alvo individual pela PAM noturna não foi melhor que PAM ≥65. Detalhes no slide de reserva.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Trinta segundos. Fechar voltando à pergunta do início: qual componente da PAM está falhando? A droga certa é a que corrige esse componente, na menor dose eficaz e pelo menor tempo. A pergunta final abre a discussão com o grupo sobre a prática do serviço. Depois deste slide ficam os slides de reserva, para perguntas.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apresentação principal termina no slide de mensagens finais. Daqui em diante, apenas material de apoio: síntese das drogas, slides individuais de cada droga, vasopressina e choque refratário em detalhe, sequência da SSC 2026, alvo de PAM, timing e via periférica, alvo intraoperatório, roteiro e referências.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de consolidação: ler por coluna. Quem tem α1 alto sobe RVS (noradrenalina, fenilefrina); quem tem β1 alto sobe DC e FC (adrenalina, dobutamina, isoproterenol); β2 explica vasodilatação e lactato. A afinidade da dopamina varia com a dose. As faixas de dose são as usuais em adultos e devem ser tituladas pela resposta. Milrinona tem zero nas colunas de receptor porque não age em receptor: inibe a PDE3 e aumenta o AMPc. Isoproterenol aparece só aqui: uso restrito a bradicardia refratária e ponte para marca-passo.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barras mostram o perfil em toda a faixa de dose; na prática, a resposta a cada faixa é imprevisível. ANZICS (n = 328): dopamina 2 mcg/kg/min versus placebo sem diferença em pico de creatinina, necessidade de diálise ou mortalidade. SOAP II: no subgrupo de choque cardiogênico, mortalidade maior com dopamina (p = 0,03). Uso residual: bradicardia sintomática, quando não houver alternativa.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Isômero (+): agonista β1 e β2 e antagonista α1; isômero (−): agonista α1. O resultado clínico é inotropismo com queda discreta da RVS. Por isso, no paciente vasoplégico, a dobutamina entra junto com o vasopressor, nunca no lugar dele. DOREMI (n = 192): mortalidade hospitalar 43% vs. 37% com milrinona, sem diferença significativa. A SSC 2026 não encontrou dados suficientes para comparar dobutamina e milrinona e sugere contra levosimendan.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Agonista α1 direto, sem ação β: a PAM sobe pela RVS e a FC cai por reflexo. Isso é vantagem quando a taquicardia é o problema (estenose aórtica, cardiomiopatia hipertrófica obstrutiva, FA com resposta rápida) e desvantagem quando o DC depende da FC. Consenso internacional obstétrico (Kinsella 2018): fenilefrina como agente de escolha, em infusão profilática; noradrenalina é alternativa crescente, com melhor preservação do DC materno e desfechos neonatais comparáveis.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ação indireta explica as limitações: menor resposta quando os estoques de noradrenalina estão depletados (choque prolongado, uso crônico de simpatolíticos) e pouca eficácia no coração transplantado, que é desnervado. Na cesárea, a efedrina foi substituída pela fenilefrina como primeira escolha; continua útil como resgate quando há bradicardia.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é amina, mas é o principal parceiro da noradrenalina. VASST: no subgrupo de choque menos grave (NA 5–14 mcg/min), mortalidade 26,5% vs. 35,7%, achado apenas gerador de hipótese. VANISH (vasopressina precoce): sem diferença em dias livres de falência renal. VASSPR, publicado em 14/10/2026, é a novidade: comparou políticas de início por hospital (vasopressina de fato usada em 52,4% vs. 32,9%), sem ganho de mortalidade nem de dias livres de diálise, com sinal de mais choque cardiogênico no grupo precoce (7,4% vs. 6,3%). Equivalência usada em escores: vasopressina 0,03 U/min corresponde a cerca de 0,075 mcg/kg/min de NA (fator 2,5).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Mensagem: no choque que não responde à noradrenalina, a estratégia é somar mecanismos diferentes, não subir indefinidamente a mesma droga. ATHOS-3 (n = 344): mortalidade em 28 dias 46% vs. 53,8% (NS). Azul de metileno: em pesquisa com os painelistas da SSC 2026, 69% nunca ou quase nunca o usam como resgate. Disponibilidade local de angiotensina II deve ser checada antes de citar como opção.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Mudanças em relação a 2021: a preferência da NA sobre vasopressina e angiotensina II virou sugestão (condicional); passou a haver sugestão explícita de iniciar vasopressor por via periférica em vez de esperar acesso central; terlipressina e levosimendan receberam sugestão contra; azul de metileno ficou sem recomendação por evidência insuficiente. A SSC não define limiar numérico para associar vasopressina.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65 trial (n = 2.463 na análise primária): menos exposição a vasopressor no grupo permissivo (duração média 46,0 vs. 55,9 h; dose total média de noradrenalina-equivalente 31,5 vs. 44,3 mg), sem sinal de dano; a OR ajustada favoreceu a hipotensão permissiva (0,82). OPTPRESS (29 hospitais japoneses) foi interrompido precocemente por dano: diferença absoluta de 10,7 pontos percentuais (IC 95% 2,6–18,9), com menos dias livres de terapia renal substitutiva no alvo alto. O protocolo associava vasopressina cedo, com NA ≥ 0,1 mcg/kg/min. A ESICM 2025 também sugere alvo menor no trauma com sangramento ativo sem TCE e PAM ≥80 mmHg no TCE grave.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CENSER (n = 310): dose fixa, não titulada, por 24 h; mortalidade em 28 dias 15,5% vs. 21,9% (NS). Na metanálise de Tran (Am J Emerg Med 2020), houve 122 complicações em 1.835 pacientes (7%), 96% delas leves; a prevalência combinada por efeitos aleatórios foi 8,6% (IC 95% 3,1–21%), e os estudos com protocolo de segurança tiveram menos complicações (2,9% vs. 12%). Na prática: veia calibrosa e proximal, inspeção frequente do sítio, plano para acesso central se a dose subir ou a infusão se prolongar; em extravasamento, fentolamina local. A equivalência de 2 mg/mL de hemitartarato a 1 mg/mL de base consta da bula do hemitartarato de norepinefrina. Dose em sal versus base: Ibarra-Estrada, Kattan e Jung (Intensive Care Med 2024) defendem padronizar logo o relato da dose; a mesma infusão expressa em sal dá o dobro do número em base (0,1 mcg/kg/min de sal ≈ 0,05 de base).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POISE-3: o braço de evitar hipotensão suspendia anti-hipertensivos e mirava PAM ≥80, sem redução de eventos vasculares. IMPROVE-multi: alvo individualizado não foi melhor que PAM ≥65. HISTAP (n = 630, 18 centros italianos): em idosos hipertensos de alto risco, com monitorização contínua e fluidoterapia protocolada, PAM ≥80 reduziu o desfecho composto, sobretudo por menos lesão renal aguda leve a moderada (23,5% vs. 33,7%). Atenção: a PAM média alcançada foi 77 mmHg no controle e 88 mmHg no grupo de alvo alto, ou seja, o controle não ficou em 65; o alvo alto exigiu mais noradrenalina, efedrina e transfusão. Leitura prática: evitar PAM abaixo de 60–65 é consenso (POQI 2024: PAM ≥60 em pacientes de risco, como limite mínimo e não garantia de perfusão; alvo maior com pressão venosa ou de compartimento alta); subir o alvo é decisão individual em paciente selecionado.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Roteiro da apresentação, mantido como reserva (na versão de 15 minutos, o slide de objetivos faz esse papel). Estrutura: do raciocínio fisiológico para a farmacologia, depois cada droga, e por fim a aplicação no choque séptico e no centro cirúrgico. O bloco 03 é o núcleo da apresentação (cerca de 1 minuto por droga).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Completar a entrada do Miller com os capítulos de farmacologia do sistema nervoso autônomo e de farmacologia cardiovascular, e preencher os rodapés marcados com [cap./pág.]. SSC 2026: Crit Care Med 2026;54(4):725–812. VASSPR: JAMA, publicado online em 14/10/2026. HISTAP: Intensive Care Med 2026;52(8):1619–1634. IMPROVE-multi: JAMA 2025;334(21):1893–1904. POISE-3 (braço de pressão): Ann Intern Med 2023;176:605–614. POQI: Br J Anaesth 2024;133(2):264–276. Lineburger et al., “The hidden cost of hypotension” (editorial; entre os autores, Rodrigo Diaz): Braz J Anesthesiol 2025;75(1):844581. OPTIME-CHF: JAMA 2002;287(12):1541–1547. VANCS: Anesthesiology 2017;126(1):85–93.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4245839"/>
            <a:ext cx="9042400" cy="1493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6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5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údo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sor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1307930"/>
            <a:ext cx="10718800" cy="497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dirty="0">
                <a:solidFill>
                  <a:srgbClr val="E49A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SSÃO CLÍNICA · ANESTESIOLOGIA"/>
          <p:cNvSpPr txBox="1"/>
          <p:nvPr/>
        </p:nvSpPr>
        <p:spPr>
          <a:xfrm>
            <a:off x="812800" y="3705750"/>
            <a:ext cx="105854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spc="150" kern="0" dirty="0">
                <a:solidFill>
                  <a:srgbClr val="E49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SESSÃO CLÍNICA · ANESTESIOLOGIA</a:t>
            </a:r>
            <a:endParaRPr lang="en-US" sz="14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4245839"/>
            <a:ext cx="9042400" cy="1493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880"/>
              </a:lnSpc>
              <a:buNone/>
            </a:pPr>
            <a:r>
              <a:rPr lang="pt-BR" altLang="en-US" sz="56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Aminas vasoativas</a:t>
            </a:r>
            <a:endParaRPr lang="en-US" sz="5600" dirty="0"/>
          </a:p>
        </p:txBody>
      </p:sp>
      <p:sp>
        <p:nvSpPr>
          <p:cNvPr id="4" name="Fisiologia, farmacologia e escolha da dr"/>
          <p:cNvSpPr txBox="1"/>
          <p:nvPr/>
        </p:nvSpPr>
        <p:spPr>
          <a:xfrm>
            <a:off x="812800" y="5205577"/>
            <a:ext cx="8909050" cy="319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pt-BR" altLang="en-US" sz="1800" dirty="0">
                <a:solidFill>
                  <a:srgbClr val="C9C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Fisiologia, farmacologia e escolha da droga no choque e no perioperatório</a:t>
            </a:r>
            <a:endParaRPr lang="en-US" sz="1800" dirty="0"/>
          </a:p>
        </p:txBody>
      </p:sp>
      <p:sp>
        <p:nvSpPr>
          <p:cNvPr id="5" name="Bruno Dubois · Orientadores: Marcelo Ban"/>
          <p:cNvSpPr txBox="1"/>
          <p:nvPr/>
        </p:nvSpPr>
        <p:spPr>
          <a:xfrm>
            <a:off x="812800" y="5783291"/>
            <a:ext cx="105854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C9C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Bruno Dubois · Orientadores: Marcelo Bandeira e Glauber Gouvea · UFRJ</a:t>
            </a:r>
            <a:endParaRPr lang="en-US" sz="1400" dirty="0"/>
          </a:p>
        </p:txBody>
      </p:sp>
      <p:pic>
        <p:nvPicPr>
          <p:cNvPr id="6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TIVOS"/>
          <p:cNvSpPr txBox="1"/>
          <p:nvPr/>
        </p:nvSpPr>
        <p:spPr>
          <a:xfrm>
            <a:off x="812800" y="801599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Escolher a droga pelo mecanismo da hipotensão</a:t>
            </a:r>
            <a:endParaRPr lang="en-US" sz="3200" dirty="0"/>
          </a:p>
        </p:txBody>
      </p:sp>
      <p:sp>
        <p:nvSpPr>
          <p:cNvPr id="4" name="01"/>
          <p:cNvSpPr txBox="1"/>
          <p:nvPr/>
        </p:nvSpPr>
        <p:spPr>
          <a:xfrm>
            <a:off x="812800" y="1857860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400" dirty="0"/>
          </a:p>
        </p:txBody>
      </p:sp>
      <p:sp>
        <p:nvSpPr>
          <p:cNvPr id="5" name="Identificar qual componente da PAM está "/>
          <p:cNvSpPr txBox="1"/>
          <p:nvPr/>
        </p:nvSpPr>
        <p:spPr>
          <a:xfrm>
            <a:off x="1371600" y="1959009"/>
            <a:ext cx="8432205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Identificar qual componente da PAM está falhando: tônus vascular, bomba ou pré-carga</a:t>
            </a:r>
            <a:endParaRPr lang="en-US" sz="1700" dirty="0"/>
          </a:p>
        </p:txBody>
      </p:sp>
      <p:sp>
        <p:nvSpPr>
          <p:cNvPr id="6" name="02"/>
          <p:cNvSpPr txBox="1"/>
          <p:nvPr/>
        </p:nvSpPr>
        <p:spPr>
          <a:xfrm>
            <a:off x="812800" y="2462301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400" dirty="0"/>
          </a:p>
        </p:txBody>
      </p:sp>
      <p:sp>
        <p:nvSpPr>
          <p:cNvPr id="7" name="Relacionar o perfil de receptores de cad"/>
          <p:cNvSpPr txBox="1"/>
          <p:nvPr/>
        </p:nvSpPr>
        <p:spPr>
          <a:xfrm>
            <a:off x="1371600" y="2563450"/>
            <a:ext cx="7340203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Relacionar o perfil de receptores de cada droga ao seu efeito hemodinâmico</a:t>
            </a:r>
            <a:endParaRPr lang="en-US" sz="1700" dirty="0"/>
          </a:p>
        </p:txBody>
      </p:sp>
      <p:sp>
        <p:nvSpPr>
          <p:cNvPr id="8" name="03"/>
          <p:cNvSpPr txBox="1"/>
          <p:nvPr/>
        </p:nvSpPr>
        <p:spPr>
          <a:xfrm>
            <a:off x="812800" y="3066741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400" dirty="0"/>
          </a:p>
        </p:txBody>
      </p:sp>
      <p:sp>
        <p:nvSpPr>
          <p:cNvPr id="9" name="Conhecer ação, dose, indicações e cuidad"/>
          <p:cNvSpPr txBox="1"/>
          <p:nvPr/>
        </p:nvSpPr>
        <p:spPr>
          <a:xfrm>
            <a:off x="1371600" y="3167890"/>
            <a:ext cx="7496076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Conhecer ação, dose, indicações e cuidados das principais drogas vasoativas</a:t>
            </a:r>
            <a:endParaRPr lang="en-US" sz="1700" dirty="0"/>
          </a:p>
        </p:txBody>
      </p:sp>
      <p:sp>
        <p:nvSpPr>
          <p:cNvPr id="10" name="04"/>
          <p:cNvSpPr txBox="1"/>
          <p:nvPr/>
        </p:nvSpPr>
        <p:spPr>
          <a:xfrm>
            <a:off x="812800" y="3671182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2400" dirty="0"/>
          </a:p>
        </p:txBody>
      </p:sp>
      <p:sp>
        <p:nvSpPr>
          <p:cNvPr id="11" name="Aplicar esse raciocínio no choque séptic"/>
          <p:cNvSpPr txBox="1"/>
          <p:nvPr/>
        </p:nvSpPr>
        <p:spPr>
          <a:xfrm>
            <a:off x="1371600" y="3772331"/>
            <a:ext cx="7040265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Aplicar esse raciocínio no choque séptico e na hipotensão intraoperatória</a:t>
            </a:r>
            <a:endParaRPr lang="en-US" sz="1700" dirty="0"/>
          </a:p>
        </p:txBody>
      </p:sp>
      <p:sp>
        <p:nvSpPr>
          <p:cNvPr id="12" name="Cartão"/>
          <p:cNvSpPr/>
          <p:nvPr/>
        </p:nvSpPr>
        <p:spPr>
          <a:xfrm>
            <a:off x="812800" y="4424263"/>
            <a:ext cx="10566400" cy="988020"/>
          </a:xfrm>
          <a:prstGeom prst="roundRect">
            <a:avLst>
              <a:gd name="adj" fmla="val 77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3" name="Pergunta-guia"/>
          <p:cNvSpPr txBox="1"/>
          <p:nvPr/>
        </p:nvSpPr>
        <p:spPr>
          <a:xfrm>
            <a:off x="1073150" y="4604959"/>
            <a:ext cx="2572345" cy="568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480"/>
              </a:lnSpc>
              <a:buNone/>
            </a:pPr>
            <a:r>
              <a:rPr lang="pt-BR" altLang="en-US" sz="3200" dirty="0">
                <a:solidFill>
                  <a:srgbClr val="B958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Pergunta-guia</a:t>
            </a:r>
            <a:endParaRPr lang="en-US" sz="3200" dirty="0"/>
          </a:p>
        </p:txBody>
      </p:sp>
      <p:sp>
        <p:nvSpPr>
          <p:cNvPr id="14" name="Qual componente da PAM está falhando? A "/>
          <p:cNvSpPr txBox="1"/>
          <p:nvPr/>
        </p:nvSpPr>
        <p:spPr>
          <a:xfrm>
            <a:off x="3829645" y="4770922"/>
            <a:ext cx="5822454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pt-BR" altLang="en-US" sz="1500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 componente da PAM está falhando? A resposta indica a droga.</a:t>
            </a:r>
            <a:endParaRPr lang="en-US" sz="1500" dirty="0"/>
          </a:p>
        </p:txBody>
      </p:sp>
      <p:pic>
        <p:nvPicPr>
          <p:cNvPr id="15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1 · FISIOLOGIA"/>
          <p:cNvSpPr txBox="1"/>
          <p:nvPr/>
        </p:nvSpPr>
        <p:spPr>
          <a:xfrm>
            <a:off x="812800" y="801599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· FISIOLOGIA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PAM ≈ DC × RVS: qual componente está falhando?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386634" cy="2155825"/>
          </a:xfrm>
          <a:prstGeom prst="roundRect">
            <a:avLst>
              <a:gd name="adj" fmla="val 353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5" name="Borda de destaque"/>
          <p:cNvSpPr/>
          <p:nvPr/>
        </p:nvSpPr>
        <p:spPr>
          <a:xfrm>
            <a:off x="823379" y="1879501"/>
            <a:ext cx="3365476" cy="38100"/>
          </a:xfrm>
          <a:custGeom>
            <a:avLst/>
            <a:gdLst/>
            <a:ahLst/>
            <a:cxnLst/>
            <a:rect l="l" t="t" r="r" b="b"/>
            <a:pathLst>
              <a:path w="3365476" h="38100">
                <a:moveTo>
                  <a:pt x="3299855" y="0"/>
                </a:moveTo>
                <a:lnTo>
                  <a:pt x="3314721" y="1464"/>
                </a:lnTo>
                <a:lnTo>
                  <a:pt x="3329015" y="5800"/>
                </a:lnTo>
                <a:lnTo>
                  <a:pt x="3342189" y="12842"/>
                </a:lnTo>
                <a:lnTo>
                  <a:pt x="3353736" y="22318"/>
                </a:lnTo>
                <a:lnTo>
                  <a:pt x="3363213" y="33866"/>
                </a:lnTo>
                <a:lnTo>
                  <a:pt x="3365476" y="38100"/>
                </a:lnTo>
                <a:lnTo>
                  <a:pt x="0" y="38100"/>
                </a:lnTo>
                <a:lnTo>
                  <a:pt x="2263" y="33866"/>
                </a:lnTo>
                <a:lnTo>
                  <a:pt x="11740" y="22318"/>
                </a:lnTo>
                <a:lnTo>
                  <a:pt x="23287" y="12842"/>
                </a:lnTo>
                <a:lnTo>
                  <a:pt x="36461" y="5800"/>
                </a:lnTo>
                <a:lnTo>
                  <a:pt x="50755" y="1464"/>
                </a:lnTo>
                <a:lnTo>
                  <a:pt x="65621" y="0"/>
                </a:lnTo>
                <a:close/>
              </a:path>
            </a:pathLst>
          </a:custGeom>
          <a:solidFill>
            <a:srgbClr val="B9581A"/>
          </a:solidFill>
          <a:ln/>
        </p:spPr>
      </p:sp>
      <p:sp>
        <p:nvSpPr>
          <p:cNvPr id="6" name="Vasoplegia"/>
          <p:cNvSpPr txBox="1"/>
          <p:nvPr/>
        </p:nvSpPr>
        <p:spPr>
          <a:xfrm>
            <a:off x="1073150" y="2168686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Vasoplegia</a:t>
            </a:r>
            <a:endParaRPr lang="en-US" sz="1700" dirty="0"/>
          </a:p>
        </p:txBody>
      </p:sp>
      <p:sp>
        <p:nvSpPr>
          <p:cNvPr id="7" name="RVS baixa com DC preservado ou alto: sep"/>
          <p:cNvSpPr txBox="1"/>
          <p:nvPr/>
        </p:nvSpPr>
        <p:spPr>
          <a:xfrm>
            <a:off x="1073150" y="2517088"/>
            <a:ext cx="2884984" cy="12427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RVS baixa com DC preservado ou alto: sepse, anestesia geral, neuroeixo, anafilaxia, pós-CEC. Alvo: tônus arterial, com vasopressor α1 ou V1.</a:t>
            </a:r>
            <a:endParaRPr lang="en-US" sz="1350" dirty="0"/>
          </a:p>
        </p:txBody>
      </p:sp>
      <p:sp>
        <p:nvSpPr>
          <p:cNvPr id="8" name="Cartão"/>
          <p:cNvSpPr/>
          <p:nvPr/>
        </p:nvSpPr>
        <p:spPr>
          <a:xfrm>
            <a:off x="4402634" y="1879501"/>
            <a:ext cx="3386634" cy="2155825"/>
          </a:xfrm>
          <a:prstGeom prst="roundRect">
            <a:avLst>
              <a:gd name="adj" fmla="val 353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9" name="Borda de destaque"/>
          <p:cNvSpPr/>
          <p:nvPr/>
        </p:nvSpPr>
        <p:spPr>
          <a:xfrm>
            <a:off x="4413212" y="1879501"/>
            <a:ext cx="3365476" cy="38100"/>
          </a:xfrm>
          <a:custGeom>
            <a:avLst/>
            <a:gdLst/>
            <a:ahLst/>
            <a:cxnLst/>
            <a:rect l="l" t="t" r="r" b="b"/>
            <a:pathLst>
              <a:path w="3365476" h="38100">
                <a:moveTo>
                  <a:pt x="3299855" y="0"/>
                </a:moveTo>
                <a:lnTo>
                  <a:pt x="3314721" y="1464"/>
                </a:lnTo>
                <a:lnTo>
                  <a:pt x="3329015" y="5800"/>
                </a:lnTo>
                <a:lnTo>
                  <a:pt x="3342189" y="12842"/>
                </a:lnTo>
                <a:lnTo>
                  <a:pt x="3353736" y="22318"/>
                </a:lnTo>
                <a:lnTo>
                  <a:pt x="3363213" y="33866"/>
                </a:lnTo>
                <a:lnTo>
                  <a:pt x="3365476" y="38100"/>
                </a:lnTo>
                <a:lnTo>
                  <a:pt x="0" y="38100"/>
                </a:lnTo>
                <a:lnTo>
                  <a:pt x="2263" y="33866"/>
                </a:lnTo>
                <a:lnTo>
                  <a:pt x="11740" y="22318"/>
                </a:lnTo>
                <a:lnTo>
                  <a:pt x="23287" y="12842"/>
                </a:lnTo>
                <a:lnTo>
                  <a:pt x="36461" y="5800"/>
                </a:lnTo>
                <a:lnTo>
                  <a:pt x="50755" y="1464"/>
                </a:lnTo>
                <a:lnTo>
                  <a:pt x="65621" y="0"/>
                </a:lnTo>
                <a:close/>
              </a:path>
            </a:pathLst>
          </a:custGeom>
          <a:solidFill>
            <a:srgbClr val="2E5E8C"/>
          </a:solidFill>
          <a:ln/>
        </p:spPr>
      </p:sp>
      <p:sp>
        <p:nvSpPr>
          <p:cNvPr id="10" name="Falência de bomba"/>
          <p:cNvSpPr txBox="1"/>
          <p:nvPr/>
        </p:nvSpPr>
        <p:spPr>
          <a:xfrm>
            <a:off x="4662984" y="2168686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Falência de bomba</a:t>
            </a:r>
            <a:endParaRPr lang="en-US" sz="1700" dirty="0"/>
          </a:p>
        </p:txBody>
      </p:sp>
      <p:sp>
        <p:nvSpPr>
          <p:cNvPr id="11" name="DC baixo com RVS alta: choque cardiogêni"/>
          <p:cNvSpPr txBox="1"/>
          <p:nvPr/>
        </p:nvSpPr>
        <p:spPr>
          <a:xfrm>
            <a:off x="4662984" y="2517088"/>
            <a:ext cx="2884984" cy="12427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DC baixo com RVS alta: choque cardiogênico, depressão miocárdica da sepse. Alvo: contratilidade, com inotrópico β1, associado a vasopressor se a PAM cair.</a:t>
            </a:r>
            <a:endParaRPr lang="en-US" sz="1350" dirty="0"/>
          </a:p>
        </p:txBody>
      </p:sp>
      <p:sp>
        <p:nvSpPr>
          <p:cNvPr id="12" name="Cartão"/>
          <p:cNvSpPr/>
          <p:nvPr/>
        </p:nvSpPr>
        <p:spPr>
          <a:xfrm>
            <a:off x="7992467" y="1879501"/>
            <a:ext cx="3386634" cy="2155825"/>
          </a:xfrm>
          <a:prstGeom prst="roundRect">
            <a:avLst>
              <a:gd name="adj" fmla="val 353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3" name="Borda de destaque"/>
          <p:cNvSpPr/>
          <p:nvPr/>
        </p:nvSpPr>
        <p:spPr>
          <a:xfrm>
            <a:off x="8003046" y="1879501"/>
            <a:ext cx="3365476" cy="38100"/>
          </a:xfrm>
          <a:custGeom>
            <a:avLst/>
            <a:gdLst/>
            <a:ahLst/>
            <a:cxnLst/>
            <a:rect l="l" t="t" r="r" b="b"/>
            <a:pathLst>
              <a:path w="3365476" h="38100">
                <a:moveTo>
                  <a:pt x="3299855" y="0"/>
                </a:moveTo>
                <a:lnTo>
                  <a:pt x="3314721" y="1464"/>
                </a:lnTo>
                <a:lnTo>
                  <a:pt x="3329015" y="5800"/>
                </a:lnTo>
                <a:lnTo>
                  <a:pt x="3342189" y="12842"/>
                </a:lnTo>
                <a:lnTo>
                  <a:pt x="3353736" y="22318"/>
                </a:lnTo>
                <a:lnTo>
                  <a:pt x="3363213" y="33866"/>
                </a:lnTo>
                <a:lnTo>
                  <a:pt x="3365476" y="38100"/>
                </a:lnTo>
                <a:lnTo>
                  <a:pt x="0" y="38100"/>
                </a:lnTo>
                <a:lnTo>
                  <a:pt x="2263" y="33866"/>
                </a:lnTo>
                <a:lnTo>
                  <a:pt x="11740" y="22318"/>
                </a:lnTo>
                <a:lnTo>
                  <a:pt x="23287" y="12842"/>
                </a:lnTo>
                <a:lnTo>
                  <a:pt x="36461" y="5800"/>
                </a:lnTo>
                <a:lnTo>
                  <a:pt x="50755" y="1464"/>
                </a:lnTo>
                <a:lnTo>
                  <a:pt x="65621" y="0"/>
                </a:lnTo>
                <a:close/>
              </a:path>
            </a:pathLst>
          </a:custGeom>
          <a:solidFill>
            <a:srgbClr val="56606B"/>
          </a:solidFill>
          <a:ln/>
        </p:spPr>
      </p:sp>
      <p:sp>
        <p:nvSpPr>
          <p:cNvPr id="14" name="Pré-carga"/>
          <p:cNvSpPr txBox="1"/>
          <p:nvPr/>
        </p:nvSpPr>
        <p:spPr>
          <a:xfrm>
            <a:off x="8252817" y="2168686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Pré-carga</a:t>
            </a:r>
            <a:endParaRPr lang="en-US" sz="1700" dirty="0"/>
          </a:p>
        </p:txBody>
      </p:sp>
      <p:sp>
        <p:nvSpPr>
          <p:cNvPr id="15" name="Hipovolemia não se corrige com amina. Ma"/>
          <p:cNvSpPr txBox="1"/>
          <p:nvPr/>
        </p:nvSpPr>
        <p:spPr>
          <a:xfrm>
            <a:off x="8252817" y="2517088"/>
            <a:ext cx="2884984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Hipovolemia não se corrige com amina. Mas o α1 também contrai veias: recruta volume não estressado e aumenta o retorno venoso.</a:t>
            </a:r>
            <a:endParaRPr lang="en-US" sz="1350" dirty="0"/>
          </a:p>
        </p:txBody>
      </p:sp>
      <p:sp>
        <p:nvSpPr>
          <p:cNvPr id="16" name="Cartão"/>
          <p:cNvSpPr/>
          <p:nvPr/>
        </p:nvSpPr>
        <p:spPr>
          <a:xfrm>
            <a:off x="812800" y="4340126"/>
            <a:ext cx="10566400" cy="988020"/>
          </a:xfrm>
          <a:prstGeom prst="roundRect">
            <a:avLst>
              <a:gd name="adj" fmla="val 77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7" name="Como saber?"/>
          <p:cNvSpPr txBox="1"/>
          <p:nvPr/>
        </p:nvSpPr>
        <p:spPr>
          <a:xfrm>
            <a:off x="1073150" y="4520821"/>
            <a:ext cx="2339578" cy="568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480"/>
              </a:lnSpc>
              <a:buNone/>
            </a:pPr>
            <a:r>
              <a:rPr lang="pt-BR" altLang="en-US" sz="3200" dirty="0">
                <a:solidFill>
                  <a:srgbClr val="B958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Como saber?</a:t>
            </a:r>
            <a:endParaRPr lang="en-US" sz="3200" dirty="0"/>
          </a:p>
        </p:txBody>
      </p:sp>
      <p:sp>
        <p:nvSpPr>
          <p:cNvPr id="18" name="Eco como primeira imagem para o tipo de "/>
          <p:cNvSpPr txBox="1"/>
          <p:nvPr/>
        </p:nvSpPr>
        <p:spPr>
          <a:xfrm>
            <a:off x="3596878" y="4553434"/>
            <a:ext cx="7541022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pt-BR" altLang="en-US" sz="1500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 como primeira imagem para o tipo de choque, parâmetros dinâmicos para a resposta a volume e perfusão seriada (enchimento capilar).</a:t>
            </a:r>
            <a:endParaRPr lang="en-US" sz="1500" dirty="0"/>
          </a:p>
        </p:txBody>
      </p:sp>
      <p:sp>
        <p:nvSpPr>
          <p:cNvPr id="19" name="Miller’s Anesthesia, 10ª ed. (2024) · [c"/>
          <p:cNvSpPr txBox="1"/>
          <p:nvPr/>
        </p:nvSpPr>
        <p:spPr>
          <a:xfrm>
            <a:off x="812800" y="6227078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Miller’s Anesthesia, 10ª ed. (2024) · [cap./pág.] · Persichini et al., Crit Care Med 2012 · ESICM 2025</a:t>
            </a:r>
            <a:endParaRPr lang="en-US" sz="1200" dirty="0"/>
          </a:p>
        </p:txBody>
      </p:sp>
      <p:pic>
        <p:nvPicPr>
          <p:cNvPr id="20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2 · RECEPTORES"/>
          <p:cNvSpPr txBox="1"/>
          <p:nvPr/>
        </p:nvSpPr>
        <p:spPr>
          <a:xfrm>
            <a:off x="812800" y="801599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· RECEPTORES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Receptores: cada amina é um perfil de afinidade</a:t>
            </a:r>
            <a:endParaRPr lang="en-US" sz="3200" dirty="0"/>
          </a:p>
        </p:txBody>
      </p:sp>
      <p:graphicFrame>
        <p:nvGraphicFramePr>
          <p:cNvPr id="5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879501"/>
          <a:ext cx="10566400" cy="914400"/>
        </p:xfrm>
        <a:graphic>
          <a:graphicData uri="http://schemas.openxmlformats.org/drawingml/2006/table">
            <a:tbl>
              <a:tblPr/>
              <a:tblGrid>
                <a:gridCol w="1056580"/>
                <a:gridCol w="3169841"/>
                <a:gridCol w="4226520"/>
                <a:gridCol w="2113459"/>
              </a:tblGrid>
              <a:tr h="39112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Receptor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Onde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Efeito principal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Sinalização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3942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α1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Músculo liso de artérias e veias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Vasoconstrição: ↑RVS e ↑retorno venoso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Gq → ↑Ca</a:t>
                      </a:r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aseline="300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2+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α2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Terminal pré-sináptico, SNC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↓ liberação de noradrenalina; sedação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 → ↓AMPc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β1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Miocárdio, nós SA e AV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↑ inotropismo, cronotropismo e dromotropismo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Gs → ↑AMPc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β2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Vasos, brônquios, fígado, músculo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Vasodilatação, broncodilatação, ↑glicemia e lactato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Gs → ↑AMPc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D1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Leitos renal, mesentérico, coronariano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Vasodilatação e natriurese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Gs → ↑AMPc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V1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Músculo liso vascular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Vasoconstrição sem receptor adrenérgico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Gq → ↑Ca</a:t>
                      </a:r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aseline="300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2+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PDE3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Miocárdio e vasos (enzima)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Milrinona inibe: inotropismo e vasodilatação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↓ degradação do AMPc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Exposição prolongada dessensibiliza os a"/>
          <p:cNvSpPr txBox="1"/>
          <p:nvPr/>
        </p:nvSpPr>
        <p:spPr>
          <a:xfrm>
            <a:off x="812800" y="5344645"/>
            <a:ext cx="105854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2C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Exposição prolongada dessensibiliza os adrenoceptores; vasopressina (V1) e milrinona (PDE3) agem por outra via.</a:t>
            </a:r>
            <a:endParaRPr lang="en-US" sz="1400" dirty="0"/>
          </a:p>
        </p:txBody>
      </p:sp>
      <p:sp>
        <p:nvSpPr>
          <p:cNvPr id="6" name="Miller’s Anesthesia, 10ª ed. (2024) · [c"/>
          <p:cNvSpPr txBox="1"/>
          <p:nvPr/>
        </p:nvSpPr>
        <p:spPr>
          <a:xfrm>
            <a:off x="812800" y="6227078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Miller’s Anesthesia, 10ª ed. (2024) · [cap./pág.]</a:t>
            </a:r>
            <a:endParaRPr lang="en-US" sz="1200" dirty="0"/>
          </a:p>
        </p:txBody>
      </p:sp>
      <p:pic>
        <p:nvPicPr>
          <p:cNvPr id="7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2 · CLASSIFICAÇÃO"/>
          <p:cNvSpPr txBox="1"/>
          <p:nvPr/>
        </p:nvSpPr>
        <p:spPr>
          <a:xfrm>
            <a:off x="812800" y="801599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· CLASSIFICAÇÃO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Estrutura: o anel catecol define a duração</a:t>
            </a:r>
            <a:endParaRPr lang="en-US" sz="3200" dirty="0"/>
          </a:p>
        </p:txBody>
      </p:sp>
      <p:sp>
        <p:nvSpPr>
          <p:cNvPr id="4" name="Tirosina"/>
          <p:cNvSpPr/>
          <p:nvPr/>
        </p:nvSpPr>
        <p:spPr>
          <a:xfrm>
            <a:off x="812800" y="1879501"/>
            <a:ext cx="1045865" cy="419100"/>
          </a:xfrm>
          <a:prstGeom prst="roundRect">
            <a:avLst>
              <a:gd name="adj" fmla="val 50000"/>
            </a:avLst>
          </a:prstGeom>
          <a:solidFill>
            <a:srgbClr val="1B2A3A"/>
          </a:solidFill>
          <a:ln/>
        </p:spPr>
        <p:txBody>
          <a:bodyPr wrap="none" lIns="152400" tIns="76200" rIns="152400" bIns="7620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pt-BR" altLang="en-US" sz="15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Tirosina</a:t>
            </a:r>
            <a:endParaRPr lang="en-US" sz="1500" dirty="0"/>
          </a:p>
        </p:txBody>
      </p:sp>
      <p:sp>
        <p:nvSpPr>
          <p:cNvPr id="5" name="→"/>
          <p:cNvSpPr txBox="1"/>
          <p:nvPr/>
        </p:nvSpPr>
        <p:spPr>
          <a:xfrm>
            <a:off x="1960265" y="1931836"/>
            <a:ext cx="222250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pt-BR" altLang="en-US" sz="1600" dirty="0">
                <a:solidFill>
                  <a:srgbClr val="B95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6" name="DOPA"/>
          <p:cNvSpPr/>
          <p:nvPr/>
        </p:nvSpPr>
        <p:spPr>
          <a:xfrm>
            <a:off x="2265065" y="1879501"/>
            <a:ext cx="855266" cy="419100"/>
          </a:xfrm>
          <a:prstGeom prst="roundRect">
            <a:avLst>
              <a:gd name="adj" fmla="val 50000"/>
            </a:avLst>
          </a:prstGeom>
          <a:solidFill>
            <a:srgbClr val="1B2A3A"/>
          </a:solidFill>
          <a:ln/>
        </p:spPr>
        <p:txBody>
          <a:bodyPr wrap="none" lIns="152400" tIns="76200" rIns="152400" bIns="7620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pt-BR" altLang="en-US" sz="15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DOPA</a:t>
            </a:r>
            <a:endParaRPr lang="en-US" sz="1500" dirty="0"/>
          </a:p>
        </p:txBody>
      </p:sp>
      <p:sp>
        <p:nvSpPr>
          <p:cNvPr id="7" name="→"/>
          <p:cNvSpPr txBox="1"/>
          <p:nvPr/>
        </p:nvSpPr>
        <p:spPr>
          <a:xfrm>
            <a:off x="3221930" y="1931836"/>
            <a:ext cx="222250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pt-BR" altLang="en-US" sz="1600" dirty="0">
                <a:solidFill>
                  <a:srgbClr val="B95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8" name="Dopamina"/>
          <p:cNvSpPr/>
          <p:nvPr/>
        </p:nvSpPr>
        <p:spPr>
          <a:xfrm>
            <a:off x="3526730" y="1879501"/>
            <a:ext cx="1225748" cy="419100"/>
          </a:xfrm>
          <a:prstGeom prst="roundRect">
            <a:avLst>
              <a:gd name="adj" fmla="val 50000"/>
            </a:avLst>
          </a:prstGeom>
          <a:solidFill>
            <a:srgbClr val="1B2A3A"/>
          </a:solidFill>
          <a:ln/>
        </p:spPr>
        <p:txBody>
          <a:bodyPr wrap="none" lIns="152400" tIns="76200" rIns="152400" bIns="7620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pt-BR" altLang="en-US" sz="15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Dopamina</a:t>
            </a:r>
            <a:endParaRPr lang="en-US" sz="1500" dirty="0"/>
          </a:p>
        </p:txBody>
      </p:sp>
      <p:sp>
        <p:nvSpPr>
          <p:cNvPr id="9" name="→"/>
          <p:cNvSpPr txBox="1"/>
          <p:nvPr/>
        </p:nvSpPr>
        <p:spPr>
          <a:xfrm>
            <a:off x="4854079" y="1931836"/>
            <a:ext cx="222250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pt-BR" altLang="en-US" sz="1600" dirty="0">
                <a:solidFill>
                  <a:srgbClr val="B95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10" name="Noradrenalina"/>
          <p:cNvSpPr/>
          <p:nvPr/>
        </p:nvSpPr>
        <p:spPr>
          <a:xfrm>
            <a:off x="5158879" y="1879501"/>
            <a:ext cx="1585813" cy="419100"/>
          </a:xfrm>
          <a:prstGeom prst="roundRect">
            <a:avLst>
              <a:gd name="adj" fmla="val 50000"/>
            </a:avLst>
          </a:prstGeom>
          <a:solidFill>
            <a:srgbClr val="1B2A3A"/>
          </a:solidFill>
          <a:ln/>
        </p:spPr>
        <p:txBody>
          <a:bodyPr wrap="none" lIns="152400" tIns="76200" rIns="152400" bIns="7620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pt-BR" altLang="en-US" sz="15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Noradrenalina</a:t>
            </a:r>
            <a:endParaRPr lang="en-US" sz="1500" dirty="0"/>
          </a:p>
        </p:txBody>
      </p:sp>
      <p:sp>
        <p:nvSpPr>
          <p:cNvPr id="11" name="→"/>
          <p:cNvSpPr txBox="1"/>
          <p:nvPr/>
        </p:nvSpPr>
        <p:spPr>
          <a:xfrm>
            <a:off x="6846292" y="1931836"/>
            <a:ext cx="222250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pt-BR" altLang="en-US" sz="1600" dirty="0">
                <a:solidFill>
                  <a:srgbClr val="B95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Adrenalina"/>
          <p:cNvSpPr/>
          <p:nvPr/>
        </p:nvSpPr>
        <p:spPr>
          <a:xfrm>
            <a:off x="7151092" y="1879501"/>
            <a:ext cx="1289348" cy="419100"/>
          </a:xfrm>
          <a:prstGeom prst="roundRect">
            <a:avLst>
              <a:gd name="adj" fmla="val 50000"/>
            </a:avLst>
          </a:prstGeom>
          <a:solidFill>
            <a:srgbClr val="B9581A"/>
          </a:solidFill>
          <a:ln/>
        </p:spPr>
        <p:txBody>
          <a:bodyPr wrap="none" lIns="152400" tIns="76200" rIns="152400" bIns="7620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pt-BR" altLang="en-US" sz="1500" b="1" dirty="0">
                <a:solidFill>
                  <a:srgbClr val="FFF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Adrenalina</a:t>
            </a:r>
            <a:endParaRPr lang="en-US" sz="1500" dirty="0"/>
          </a:p>
        </p:txBody>
      </p:sp>
      <p:sp>
        <p:nvSpPr>
          <p:cNvPr id="13" name="Tirosina hidroxilase (etapa limitante) ·"/>
          <p:cNvSpPr txBox="1"/>
          <p:nvPr/>
        </p:nvSpPr>
        <p:spPr>
          <a:xfrm>
            <a:off x="812800" y="2388999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Tirosina hidroxilase (etapa limitante) · DOPA descarboxilase · dopamina β-hidroxilase · PNMT na medula adrenal, induzida por cortisol</a:t>
            </a:r>
            <a:endParaRPr lang="en-US" sz="1200" dirty="0"/>
          </a:p>
        </p:txBody>
      </p:sp>
      <p:sp>
        <p:nvSpPr>
          <p:cNvPr id="14" name="Cartão"/>
          <p:cNvSpPr/>
          <p:nvPr/>
        </p:nvSpPr>
        <p:spPr>
          <a:xfrm>
            <a:off x="812800" y="2918321"/>
            <a:ext cx="5181600" cy="2155825"/>
          </a:xfrm>
          <a:prstGeom prst="roundRect">
            <a:avLst>
              <a:gd name="adj" fmla="val 353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5" name="Borda de destaque"/>
          <p:cNvSpPr/>
          <p:nvPr/>
        </p:nvSpPr>
        <p:spPr>
          <a:xfrm>
            <a:off x="823379" y="2918321"/>
            <a:ext cx="5160443" cy="38100"/>
          </a:xfrm>
          <a:custGeom>
            <a:avLst/>
            <a:gdLst/>
            <a:ahLst/>
            <a:cxnLst/>
            <a:rect l="l" t="t" r="r" b="b"/>
            <a:pathLst>
              <a:path w="5160443" h="38100">
                <a:moveTo>
                  <a:pt x="5094821" y="0"/>
                </a:moveTo>
                <a:lnTo>
                  <a:pt x="5109687" y="1464"/>
                </a:lnTo>
                <a:lnTo>
                  <a:pt x="5123982" y="5800"/>
                </a:lnTo>
                <a:lnTo>
                  <a:pt x="5137156" y="12842"/>
                </a:lnTo>
                <a:lnTo>
                  <a:pt x="5148703" y="22318"/>
                </a:lnTo>
                <a:lnTo>
                  <a:pt x="5158179" y="33866"/>
                </a:lnTo>
                <a:lnTo>
                  <a:pt x="5160443" y="38100"/>
                </a:lnTo>
                <a:lnTo>
                  <a:pt x="0" y="38100"/>
                </a:lnTo>
                <a:lnTo>
                  <a:pt x="2263" y="33866"/>
                </a:lnTo>
                <a:lnTo>
                  <a:pt x="11740" y="22318"/>
                </a:lnTo>
                <a:lnTo>
                  <a:pt x="23287" y="12842"/>
                </a:lnTo>
                <a:lnTo>
                  <a:pt x="36461" y="5800"/>
                </a:lnTo>
                <a:lnTo>
                  <a:pt x="50755" y="1464"/>
                </a:lnTo>
                <a:lnTo>
                  <a:pt x="65621" y="0"/>
                </a:lnTo>
                <a:close/>
              </a:path>
            </a:pathLst>
          </a:custGeom>
          <a:solidFill>
            <a:srgbClr val="B9581A"/>
          </a:solidFill>
          <a:ln/>
        </p:spPr>
      </p:sp>
      <p:sp>
        <p:nvSpPr>
          <p:cNvPr id="16" name="Catecolaminas"/>
          <p:cNvSpPr txBox="1"/>
          <p:nvPr/>
        </p:nvSpPr>
        <p:spPr>
          <a:xfrm>
            <a:off x="1073150" y="3207506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Catecolaminas</a:t>
            </a:r>
            <a:endParaRPr lang="en-US" sz="1700" dirty="0"/>
          </a:p>
        </p:txBody>
      </p:sp>
      <p:sp>
        <p:nvSpPr>
          <p:cNvPr id="17" name="Núcleo 3,4-di-hidroxifenil. Endógenas: d"/>
          <p:cNvSpPr txBox="1"/>
          <p:nvPr/>
        </p:nvSpPr>
        <p:spPr>
          <a:xfrm>
            <a:off x="1073150" y="3555908"/>
            <a:ext cx="4679950" cy="12427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Núcleo 3,4-di-hidroxifenil. Endógenas: dopamina, noradrenalina, adrenalina. Sintéticas: dobutamina, isoproterenol. Recaptação neuronal, MAO e COMT encurtam a meia-vida para minutos: uso em infusão contínua e titulável.</a:t>
            </a:r>
            <a:endParaRPr lang="en-US" sz="1350" dirty="0"/>
          </a:p>
        </p:txBody>
      </p:sp>
      <p:sp>
        <p:nvSpPr>
          <p:cNvPr id="18" name="Cartão"/>
          <p:cNvSpPr/>
          <p:nvPr/>
        </p:nvSpPr>
        <p:spPr>
          <a:xfrm>
            <a:off x="6197600" y="2918321"/>
            <a:ext cx="5181600" cy="2155825"/>
          </a:xfrm>
          <a:prstGeom prst="roundRect">
            <a:avLst>
              <a:gd name="adj" fmla="val 353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9" name="Borda de destaque"/>
          <p:cNvSpPr/>
          <p:nvPr/>
        </p:nvSpPr>
        <p:spPr>
          <a:xfrm>
            <a:off x="6208179" y="2918321"/>
            <a:ext cx="5160443" cy="38100"/>
          </a:xfrm>
          <a:custGeom>
            <a:avLst/>
            <a:gdLst/>
            <a:ahLst/>
            <a:cxnLst/>
            <a:rect l="l" t="t" r="r" b="b"/>
            <a:pathLst>
              <a:path w="5160443" h="38100">
                <a:moveTo>
                  <a:pt x="5094821" y="0"/>
                </a:moveTo>
                <a:lnTo>
                  <a:pt x="5109687" y="1464"/>
                </a:lnTo>
                <a:lnTo>
                  <a:pt x="5123982" y="5800"/>
                </a:lnTo>
                <a:lnTo>
                  <a:pt x="5137156" y="12842"/>
                </a:lnTo>
                <a:lnTo>
                  <a:pt x="5148703" y="22318"/>
                </a:lnTo>
                <a:lnTo>
                  <a:pt x="5158179" y="33866"/>
                </a:lnTo>
                <a:lnTo>
                  <a:pt x="5160443" y="38100"/>
                </a:lnTo>
                <a:lnTo>
                  <a:pt x="0" y="38100"/>
                </a:lnTo>
                <a:lnTo>
                  <a:pt x="2263" y="33866"/>
                </a:lnTo>
                <a:lnTo>
                  <a:pt x="11740" y="22318"/>
                </a:lnTo>
                <a:lnTo>
                  <a:pt x="23287" y="12842"/>
                </a:lnTo>
                <a:lnTo>
                  <a:pt x="36461" y="5800"/>
                </a:lnTo>
                <a:lnTo>
                  <a:pt x="50755" y="1464"/>
                </a:lnTo>
                <a:lnTo>
                  <a:pt x="65621" y="0"/>
                </a:lnTo>
                <a:close/>
              </a:path>
            </a:pathLst>
          </a:custGeom>
          <a:solidFill>
            <a:srgbClr val="2E5E8C"/>
          </a:solidFill>
          <a:ln/>
        </p:spPr>
      </p:sp>
      <p:sp>
        <p:nvSpPr>
          <p:cNvPr id="20" name="Não catecolaminas"/>
          <p:cNvSpPr txBox="1"/>
          <p:nvPr/>
        </p:nvSpPr>
        <p:spPr>
          <a:xfrm>
            <a:off x="6457950" y="3207506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catecolaminas</a:t>
            </a:r>
            <a:endParaRPr lang="en-US" sz="1700" dirty="0"/>
          </a:p>
        </p:txBody>
      </p:sp>
      <p:sp>
        <p:nvSpPr>
          <p:cNvPr id="21" name="Sem o anel catecol, escapam da COMT: dur"/>
          <p:cNvSpPr txBox="1"/>
          <p:nvPr/>
        </p:nvSpPr>
        <p:spPr>
          <a:xfrm>
            <a:off x="6457950" y="3555908"/>
            <a:ext cx="46799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o anel catecol, escapam da COMT: duram mais e servem para bolus. Fenilefrina: agonista direto α1. Efedrina e metaraminol: ação mista, direta e por liberação de noradrenalina das terminações.</a:t>
            </a:r>
            <a:endParaRPr lang="en-US" sz="1350" dirty="0"/>
          </a:p>
        </p:txBody>
      </p:sp>
      <p:sp>
        <p:nvSpPr>
          <p:cNvPr id="22" name="Miller’s Anesthesia, 10ª ed. (2024) · [c"/>
          <p:cNvSpPr txBox="1"/>
          <p:nvPr/>
        </p:nvSpPr>
        <p:spPr>
          <a:xfrm>
            <a:off x="812800" y="6227078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Miller’s Anesthesia, 10ª ed. (2024) · [cap./pág.]</a:t>
            </a:r>
            <a:endParaRPr lang="en-US" sz="1200" dirty="0"/>
          </a:p>
        </p:txBody>
      </p:sp>
      <p:pic>
        <p:nvPicPr>
          <p:cNvPr id="23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NORADRENALINA"/>
          <p:cNvSpPr txBox="1"/>
          <p:nvPr/>
        </p:nvSpPr>
        <p:spPr>
          <a:xfrm>
            <a:off x="812800" y="801599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· DROGAS · NORADRENALINA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Noradrenalina: o vasopressor de primeira linha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2299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1686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9767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Cartão"/>
          <p:cNvSpPr/>
          <p:nvPr/>
        </p:nvSpPr>
        <p:spPr>
          <a:xfrm>
            <a:off x="1524000" y="2890242"/>
            <a:ext cx="889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3177847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β2</a:t>
            </a:r>
            <a:endParaRPr lang="en-US" sz="1300" dirty="0"/>
          </a:p>
        </p:txBody>
      </p:sp>
      <p:sp>
        <p:nvSpPr>
          <p:cNvPr id="13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D1"/>
          <p:cNvSpPr txBox="1"/>
          <p:nvPr/>
        </p:nvSpPr>
        <p:spPr>
          <a:xfrm>
            <a:off x="1066800" y="3535928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D1</a:t>
            </a:r>
            <a:endParaRPr lang="en-US" sz="1300" dirty="0"/>
          </a:p>
        </p:txBody>
      </p:sp>
      <p:sp>
        <p:nvSpPr>
          <p:cNvPr id="15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6" name="EFEITO HEMODINÂMICO"/>
          <p:cNvSpPr txBox="1"/>
          <p:nvPr/>
        </p:nvSpPr>
        <p:spPr>
          <a:xfrm>
            <a:off x="1066800" y="3894942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7" name="PAM ↑↑"/>
          <p:cNvSpPr txBox="1"/>
          <p:nvPr/>
        </p:nvSpPr>
        <p:spPr>
          <a:xfrm>
            <a:off x="1066800" y="4233395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PAM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↑↑</a:t>
            </a:r>
            <a:endParaRPr lang="en-US" sz="1400" dirty="0"/>
          </a:p>
        </p:txBody>
      </p:sp>
      <p:sp>
        <p:nvSpPr>
          <p:cNvPr id="18" name="RVS ↑↑"/>
          <p:cNvSpPr txBox="1"/>
          <p:nvPr/>
        </p:nvSpPr>
        <p:spPr>
          <a:xfrm>
            <a:off x="2413000" y="4233395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RVS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↑↑</a:t>
            </a:r>
            <a:endParaRPr lang="en-US" sz="1400" dirty="0"/>
          </a:p>
        </p:txBody>
      </p:sp>
      <p:sp>
        <p:nvSpPr>
          <p:cNvPr id="19" name="DC ↔/↑"/>
          <p:cNvSpPr txBox="1"/>
          <p:nvPr/>
        </p:nvSpPr>
        <p:spPr>
          <a:xfrm>
            <a:off x="1066800" y="455843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↔/↑</a:t>
            </a:r>
            <a:endParaRPr lang="en-US" sz="1400" dirty="0"/>
          </a:p>
        </p:txBody>
      </p:sp>
      <p:sp>
        <p:nvSpPr>
          <p:cNvPr id="20" name="FC ↔/↓"/>
          <p:cNvSpPr txBox="1"/>
          <p:nvPr/>
        </p:nvSpPr>
        <p:spPr>
          <a:xfrm>
            <a:off x="2413000" y="455843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↔/↓</a:t>
            </a:r>
            <a:endParaRPr lang="en-US" sz="1400" dirty="0"/>
          </a:p>
        </p:txBody>
      </p:sp>
      <p:sp>
        <p:nvSpPr>
          <p:cNvPr id="21" name="Cartão"/>
          <p:cNvSpPr/>
          <p:nvPr/>
        </p:nvSpPr>
        <p:spPr>
          <a:xfrm>
            <a:off x="40640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2" name="Borda de destaque"/>
          <p:cNvSpPr/>
          <p:nvPr/>
        </p:nvSpPr>
        <p:spPr>
          <a:xfrm>
            <a:off x="4074579" y="1879501"/>
            <a:ext cx="3534843" cy="38100"/>
          </a:xfrm>
          <a:custGeom>
            <a:avLst/>
            <a:gdLst/>
            <a:ahLst/>
            <a:cxnLst/>
            <a:rect l="l" t="t" r="r" b="b"/>
            <a:pathLst>
              <a:path w="3534843" h="38100">
                <a:moveTo>
                  <a:pt x="3469221" y="0"/>
                </a:moveTo>
                <a:lnTo>
                  <a:pt x="3484087" y="1464"/>
                </a:lnTo>
                <a:lnTo>
                  <a:pt x="3498382" y="5800"/>
                </a:lnTo>
                <a:lnTo>
                  <a:pt x="3511556" y="12842"/>
                </a:lnTo>
                <a:lnTo>
                  <a:pt x="3523103" y="22318"/>
                </a:lnTo>
                <a:lnTo>
                  <a:pt x="3532579" y="33866"/>
                </a:lnTo>
                <a:lnTo>
                  <a:pt x="3534843" y="38100"/>
                </a:lnTo>
                <a:lnTo>
                  <a:pt x="0" y="38100"/>
                </a:lnTo>
                <a:lnTo>
                  <a:pt x="2263" y="33866"/>
                </a:lnTo>
                <a:lnTo>
                  <a:pt x="11740" y="22318"/>
                </a:lnTo>
                <a:lnTo>
                  <a:pt x="23287" y="12842"/>
                </a:lnTo>
                <a:lnTo>
                  <a:pt x="36461" y="5800"/>
                </a:lnTo>
                <a:lnTo>
                  <a:pt x="50755" y="1464"/>
                </a:lnTo>
                <a:lnTo>
                  <a:pt x="65621" y="0"/>
                </a:lnTo>
                <a:close/>
              </a:path>
            </a:pathLst>
          </a:custGeom>
          <a:solidFill>
            <a:srgbClr val="B9581A"/>
          </a:solidFill>
          <a:ln/>
        </p:spPr>
      </p:sp>
      <p:sp>
        <p:nvSpPr>
          <p:cNvPr id="23" name="Ação e uso"/>
          <p:cNvSpPr txBox="1"/>
          <p:nvPr/>
        </p:nvSpPr>
        <p:spPr>
          <a:xfrm>
            <a:off x="4324350" y="2168686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Ação e uso</a:t>
            </a:r>
            <a:endParaRPr lang="en-US" sz="1700" dirty="0"/>
          </a:p>
        </p:txBody>
      </p:sp>
      <p:sp>
        <p:nvSpPr>
          <p:cNvPr id="24" name="α1 potente com β1 modesto: eleva a PAM p"/>
          <p:cNvSpPr txBox="1"/>
          <p:nvPr/>
        </p:nvSpPr>
        <p:spPr>
          <a:xfrm>
            <a:off x="4324350" y="2517088"/>
            <a:ext cx="3054350" cy="173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α1 potente com β1 modesto: eleva a PAM pela RVS e pela venoconstrição, que aumenta o retorno venoso. DC preservado ou maior; FC estável ou menor. Primeira linha no choque séptico e na vasoplegia que exige infusão.</a:t>
            </a:r>
            <a:endParaRPr lang="en-US" sz="1350" dirty="0"/>
          </a:p>
        </p:txBody>
      </p:sp>
      <p:sp>
        <p:nvSpPr>
          <p:cNvPr id="25" name="Cartão"/>
          <p:cNvSpPr/>
          <p:nvPr/>
        </p:nvSpPr>
        <p:spPr>
          <a:xfrm>
            <a:off x="78232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6" name="Borda de destaque"/>
          <p:cNvSpPr/>
          <p:nvPr/>
        </p:nvSpPr>
        <p:spPr>
          <a:xfrm>
            <a:off x="7833779" y="1879501"/>
            <a:ext cx="3534843" cy="38100"/>
          </a:xfrm>
          <a:custGeom>
            <a:avLst/>
            <a:gdLst/>
            <a:ahLst/>
            <a:cxnLst/>
            <a:rect l="l" t="t" r="r" b="b"/>
            <a:pathLst>
              <a:path w="3534843" h="38100">
                <a:moveTo>
                  <a:pt x="3469221" y="0"/>
                </a:moveTo>
                <a:lnTo>
                  <a:pt x="3484087" y="1464"/>
                </a:lnTo>
                <a:lnTo>
                  <a:pt x="3498382" y="5800"/>
                </a:lnTo>
                <a:lnTo>
                  <a:pt x="3511556" y="12842"/>
                </a:lnTo>
                <a:lnTo>
                  <a:pt x="3523103" y="22318"/>
                </a:lnTo>
                <a:lnTo>
                  <a:pt x="3532579" y="33866"/>
                </a:lnTo>
                <a:lnTo>
                  <a:pt x="3534843" y="38100"/>
                </a:lnTo>
                <a:lnTo>
                  <a:pt x="0" y="38100"/>
                </a:lnTo>
                <a:lnTo>
                  <a:pt x="2263" y="33866"/>
                </a:lnTo>
                <a:lnTo>
                  <a:pt x="11740" y="22318"/>
                </a:lnTo>
                <a:lnTo>
                  <a:pt x="23287" y="12842"/>
                </a:lnTo>
                <a:lnTo>
                  <a:pt x="36461" y="5800"/>
                </a:lnTo>
                <a:lnTo>
                  <a:pt x="50755" y="1464"/>
                </a:lnTo>
                <a:lnTo>
                  <a:pt x="65621" y="0"/>
                </a:lnTo>
                <a:close/>
              </a:path>
            </a:pathLst>
          </a:custGeom>
          <a:solidFill>
            <a:srgbClr val="2E5E8C"/>
          </a:solidFill>
          <a:ln/>
        </p:spPr>
      </p:sp>
      <p:sp>
        <p:nvSpPr>
          <p:cNvPr id="27" name="Dose e cuidados"/>
          <p:cNvSpPr txBox="1"/>
          <p:nvPr/>
        </p:nvSpPr>
        <p:spPr>
          <a:xfrm>
            <a:off x="8083550" y="2168686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Dose e cuidados</a:t>
            </a:r>
            <a:endParaRPr lang="en-US" sz="1700" dirty="0"/>
          </a:p>
        </p:txBody>
      </p:sp>
      <p:sp>
        <p:nvSpPr>
          <p:cNvPr id="28" name="0,01–0,5 mcg/kg/min, sem teto fixo no ch"/>
          <p:cNvSpPr txBox="1"/>
          <p:nvPr/>
        </p:nvSpPr>
        <p:spPr>
          <a:xfrm>
            <a:off x="8083550" y="2517088"/>
            <a:ext cx="3054350" cy="173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0,01–0,5 mcg/kg/min, sem teto fixo no choque refratário; bolus de 5–10 mcg no centro cirúrgico. Pode começar em veia periférica calibrosa. Menos arritmia que a dopamina (SOAP II). Riscos: isquemia digital e esplâncnica, extravasamento.</a:t>
            </a:r>
            <a:endParaRPr lang="en-US" sz="1350" dirty="0"/>
          </a:p>
        </p:txBody>
      </p:sp>
      <p:sp>
        <p:nvSpPr>
          <p:cNvPr id="29" name="De Backer, N Engl J Med 2010 (SOAP II) ·"/>
          <p:cNvSpPr txBox="1"/>
          <p:nvPr/>
        </p:nvSpPr>
        <p:spPr>
          <a:xfrm>
            <a:off x="812800" y="6227078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Backer, N Engl J Med 2010 (SOAP II) · Persichini, Crit Care Med 2012 · SSC 2026 · barras: escala qualitativa</a:t>
            </a:r>
            <a:endParaRPr lang="en-US" sz="1200" dirty="0"/>
          </a:p>
        </p:txBody>
      </p:sp>
      <p:pic>
        <p:nvPicPr>
          <p:cNvPr id="30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ADRENALINA"/>
          <p:cNvSpPr txBox="1"/>
          <p:nvPr/>
        </p:nvSpPr>
        <p:spPr>
          <a:xfrm>
            <a:off x="812800" y="801599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· DROGAS · ADRENALINA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Adrenalina: β e α1, com custo metabólico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2299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1686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1333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9767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3177847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β2</a:t>
            </a:r>
            <a:endParaRPr lang="en-US" sz="1300" dirty="0"/>
          </a:p>
        </p:txBody>
      </p:sp>
      <p:sp>
        <p:nvSpPr>
          <p:cNvPr id="13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Cartão"/>
          <p:cNvSpPr/>
          <p:nvPr/>
        </p:nvSpPr>
        <p:spPr>
          <a:xfrm>
            <a:off x="1524000" y="3248323"/>
            <a:ext cx="1333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5" name="D1"/>
          <p:cNvSpPr txBox="1"/>
          <p:nvPr/>
        </p:nvSpPr>
        <p:spPr>
          <a:xfrm>
            <a:off x="1066800" y="3535928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D1</a:t>
            </a:r>
            <a:endParaRPr lang="en-US" sz="1300" dirty="0"/>
          </a:p>
        </p:txBody>
      </p:sp>
      <p:sp>
        <p:nvSpPr>
          <p:cNvPr id="16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7" name="EFEITO HEMODINÂMICO"/>
          <p:cNvSpPr txBox="1"/>
          <p:nvPr/>
        </p:nvSpPr>
        <p:spPr>
          <a:xfrm>
            <a:off x="1066800" y="3894942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8" name="PAM ↑↑"/>
          <p:cNvSpPr txBox="1"/>
          <p:nvPr/>
        </p:nvSpPr>
        <p:spPr>
          <a:xfrm>
            <a:off x="1066800" y="4233395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PAM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↑↑</a:t>
            </a:r>
            <a:endParaRPr lang="en-US" sz="1400" dirty="0"/>
          </a:p>
        </p:txBody>
      </p:sp>
      <p:sp>
        <p:nvSpPr>
          <p:cNvPr id="19" name="DC ↑↑"/>
          <p:cNvSpPr txBox="1"/>
          <p:nvPr/>
        </p:nvSpPr>
        <p:spPr>
          <a:xfrm>
            <a:off x="2413000" y="4233395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↑↑</a:t>
            </a:r>
            <a:endParaRPr lang="en-US" sz="1400" dirty="0"/>
          </a:p>
        </p:txBody>
      </p:sp>
      <p:sp>
        <p:nvSpPr>
          <p:cNvPr id="20" name="FC ↑↑"/>
          <p:cNvSpPr txBox="1"/>
          <p:nvPr/>
        </p:nvSpPr>
        <p:spPr>
          <a:xfrm>
            <a:off x="1066800" y="455843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↑↑</a:t>
            </a:r>
            <a:endParaRPr lang="en-US" sz="1400" dirty="0"/>
          </a:p>
        </p:txBody>
      </p:sp>
      <p:sp>
        <p:nvSpPr>
          <p:cNvPr id="21" name="RVS ↓ ou ↑"/>
          <p:cNvSpPr txBox="1"/>
          <p:nvPr/>
        </p:nvSpPr>
        <p:spPr>
          <a:xfrm>
            <a:off x="2413000" y="455843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RVS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↓ ou ↑</a:t>
            </a:r>
            <a:endParaRPr lang="en-US" sz="1400" dirty="0"/>
          </a:p>
        </p:txBody>
      </p:sp>
      <p:sp>
        <p:nvSpPr>
          <p:cNvPr id="22" name="Cartão"/>
          <p:cNvSpPr/>
          <p:nvPr/>
        </p:nvSpPr>
        <p:spPr>
          <a:xfrm>
            <a:off x="40640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3" name="Borda de destaque"/>
          <p:cNvSpPr/>
          <p:nvPr/>
        </p:nvSpPr>
        <p:spPr>
          <a:xfrm>
            <a:off x="4074579" y="1879501"/>
            <a:ext cx="3534843" cy="38100"/>
          </a:xfrm>
          <a:custGeom>
            <a:avLst/>
            <a:gdLst/>
            <a:ahLst/>
            <a:cxnLst/>
            <a:rect l="l" t="t" r="r" b="b"/>
            <a:pathLst>
              <a:path w="3534843" h="38100">
                <a:moveTo>
                  <a:pt x="3469221" y="0"/>
                </a:moveTo>
                <a:lnTo>
                  <a:pt x="3484087" y="1464"/>
                </a:lnTo>
                <a:lnTo>
                  <a:pt x="3498382" y="5800"/>
                </a:lnTo>
                <a:lnTo>
                  <a:pt x="3511556" y="12842"/>
                </a:lnTo>
                <a:lnTo>
                  <a:pt x="3523103" y="22318"/>
                </a:lnTo>
                <a:lnTo>
                  <a:pt x="3532579" y="33866"/>
                </a:lnTo>
                <a:lnTo>
                  <a:pt x="3534843" y="38100"/>
                </a:lnTo>
                <a:lnTo>
                  <a:pt x="0" y="38100"/>
                </a:lnTo>
                <a:lnTo>
                  <a:pt x="2263" y="33866"/>
                </a:lnTo>
                <a:lnTo>
                  <a:pt x="11740" y="22318"/>
                </a:lnTo>
                <a:lnTo>
                  <a:pt x="23287" y="12842"/>
                </a:lnTo>
                <a:lnTo>
                  <a:pt x="36461" y="5800"/>
                </a:lnTo>
                <a:lnTo>
                  <a:pt x="50755" y="1464"/>
                </a:lnTo>
                <a:lnTo>
                  <a:pt x="65621" y="0"/>
                </a:lnTo>
                <a:close/>
              </a:path>
            </a:pathLst>
          </a:custGeom>
          <a:solidFill>
            <a:srgbClr val="B9581A"/>
          </a:solidFill>
          <a:ln/>
        </p:spPr>
      </p:sp>
      <p:sp>
        <p:nvSpPr>
          <p:cNvPr id="24" name="Ação e uso"/>
          <p:cNvSpPr txBox="1"/>
          <p:nvPr/>
        </p:nvSpPr>
        <p:spPr>
          <a:xfrm>
            <a:off x="4324350" y="2168686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Ação e uso</a:t>
            </a:r>
            <a:endParaRPr lang="en-US" sz="1700" dirty="0"/>
          </a:p>
        </p:txBody>
      </p:sp>
      <p:sp>
        <p:nvSpPr>
          <p:cNvPr id="25" name="Dose-dependente: em dose baixa predomina"/>
          <p:cNvSpPr txBox="1"/>
          <p:nvPr/>
        </p:nvSpPr>
        <p:spPr>
          <a:xfrm>
            <a:off x="4324350" y="2517088"/>
            <a:ext cx="3054350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Dose-dependente: em dose baixa predomina β (↑DC; a RVS pode cair); em dose alta, α1. Droga de escolha na anafilaxia; no choque séptico, entra se a PAM seguir inadequada com NA + vasopressina.</a:t>
            </a:r>
            <a:endParaRPr lang="en-US" sz="1350" dirty="0"/>
          </a:p>
        </p:txBody>
      </p:sp>
      <p:sp>
        <p:nvSpPr>
          <p:cNvPr id="26" name="Cartão"/>
          <p:cNvSpPr/>
          <p:nvPr/>
        </p:nvSpPr>
        <p:spPr>
          <a:xfrm>
            <a:off x="78232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7" name="Borda de destaque"/>
          <p:cNvSpPr/>
          <p:nvPr/>
        </p:nvSpPr>
        <p:spPr>
          <a:xfrm>
            <a:off x="7833779" y="1879501"/>
            <a:ext cx="3534843" cy="38100"/>
          </a:xfrm>
          <a:custGeom>
            <a:avLst/>
            <a:gdLst/>
            <a:ahLst/>
            <a:cxnLst/>
            <a:rect l="l" t="t" r="r" b="b"/>
            <a:pathLst>
              <a:path w="3534843" h="38100">
                <a:moveTo>
                  <a:pt x="3469221" y="0"/>
                </a:moveTo>
                <a:lnTo>
                  <a:pt x="3484087" y="1464"/>
                </a:lnTo>
                <a:lnTo>
                  <a:pt x="3498382" y="5800"/>
                </a:lnTo>
                <a:lnTo>
                  <a:pt x="3511556" y="12842"/>
                </a:lnTo>
                <a:lnTo>
                  <a:pt x="3523103" y="22318"/>
                </a:lnTo>
                <a:lnTo>
                  <a:pt x="3532579" y="33866"/>
                </a:lnTo>
                <a:lnTo>
                  <a:pt x="3534843" y="38100"/>
                </a:lnTo>
                <a:lnTo>
                  <a:pt x="0" y="38100"/>
                </a:lnTo>
                <a:lnTo>
                  <a:pt x="2263" y="33866"/>
                </a:lnTo>
                <a:lnTo>
                  <a:pt x="11740" y="22318"/>
                </a:lnTo>
                <a:lnTo>
                  <a:pt x="23287" y="12842"/>
                </a:lnTo>
                <a:lnTo>
                  <a:pt x="36461" y="5800"/>
                </a:lnTo>
                <a:lnTo>
                  <a:pt x="50755" y="1464"/>
                </a:lnTo>
                <a:lnTo>
                  <a:pt x="65621" y="0"/>
                </a:lnTo>
                <a:close/>
              </a:path>
            </a:pathLst>
          </a:custGeom>
          <a:solidFill>
            <a:srgbClr val="2E5E8C"/>
          </a:solidFill>
          <a:ln/>
        </p:spPr>
      </p:sp>
      <p:sp>
        <p:nvSpPr>
          <p:cNvPr id="28" name="Dose e cuidados"/>
          <p:cNvSpPr txBox="1"/>
          <p:nvPr/>
        </p:nvSpPr>
        <p:spPr>
          <a:xfrm>
            <a:off x="8083550" y="2168686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Dose e cuidados</a:t>
            </a:r>
            <a:endParaRPr lang="en-US" sz="1700" dirty="0"/>
          </a:p>
        </p:txBody>
      </p:sp>
      <p:sp>
        <p:nvSpPr>
          <p:cNvPr id="29" name="0,01–0,1 mcg/kg/min, mais no refratário."/>
          <p:cNvSpPr txBox="1"/>
          <p:nvPr/>
        </p:nvSpPr>
        <p:spPr>
          <a:xfrm>
            <a:off x="8083550" y="2517088"/>
            <a:ext cx="3054350" cy="173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0,01–0,1 mcg/kg/min, mais no refratário. Na anafilaxia durante a anestesia, bolus titulado: 10–20 mcg EV no grau 2, 50–100 mcg no grau 3. Taquicardia, arritmia e hiperglicemia; o lactato sobe por efeito β2, sem excluir hipoperfusão.</a:t>
            </a:r>
            <a:endParaRPr lang="en-US" sz="1350" dirty="0"/>
          </a:p>
        </p:txBody>
      </p:sp>
      <p:sp>
        <p:nvSpPr>
          <p:cNvPr id="30" name="ANZCA/ANZAAG 2022 · SSC 2026 · barras: e"/>
          <p:cNvSpPr txBox="1"/>
          <p:nvPr/>
        </p:nvSpPr>
        <p:spPr>
          <a:xfrm>
            <a:off x="812800" y="6227078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ANZCA/ANZAAG 2022 · SSC 2026 · barras: escala qualitativa</a:t>
            </a:r>
            <a:endParaRPr lang="en-US" sz="1200" dirty="0"/>
          </a:p>
        </p:txBody>
      </p:sp>
      <p:pic>
        <p:nvPicPr>
          <p:cNvPr id="31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DOPAMINA E DOBUTAMINA"/>
          <p:cNvSpPr txBox="1"/>
          <p:nvPr/>
        </p:nvSpPr>
        <p:spPr>
          <a:xfrm>
            <a:off x="812800" y="801599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· DROGAS · DOPAMINA E DOBUTAMINA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Dopamina e dobutamina: β1 com custos diferentes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5181600" cy="1210171"/>
          </a:xfrm>
          <a:prstGeom prst="roundRect">
            <a:avLst>
              <a:gd name="adj" fmla="val 6297"/>
            </a:avLst>
          </a:prstGeom>
          <a:solidFill>
            <a:srgbClr val="1B2A3A"/>
          </a:solidFill>
          <a:ln/>
        </p:spPr>
      </p:sp>
      <p:sp>
        <p:nvSpPr>
          <p:cNvPr id="5" name="Dopamina"/>
          <p:cNvSpPr txBox="1"/>
          <p:nvPr/>
        </p:nvSpPr>
        <p:spPr>
          <a:xfrm>
            <a:off x="1066800" y="2054386"/>
            <a:ext cx="1062732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Dopamina</a:t>
            </a:r>
            <a:endParaRPr lang="en-US" sz="1700" dirty="0"/>
          </a:p>
        </p:txBody>
      </p:sp>
      <p:sp>
        <p:nvSpPr>
          <p:cNvPr id="6" name="PAM ↑ · DC ↑ · FC ↑↑"/>
          <p:cNvSpPr txBox="1"/>
          <p:nvPr/>
        </p:nvSpPr>
        <p:spPr>
          <a:xfrm>
            <a:off x="4153694" y="2076916"/>
            <a:ext cx="1605756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E49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PAM ↑ · DC ↑ · FC ↑↑</a:t>
            </a:r>
            <a:endParaRPr lang="en-US" sz="1300" dirty="0"/>
          </a:p>
        </p:txBody>
      </p:sp>
      <p:sp>
        <p:nvSpPr>
          <p:cNvPr id="7" name="α1"/>
          <p:cNvSpPr txBox="1"/>
          <p:nvPr/>
        </p:nvSpPr>
        <p:spPr>
          <a:xfrm>
            <a:off x="1066800" y="2410530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α1</a:t>
            </a:r>
            <a:endParaRPr lang="en-US" sz="1200" dirty="0"/>
          </a:p>
        </p:txBody>
      </p:sp>
      <p:sp>
        <p:nvSpPr>
          <p:cNvPr id="8" name="Cartão"/>
          <p:cNvSpPr/>
          <p:nvPr/>
        </p:nvSpPr>
        <p:spPr>
          <a:xfrm>
            <a:off x="1473200" y="247759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9" name="Cartão"/>
          <p:cNvSpPr/>
          <p:nvPr/>
        </p:nvSpPr>
        <p:spPr>
          <a:xfrm>
            <a:off x="1473200" y="2477591"/>
            <a:ext cx="1143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0" name="β1"/>
          <p:cNvSpPr txBox="1"/>
          <p:nvPr/>
        </p:nvSpPr>
        <p:spPr>
          <a:xfrm>
            <a:off x="3530600" y="2410530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β1</a:t>
            </a:r>
            <a:endParaRPr lang="en-US" sz="1200" dirty="0"/>
          </a:p>
        </p:txBody>
      </p:sp>
      <p:sp>
        <p:nvSpPr>
          <p:cNvPr id="11" name="Cartão"/>
          <p:cNvSpPr/>
          <p:nvPr/>
        </p:nvSpPr>
        <p:spPr>
          <a:xfrm>
            <a:off x="3937000" y="247759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2" name="Cartão"/>
          <p:cNvSpPr/>
          <p:nvPr/>
        </p:nvSpPr>
        <p:spPr>
          <a:xfrm>
            <a:off x="3937000" y="2477591"/>
            <a:ext cx="1143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3" name="β2"/>
          <p:cNvSpPr txBox="1"/>
          <p:nvPr/>
        </p:nvSpPr>
        <p:spPr>
          <a:xfrm>
            <a:off x="1066800" y="2687350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β2</a:t>
            </a:r>
            <a:endParaRPr lang="en-US" sz="1200" dirty="0"/>
          </a:p>
        </p:txBody>
      </p:sp>
      <p:sp>
        <p:nvSpPr>
          <p:cNvPr id="14" name="Cartão"/>
          <p:cNvSpPr/>
          <p:nvPr/>
        </p:nvSpPr>
        <p:spPr>
          <a:xfrm>
            <a:off x="1473200" y="2754412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5" name="Cartão"/>
          <p:cNvSpPr/>
          <p:nvPr/>
        </p:nvSpPr>
        <p:spPr>
          <a:xfrm>
            <a:off x="1473200" y="2754412"/>
            <a:ext cx="381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6" name="D1"/>
          <p:cNvSpPr txBox="1"/>
          <p:nvPr/>
        </p:nvSpPr>
        <p:spPr>
          <a:xfrm>
            <a:off x="3530600" y="2687350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D1</a:t>
            </a:r>
            <a:endParaRPr lang="en-US" sz="1200" dirty="0"/>
          </a:p>
        </p:txBody>
      </p:sp>
      <p:sp>
        <p:nvSpPr>
          <p:cNvPr id="17" name="Cartão"/>
          <p:cNvSpPr/>
          <p:nvPr/>
        </p:nvSpPr>
        <p:spPr>
          <a:xfrm>
            <a:off x="3937000" y="2754412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8" name="Cartão"/>
          <p:cNvSpPr/>
          <p:nvPr/>
        </p:nvSpPr>
        <p:spPr>
          <a:xfrm>
            <a:off x="3937000" y="2754412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9" name="Cartão"/>
          <p:cNvSpPr/>
          <p:nvPr/>
        </p:nvSpPr>
        <p:spPr>
          <a:xfrm>
            <a:off x="812800" y="3165872"/>
            <a:ext cx="5181600" cy="1445022"/>
          </a:xfrm>
          <a:prstGeom prst="roundRect">
            <a:avLst>
              <a:gd name="adj" fmla="val 527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0" name="Borda de destaque"/>
          <p:cNvSpPr/>
          <p:nvPr/>
        </p:nvSpPr>
        <p:spPr>
          <a:xfrm>
            <a:off x="823379" y="3165872"/>
            <a:ext cx="5160443" cy="38100"/>
          </a:xfrm>
          <a:custGeom>
            <a:avLst/>
            <a:gdLst/>
            <a:ahLst/>
            <a:cxnLst/>
            <a:rect l="l" t="t" r="r" b="b"/>
            <a:pathLst>
              <a:path w="5160443" h="38100">
                <a:moveTo>
                  <a:pt x="5094821" y="0"/>
                </a:moveTo>
                <a:lnTo>
                  <a:pt x="5109687" y="1464"/>
                </a:lnTo>
                <a:lnTo>
                  <a:pt x="5123982" y="5800"/>
                </a:lnTo>
                <a:lnTo>
                  <a:pt x="5137156" y="12842"/>
                </a:lnTo>
                <a:lnTo>
                  <a:pt x="5148703" y="22318"/>
                </a:lnTo>
                <a:lnTo>
                  <a:pt x="5158179" y="33866"/>
                </a:lnTo>
                <a:lnTo>
                  <a:pt x="5160443" y="38100"/>
                </a:lnTo>
                <a:lnTo>
                  <a:pt x="0" y="38100"/>
                </a:lnTo>
                <a:lnTo>
                  <a:pt x="2263" y="33866"/>
                </a:lnTo>
                <a:lnTo>
                  <a:pt x="11740" y="22318"/>
                </a:lnTo>
                <a:lnTo>
                  <a:pt x="23287" y="12842"/>
                </a:lnTo>
                <a:lnTo>
                  <a:pt x="36461" y="5800"/>
                </a:lnTo>
                <a:lnTo>
                  <a:pt x="50755" y="1464"/>
                </a:lnTo>
                <a:lnTo>
                  <a:pt x="65621" y="0"/>
                </a:lnTo>
                <a:close/>
              </a:path>
            </a:pathLst>
          </a:custGeom>
          <a:solidFill>
            <a:srgbClr val="B9581A"/>
          </a:solidFill>
          <a:ln/>
        </p:spPr>
      </p:sp>
      <p:sp>
        <p:nvSpPr>
          <p:cNvPr id="21" name="Efeito dose-dependente e imprevisível: D"/>
          <p:cNvSpPr txBox="1"/>
          <p:nvPr/>
        </p:nvSpPr>
        <p:spPr>
          <a:xfrm>
            <a:off x="1073150" y="3391999"/>
            <a:ext cx="46799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Efeito dose-dependente e imprevisível: D1, depois β1 (em parte por liberar noradrenalina) e, em doses altas, α1. Dose “renal” não protege o rim. Mais arritmia que a NA: fora da primeira linha no choque.</a:t>
            </a:r>
            <a:endParaRPr lang="en-US" sz="1350" dirty="0"/>
          </a:p>
        </p:txBody>
      </p:sp>
      <p:sp>
        <p:nvSpPr>
          <p:cNvPr id="22" name="Cartão"/>
          <p:cNvSpPr/>
          <p:nvPr/>
        </p:nvSpPr>
        <p:spPr>
          <a:xfrm>
            <a:off x="6197600" y="1879501"/>
            <a:ext cx="5181600" cy="1210171"/>
          </a:xfrm>
          <a:prstGeom prst="roundRect">
            <a:avLst>
              <a:gd name="adj" fmla="val 6297"/>
            </a:avLst>
          </a:prstGeom>
          <a:solidFill>
            <a:srgbClr val="1B2A3A"/>
          </a:solidFill>
          <a:ln/>
        </p:spPr>
      </p:sp>
      <p:sp>
        <p:nvSpPr>
          <p:cNvPr id="23" name="Dobutamina"/>
          <p:cNvSpPr txBox="1"/>
          <p:nvPr/>
        </p:nvSpPr>
        <p:spPr>
          <a:xfrm>
            <a:off x="6451600" y="2054386"/>
            <a:ext cx="1266527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Dobutamina</a:t>
            </a:r>
            <a:endParaRPr lang="en-US" sz="1700" dirty="0"/>
          </a:p>
        </p:txBody>
      </p:sp>
      <p:sp>
        <p:nvSpPr>
          <p:cNvPr id="24" name="DC ↑↑ · FC ↑ · RVS ↓"/>
          <p:cNvSpPr txBox="1"/>
          <p:nvPr/>
        </p:nvSpPr>
        <p:spPr>
          <a:xfrm>
            <a:off x="9565878" y="2076916"/>
            <a:ext cx="1578372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E49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DC ↑↑ · FC ↑ · RVS ↓</a:t>
            </a:r>
            <a:endParaRPr lang="en-US" sz="1300" dirty="0"/>
          </a:p>
        </p:txBody>
      </p:sp>
      <p:sp>
        <p:nvSpPr>
          <p:cNvPr id="25" name="α1"/>
          <p:cNvSpPr txBox="1"/>
          <p:nvPr/>
        </p:nvSpPr>
        <p:spPr>
          <a:xfrm>
            <a:off x="6451600" y="2410530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α1</a:t>
            </a:r>
            <a:endParaRPr lang="en-US" sz="1200" dirty="0"/>
          </a:p>
        </p:txBody>
      </p:sp>
      <p:sp>
        <p:nvSpPr>
          <p:cNvPr id="26" name="Cartão"/>
          <p:cNvSpPr/>
          <p:nvPr/>
        </p:nvSpPr>
        <p:spPr>
          <a:xfrm>
            <a:off x="6858000" y="247759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7" name="Cartão"/>
          <p:cNvSpPr/>
          <p:nvPr/>
        </p:nvSpPr>
        <p:spPr>
          <a:xfrm>
            <a:off x="6858000" y="2477591"/>
            <a:ext cx="381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28" name="β1"/>
          <p:cNvSpPr txBox="1"/>
          <p:nvPr/>
        </p:nvSpPr>
        <p:spPr>
          <a:xfrm>
            <a:off x="8915400" y="2410530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β1</a:t>
            </a:r>
            <a:endParaRPr lang="en-US" sz="1200" dirty="0"/>
          </a:p>
        </p:txBody>
      </p:sp>
      <p:sp>
        <p:nvSpPr>
          <p:cNvPr id="29" name="Cartão"/>
          <p:cNvSpPr/>
          <p:nvPr/>
        </p:nvSpPr>
        <p:spPr>
          <a:xfrm>
            <a:off x="9321800" y="247759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30" name="Cartão"/>
          <p:cNvSpPr/>
          <p:nvPr/>
        </p:nvSpPr>
        <p:spPr>
          <a:xfrm>
            <a:off x="9321800" y="247759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31" name="β2"/>
          <p:cNvSpPr txBox="1"/>
          <p:nvPr/>
        </p:nvSpPr>
        <p:spPr>
          <a:xfrm>
            <a:off x="6451600" y="2687350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β2</a:t>
            </a:r>
            <a:endParaRPr lang="en-US" sz="1200" dirty="0"/>
          </a:p>
        </p:txBody>
      </p:sp>
      <p:sp>
        <p:nvSpPr>
          <p:cNvPr id="32" name="Cartão"/>
          <p:cNvSpPr/>
          <p:nvPr/>
        </p:nvSpPr>
        <p:spPr>
          <a:xfrm>
            <a:off x="6858000" y="2754412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33" name="Cartão"/>
          <p:cNvSpPr/>
          <p:nvPr/>
        </p:nvSpPr>
        <p:spPr>
          <a:xfrm>
            <a:off x="6858000" y="2754412"/>
            <a:ext cx="762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34" name="D1"/>
          <p:cNvSpPr txBox="1"/>
          <p:nvPr/>
        </p:nvSpPr>
        <p:spPr>
          <a:xfrm>
            <a:off x="8915400" y="2687350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D1</a:t>
            </a:r>
            <a:endParaRPr lang="en-US" sz="1200" dirty="0"/>
          </a:p>
        </p:txBody>
      </p:sp>
      <p:sp>
        <p:nvSpPr>
          <p:cNvPr id="35" name="Cartão"/>
          <p:cNvSpPr/>
          <p:nvPr/>
        </p:nvSpPr>
        <p:spPr>
          <a:xfrm>
            <a:off x="9321800" y="2754412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36" name="Cartão"/>
          <p:cNvSpPr/>
          <p:nvPr/>
        </p:nvSpPr>
        <p:spPr>
          <a:xfrm>
            <a:off x="6197600" y="3165872"/>
            <a:ext cx="5181600" cy="1445022"/>
          </a:xfrm>
          <a:prstGeom prst="roundRect">
            <a:avLst>
              <a:gd name="adj" fmla="val 527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37" name="Borda de destaque"/>
          <p:cNvSpPr/>
          <p:nvPr/>
        </p:nvSpPr>
        <p:spPr>
          <a:xfrm>
            <a:off x="6208179" y="3165872"/>
            <a:ext cx="5160443" cy="38100"/>
          </a:xfrm>
          <a:custGeom>
            <a:avLst/>
            <a:gdLst/>
            <a:ahLst/>
            <a:cxnLst/>
            <a:rect l="l" t="t" r="r" b="b"/>
            <a:pathLst>
              <a:path w="5160443" h="38100">
                <a:moveTo>
                  <a:pt x="5094821" y="0"/>
                </a:moveTo>
                <a:lnTo>
                  <a:pt x="5109687" y="1464"/>
                </a:lnTo>
                <a:lnTo>
                  <a:pt x="5123982" y="5800"/>
                </a:lnTo>
                <a:lnTo>
                  <a:pt x="5137156" y="12842"/>
                </a:lnTo>
                <a:lnTo>
                  <a:pt x="5148703" y="22318"/>
                </a:lnTo>
                <a:lnTo>
                  <a:pt x="5158179" y="33866"/>
                </a:lnTo>
                <a:lnTo>
                  <a:pt x="5160443" y="38100"/>
                </a:lnTo>
                <a:lnTo>
                  <a:pt x="0" y="38100"/>
                </a:lnTo>
                <a:lnTo>
                  <a:pt x="2263" y="33866"/>
                </a:lnTo>
                <a:lnTo>
                  <a:pt x="11740" y="22318"/>
                </a:lnTo>
                <a:lnTo>
                  <a:pt x="23287" y="12842"/>
                </a:lnTo>
                <a:lnTo>
                  <a:pt x="36461" y="5800"/>
                </a:lnTo>
                <a:lnTo>
                  <a:pt x="50755" y="1464"/>
                </a:lnTo>
                <a:lnTo>
                  <a:pt x="65621" y="0"/>
                </a:lnTo>
                <a:close/>
              </a:path>
            </a:pathLst>
          </a:custGeom>
          <a:solidFill>
            <a:srgbClr val="2E5E8C"/>
          </a:solidFill>
          <a:ln/>
        </p:spPr>
      </p:sp>
      <p:sp>
        <p:nvSpPr>
          <p:cNvPr id="38" name="Inotrópico β1 com vasodilatação β2: pode"/>
          <p:cNvSpPr txBox="1"/>
          <p:nvPr/>
        </p:nvSpPr>
        <p:spPr>
          <a:xfrm>
            <a:off x="6457950" y="3391999"/>
            <a:ext cx="46799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Inotrópico β1 com vasodilatação β2: pode baixar a PAM e entra com o vasopressor, nunca no lugar dele. Indicada no baixo débito com hipoperfusão. Taquicardia e arritmia limitam a dose.</a:t>
            </a:r>
            <a:endParaRPr lang="en-US" sz="1350" dirty="0"/>
          </a:p>
        </p:txBody>
      </p:sp>
      <p:sp>
        <p:nvSpPr>
          <p:cNvPr id="39" name="Bellomo, Lancet 2000 · De Backer, N Engl"/>
          <p:cNvSpPr txBox="1"/>
          <p:nvPr/>
        </p:nvSpPr>
        <p:spPr>
          <a:xfrm>
            <a:off x="812800" y="6227078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Bellomo, Lancet 2000 · De Backer, N Engl J Med 2010 (SOAP II) · SSC 2026 · barras: escala qualitativa</a:t>
            </a:r>
            <a:endParaRPr lang="en-US" sz="1200" dirty="0"/>
          </a:p>
        </p:txBody>
      </p:sp>
      <p:pic>
        <p:nvPicPr>
          <p:cNvPr id="40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MILRINONA"/>
          <p:cNvSpPr txBox="1"/>
          <p:nvPr/>
        </p:nvSpPr>
        <p:spPr>
          <a:xfrm>
            <a:off x="812800" y="801599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· DROGAS · MILRINONA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Milrinona: inodilatador sem receptor β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674765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MECANISMO"/>
          <p:cNvSpPr txBox="1"/>
          <p:nvPr/>
        </p:nvSpPr>
        <p:spPr>
          <a:xfrm>
            <a:off x="1066800" y="2122299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MECANISMO</a:t>
            </a:r>
            <a:endParaRPr lang="en-US" sz="1200" dirty="0"/>
          </a:p>
        </p:txBody>
      </p:sp>
      <p:sp>
        <p:nvSpPr>
          <p:cNvPr id="6" name="Inibe a PDE3 e aumenta o AMPc sem passar"/>
          <p:cNvSpPr txBox="1"/>
          <p:nvPr/>
        </p:nvSpPr>
        <p:spPr>
          <a:xfrm>
            <a:off x="1066800" y="2466087"/>
            <a:ext cx="2559050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Inibe a PDE3 e aumenta o AMPc sem passar pelo receptor β</a:t>
            </a:r>
            <a:endParaRPr lang="en-US" sz="1400" dirty="0"/>
          </a:p>
        </p:txBody>
      </p:sp>
      <p:sp>
        <p:nvSpPr>
          <p:cNvPr id="7" name="Coração: inotropismo e lusitropismo. Vas"/>
          <p:cNvSpPr txBox="1"/>
          <p:nvPr/>
        </p:nvSpPr>
        <p:spPr>
          <a:xfrm>
            <a:off x="1066800" y="3282861"/>
            <a:ext cx="2559050" cy="639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C9C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Coração: inotropismo e lusitropismo. Vasos: vasodilatação sistêmica e pulmonar.</a:t>
            </a:r>
            <a:endParaRPr lang="en-US" sz="1200" dirty="0"/>
          </a:p>
        </p:txBody>
      </p:sp>
      <p:sp>
        <p:nvSpPr>
          <p:cNvPr id="8" name="EFEITO HEMODINÂMICO"/>
          <p:cNvSpPr txBox="1"/>
          <p:nvPr/>
        </p:nvSpPr>
        <p:spPr>
          <a:xfrm>
            <a:off x="1066800" y="4049822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9" name="DC ↑↑"/>
          <p:cNvSpPr txBox="1"/>
          <p:nvPr/>
        </p:nvSpPr>
        <p:spPr>
          <a:xfrm>
            <a:off x="1066800" y="4388275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↑↑</a:t>
            </a:r>
            <a:endParaRPr lang="en-US" sz="1400" dirty="0"/>
          </a:p>
        </p:txBody>
      </p:sp>
      <p:sp>
        <p:nvSpPr>
          <p:cNvPr id="10" name="FC ↔/↑"/>
          <p:cNvSpPr txBox="1"/>
          <p:nvPr/>
        </p:nvSpPr>
        <p:spPr>
          <a:xfrm>
            <a:off x="2413000" y="4388275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↔/↑</a:t>
            </a:r>
            <a:endParaRPr lang="en-US" sz="1400" dirty="0"/>
          </a:p>
        </p:txBody>
      </p:sp>
      <p:sp>
        <p:nvSpPr>
          <p:cNvPr id="11" name="RVS ↓"/>
          <p:cNvSpPr txBox="1"/>
          <p:nvPr/>
        </p:nvSpPr>
        <p:spPr>
          <a:xfrm>
            <a:off x="1066800" y="471331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RVS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↓</a:t>
            </a:r>
            <a:endParaRPr lang="en-US" sz="1400" dirty="0"/>
          </a:p>
        </p:txBody>
      </p:sp>
      <p:sp>
        <p:nvSpPr>
          <p:cNvPr id="12" name="RVP ↓"/>
          <p:cNvSpPr txBox="1"/>
          <p:nvPr/>
        </p:nvSpPr>
        <p:spPr>
          <a:xfrm>
            <a:off x="2413000" y="471331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RVP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↓</a:t>
            </a:r>
            <a:endParaRPr lang="en-US" sz="1400" dirty="0"/>
          </a:p>
        </p:txBody>
      </p:sp>
      <p:sp>
        <p:nvSpPr>
          <p:cNvPr id="13" name="PAM ↔/↓"/>
          <p:cNvSpPr txBox="1"/>
          <p:nvPr/>
        </p:nvSpPr>
        <p:spPr>
          <a:xfrm>
            <a:off x="1066800" y="503835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PAM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↔/↓</a:t>
            </a:r>
            <a:endParaRPr lang="en-US" sz="1400" dirty="0"/>
          </a:p>
        </p:txBody>
      </p:sp>
      <p:sp>
        <p:nvSpPr>
          <p:cNvPr id="14" name="POAP ↓"/>
          <p:cNvSpPr txBox="1"/>
          <p:nvPr/>
        </p:nvSpPr>
        <p:spPr>
          <a:xfrm>
            <a:off x="2413000" y="503835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POAP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↓</a:t>
            </a:r>
            <a:endParaRPr lang="en-US" sz="1400" dirty="0"/>
          </a:p>
        </p:txBody>
      </p:sp>
      <p:sp>
        <p:nvSpPr>
          <p:cNvPr id="15" name="Cartão"/>
          <p:cNvSpPr/>
          <p:nvPr/>
        </p:nvSpPr>
        <p:spPr>
          <a:xfrm>
            <a:off x="4064000" y="1879501"/>
            <a:ext cx="7315200" cy="1665883"/>
          </a:xfrm>
          <a:prstGeom prst="roundRect">
            <a:avLst>
              <a:gd name="adj" fmla="val 4574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6" name="Borda de destaque"/>
          <p:cNvSpPr/>
          <p:nvPr/>
        </p:nvSpPr>
        <p:spPr>
          <a:xfrm>
            <a:off x="4074579" y="1879501"/>
            <a:ext cx="7294043" cy="38100"/>
          </a:xfrm>
          <a:custGeom>
            <a:avLst/>
            <a:gdLst/>
            <a:ahLst/>
            <a:cxnLst/>
            <a:rect l="l" t="t" r="r" b="b"/>
            <a:pathLst>
              <a:path w="7294043" h="38100">
                <a:moveTo>
                  <a:pt x="7228421" y="0"/>
                </a:moveTo>
                <a:lnTo>
                  <a:pt x="7243287" y="1464"/>
                </a:lnTo>
                <a:lnTo>
                  <a:pt x="7257582" y="5800"/>
                </a:lnTo>
                <a:lnTo>
                  <a:pt x="7270756" y="12842"/>
                </a:lnTo>
                <a:lnTo>
                  <a:pt x="7282303" y="22318"/>
                </a:lnTo>
                <a:lnTo>
                  <a:pt x="7291779" y="33866"/>
                </a:lnTo>
                <a:lnTo>
                  <a:pt x="7294043" y="38100"/>
                </a:lnTo>
                <a:lnTo>
                  <a:pt x="0" y="38100"/>
                </a:lnTo>
                <a:lnTo>
                  <a:pt x="2263" y="33866"/>
                </a:lnTo>
                <a:lnTo>
                  <a:pt x="11740" y="22318"/>
                </a:lnTo>
                <a:lnTo>
                  <a:pt x="23287" y="12842"/>
                </a:lnTo>
                <a:lnTo>
                  <a:pt x="36461" y="5800"/>
                </a:lnTo>
                <a:lnTo>
                  <a:pt x="50755" y="1464"/>
                </a:lnTo>
                <a:lnTo>
                  <a:pt x="65621" y="0"/>
                </a:lnTo>
                <a:close/>
              </a:path>
            </a:pathLst>
          </a:custGeom>
          <a:solidFill>
            <a:srgbClr val="B9581A"/>
          </a:solidFill>
          <a:ln/>
        </p:spPr>
      </p:sp>
      <p:sp>
        <p:nvSpPr>
          <p:cNvPr id="17" name="Indicações"/>
          <p:cNvSpPr txBox="1"/>
          <p:nvPr/>
        </p:nvSpPr>
        <p:spPr>
          <a:xfrm>
            <a:off x="4324350" y="2168686"/>
            <a:ext cx="68135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Indicações</a:t>
            </a:r>
            <a:endParaRPr lang="en-US" sz="1700" dirty="0"/>
          </a:p>
        </p:txBody>
      </p:sp>
      <p:sp>
        <p:nvSpPr>
          <p:cNvPr id="18" name="IC descompensada com baixo débito e sínd"/>
          <p:cNvSpPr txBox="1"/>
          <p:nvPr/>
        </p:nvSpPr>
        <p:spPr>
          <a:xfrm>
            <a:off x="4324350" y="2517088"/>
            <a:ext cx="68135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 descompensada com baixo débito e síndrome de baixo débito após CEC. Disfunção de VD e hipertensão pulmonar. Ponte para transplante ou assistência ventricular. Preferível à dobutamina em uso de betabloqueador.</a:t>
            </a:r>
            <a:endParaRPr lang="en-US" sz="1350" dirty="0"/>
          </a:p>
        </p:txBody>
      </p:sp>
      <p:sp>
        <p:nvSpPr>
          <p:cNvPr id="19" name="Cartão"/>
          <p:cNvSpPr/>
          <p:nvPr/>
        </p:nvSpPr>
        <p:spPr>
          <a:xfrm>
            <a:off x="4064000" y="3646984"/>
            <a:ext cx="7315200" cy="1907282"/>
          </a:xfrm>
          <a:prstGeom prst="roundRect">
            <a:avLst>
              <a:gd name="adj" fmla="val 39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0" name="Borda de destaque"/>
          <p:cNvSpPr/>
          <p:nvPr/>
        </p:nvSpPr>
        <p:spPr>
          <a:xfrm>
            <a:off x="4074579" y="3646984"/>
            <a:ext cx="7294043" cy="38100"/>
          </a:xfrm>
          <a:custGeom>
            <a:avLst/>
            <a:gdLst/>
            <a:ahLst/>
            <a:cxnLst/>
            <a:rect l="l" t="t" r="r" b="b"/>
            <a:pathLst>
              <a:path w="7294043" h="38100">
                <a:moveTo>
                  <a:pt x="7228421" y="0"/>
                </a:moveTo>
                <a:lnTo>
                  <a:pt x="7243287" y="1464"/>
                </a:lnTo>
                <a:lnTo>
                  <a:pt x="7257582" y="5800"/>
                </a:lnTo>
                <a:lnTo>
                  <a:pt x="7270756" y="12842"/>
                </a:lnTo>
                <a:lnTo>
                  <a:pt x="7282303" y="22318"/>
                </a:lnTo>
                <a:lnTo>
                  <a:pt x="7291779" y="33866"/>
                </a:lnTo>
                <a:lnTo>
                  <a:pt x="7294043" y="38100"/>
                </a:lnTo>
                <a:lnTo>
                  <a:pt x="0" y="38100"/>
                </a:lnTo>
                <a:lnTo>
                  <a:pt x="2263" y="33866"/>
                </a:lnTo>
                <a:lnTo>
                  <a:pt x="11740" y="22318"/>
                </a:lnTo>
                <a:lnTo>
                  <a:pt x="23287" y="12842"/>
                </a:lnTo>
                <a:lnTo>
                  <a:pt x="36461" y="5800"/>
                </a:lnTo>
                <a:lnTo>
                  <a:pt x="50755" y="1464"/>
                </a:lnTo>
                <a:lnTo>
                  <a:pt x="65621" y="0"/>
                </a:lnTo>
                <a:close/>
              </a:path>
            </a:pathLst>
          </a:custGeom>
          <a:solidFill>
            <a:srgbClr val="2E5E8C"/>
          </a:solidFill>
          <a:ln/>
        </p:spPr>
      </p:sp>
      <p:sp>
        <p:nvSpPr>
          <p:cNvPr id="21" name="Dose e cuidados"/>
          <p:cNvSpPr txBox="1"/>
          <p:nvPr/>
        </p:nvSpPr>
        <p:spPr>
          <a:xfrm>
            <a:off x="4324350" y="3936169"/>
            <a:ext cx="68135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Dose e cuidados</a:t>
            </a:r>
            <a:endParaRPr lang="en-US" sz="1700" dirty="0"/>
          </a:p>
        </p:txBody>
      </p:sp>
      <p:sp>
        <p:nvSpPr>
          <p:cNvPr id="22" name="Ataque de 50 mcg/kg em 10 min, muitas ve"/>
          <p:cNvSpPr txBox="1"/>
          <p:nvPr/>
        </p:nvSpPr>
        <p:spPr>
          <a:xfrm>
            <a:off x="4324350" y="4284570"/>
            <a:ext cx="68135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Ataque de 50 mcg/kg em 10 min, muitas vezes omitido; manutenção de 0,375–0,75 mcg/kg/min. Eliminação renal: reduzir na insuficiência renal. Hipotensão (associar NA) e arritmias. No choque cardiogênico, sem diferença significativa vs. dobutamina (DOREMI).</a:t>
            </a:r>
            <a:endParaRPr lang="en-US" sz="1350" dirty="0"/>
          </a:p>
        </p:txBody>
      </p:sp>
      <p:sp>
        <p:nvSpPr>
          <p:cNvPr id="23" name="Mathew, N Engl J Med 2021 (DOREMI) · Cuf"/>
          <p:cNvSpPr txBox="1"/>
          <p:nvPr/>
        </p:nvSpPr>
        <p:spPr>
          <a:xfrm>
            <a:off x="812800" y="6227078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Mathew, N Engl J Med 2021 (DOREMI) · Cuffe, JAMA 2002 (OPTIME-CHF) · Miller’s Anesthesia, 10ª ed. · [cap./pág.]</a:t>
            </a:r>
            <a:endParaRPr lang="en-US" sz="1200" dirty="0"/>
          </a:p>
        </p:txBody>
      </p:sp>
      <p:pic>
        <p:nvPicPr>
          <p:cNvPr id="24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FENILEFRINA E EFEDRINA"/>
          <p:cNvSpPr txBox="1"/>
          <p:nvPr/>
        </p:nvSpPr>
        <p:spPr>
          <a:xfrm>
            <a:off x="812800" y="801599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· DROGAS · FENILEFRINA E EFEDRINA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Fenilefrina e efedrina: as drogas de bolus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5181600" cy="1210171"/>
          </a:xfrm>
          <a:prstGeom prst="roundRect">
            <a:avLst>
              <a:gd name="adj" fmla="val 6297"/>
            </a:avLst>
          </a:prstGeom>
          <a:solidFill>
            <a:srgbClr val="1B2A3A"/>
          </a:solidFill>
          <a:ln/>
        </p:spPr>
      </p:sp>
      <p:sp>
        <p:nvSpPr>
          <p:cNvPr id="5" name="Fenilefrina"/>
          <p:cNvSpPr txBox="1"/>
          <p:nvPr/>
        </p:nvSpPr>
        <p:spPr>
          <a:xfrm>
            <a:off x="1066800" y="2054386"/>
            <a:ext cx="1110853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Fenilefrina</a:t>
            </a:r>
            <a:endParaRPr lang="en-US" sz="1700" dirty="0"/>
          </a:p>
        </p:txBody>
      </p:sp>
      <p:sp>
        <p:nvSpPr>
          <p:cNvPr id="6" name="RVS ↑↑ · FC ↓ · DC ↔/↓"/>
          <p:cNvSpPr txBox="1"/>
          <p:nvPr/>
        </p:nvSpPr>
        <p:spPr>
          <a:xfrm>
            <a:off x="3970139" y="2076916"/>
            <a:ext cx="1789311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E49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RVS ↑↑ · FC ↓ · DC ↔/↓</a:t>
            </a:r>
            <a:endParaRPr lang="en-US" sz="1300" dirty="0"/>
          </a:p>
        </p:txBody>
      </p:sp>
      <p:sp>
        <p:nvSpPr>
          <p:cNvPr id="7" name="α1"/>
          <p:cNvSpPr txBox="1"/>
          <p:nvPr/>
        </p:nvSpPr>
        <p:spPr>
          <a:xfrm>
            <a:off x="1066800" y="2410530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α1</a:t>
            </a:r>
            <a:endParaRPr lang="en-US" sz="1200" dirty="0"/>
          </a:p>
        </p:txBody>
      </p:sp>
      <p:sp>
        <p:nvSpPr>
          <p:cNvPr id="8" name="Cartão"/>
          <p:cNvSpPr/>
          <p:nvPr/>
        </p:nvSpPr>
        <p:spPr>
          <a:xfrm>
            <a:off x="1473200" y="247759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9" name="Cartão"/>
          <p:cNvSpPr/>
          <p:nvPr/>
        </p:nvSpPr>
        <p:spPr>
          <a:xfrm>
            <a:off x="1473200" y="247759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0" name="β1"/>
          <p:cNvSpPr txBox="1"/>
          <p:nvPr/>
        </p:nvSpPr>
        <p:spPr>
          <a:xfrm>
            <a:off x="3530600" y="2410530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β1</a:t>
            </a:r>
            <a:endParaRPr lang="en-US" sz="1200" dirty="0"/>
          </a:p>
        </p:txBody>
      </p:sp>
      <p:sp>
        <p:nvSpPr>
          <p:cNvPr id="11" name="Cartão"/>
          <p:cNvSpPr/>
          <p:nvPr/>
        </p:nvSpPr>
        <p:spPr>
          <a:xfrm>
            <a:off x="3937000" y="247759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2687350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β2</a:t>
            </a:r>
            <a:endParaRPr lang="en-US" sz="1200" dirty="0"/>
          </a:p>
        </p:txBody>
      </p:sp>
      <p:sp>
        <p:nvSpPr>
          <p:cNvPr id="13" name="Cartão"/>
          <p:cNvSpPr/>
          <p:nvPr/>
        </p:nvSpPr>
        <p:spPr>
          <a:xfrm>
            <a:off x="1473200" y="2754412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D1"/>
          <p:cNvSpPr txBox="1"/>
          <p:nvPr/>
        </p:nvSpPr>
        <p:spPr>
          <a:xfrm>
            <a:off x="3530600" y="2687350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D1</a:t>
            </a:r>
            <a:endParaRPr lang="en-US" sz="1200" dirty="0"/>
          </a:p>
        </p:txBody>
      </p:sp>
      <p:sp>
        <p:nvSpPr>
          <p:cNvPr id="15" name="Cartão"/>
          <p:cNvSpPr/>
          <p:nvPr/>
        </p:nvSpPr>
        <p:spPr>
          <a:xfrm>
            <a:off x="3937000" y="2754412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6" name="Cartão"/>
          <p:cNvSpPr/>
          <p:nvPr/>
        </p:nvSpPr>
        <p:spPr>
          <a:xfrm>
            <a:off x="812800" y="3165872"/>
            <a:ext cx="5181600" cy="1445022"/>
          </a:xfrm>
          <a:prstGeom prst="roundRect">
            <a:avLst>
              <a:gd name="adj" fmla="val 527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7" name="Borda de destaque"/>
          <p:cNvSpPr/>
          <p:nvPr/>
        </p:nvSpPr>
        <p:spPr>
          <a:xfrm>
            <a:off x="823379" y="3165872"/>
            <a:ext cx="5160443" cy="38100"/>
          </a:xfrm>
          <a:custGeom>
            <a:avLst/>
            <a:gdLst/>
            <a:ahLst/>
            <a:cxnLst/>
            <a:rect l="l" t="t" r="r" b="b"/>
            <a:pathLst>
              <a:path w="5160443" h="38100">
                <a:moveTo>
                  <a:pt x="5094821" y="0"/>
                </a:moveTo>
                <a:lnTo>
                  <a:pt x="5109687" y="1464"/>
                </a:lnTo>
                <a:lnTo>
                  <a:pt x="5123982" y="5800"/>
                </a:lnTo>
                <a:lnTo>
                  <a:pt x="5137156" y="12842"/>
                </a:lnTo>
                <a:lnTo>
                  <a:pt x="5148703" y="22318"/>
                </a:lnTo>
                <a:lnTo>
                  <a:pt x="5158179" y="33866"/>
                </a:lnTo>
                <a:lnTo>
                  <a:pt x="5160443" y="38100"/>
                </a:lnTo>
                <a:lnTo>
                  <a:pt x="0" y="38100"/>
                </a:lnTo>
                <a:lnTo>
                  <a:pt x="2263" y="33866"/>
                </a:lnTo>
                <a:lnTo>
                  <a:pt x="11740" y="22318"/>
                </a:lnTo>
                <a:lnTo>
                  <a:pt x="23287" y="12842"/>
                </a:lnTo>
                <a:lnTo>
                  <a:pt x="36461" y="5800"/>
                </a:lnTo>
                <a:lnTo>
                  <a:pt x="50755" y="1464"/>
                </a:lnTo>
                <a:lnTo>
                  <a:pt x="65621" y="0"/>
                </a:lnTo>
                <a:close/>
              </a:path>
            </a:pathLst>
          </a:custGeom>
          <a:solidFill>
            <a:srgbClr val="B9581A"/>
          </a:solidFill>
          <a:ln/>
        </p:spPr>
      </p:sp>
      <p:sp>
        <p:nvSpPr>
          <p:cNvPr id="18" name="Agonista α1 direto, em bolus de 50–100 m"/>
          <p:cNvSpPr txBox="1"/>
          <p:nvPr/>
        </p:nvSpPr>
        <p:spPr>
          <a:xfrm>
            <a:off x="1073150" y="3391999"/>
            <a:ext cx="46799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Agonista α1 direto, em bolus de 50–100 mcg. A bradicardia reflexa pode reduzir o DC; ajuda quando a taquicardia é o problema (por exemplo, na estenose aórtica, conforme o contexto). Cesárea: infusão profilática de 25–50 mcg/min.</a:t>
            </a:r>
            <a:endParaRPr lang="en-US" sz="1350" dirty="0"/>
          </a:p>
        </p:txBody>
      </p:sp>
      <p:sp>
        <p:nvSpPr>
          <p:cNvPr id="19" name="Cartão"/>
          <p:cNvSpPr/>
          <p:nvPr/>
        </p:nvSpPr>
        <p:spPr>
          <a:xfrm>
            <a:off x="6197600" y="1879501"/>
            <a:ext cx="5181600" cy="1210171"/>
          </a:xfrm>
          <a:prstGeom prst="roundRect">
            <a:avLst>
              <a:gd name="adj" fmla="val 6297"/>
            </a:avLst>
          </a:prstGeom>
          <a:solidFill>
            <a:srgbClr val="1B2A3A"/>
          </a:solidFill>
          <a:ln/>
        </p:spPr>
      </p:sp>
      <p:sp>
        <p:nvSpPr>
          <p:cNvPr id="20" name="Efedrina"/>
          <p:cNvSpPr txBox="1"/>
          <p:nvPr/>
        </p:nvSpPr>
        <p:spPr>
          <a:xfrm>
            <a:off x="6451600" y="2054386"/>
            <a:ext cx="882948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Efedrina</a:t>
            </a:r>
            <a:endParaRPr lang="en-US" sz="1700" dirty="0"/>
          </a:p>
        </p:txBody>
      </p:sp>
      <p:sp>
        <p:nvSpPr>
          <p:cNvPr id="21" name="PAM ↑ · FC ↑ · DC ↑"/>
          <p:cNvSpPr txBox="1"/>
          <p:nvPr/>
        </p:nvSpPr>
        <p:spPr>
          <a:xfrm>
            <a:off x="9621044" y="2076916"/>
            <a:ext cx="1523206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E49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PAM ↑ · FC ↑ · DC ↑</a:t>
            </a:r>
            <a:endParaRPr lang="en-US" sz="1300" dirty="0"/>
          </a:p>
        </p:txBody>
      </p:sp>
      <p:sp>
        <p:nvSpPr>
          <p:cNvPr id="22" name="α1"/>
          <p:cNvSpPr txBox="1"/>
          <p:nvPr/>
        </p:nvSpPr>
        <p:spPr>
          <a:xfrm>
            <a:off x="6451600" y="2410530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α1</a:t>
            </a:r>
            <a:endParaRPr lang="en-US" sz="1200" dirty="0"/>
          </a:p>
        </p:txBody>
      </p:sp>
      <p:sp>
        <p:nvSpPr>
          <p:cNvPr id="23" name="Cartão"/>
          <p:cNvSpPr/>
          <p:nvPr/>
        </p:nvSpPr>
        <p:spPr>
          <a:xfrm>
            <a:off x="6858000" y="247759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4" name="Cartão"/>
          <p:cNvSpPr/>
          <p:nvPr/>
        </p:nvSpPr>
        <p:spPr>
          <a:xfrm>
            <a:off x="6858000" y="2477591"/>
            <a:ext cx="762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25" name="β1"/>
          <p:cNvSpPr txBox="1"/>
          <p:nvPr/>
        </p:nvSpPr>
        <p:spPr>
          <a:xfrm>
            <a:off x="8915400" y="2410530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β1</a:t>
            </a:r>
            <a:endParaRPr lang="en-US" sz="1200" dirty="0"/>
          </a:p>
        </p:txBody>
      </p:sp>
      <p:sp>
        <p:nvSpPr>
          <p:cNvPr id="26" name="Cartão"/>
          <p:cNvSpPr/>
          <p:nvPr/>
        </p:nvSpPr>
        <p:spPr>
          <a:xfrm>
            <a:off x="9321800" y="247759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7" name="Cartão"/>
          <p:cNvSpPr/>
          <p:nvPr/>
        </p:nvSpPr>
        <p:spPr>
          <a:xfrm>
            <a:off x="9321800" y="2477591"/>
            <a:ext cx="762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28" name="β2"/>
          <p:cNvSpPr txBox="1"/>
          <p:nvPr/>
        </p:nvSpPr>
        <p:spPr>
          <a:xfrm>
            <a:off x="6451600" y="2687350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β2</a:t>
            </a:r>
            <a:endParaRPr lang="en-US" sz="1200" dirty="0"/>
          </a:p>
        </p:txBody>
      </p:sp>
      <p:sp>
        <p:nvSpPr>
          <p:cNvPr id="29" name="Cartão"/>
          <p:cNvSpPr/>
          <p:nvPr/>
        </p:nvSpPr>
        <p:spPr>
          <a:xfrm>
            <a:off x="6858000" y="2754412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30" name="Cartão"/>
          <p:cNvSpPr/>
          <p:nvPr/>
        </p:nvSpPr>
        <p:spPr>
          <a:xfrm>
            <a:off x="6858000" y="2754412"/>
            <a:ext cx="381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31" name="D1"/>
          <p:cNvSpPr txBox="1"/>
          <p:nvPr/>
        </p:nvSpPr>
        <p:spPr>
          <a:xfrm>
            <a:off x="8915400" y="2687350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D1</a:t>
            </a:r>
            <a:endParaRPr lang="en-US" sz="1200" dirty="0"/>
          </a:p>
        </p:txBody>
      </p:sp>
      <p:sp>
        <p:nvSpPr>
          <p:cNvPr id="32" name="Cartão"/>
          <p:cNvSpPr/>
          <p:nvPr/>
        </p:nvSpPr>
        <p:spPr>
          <a:xfrm>
            <a:off x="9321800" y="2754412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33" name="Cartão"/>
          <p:cNvSpPr/>
          <p:nvPr/>
        </p:nvSpPr>
        <p:spPr>
          <a:xfrm>
            <a:off x="6197600" y="3165872"/>
            <a:ext cx="5181600" cy="1445022"/>
          </a:xfrm>
          <a:prstGeom prst="roundRect">
            <a:avLst>
              <a:gd name="adj" fmla="val 527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34" name="Borda de destaque"/>
          <p:cNvSpPr/>
          <p:nvPr/>
        </p:nvSpPr>
        <p:spPr>
          <a:xfrm>
            <a:off x="6208179" y="3165872"/>
            <a:ext cx="5160443" cy="38100"/>
          </a:xfrm>
          <a:custGeom>
            <a:avLst/>
            <a:gdLst/>
            <a:ahLst/>
            <a:cxnLst/>
            <a:rect l="l" t="t" r="r" b="b"/>
            <a:pathLst>
              <a:path w="5160443" h="38100">
                <a:moveTo>
                  <a:pt x="5094821" y="0"/>
                </a:moveTo>
                <a:lnTo>
                  <a:pt x="5109687" y="1464"/>
                </a:lnTo>
                <a:lnTo>
                  <a:pt x="5123982" y="5800"/>
                </a:lnTo>
                <a:lnTo>
                  <a:pt x="5137156" y="12842"/>
                </a:lnTo>
                <a:lnTo>
                  <a:pt x="5148703" y="22318"/>
                </a:lnTo>
                <a:lnTo>
                  <a:pt x="5158179" y="33866"/>
                </a:lnTo>
                <a:lnTo>
                  <a:pt x="5160443" y="38100"/>
                </a:lnTo>
                <a:lnTo>
                  <a:pt x="0" y="38100"/>
                </a:lnTo>
                <a:lnTo>
                  <a:pt x="2263" y="33866"/>
                </a:lnTo>
                <a:lnTo>
                  <a:pt x="11740" y="22318"/>
                </a:lnTo>
                <a:lnTo>
                  <a:pt x="23287" y="12842"/>
                </a:lnTo>
                <a:lnTo>
                  <a:pt x="36461" y="5800"/>
                </a:lnTo>
                <a:lnTo>
                  <a:pt x="50755" y="1464"/>
                </a:lnTo>
                <a:lnTo>
                  <a:pt x="65621" y="0"/>
                </a:lnTo>
                <a:close/>
              </a:path>
            </a:pathLst>
          </a:custGeom>
          <a:solidFill>
            <a:srgbClr val="2E5E8C"/>
          </a:solidFill>
          <a:ln/>
        </p:spPr>
      </p:sp>
      <p:sp>
        <p:nvSpPr>
          <p:cNvPr id="35" name="Ação mista: direta em α e β e indireta, "/>
          <p:cNvSpPr txBox="1"/>
          <p:nvPr/>
        </p:nvSpPr>
        <p:spPr>
          <a:xfrm>
            <a:off x="6457950" y="3391999"/>
            <a:ext cx="46799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Ação mista: direta em α e β e indireta, liberando noradrenalina. Bolus de 5–10 mg, boa na hipotensão com bradicardia. Taquifilaxia com doses repetidas; na cesárea, mais acidose fetal que a fenilefrina.</a:t>
            </a:r>
            <a:endParaRPr lang="en-US" sz="1350" dirty="0"/>
          </a:p>
        </p:txBody>
      </p:sp>
      <p:sp>
        <p:nvSpPr>
          <p:cNvPr id="36" name="Kinsella, Anaesthesia 2018 · Park &amp; Choi"/>
          <p:cNvSpPr txBox="1"/>
          <p:nvPr/>
        </p:nvSpPr>
        <p:spPr>
          <a:xfrm>
            <a:off x="812800" y="6227078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Kinsella, Anaesthesia 2018 · Park &amp; Choi, Anesth Pain Med 2024 · Miller’s Anesthesia, 10ª ed. · [cap./pág.] · barras: escala qualitativa</a:t>
            </a:r>
            <a:endParaRPr lang="en-US" sz="1200" dirty="0"/>
          </a:p>
        </p:txBody>
      </p:sp>
      <p:pic>
        <p:nvPicPr>
          <p:cNvPr id="37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4 · ALÉM DAS AMINAS"/>
          <p:cNvSpPr txBox="1"/>
          <p:nvPr/>
        </p:nvSpPr>
        <p:spPr>
          <a:xfrm>
            <a:off x="812800" y="801599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· ALÉM DAS AMINAS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Vasopressina e adjuvantes: outras vias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4064000" cy="3380383"/>
          </a:xfrm>
          <a:prstGeom prst="roundRect">
            <a:avLst>
              <a:gd name="adj" fmla="val 2254"/>
            </a:avLst>
          </a:prstGeom>
          <a:solidFill>
            <a:srgbClr val="1B2A3A"/>
          </a:solidFill>
          <a:ln/>
        </p:spPr>
      </p:sp>
      <p:sp>
        <p:nvSpPr>
          <p:cNvPr id="5" name="VASOPRESSINA · RECEPTOR V1"/>
          <p:cNvSpPr txBox="1"/>
          <p:nvPr/>
        </p:nvSpPr>
        <p:spPr>
          <a:xfrm>
            <a:off x="1066800" y="2122299"/>
            <a:ext cx="3575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VASOPRESSINA · RECEPTOR V1</a:t>
            </a:r>
            <a:endParaRPr lang="en-US" sz="1200" dirty="0"/>
          </a:p>
        </p:txBody>
      </p:sp>
      <p:sp>
        <p:nvSpPr>
          <p:cNvPr id="6" name="0,03 U/min"/>
          <p:cNvSpPr txBox="1"/>
          <p:nvPr/>
        </p:nvSpPr>
        <p:spPr>
          <a:xfrm>
            <a:off x="1066800" y="2457108"/>
            <a:ext cx="3575050" cy="502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960"/>
              </a:lnSpc>
              <a:buNone/>
            </a:pPr>
            <a:r>
              <a:rPr lang="pt-BR" altLang="en-US" sz="36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0,03 U/min</a:t>
            </a:r>
            <a:endParaRPr lang="en-US" sz="3600" dirty="0"/>
          </a:p>
        </p:txBody>
      </p:sp>
      <p:sp>
        <p:nvSpPr>
          <p:cNvPr id="7" name="Dose fixa (até 0,04), sem titular; age m"/>
          <p:cNvSpPr txBox="1"/>
          <p:nvPr/>
        </p:nvSpPr>
        <p:spPr>
          <a:xfrm>
            <a:off x="1066800" y="3037688"/>
            <a:ext cx="3575050" cy="497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DFE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Dose fixa (até 0,04), sem titular; age mesmo com acidose e dessensibilização adrenérgica.</a:t>
            </a:r>
            <a:endParaRPr lang="en-US" sz="1350" dirty="0"/>
          </a:p>
        </p:txBody>
      </p:sp>
      <p:sp>
        <p:nvSpPr>
          <p:cNvPr id="8" name="Indicações: choque séptico com NA em esc"/>
          <p:cNvSpPr txBox="1"/>
          <p:nvPr/>
        </p:nvSpPr>
        <p:spPr>
          <a:xfrm>
            <a:off x="1066800" y="3636374"/>
            <a:ext cx="35750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DFE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Indicações: choque séptico com NA em escalada, vasoplegia pós-CEC e hipotensão refratária com IECA/BRA.</a:t>
            </a:r>
            <a:endParaRPr lang="en-US" sz="1350" dirty="0"/>
          </a:p>
        </p:txBody>
      </p:sp>
      <p:sp>
        <p:nvSpPr>
          <p:cNvPr id="9" name="Cartão"/>
          <p:cNvSpPr/>
          <p:nvPr/>
        </p:nvSpPr>
        <p:spPr>
          <a:xfrm>
            <a:off x="5080000" y="1879501"/>
            <a:ext cx="6299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0" name="Borda de destaque"/>
          <p:cNvSpPr/>
          <p:nvPr/>
        </p:nvSpPr>
        <p:spPr>
          <a:xfrm>
            <a:off x="5080000" y="1890079"/>
            <a:ext cx="38100" cy="1037904"/>
          </a:xfrm>
          <a:custGeom>
            <a:avLst/>
            <a:gdLst/>
            <a:ahLst/>
            <a:cxnLst/>
            <a:rect l="l" t="t" r="r" b="b"/>
            <a:pathLst>
              <a:path w="38100" h="1037904">
                <a:moveTo>
                  <a:pt x="38100" y="1037904"/>
                </a:moveTo>
                <a:lnTo>
                  <a:pt x="33866" y="1035640"/>
                </a:lnTo>
                <a:lnTo>
                  <a:pt x="22318" y="1026164"/>
                </a:lnTo>
                <a:lnTo>
                  <a:pt x="12842" y="1014617"/>
                </a:lnTo>
                <a:lnTo>
                  <a:pt x="5800" y="1001443"/>
                </a:lnTo>
                <a:lnTo>
                  <a:pt x="1464" y="987148"/>
                </a:lnTo>
                <a:lnTo>
                  <a:pt x="0" y="972282"/>
                </a:lnTo>
                <a:lnTo>
                  <a:pt x="0" y="65621"/>
                </a:lnTo>
                <a:lnTo>
                  <a:pt x="1464" y="50755"/>
                </a:lnTo>
                <a:lnTo>
                  <a:pt x="5800" y="36461"/>
                </a:lnTo>
                <a:lnTo>
                  <a:pt x="12842" y="23287"/>
                </a:lnTo>
                <a:lnTo>
                  <a:pt x="22318" y="11740"/>
                </a:lnTo>
                <a:lnTo>
                  <a:pt x="33866" y="2263"/>
                </a:lnTo>
                <a:lnTo>
                  <a:pt x="38100" y="0"/>
                </a:lnTo>
                <a:close/>
              </a:path>
            </a:pathLst>
          </a:custGeom>
          <a:solidFill>
            <a:srgbClr val="B9581A"/>
          </a:solidFill>
          <a:ln/>
        </p:spPr>
      </p:sp>
      <p:sp>
        <p:nvSpPr>
          <p:cNvPr id="11" name="Hidrocortisona"/>
          <p:cNvSpPr txBox="1"/>
          <p:nvPr/>
        </p:nvSpPr>
        <p:spPr>
          <a:xfrm>
            <a:off x="5321300" y="2035679"/>
            <a:ext cx="5867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Hidrocortisona</a:t>
            </a:r>
            <a:endParaRPr lang="en-US" sz="1500" dirty="0"/>
          </a:p>
        </p:txBody>
      </p:sp>
      <p:sp>
        <p:nvSpPr>
          <p:cNvPr id="12" name="Restaura a resposta vascular às catecola"/>
          <p:cNvSpPr txBox="1"/>
          <p:nvPr/>
        </p:nvSpPr>
        <p:spPr>
          <a:xfrm>
            <a:off x="5321300" y="2305516"/>
            <a:ext cx="586740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Restaura a resposta vascular às catecolaminas. No choque séptico, 200 mg/dia (sugerida pela SSC 2026).</a:t>
            </a:r>
            <a:endParaRPr lang="en-US" sz="1300" dirty="0"/>
          </a:p>
        </p:txBody>
      </p:sp>
      <p:sp>
        <p:nvSpPr>
          <p:cNvPr id="13" name="Cartão"/>
          <p:cNvSpPr/>
          <p:nvPr/>
        </p:nvSpPr>
        <p:spPr>
          <a:xfrm>
            <a:off x="5080000" y="3040162"/>
            <a:ext cx="6299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4" name="Borda de destaque"/>
          <p:cNvSpPr/>
          <p:nvPr/>
        </p:nvSpPr>
        <p:spPr>
          <a:xfrm>
            <a:off x="5080000" y="3050740"/>
            <a:ext cx="38100" cy="1037904"/>
          </a:xfrm>
          <a:custGeom>
            <a:avLst/>
            <a:gdLst/>
            <a:ahLst/>
            <a:cxnLst/>
            <a:rect l="l" t="t" r="r" b="b"/>
            <a:pathLst>
              <a:path w="38100" h="1037904">
                <a:moveTo>
                  <a:pt x="38100" y="1037904"/>
                </a:moveTo>
                <a:lnTo>
                  <a:pt x="33866" y="1035640"/>
                </a:lnTo>
                <a:lnTo>
                  <a:pt x="22318" y="1026164"/>
                </a:lnTo>
                <a:lnTo>
                  <a:pt x="12842" y="1014617"/>
                </a:lnTo>
                <a:lnTo>
                  <a:pt x="5800" y="1001443"/>
                </a:lnTo>
                <a:lnTo>
                  <a:pt x="1464" y="987148"/>
                </a:lnTo>
                <a:lnTo>
                  <a:pt x="0" y="972282"/>
                </a:lnTo>
                <a:lnTo>
                  <a:pt x="0" y="65621"/>
                </a:lnTo>
                <a:lnTo>
                  <a:pt x="1464" y="50755"/>
                </a:lnTo>
                <a:lnTo>
                  <a:pt x="5800" y="36461"/>
                </a:lnTo>
                <a:lnTo>
                  <a:pt x="12842" y="23287"/>
                </a:lnTo>
                <a:lnTo>
                  <a:pt x="22318" y="11740"/>
                </a:lnTo>
                <a:lnTo>
                  <a:pt x="33866" y="2263"/>
                </a:lnTo>
                <a:lnTo>
                  <a:pt x="38100" y="0"/>
                </a:lnTo>
                <a:close/>
              </a:path>
            </a:pathLst>
          </a:custGeom>
          <a:solidFill>
            <a:srgbClr val="2E5E8C"/>
          </a:solidFill>
          <a:ln/>
        </p:spPr>
      </p:sp>
      <p:sp>
        <p:nvSpPr>
          <p:cNvPr id="15" name="Angiotensina II"/>
          <p:cNvSpPr txBox="1"/>
          <p:nvPr/>
        </p:nvSpPr>
        <p:spPr>
          <a:xfrm>
            <a:off x="5321300" y="3196340"/>
            <a:ext cx="5867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Angiotensina II</a:t>
            </a:r>
            <a:endParaRPr lang="en-US" sz="1500" dirty="0"/>
          </a:p>
        </p:txBody>
      </p:sp>
      <p:sp>
        <p:nvSpPr>
          <p:cNvPr id="16" name="Agonista AT1: eleva a PAM rapidamente e "/>
          <p:cNvSpPr txBox="1"/>
          <p:nvPr/>
        </p:nvSpPr>
        <p:spPr>
          <a:xfrm>
            <a:off x="5321300" y="3466177"/>
            <a:ext cx="586740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Agonista AT1: eleva a PAM rapidamente e poupa catecolamina. Pouco disponível; a NA continua preferida.</a:t>
            </a:r>
            <a:endParaRPr lang="en-US" sz="1300" dirty="0"/>
          </a:p>
        </p:txBody>
      </p:sp>
      <p:sp>
        <p:nvSpPr>
          <p:cNvPr id="17" name="Cartão"/>
          <p:cNvSpPr/>
          <p:nvPr/>
        </p:nvSpPr>
        <p:spPr>
          <a:xfrm>
            <a:off x="5080000" y="4200823"/>
            <a:ext cx="6299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8" name="Borda de destaque"/>
          <p:cNvSpPr/>
          <p:nvPr/>
        </p:nvSpPr>
        <p:spPr>
          <a:xfrm>
            <a:off x="5080000" y="4211401"/>
            <a:ext cx="38100" cy="1037904"/>
          </a:xfrm>
          <a:custGeom>
            <a:avLst/>
            <a:gdLst/>
            <a:ahLst/>
            <a:cxnLst/>
            <a:rect l="l" t="t" r="r" b="b"/>
            <a:pathLst>
              <a:path w="38100" h="1037904">
                <a:moveTo>
                  <a:pt x="38100" y="1037904"/>
                </a:moveTo>
                <a:lnTo>
                  <a:pt x="33866" y="1035640"/>
                </a:lnTo>
                <a:lnTo>
                  <a:pt x="22318" y="1026164"/>
                </a:lnTo>
                <a:lnTo>
                  <a:pt x="12842" y="1014617"/>
                </a:lnTo>
                <a:lnTo>
                  <a:pt x="5800" y="1001443"/>
                </a:lnTo>
                <a:lnTo>
                  <a:pt x="1464" y="987148"/>
                </a:lnTo>
                <a:lnTo>
                  <a:pt x="0" y="972282"/>
                </a:lnTo>
                <a:lnTo>
                  <a:pt x="0" y="65621"/>
                </a:lnTo>
                <a:lnTo>
                  <a:pt x="1464" y="50755"/>
                </a:lnTo>
                <a:lnTo>
                  <a:pt x="5800" y="36461"/>
                </a:lnTo>
                <a:lnTo>
                  <a:pt x="12842" y="23287"/>
                </a:lnTo>
                <a:lnTo>
                  <a:pt x="22318" y="11740"/>
                </a:lnTo>
                <a:lnTo>
                  <a:pt x="33866" y="2263"/>
                </a:lnTo>
                <a:lnTo>
                  <a:pt x="38100" y="0"/>
                </a:lnTo>
                <a:close/>
              </a:path>
            </a:pathLst>
          </a:custGeom>
          <a:solidFill>
            <a:srgbClr val="56606B"/>
          </a:solidFill>
          <a:ln/>
        </p:spPr>
      </p:sp>
      <p:sp>
        <p:nvSpPr>
          <p:cNvPr id="19" name="Azul de metileno"/>
          <p:cNvSpPr txBox="1"/>
          <p:nvPr/>
        </p:nvSpPr>
        <p:spPr>
          <a:xfrm>
            <a:off x="5321300" y="4357001"/>
            <a:ext cx="5867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Azul de metileno</a:t>
            </a:r>
            <a:endParaRPr lang="en-US" sz="1500" dirty="0"/>
          </a:p>
        </p:txBody>
      </p:sp>
      <p:sp>
        <p:nvSpPr>
          <p:cNvPr id="20" name="Bloqueia a via óxido nítrico–GMPc: resga"/>
          <p:cNvSpPr txBox="1"/>
          <p:nvPr/>
        </p:nvSpPr>
        <p:spPr>
          <a:xfrm>
            <a:off x="5321300" y="4626838"/>
            <a:ext cx="586740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Bloqueia a via óxido nítrico–GMPc: resgate na vasoplegia refratária (pós-CEC, reperfusão hepática). Evitar com ISRS e na deficiência de G6PD.</a:t>
            </a:r>
            <a:endParaRPr lang="en-US" sz="1300" dirty="0"/>
          </a:p>
        </p:txBody>
      </p:sp>
      <p:sp>
        <p:nvSpPr>
          <p:cNvPr id="21" name="SSC 2026 · Hajjar, Anesthesiology 2017 ("/>
          <p:cNvSpPr txBox="1"/>
          <p:nvPr/>
        </p:nvSpPr>
        <p:spPr>
          <a:xfrm>
            <a:off x="812800" y="6227078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SSC 2026 · Hajjar, Anesthesiology 2017 (VANCS) · Khanna, N Engl J Med 2017 (ATHOS-3)</a:t>
            </a:r>
            <a:endParaRPr lang="en-US" sz="1200" dirty="0"/>
          </a:p>
        </p:txBody>
      </p:sp>
      <p:pic>
        <p:nvPicPr>
          <p:cNvPr id="22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5 · CHOQUE SÉPTICO"/>
          <p:cNvSpPr txBox="1"/>
          <p:nvPr/>
        </p:nvSpPr>
        <p:spPr>
          <a:xfrm>
            <a:off x="812800" y="801599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· CHOQUE SÉPTICO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Choque séptico: a sequência da SSC 2026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81834" cy="1457722"/>
          </a:xfrm>
          <a:prstGeom prst="roundRect">
            <a:avLst>
              <a:gd name="adj" fmla="val 5227"/>
            </a:avLst>
          </a:prstGeom>
          <a:solidFill>
            <a:srgbClr val="1B2A3A"/>
          </a:solidFill>
          <a:ln/>
        </p:spPr>
      </p:sp>
      <p:sp>
        <p:nvSpPr>
          <p:cNvPr id="5" name="PASSO 1"/>
          <p:cNvSpPr txBox="1"/>
          <p:nvPr/>
        </p:nvSpPr>
        <p:spPr>
          <a:xfrm>
            <a:off x="1016000" y="2071499"/>
            <a:ext cx="2694484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1</a:t>
            </a:r>
            <a:endParaRPr lang="en-US" sz="1200" dirty="0"/>
          </a:p>
        </p:txBody>
      </p:sp>
      <p:sp>
        <p:nvSpPr>
          <p:cNvPr id="6" name="Noradrenalina"/>
          <p:cNvSpPr txBox="1"/>
          <p:nvPr/>
        </p:nvSpPr>
        <p:spPr>
          <a:xfrm>
            <a:off x="1016000" y="2343735"/>
            <a:ext cx="2694484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Noradrenalina</a:t>
            </a:r>
            <a:endParaRPr lang="en-US" sz="1800" dirty="0"/>
          </a:p>
        </p:txBody>
      </p:sp>
      <p:sp>
        <p:nvSpPr>
          <p:cNvPr id="7" name="1ª linha, cedo; pode começar em veia per"/>
          <p:cNvSpPr txBox="1"/>
          <p:nvPr/>
        </p:nvSpPr>
        <p:spPr>
          <a:xfrm>
            <a:off x="1016000" y="2659727"/>
            <a:ext cx="2694484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1ª linha, cedo; pode começar em veia periférica.</a:t>
            </a:r>
            <a:endParaRPr lang="en-US" sz="1300" dirty="0"/>
          </a:p>
        </p:txBody>
      </p:sp>
      <p:sp>
        <p:nvSpPr>
          <p:cNvPr id="8" name="Seta"/>
          <p:cNvSpPr/>
          <p:nvPr/>
        </p:nvSpPr>
        <p:spPr>
          <a:xfrm>
            <a:off x="4021634" y="2494062"/>
            <a:ext cx="406400" cy="228600"/>
          </a:xfrm>
          <a:prstGeom prst="rightArrow">
            <a:avLst/>
          </a:prstGeom>
          <a:solidFill>
            <a:srgbClr val="B9581A"/>
          </a:solidFill>
          <a:ln/>
        </p:spPr>
      </p:sp>
      <p:sp>
        <p:nvSpPr>
          <p:cNvPr id="9" name="Cartão"/>
          <p:cNvSpPr/>
          <p:nvPr/>
        </p:nvSpPr>
        <p:spPr>
          <a:xfrm>
            <a:off x="4555034" y="1879501"/>
            <a:ext cx="3081834" cy="1457722"/>
          </a:xfrm>
          <a:prstGeom prst="roundRect">
            <a:avLst>
              <a:gd name="adj" fmla="val 5227"/>
            </a:avLst>
          </a:prstGeom>
          <a:solidFill>
            <a:srgbClr val="1B2A3A"/>
          </a:solidFill>
          <a:ln/>
        </p:spPr>
      </p:sp>
      <p:sp>
        <p:nvSpPr>
          <p:cNvPr id="10" name="PASSO 2"/>
          <p:cNvSpPr txBox="1"/>
          <p:nvPr/>
        </p:nvSpPr>
        <p:spPr>
          <a:xfrm>
            <a:off x="4758234" y="2071499"/>
            <a:ext cx="2694484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2</a:t>
            </a:r>
            <a:endParaRPr lang="en-US" sz="1200" dirty="0"/>
          </a:p>
        </p:txBody>
      </p:sp>
      <p:sp>
        <p:nvSpPr>
          <p:cNvPr id="11" name="+ Vasopressina"/>
          <p:cNvSpPr txBox="1"/>
          <p:nvPr/>
        </p:nvSpPr>
        <p:spPr>
          <a:xfrm>
            <a:off x="4758234" y="2343735"/>
            <a:ext cx="2694484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Vasopressina</a:t>
            </a:r>
            <a:endParaRPr lang="en-US" sz="1800" dirty="0"/>
          </a:p>
        </p:txBody>
      </p:sp>
      <p:sp>
        <p:nvSpPr>
          <p:cNvPr id="12" name="Quando a dose de NA está subindo."/>
          <p:cNvSpPr txBox="1"/>
          <p:nvPr/>
        </p:nvSpPr>
        <p:spPr>
          <a:xfrm>
            <a:off x="4758234" y="2659727"/>
            <a:ext cx="2694484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 dose de NA está subindo.</a:t>
            </a:r>
            <a:endParaRPr lang="en-US" sz="1300" dirty="0"/>
          </a:p>
        </p:txBody>
      </p:sp>
      <p:sp>
        <p:nvSpPr>
          <p:cNvPr id="13" name="Seta"/>
          <p:cNvSpPr/>
          <p:nvPr/>
        </p:nvSpPr>
        <p:spPr>
          <a:xfrm>
            <a:off x="7763867" y="2494062"/>
            <a:ext cx="406400" cy="228600"/>
          </a:xfrm>
          <a:prstGeom prst="rightArrow">
            <a:avLst/>
          </a:prstGeom>
          <a:solidFill>
            <a:srgbClr val="B9581A"/>
          </a:solidFill>
          <a:ln/>
        </p:spPr>
      </p:sp>
      <p:sp>
        <p:nvSpPr>
          <p:cNvPr id="14" name="Cartão"/>
          <p:cNvSpPr/>
          <p:nvPr/>
        </p:nvSpPr>
        <p:spPr>
          <a:xfrm>
            <a:off x="8297267" y="1879501"/>
            <a:ext cx="3081834" cy="1457722"/>
          </a:xfrm>
          <a:prstGeom prst="roundRect">
            <a:avLst>
              <a:gd name="adj" fmla="val 5227"/>
            </a:avLst>
          </a:prstGeom>
          <a:solidFill>
            <a:srgbClr val="1B2A3A"/>
          </a:solidFill>
          <a:ln/>
        </p:spPr>
      </p:sp>
      <p:sp>
        <p:nvSpPr>
          <p:cNvPr id="15" name="PASSO 3"/>
          <p:cNvSpPr txBox="1"/>
          <p:nvPr/>
        </p:nvSpPr>
        <p:spPr>
          <a:xfrm>
            <a:off x="8500467" y="2071499"/>
            <a:ext cx="2694484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3</a:t>
            </a:r>
            <a:endParaRPr lang="en-US" sz="1200" dirty="0"/>
          </a:p>
        </p:txBody>
      </p:sp>
      <p:sp>
        <p:nvSpPr>
          <p:cNvPr id="16" name="+ Adrenalina"/>
          <p:cNvSpPr txBox="1"/>
          <p:nvPr/>
        </p:nvSpPr>
        <p:spPr>
          <a:xfrm>
            <a:off x="8500467" y="2343735"/>
            <a:ext cx="2694484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Adrenalina</a:t>
            </a:r>
            <a:endParaRPr lang="en-US" sz="1800" dirty="0"/>
          </a:p>
        </p:txBody>
      </p:sp>
      <p:sp>
        <p:nvSpPr>
          <p:cNvPr id="17" name="Se a PAM continuar inadequada."/>
          <p:cNvSpPr txBox="1"/>
          <p:nvPr/>
        </p:nvSpPr>
        <p:spPr>
          <a:xfrm>
            <a:off x="8500467" y="2659727"/>
            <a:ext cx="2694484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a PAM continuar inadequada.</a:t>
            </a:r>
            <a:endParaRPr lang="en-US" sz="1300" dirty="0"/>
          </a:p>
        </p:txBody>
      </p:sp>
      <p:sp>
        <p:nvSpPr>
          <p:cNvPr id="18" name="Cartão"/>
          <p:cNvSpPr/>
          <p:nvPr/>
        </p:nvSpPr>
        <p:spPr>
          <a:xfrm>
            <a:off x="812800" y="3540423"/>
            <a:ext cx="5181600" cy="1658739"/>
          </a:xfrm>
          <a:prstGeom prst="roundRect">
            <a:avLst>
              <a:gd name="adj" fmla="val 4594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9" name="Borda de destaque"/>
          <p:cNvSpPr/>
          <p:nvPr/>
        </p:nvSpPr>
        <p:spPr>
          <a:xfrm>
            <a:off x="823379" y="3540423"/>
            <a:ext cx="5160443" cy="38100"/>
          </a:xfrm>
          <a:custGeom>
            <a:avLst/>
            <a:gdLst/>
            <a:ahLst/>
            <a:cxnLst/>
            <a:rect l="l" t="t" r="r" b="b"/>
            <a:pathLst>
              <a:path w="5160443" h="38100">
                <a:moveTo>
                  <a:pt x="5094821" y="0"/>
                </a:moveTo>
                <a:lnTo>
                  <a:pt x="5109687" y="1464"/>
                </a:lnTo>
                <a:lnTo>
                  <a:pt x="5123982" y="5800"/>
                </a:lnTo>
                <a:lnTo>
                  <a:pt x="5137156" y="12842"/>
                </a:lnTo>
                <a:lnTo>
                  <a:pt x="5148703" y="22318"/>
                </a:lnTo>
                <a:lnTo>
                  <a:pt x="5158179" y="33866"/>
                </a:lnTo>
                <a:lnTo>
                  <a:pt x="5160443" y="38100"/>
                </a:lnTo>
                <a:lnTo>
                  <a:pt x="0" y="38100"/>
                </a:lnTo>
                <a:lnTo>
                  <a:pt x="2263" y="33866"/>
                </a:lnTo>
                <a:lnTo>
                  <a:pt x="11740" y="22318"/>
                </a:lnTo>
                <a:lnTo>
                  <a:pt x="23287" y="12842"/>
                </a:lnTo>
                <a:lnTo>
                  <a:pt x="36461" y="5800"/>
                </a:lnTo>
                <a:lnTo>
                  <a:pt x="50755" y="1464"/>
                </a:lnTo>
                <a:lnTo>
                  <a:pt x="65621" y="0"/>
                </a:lnTo>
                <a:close/>
              </a:path>
            </a:pathLst>
          </a:custGeom>
          <a:solidFill>
            <a:srgbClr val="B9581A"/>
          </a:solidFill>
          <a:ln/>
        </p:spPr>
      </p:sp>
      <p:sp>
        <p:nvSpPr>
          <p:cNvPr id="20" name="Alvo e momento"/>
          <p:cNvSpPr txBox="1"/>
          <p:nvPr/>
        </p:nvSpPr>
        <p:spPr>
          <a:xfrm>
            <a:off x="1073150" y="3829608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Alvo e momento</a:t>
            </a:r>
            <a:endParaRPr lang="en-US" sz="1700" dirty="0"/>
          </a:p>
        </p:txBody>
      </p:sp>
      <p:sp>
        <p:nvSpPr>
          <p:cNvPr id="21" name="PAM 65 mmHg para começar (60–65 a partir"/>
          <p:cNvSpPr txBox="1"/>
          <p:nvPr/>
        </p:nvSpPr>
        <p:spPr>
          <a:xfrm>
            <a:off x="1073150" y="4178009"/>
            <a:ext cx="46799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PAM 65 mmHg para começar (60–65 a partir dos 65 anos). Iniciar a vasopressina mais cedo como regra não reduziu a mortalidade (VASSPR).</a:t>
            </a:r>
            <a:endParaRPr lang="en-US" sz="1350" dirty="0"/>
          </a:p>
        </p:txBody>
      </p:sp>
      <p:sp>
        <p:nvSpPr>
          <p:cNvPr id="22" name="Cartão"/>
          <p:cNvSpPr/>
          <p:nvPr/>
        </p:nvSpPr>
        <p:spPr>
          <a:xfrm>
            <a:off x="6197600" y="3540423"/>
            <a:ext cx="5181600" cy="1658739"/>
          </a:xfrm>
          <a:prstGeom prst="roundRect">
            <a:avLst>
              <a:gd name="adj" fmla="val 4594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3" name="Borda de destaque"/>
          <p:cNvSpPr/>
          <p:nvPr/>
        </p:nvSpPr>
        <p:spPr>
          <a:xfrm>
            <a:off x="6208179" y="3540423"/>
            <a:ext cx="5160443" cy="38100"/>
          </a:xfrm>
          <a:custGeom>
            <a:avLst/>
            <a:gdLst/>
            <a:ahLst/>
            <a:cxnLst/>
            <a:rect l="l" t="t" r="r" b="b"/>
            <a:pathLst>
              <a:path w="5160443" h="38100">
                <a:moveTo>
                  <a:pt x="5094821" y="0"/>
                </a:moveTo>
                <a:lnTo>
                  <a:pt x="5109687" y="1464"/>
                </a:lnTo>
                <a:lnTo>
                  <a:pt x="5123982" y="5800"/>
                </a:lnTo>
                <a:lnTo>
                  <a:pt x="5137156" y="12842"/>
                </a:lnTo>
                <a:lnTo>
                  <a:pt x="5148703" y="22318"/>
                </a:lnTo>
                <a:lnTo>
                  <a:pt x="5158179" y="33866"/>
                </a:lnTo>
                <a:lnTo>
                  <a:pt x="5160443" y="38100"/>
                </a:lnTo>
                <a:lnTo>
                  <a:pt x="0" y="38100"/>
                </a:lnTo>
                <a:lnTo>
                  <a:pt x="2263" y="33866"/>
                </a:lnTo>
                <a:lnTo>
                  <a:pt x="11740" y="22318"/>
                </a:lnTo>
                <a:lnTo>
                  <a:pt x="23287" y="12842"/>
                </a:lnTo>
                <a:lnTo>
                  <a:pt x="36461" y="5800"/>
                </a:lnTo>
                <a:lnTo>
                  <a:pt x="50755" y="1464"/>
                </a:lnTo>
                <a:lnTo>
                  <a:pt x="65621" y="0"/>
                </a:lnTo>
                <a:close/>
              </a:path>
            </a:pathLst>
          </a:custGeom>
          <a:solidFill>
            <a:srgbClr val="2E5E8C"/>
          </a:solidFill>
          <a:ln/>
        </p:spPr>
      </p:sp>
      <p:sp>
        <p:nvSpPr>
          <p:cNvPr id="24" name="Disfunção cardíaca"/>
          <p:cNvSpPr txBox="1"/>
          <p:nvPr/>
        </p:nvSpPr>
        <p:spPr>
          <a:xfrm>
            <a:off x="6457950" y="3829608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Disfunção cardíaca</a:t>
            </a:r>
            <a:endParaRPr lang="en-US" sz="1700" dirty="0"/>
          </a:p>
        </p:txBody>
      </p:sp>
      <p:sp>
        <p:nvSpPr>
          <p:cNvPr id="25" name="Hipoperfusão com volume e PAM adequados:"/>
          <p:cNvSpPr txBox="1"/>
          <p:nvPr/>
        </p:nvSpPr>
        <p:spPr>
          <a:xfrm>
            <a:off x="6457950" y="4178009"/>
            <a:ext cx="46799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Hipoperfusão com volume e PAM adequados: dobutamina com NA, ou adrenalina. Hidrocortisona EV sugerida. Levosimendan e terlipressina: contra.</a:t>
            </a:r>
            <a:endParaRPr lang="en-US" sz="1350" dirty="0"/>
          </a:p>
        </p:txBody>
      </p:sp>
      <p:sp>
        <p:nvSpPr>
          <p:cNvPr id="26" name="Prescott, Crit Care Med 2026 (SSC) · Pel"/>
          <p:cNvSpPr txBox="1"/>
          <p:nvPr/>
        </p:nvSpPr>
        <p:spPr>
          <a:xfrm>
            <a:off x="812800" y="6227078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Prescott, Crit Care Med 2026 (SSC) · Peltan, JAMA 2026 (VASSPR)</a:t>
            </a:r>
            <a:endParaRPr lang="en-US" sz="1200" dirty="0"/>
          </a:p>
        </p:txBody>
      </p:sp>
      <p:pic>
        <p:nvPicPr>
          <p:cNvPr id="27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6 · PERIOPERATÓRIO"/>
          <p:cNvSpPr txBox="1"/>
          <p:nvPr/>
        </p:nvSpPr>
        <p:spPr>
          <a:xfrm>
            <a:off x="812800" y="801599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· PERIOPERATÓRIO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Intraoperatório: a droga segue o mecanismo</a:t>
            </a:r>
            <a:endParaRPr lang="en-US" sz="3200" dirty="0"/>
          </a:p>
        </p:txBody>
      </p:sp>
      <p:graphicFrame>
        <p:nvGraphicFramePr>
          <p:cNvPr id="14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879501"/>
          <a:ext cx="10566400" cy="914400"/>
        </p:xfrm>
        <a:graphic>
          <a:graphicData uri="http://schemas.openxmlformats.org/drawingml/2006/table">
            <a:tbl>
              <a:tblPr/>
              <a:tblGrid>
                <a:gridCol w="3381177"/>
                <a:gridCol w="4015184"/>
                <a:gridCol w="3170039"/>
              </a:tblGrid>
              <a:tr h="39112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Cenário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Primeira escolha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Racional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607616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Vasodilatação após indução ou neuroeixo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Fenilefrina 50–100 mcg ou NA 5–10 mcg em bolus; NA em infusão se persistir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Corrige o tônus sem taquicardia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Hipotensão com bradicardia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Efedrina 5–10 mg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β1 e liberação de noradrenalina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079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Baixo débito, disfunção de VD ou hipertensão pulmonar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Dobutamina ou milrinona, com NA se a PAM cair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Inotropismo; a milrinona também reduz a RVP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079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Vasoplegia refratária: pós-CEC, IECA/BRA, reperfusão hepática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Vasopressina; azul de metileno como resgate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Outras vias: V1 e óxido nítrico–GMPc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079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Raquianestesia na cesárea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Fenilefrina profilática 25–50 mcg/min; NA como alternativa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 ≥90% da basal; NA com menos bradicardia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Proativo: antecipar e tratar cedo; bolus"/>
          <p:cNvSpPr txBox="1"/>
          <p:nvPr/>
        </p:nvSpPr>
        <p:spPr>
          <a:xfrm>
            <a:off x="812800" y="5402986"/>
            <a:ext cx="105854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2C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Proativo: antecipar e tratar cedo; bolus para o transitório, infusão para o persistente.</a:t>
            </a:r>
            <a:endParaRPr lang="en-US" sz="1400" dirty="0"/>
          </a:p>
        </p:txBody>
      </p:sp>
      <p:sp>
        <p:nvSpPr>
          <p:cNvPr id="6" name="Kinsella, Anaesthesia 2018 · Hajjar, Ane"/>
          <p:cNvSpPr txBox="1"/>
          <p:nvPr/>
        </p:nvSpPr>
        <p:spPr>
          <a:xfrm>
            <a:off x="812800" y="6227078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Kinsella, Anaesthesia 2018 · Hajjar, Anesthesiology 2017 (VANCS) · Miller’s Anesthesia, 10ª ed. · [cap./pág.]</a:t>
            </a:r>
            <a:endParaRPr lang="en-US" sz="1200" dirty="0"/>
          </a:p>
        </p:txBody>
      </p:sp>
      <p:pic>
        <p:nvPicPr>
          <p:cNvPr id="7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6 · PERIOPERATÓRIO · HIPOTENSÃO"/>
          <p:cNvSpPr txBox="1"/>
          <p:nvPr/>
        </p:nvSpPr>
        <p:spPr>
          <a:xfrm>
            <a:off x="812800" y="801599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· PERIOPERATÓRIO · HIPOTENSÃO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Hipotensão intraoperatória: o custo oculto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556000" cy="3380383"/>
          </a:xfrm>
          <a:prstGeom prst="roundRect">
            <a:avLst>
              <a:gd name="adj" fmla="val 2254"/>
            </a:avLst>
          </a:prstGeom>
          <a:solidFill>
            <a:srgbClr val="1B2A3A"/>
          </a:solidFill>
          <a:ln/>
        </p:spPr>
      </p:sp>
      <p:sp>
        <p:nvSpPr>
          <p:cNvPr id="5" name="O QUE CUSTA"/>
          <p:cNvSpPr txBox="1"/>
          <p:nvPr/>
        </p:nvSpPr>
        <p:spPr>
          <a:xfrm>
            <a:off x="1066800" y="2122299"/>
            <a:ext cx="3067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CUSTA</a:t>
            </a:r>
            <a:endParaRPr lang="en-US" sz="1200" dirty="0"/>
          </a:p>
        </p:txBody>
      </p:sp>
      <p:sp>
        <p:nvSpPr>
          <p:cNvPr id="6" name="PAM &lt; 65"/>
          <p:cNvSpPr txBox="1"/>
          <p:nvPr/>
        </p:nvSpPr>
        <p:spPr>
          <a:xfrm>
            <a:off x="1066800" y="2459038"/>
            <a:ext cx="3067050" cy="6146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840"/>
              </a:lnSpc>
              <a:buNone/>
            </a:pPr>
            <a:r>
              <a:rPr lang="pt-BR" altLang="en-US" sz="44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PAM &lt; 65</a:t>
            </a:r>
            <a:endParaRPr lang="en-US" sz="4400" dirty="0"/>
          </a:p>
        </p:txBody>
      </p:sp>
      <p:sp>
        <p:nvSpPr>
          <p:cNvPr id="7" name="Poucos minutos abaixo do limiar já se as"/>
          <p:cNvSpPr txBox="1"/>
          <p:nvPr/>
        </p:nvSpPr>
        <p:spPr>
          <a:xfrm>
            <a:off x="1066800" y="3149508"/>
            <a:ext cx="30670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DFE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Poucos minutos abaixo do limiar já se associam a lesão renal aguda, lesão miocárdica e delirium.</a:t>
            </a:r>
            <a:endParaRPr lang="en-US" sz="1350" dirty="0"/>
          </a:p>
        </p:txBody>
      </p:sp>
      <p:sp>
        <p:nvSpPr>
          <p:cNvPr id="8" name="Cartão"/>
          <p:cNvSpPr/>
          <p:nvPr/>
        </p:nvSpPr>
        <p:spPr>
          <a:xfrm>
            <a:off x="4572000" y="1879501"/>
            <a:ext cx="6807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9" name="Borda de destaque"/>
          <p:cNvSpPr/>
          <p:nvPr/>
        </p:nvSpPr>
        <p:spPr>
          <a:xfrm>
            <a:off x="4572000" y="1890079"/>
            <a:ext cx="38100" cy="1037904"/>
          </a:xfrm>
          <a:custGeom>
            <a:avLst/>
            <a:gdLst/>
            <a:ahLst/>
            <a:cxnLst/>
            <a:rect l="l" t="t" r="r" b="b"/>
            <a:pathLst>
              <a:path w="38100" h="1037904">
                <a:moveTo>
                  <a:pt x="38100" y="1037904"/>
                </a:moveTo>
                <a:lnTo>
                  <a:pt x="33866" y="1035640"/>
                </a:lnTo>
                <a:lnTo>
                  <a:pt x="22318" y="1026164"/>
                </a:lnTo>
                <a:lnTo>
                  <a:pt x="12842" y="1014617"/>
                </a:lnTo>
                <a:lnTo>
                  <a:pt x="5800" y="1001443"/>
                </a:lnTo>
                <a:lnTo>
                  <a:pt x="1464" y="987148"/>
                </a:lnTo>
                <a:lnTo>
                  <a:pt x="0" y="972282"/>
                </a:lnTo>
                <a:lnTo>
                  <a:pt x="0" y="65621"/>
                </a:lnTo>
                <a:lnTo>
                  <a:pt x="1464" y="50755"/>
                </a:lnTo>
                <a:lnTo>
                  <a:pt x="5800" y="36461"/>
                </a:lnTo>
                <a:lnTo>
                  <a:pt x="12842" y="23287"/>
                </a:lnTo>
                <a:lnTo>
                  <a:pt x="22318" y="11740"/>
                </a:lnTo>
                <a:lnTo>
                  <a:pt x="33866" y="2263"/>
                </a:lnTo>
                <a:lnTo>
                  <a:pt x="38100" y="0"/>
                </a:lnTo>
                <a:close/>
              </a:path>
            </a:pathLst>
          </a:custGeom>
          <a:solidFill>
            <a:srgbClr val="B9581A"/>
          </a:solidFill>
          <a:ln/>
        </p:spPr>
      </p:sp>
      <p:sp>
        <p:nvSpPr>
          <p:cNvPr id="10" name="Piso"/>
          <p:cNvSpPr txBox="1"/>
          <p:nvPr/>
        </p:nvSpPr>
        <p:spPr>
          <a:xfrm>
            <a:off x="4813300" y="2035679"/>
            <a:ext cx="6375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Piso</a:t>
            </a:r>
            <a:endParaRPr lang="en-US" sz="1500" dirty="0"/>
          </a:p>
        </p:txBody>
      </p:sp>
      <p:sp>
        <p:nvSpPr>
          <p:cNvPr id="11" name="PAM ≥60 em pacientes de risco (POQI 2024"/>
          <p:cNvSpPr txBox="1"/>
          <p:nvPr/>
        </p:nvSpPr>
        <p:spPr>
          <a:xfrm>
            <a:off x="4813300" y="2305516"/>
            <a:ext cx="637540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PAM ≥60 em pacientes de risco (POQI 2024): limite mínimo, não garantia de perfusão; pressão venosa alta pede alvo maior.</a:t>
            </a:r>
            <a:endParaRPr lang="en-US" sz="1300" dirty="0"/>
          </a:p>
        </p:txBody>
      </p:sp>
      <p:sp>
        <p:nvSpPr>
          <p:cNvPr id="12" name="Cartão"/>
          <p:cNvSpPr/>
          <p:nvPr/>
        </p:nvSpPr>
        <p:spPr>
          <a:xfrm>
            <a:off x="4572000" y="3040162"/>
            <a:ext cx="6807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3" name="Borda de destaque"/>
          <p:cNvSpPr/>
          <p:nvPr/>
        </p:nvSpPr>
        <p:spPr>
          <a:xfrm>
            <a:off x="4572000" y="3050740"/>
            <a:ext cx="38100" cy="1037904"/>
          </a:xfrm>
          <a:custGeom>
            <a:avLst/>
            <a:gdLst/>
            <a:ahLst/>
            <a:cxnLst/>
            <a:rect l="l" t="t" r="r" b="b"/>
            <a:pathLst>
              <a:path w="38100" h="1037904">
                <a:moveTo>
                  <a:pt x="38100" y="1037904"/>
                </a:moveTo>
                <a:lnTo>
                  <a:pt x="33866" y="1035640"/>
                </a:lnTo>
                <a:lnTo>
                  <a:pt x="22318" y="1026164"/>
                </a:lnTo>
                <a:lnTo>
                  <a:pt x="12842" y="1014617"/>
                </a:lnTo>
                <a:lnTo>
                  <a:pt x="5800" y="1001443"/>
                </a:lnTo>
                <a:lnTo>
                  <a:pt x="1464" y="987148"/>
                </a:lnTo>
                <a:lnTo>
                  <a:pt x="0" y="972282"/>
                </a:lnTo>
                <a:lnTo>
                  <a:pt x="0" y="65621"/>
                </a:lnTo>
                <a:lnTo>
                  <a:pt x="1464" y="50755"/>
                </a:lnTo>
                <a:lnTo>
                  <a:pt x="5800" y="36461"/>
                </a:lnTo>
                <a:lnTo>
                  <a:pt x="12842" y="23287"/>
                </a:lnTo>
                <a:lnTo>
                  <a:pt x="22318" y="11740"/>
                </a:lnTo>
                <a:lnTo>
                  <a:pt x="33866" y="2263"/>
                </a:lnTo>
                <a:lnTo>
                  <a:pt x="38100" y="0"/>
                </a:lnTo>
                <a:close/>
              </a:path>
            </a:pathLst>
          </a:custGeom>
          <a:solidFill>
            <a:srgbClr val="2E5E8C"/>
          </a:solidFill>
          <a:ln/>
        </p:spPr>
      </p:sp>
      <p:sp>
        <p:nvSpPr>
          <p:cNvPr id="14" name="Acima do piso, só em selecionados"/>
          <p:cNvSpPr txBox="1"/>
          <p:nvPr/>
        </p:nvSpPr>
        <p:spPr>
          <a:xfrm>
            <a:off x="4813300" y="3196340"/>
            <a:ext cx="6375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Acima do piso, só em selecionados</a:t>
            </a:r>
            <a:endParaRPr lang="en-US" sz="1500" dirty="0"/>
          </a:p>
        </p:txBody>
      </p:sp>
      <p:sp>
        <p:nvSpPr>
          <p:cNvPr id="15" name="PAM ≥80 reduziu lesão renal aguda em hip"/>
          <p:cNvSpPr txBox="1"/>
          <p:nvPr/>
        </p:nvSpPr>
        <p:spPr>
          <a:xfrm>
            <a:off x="4813300" y="3466177"/>
            <a:ext cx="637540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PAM ≥80 reduziu lesão renal aguda em hipertensos de alto risco (HISTAP); alvo pela PA noturna não ajudou (IMPROVE-multi).</a:t>
            </a:r>
            <a:endParaRPr lang="en-US" sz="1300" dirty="0"/>
          </a:p>
        </p:txBody>
      </p:sp>
      <p:sp>
        <p:nvSpPr>
          <p:cNvPr id="16" name="Cartão"/>
          <p:cNvSpPr/>
          <p:nvPr/>
        </p:nvSpPr>
        <p:spPr>
          <a:xfrm>
            <a:off x="4572000" y="4200823"/>
            <a:ext cx="6807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7" name="Borda de destaque"/>
          <p:cNvSpPr/>
          <p:nvPr/>
        </p:nvSpPr>
        <p:spPr>
          <a:xfrm>
            <a:off x="4572000" y="4211401"/>
            <a:ext cx="38100" cy="1037904"/>
          </a:xfrm>
          <a:custGeom>
            <a:avLst/>
            <a:gdLst/>
            <a:ahLst/>
            <a:cxnLst/>
            <a:rect l="l" t="t" r="r" b="b"/>
            <a:pathLst>
              <a:path w="38100" h="1037904">
                <a:moveTo>
                  <a:pt x="38100" y="1037904"/>
                </a:moveTo>
                <a:lnTo>
                  <a:pt x="33866" y="1035640"/>
                </a:lnTo>
                <a:lnTo>
                  <a:pt x="22318" y="1026164"/>
                </a:lnTo>
                <a:lnTo>
                  <a:pt x="12842" y="1014617"/>
                </a:lnTo>
                <a:lnTo>
                  <a:pt x="5800" y="1001443"/>
                </a:lnTo>
                <a:lnTo>
                  <a:pt x="1464" y="987148"/>
                </a:lnTo>
                <a:lnTo>
                  <a:pt x="0" y="972282"/>
                </a:lnTo>
                <a:lnTo>
                  <a:pt x="0" y="65621"/>
                </a:lnTo>
                <a:lnTo>
                  <a:pt x="1464" y="50755"/>
                </a:lnTo>
                <a:lnTo>
                  <a:pt x="5800" y="36461"/>
                </a:lnTo>
                <a:lnTo>
                  <a:pt x="12842" y="23287"/>
                </a:lnTo>
                <a:lnTo>
                  <a:pt x="22318" y="11740"/>
                </a:lnTo>
                <a:lnTo>
                  <a:pt x="33866" y="2263"/>
                </a:lnTo>
                <a:lnTo>
                  <a:pt x="38100" y="0"/>
                </a:lnTo>
                <a:close/>
              </a:path>
            </a:pathLst>
          </a:custGeom>
          <a:solidFill>
            <a:srgbClr val="56606B"/>
          </a:solidFill>
          <a:ln/>
        </p:spPr>
      </p:sp>
      <p:sp>
        <p:nvSpPr>
          <p:cNvPr id="18" name="Proativo"/>
          <p:cNvSpPr txBox="1"/>
          <p:nvPr/>
        </p:nvSpPr>
        <p:spPr>
          <a:xfrm>
            <a:off x="4813300" y="4357001"/>
            <a:ext cx="6375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Proativo</a:t>
            </a:r>
            <a:endParaRPr lang="en-US" sz="1500" dirty="0"/>
          </a:p>
        </p:txBody>
      </p:sp>
      <p:sp>
        <p:nvSpPr>
          <p:cNvPr id="19" name="Antecipar e tratar cedo; monitorização f"/>
          <p:cNvSpPr txBox="1"/>
          <p:nvPr/>
        </p:nvSpPr>
        <p:spPr>
          <a:xfrm>
            <a:off x="4813300" y="4626838"/>
            <a:ext cx="637540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Antecipar e tratar cedo; monitorização funcional (VPP, volume sistólico, eco) decide entre volume, vasopressor e inotrópico.</a:t>
            </a:r>
            <a:endParaRPr lang="en-US" sz="1300" dirty="0"/>
          </a:p>
        </p:txBody>
      </p:sp>
      <p:sp>
        <p:nvSpPr>
          <p:cNvPr id="20" name="Lineburger et al., Braz J Anesthesiol 20"/>
          <p:cNvSpPr txBox="1"/>
          <p:nvPr/>
        </p:nvSpPr>
        <p:spPr>
          <a:xfrm>
            <a:off x="812800" y="6227078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Lineburger et al., Braz J Anesthesiol 2025 · Saugel, Br J Anaesth 2024 (POQI) · HISTAP, Intensive Care Med 2026 · Saugel, JAMA 2025</a:t>
            </a:r>
            <a:endParaRPr lang="en-US" sz="1200" dirty="0"/>
          </a:p>
        </p:txBody>
      </p:sp>
      <p:pic>
        <p:nvPicPr>
          <p:cNvPr id="21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7 · MENSAGENS FINAIS"/>
          <p:cNvSpPr txBox="1"/>
          <p:nvPr/>
        </p:nvSpPr>
        <p:spPr>
          <a:xfrm>
            <a:off x="812800" y="801599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· MENSAGENS FINAIS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droga certa para o problema certo</a:t>
            </a:r>
            <a:endParaRPr lang="en-US" sz="3200" dirty="0"/>
          </a:p>
        </p:txBody>
      </p:sp>
      <p:graphicFrame>
        <p:nvGraphicFramePr>
          <p:cNvPr id="16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879501"/>
          <a:ext cx="10566400" cy="914400"/>
        </p:xfrm>
        <a:graphic>
          <a:graphicData uri="http://schemas.openxmlformats.org/drawingml/2006/table">
            <a:tbl>
              <a:tblPr/>
              <a:tblGrid>
                <a:gridCol w="3592513"/>
                <a:gridCol w="6973888"/>
              </a:tblGrid>
              <a:tr h="41781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F5F3E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Problema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F5F3E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Droga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42098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Vasoplegia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Noradrenalina; vasopressina quando a dose sobe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416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Baixo débito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Dobutamina ou milrinona, com vasopressor se a PAM cair; adrenalina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416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Hipotensão com bradicardia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Efedrina; adrenalina se grave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416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Vasodilatação com taquicardia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Fenilefrina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416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Anafilaxia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Adrenalina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416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Hipotensão intraoperatória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Tratar cedo: PAM ≥60–65 como piso, alvo individual em selecionados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Para discutir: no nosso serviço, quando "/>
          <p:cNvSpPr txBox="1"/>
          <p:nvPr/>
        </p:nvSpPr>
        <p:spPr>
          <a:xfrm>
            <a:off x="812800" y="5134004"/>
            <a:ext cx="105854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56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discutir: no nosso serviço, quando preferimos milrinona a dobutamina e quando associamos vasopressina?</a:t>
            </a:r>
            <a:endParaRPr lang="en-US" sz="1400" dirty="0"/>
          </a:p>
        </p:txBody>
      </p:sp>
      <p:sp>
        <p:nvSpPr>
          <p:cNvPr id="6" name="Surviving Sepsis Campaign 2026 · ESICM 2"/>
          <p:cNvSpPr txBox="1"/>
          <p:nvPr/>
        </p:nvSpPr>
        <p:spPr>
          <a:xfrm>
            <a:off x="812800" y="6227078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Surviving Sepsis Campaign 2026 · ESICM 2025 · Saugel, Br J Anaesth 2024 (POQI) · Lineburger et al., Braz J Anesthesiol 2025</a:t>
            </a:r>
            <a:endParaRPr lang="en-US" sz="1200" dirty="0"/>
          </a:p>
        </p:txBody>
      </p:sp>
      <p:pic>
        <p:nvPicPr>
          <p:cNvPr id="7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1307930"/>
            <a:ext cx="10718800" cy="497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spc="100" kern="0" dirty="0">
                <a:solidFill>
                  <a:srgbClr val="E49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RESERVA</a:t>
            </a:r>
            <a:endParaRPr lang="en-US" sz="1400" dirty="0"/>
          </a:p>
        </p:txBody>
      </p:sp>
      <p:sp>
        <p:nvSpPr>
          <p:cNvPr id="3" name="Slides de reserva: detalhes, tabelas e r"/>
          <p:cNvSpPr txBox="1"/>
          <p:nvPr/>
        </p:nvSpPr>
        <p:spPr>
          <a:xfrm>
            <a:off x="812800" y="1869330"/>
            <a:ext cx="10179050" cy="1158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560"/>
              </a:lnSpc>
              <a:buNone/>
            </a:pPr>
            <a:r>
              <a:rPr lang="pt-BR" altLang="en-US" sz="38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Slides de reserva: detalhes, tabelas e referências para as perguntas.</a:t>
            </a:r>
            <a:endParaRPr lang="en-US" sz="3800" dirty="0"/>
          </a:p>
        </p:txBody>
      </p:sp>
      <p:sp>
        <p:nvSpPr>
          <p:cNvPr id="4" name="Não entram nos 15 minutos. Use para resp"/>
          <p:cNvSpPr txBox="1"/>
          <p:nvPr/>
        </p:nvSpPr>
        <p:spPr>
          <a:xfrm>
            <a:off x="812800" y="3322585"/>
            <a:ext cx="9544050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pt-BR" altLang="en-US" sz="1600" dirty="0">
                <a:solidFill>
                  <a:srgbClr val="C9C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entram nos 15 minutos. Use para responder a perguntas ou se sobrar tempo.</a:t>
            </a:r>
            <a:endParaRPr lang="en-US" sz="1600" dirty="0"/>
          </a:p>
        </p:txBody>
      </p:sp>
      <p:sp>
        <p:nvSpPr>
          <p:cNvPr id="5" name="Síntese das drogas"/>
          <p:cNvSpPr/>
          <p:nvPr/>
        </p:nvSpPr>
        <p:spPr>
          <a:xfrm>
            <a:off x="812800" y="3926780"/>
            <a:ext cx="1986062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 das drogas</a:t>
            </a:r>
            <a:endParaRPr lang="en-US" sz="1400" dirty="0"/>
          </a:p>
        </p:txBody>
      </p:sp>
      <p:sp>
        <p:nvSpPr>
          <p:cNvPr id="6" name="Dopamina"/>
          <p:cNvSpPr/>
          <p:nvPr/>
        </p:nvSpPr>
        <p:spPr>
          <a:xfrm>
            <a:off x="2900462" y="3926780"/>
            <a:ext cx="1215132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Dopamina</a:t>
            </a:r>
            <a:endParaRPr lang="en-US" sz="1400" dirty="0"/>
          </a:p>
        </p:txBody>
      </p:sp>
      <p:sp>
        <p:nvSpPr>
          <p:cNvPr id="7" name="Dobutamina"/>
          <p:cNvSpPr/>
          <p:nvPr/>
        </p:nvSpPr>
        <p:spPr>
          <a:xfrm>
            <a:off x="4217194" y="3926780"/>
            <a:ext cx="1382911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Dobutamina</a:t>
            </a:r>
            <a:endParaRPr lang="en-US" sz="1400" dirty="0"/>
          </a:p>
        </p:txBody>
      </p:sp>
      <p:sp>
        <p:nvSpPr>
          <p:cNvPr id="8" name="Fenilefrina"/>
          <p:cNvSpPr/>
          <p:nvPr/>
        </p:nvSpPr>
        <p:spPr>
          <a:xfrm>
            <a:off x="5701705" y="3926780"/>
            <a:ext cx="1254720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Fenilefrina</a:t>
            </a:r>
            <a:endParaRPr lang="en-US" sz="1400" dirty="0"/>
          </a:p>
        </p:txBody>
      </p:sp>
      <p:sp>
        <p:nvSpPr>
          <p:cNvPr id="9" name="Efedrina"/>
          <p:cNvSpPr/>
          <p:nvPr/>
        </p:nvSpPr>
        <p:spPr>
          <a:xfrm>
            <a:off x="7058025" y="3926780"/>
            <a:ext cx="1066998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Efedrina</a:t>
            </a:r>
            <a:endParaRPr lang="en-US" sz="1400" dirty="0"/>
          </a:p>
        </p:txBody>
      </p:sp>
      <p:sp>
        <p:nvSpPr>
          <p:cNvPr id="10" name="Vasopressina"/>
          <p:cNvSpPr/>
          <p:nvPr/>
        </p:nvSpPr>
        <p:spPr>
          <a:xfrm>
            <a:off x="8226623" y="3926780"/>
            <a:ext cx="1511995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Vasopressina</a:t>
            </a:r>
            <a:endParaRPr lang="en-US" sz="1400" dirty="0"/>
          </a:p>
        </p:txBody>
      </p:sp>
      <p:sp>
        <p:nvSpPr>
          <p:cNvPr id="11" name="Choque refratário"/>
          <p:cNvSpPr/>
          <p:nvPr/>
        </p:nvSpPr>
        <p:spPr>
          <a:xfrm>
            <a:off x="812800" y="4429621"/>
            <a:ext cx="1847453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Choque refratário</a:t>
            </a:r>
            <a:endParaRPr lang="en-US" sz="1400" dirty="0"/>
          </a:p>
        </p:txBody>
      </p:sp>
      <p:sp>
        <p:nvSpPr>
          <p:cNvPr id="12" name="Sequência SSC"/>
          <p:cNvSpPr/>
          <p:nvPr/>
        </p:nvSpPr>
        <p:spPr>
          <a:xfrm>
            <a:off x="2761853" y="4429621"/>
            <a:ext cx="1659930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Sequência SSC</a:t>
            </a:r>
            <a:endParaRPr lang="en-US" sz="1400" dirty="0"/>
          </a:p>
        </p:txBody>
      </p:sp>
      <p:sp>
        <p:nvSpPr>
          <p:cNvPr id="13" name="Alvo de PAM"/>
          <p:cNvSpPr/>
          <p:nvPr/>
        </p:nvSpPr>
        <p:spPr>
          <a:xfrm>
            <a:off x="4523383" y="4429621"/>
            <a:ext cx="1442343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Alvo de PAM</a:t>
            </a:r>
            <a:endParaRPr lang="en-US" sz="1400" dirty="0"/>
          </a:p>
        </p:txBody>
      </p:sp>
      <p:sp>
        <p:nvSpPr>
          <p:cNvPr id="14" name="Timing e via"/>
          <p:cNvSpPr/>
          <p:nvPr/>
        </p:nvSpPr>
        <p:spPr>
          <a:xfrm>
            <a:off x="6067326" y="4429621"/>
            <a:ext cx="1383209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Timing e via</a:t>
            </a:r>
            <a:endParaRPr lang="en-US" sz="1400" dirty="0"/>
          </a:p>
        </p:txBody>
      </p:sp>
      <p:sp>
        <p:nvSpPr>
          <p:cNvPr id="15" name="Alvo intraoperatório"/>
          <p:cNvSpPr/>
          <p:nvPr/>
        </p:nvSpPr>
        <p:spPr>
          <a:xfrm>
            <a:off x="7552134" y="4429621"/>
            <a:ext cx="2054820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Alvo intraoperatório</a:t>
            </a:r>
            <a:endParaRPr lang="en-US" sz="1400" dirty="0"/>
          </a:p>
        </p:txBody>
      </p:sp>
      <p:sp>
        <p:nvSpPr>
          <p:cNvPr id="16" name="Roteiro"/>
          <p:cNvSpPr/>
          <p:nvPr/>
        </p:nvSpPr>
        <p:spPr>
          <a:xfrm>
            <a:off x="9708555" y="4429621"/>
            <a:ext cx="977900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Roteiro</a:t>
            </a:r>
            <a:endParaRPr lang="en-US" sz="1400" dirty="0"/>
          </a:p>
        </p:txBody>
      </p:sp>
      <p:sp>
        <p:nvSpPr>
          <p:cNvPr id="17" name="Referências"/>
          <p:cNvSpPr/>
          <p:nvPr/>
        </p:nvSpPr>
        <p:spPr>
          <a:xfrm>
            <a:off x="812800" y="4932462"/>
            <a:ext cx="1363762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Referências</a:t>
            </a:r>
            <a:endParaRPr lang="en-US" sz="1400" dirty="0"/>
          </a:p>
        </p:txBody>
      </p:sp>
      <p:pic>
        <p:nvPicPr>
          <p:cNvPr id="18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SÍNTESE DAS DROGAS"/>
          <p:cNvSpPr txBox="1"/>
          <p:nvPr/>
        </p:nvSpPr>
        <p:spPr>
          <a:xfrm>
            <a:off x="812800" y="801599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RESERVA · SÍNTESE DAS DROGAS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Síntese: as drogas lado a lado</a:t>
            </a:r>
            <a:endParaRPr lang="en-US" sz="3200" dirty="0"/>
          </a:p>
        </p:txBody>
      </p:sp>
      <p:graphicFrame>
        <p:nvGraphicFramePr>
          <p:cNvPr id="18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879501"/>
          <a:ext cx="10566400" cy="914400"/>
        </p:xfrm>
        <a:graphic>
          <a:graphicData uri="http://schemas.openxmlformats.org/drawingml/2006/table">
            <a:tbl>
              <a:tblPr/>
              <a:tblGrid>
                <a:gridCol w="1796256"/>
                <a:gridCol w="845245"/>
                <a:gridCol w="845245"/>
                <a:gridCol w="845245"/>
                <a:gridCol w="845245"/>
                <a:gridCol w="2324596"/>
                <a:gridCol w="3064570"/>
              </a:tblGrid>
              <a:tr h="39112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Droga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α1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β1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β2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D1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Dose usual (adulto)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Papel principal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3942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Noradrenalina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++++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++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0,01–0,5 mcg/kg/min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1ª linha no choque vasoplégico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Adrenalina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+++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++++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+++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0,01–0,1 mcg/kg/min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Refratário; anafilaxia; PCR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Dopamina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+++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+++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++++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2–20 mcg/kg/min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Bradicardia sem alternativa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Dobutamina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++++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++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2,5–20 mcg/kg/min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Baixo débito com PAM sustentada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Milrinona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0,375–0,75 mcg/kg/min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Inodilatador: baixo débito, VD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Fenilefrina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++++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Bolus 50–100 mcg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Vasodilatação com FC alta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Efedrina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++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++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Bolus 5–10 mg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Hipotensão com bradicardia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Isoproterenol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++++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++++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2–10 mcg/min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Bradicardia refratária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Escala qualitativa (0 a ++++), não afini"/>
          <p:cNvSpPr txBox="1"/>
          <p:nvPr/>
        </p:nvSpPr>
        <p:spPr>
          <a:xfrm>
            <a:off x="812800" y="6227078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Escala qualitativa (0 a ++++), não afinidade medida · faixas usuais, titular pelo efeito · Overgaard &amp; Džavík, Circulation 2008</a:t>
            </a:r>
            <a:endParaRPr lang="en-US" sz="1200" dirty="0"/>
          </a:p>
        </p:txBody>
      </p:sp>
      <p:pic>
        <p:nvPicPr>
          <p:cNvPr id="6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DOPAMINA"/>
          <p:cNvSpPr txBox="1"/>
          <p:nvPr/>
        </p:nvSpPr>
        <p:spPr>
          <a:xfrm>
            <a:off x="812800" y="801599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RESERVA · DOPAMINA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Dopamina: efeito dose-dependente e mais arritmia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2299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1686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1333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9767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Cartão"/>
          <p:cNvSpPr/>
          <p:nvPr/>
        </p:nvSpPr>
        <p:spPr>
          <a:xfrm>
            <a:off x="1524000" y="2890242"/>
            <a:ext cx="1333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3177847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β2</a:t>
            </a:r>
            <a:endParaRPr lang="en-US" sz="1300" dirty="0"/>
          </a:p>
        </p:txBody>
      </p:sp>
      <p:sp>
        <p:nvSpPr>
          <p:cNvPr id="13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Cartão"/>
          <p:cNvSpPr/>
          <p:nvPr/>
        </p:nvSpPr>
        <p:spPr>
          <a:xfrm>
            <a:off x="1524000" y="3248323"/>
            <a:ext cx="444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5" name="D1"/>
          <p:cNvSpPr txBox="1"/>
          <p:nvPr/>
        </p:nvSpPr>
        <p:spPr>
          <a:xfrm>
            <a:off x="1066800" y="3535928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D1</a:t>
            </a:r>
            <a:endParaRPr lang="en-US" sz="1300" dirty="0"/>
          </a:p>
        </p:txBody>
      </p:sp>
      <p:sp>
        <p:nvSpPr>
          <p:cNvPr id="16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7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8" name="EFEITO HEMODINÂMICO"/>
          <p:cNvSpPr txBox="1"/>
          <p:nvPr/>
        </p:nvSpPr>
        <p:spPr>
          <a:xfrm>
            <a:off x="1066800" y="3894942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9" name="PAM ↑"/>
          <p:cNvSpPr txBox="1"/>
          <p:nvPr/>
        </p:nvSpPr>
        <p:spPr>
          <a:xfrm>
            <a:off x="1066800" y="4233395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PAM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↑</a:t>
            </a:r>
            <a:endParaRPr lang="en-US" sz="1400" dirty="0"/>
          </a:p>
        </p:txBody>
      </p:sp>
      <p:sp>
        <p:nvSpPr>
          <p:cNvPr id="20" name="DC ↑"/>
          <p:cNvSpPr txBox="1"/>
          <p:nvPr/>
        </p:nvSpPr>
        <p:spPr>
          <a:xfrm>
            <a:off x="2413000" y="4233395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↑</a:t>
            </a:r>
            <a:endParaRPr lang="en-US" sz="1400" dirty="0"/>
          </a:p>
        </p:txBody>
      </p:sp>
      <p:sp>
        <p:nvSpPr>
          <p:cNvPr id="21" name="FC ↑↑"/>
          <p:cNvSpPr txBox="1"/>
          <p:nvPr/>
        </p:nvSpPr>
        <p:spPr>
          <a:xfrm>
            <a:off x="1066800" y="455843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↑↑</a:t>
            </a:r>
            <a:endParaRPr lang="en-US" sz="1400" dirty="0"/>
          </a:p>
        </p:txBody>
      </p:sp>
      <p:sp>
        <p:nvSpPr>
          <p:cNvPr id="22" name="RVS ↔/↑"/>
          <p:cNvSpPr txBox="1"/>
          <p:nvPr/>
        </p:nvSpPr>
        <p:spPr>
          <a:xfrm>
            <a:off x="2413000" y="455843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RVS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↔/↑</a:t>
            </a:r>
            <a:endParaRPr lang="en-US" sz="1400" dirty="0"/>
          </a:p>
        </p:txBody>
      </p:sp>
      <p:sp>
        <p:nvSpPr>
          <p:cNvPr id="23" name="Cartão"/>
          <p:cNvSpPr/>
          <p:nvPr/>
        </p:nvSpPr>
        <p:spPr>
          <a:xfrm>
            <a:off x="40640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4" name="Borda de destaque"/>
          <p:cNvSpPr/>
          <p:nvPr/>
        </p:nvSpPr>
        <p:spPr>
          <a:xfrm>
            <a:off x="4074579" y="1879501"/>
            <a:ext cx="3534843" cy="38100"/>
          </a:xfrm>
          <a:custGeom>
            <a:avLst/>
            <a:gdLst/>
            <a:ahLst/>
            <a:cxnLst/>
            <a:rect l="l" t="t" r="r" b="b"/>
            <a:pathLst>
              <a:path w="3534843" h="38100">
                <a:moveTo>
                  <a:pt x="3469221" y="0"/>
                </a:moveTo>
                <a:lnTo>
                  <a:pt x="3484087" y="1464"/>
                </a:lnTo>
                <a:lnTo>
                  <a:pt x="3498382" y="5800"/>
                </a:lnTo>
                <a:lnTo>
                  <a:pt x="3511556" y="12842"/>
                </a:lnTo>
                <a:lnTo>
                  <a:pt x="3523103" y="22318"/>
                </a:lnTo>
                <a:lnTo>
                  <a:pt x="3532579" y="33866"/>
                </a:lnTo>
                <a:lnTo>
                  <a:pt x="3534843" y="38100"/>
                </a:lnTo>
                <a:lnTo>
                  <a:pt x="0" y="38100"/>
                </a:lnTo>
                <a:lnTo>
                  <a:pt x="2263" y="33866"/>
                </a:lnTo>
                <a:lnTo>
                  <a:pt x="11740" y="22318"/>
                </a:lnTo>
                <a:lnTo>
                  <a:pt x="23287" y="12842"/>
                </a:lnTo>
                <a:lnTo>
                  <a:pt x="36461" y="5800"/>
                </a:lnTo>
                <a:lnTo>
                  <a:pt x="50755" y="1464"/>
                </a:lnTo>
                <a:lnTo>
                  <a:pt x="65621" y="0"/>
                </a:lnTo>
                <a:close/>
              </a:path>
            </a:pathLst>
          </a:custGeom>
          <a:solidFill>
            <a:srgbClr val="B9581A"/>
          </a:solidFill>
          <a:ln/>
        </p:spPr>
      </p:sp>
      <p:sp>
        <p:nvSpPr>
          <p:cNvPr id="25" name="Dose e uso"/>
          <p:cNvSpPr txBox="1"/>
          <p:nvPr/>
        </p:nvSpPr>
        <p:spPr>
          <a:xfrm>
            <a:off x="4324350" y="2168686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Dose e uso</a:t>
            </a:r>
            <a:endParaRPr lang="en-US" sz="1700" dirty="0"/>
          </a:p>
        </p:txBody>
      </p:sp>
      <p:sp>
        <p:nvSpPr>
          <p:cNvPr id="26" name="Faixa de 2 a 20 mcg/kg/min. Até ~3: D1 ("/>
          <p:cNvSpPr txBox="1"/>
          <p:nvPr/>
        </p:nvSpPr>
        <p:spPr>
          <a:xfrm>
            <a:off x="4324350" y="2517088"/>
            <a:ext cx="3054350" cy="12427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Faixa de 2 a 20 mcg/kg/min. Até ~3: D1 (vasodilatação renal e mesentérica). De 3 a 10: β1, em parte por liberação de noradrenalina. Acima de 10: α1. Os limiares variam muito entre pacientes.</a:t>
            </a:r>
            <a:endParaRPr lang="en-US" sz="1350" dirty="0"/>
          </a:p>
        </p:txBody>
      </p:sp>
      <p:sp>
        <p:nvSpPr>
          <p:cNvPr id="27" name="Cartão"/>
          <p:cNvSpPr/>
          <p:nvPr/>
        </p:nvSpPr>
        <p:spPr>
          <a:xfrm>
            <a:off x="78232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8" name="Borda de destaque"/>
          <p:cNvSpPr/>
          <p:nvPr/>
        </p:nvSpPr>
        <p:spPr>
          <a:xfrm>
            <a:off x="7833779" y="1879501"/>
            <a:ext cx="3534843" cy="38100"/>
          </a:xfrm>
          <a:custGeom>
            <a:avLst/>
            <a:gdLst/>
            <a:ahLst/>
            <a:cxnLst/>
            <a:rect l="l" t="t" r="r" b="b"/>
            <a:pathLst>
              <a:path w="3534843" h="38100">
                <a:moveTo>
                  <a:pt x="3469221" y="0"/>
                </a:moveTo>
                <a:lnTo>
                  <a:pt x="3484087" y="1464"/>
                </a:lnTo>
                <a:lnTo>
                  <a:pt x="3498382" y="5800"/>
                </a:lnTo>
                <a:lnTo>
                  <a:pt x="3511556" y="12842"/>
                </a:lnTo>
                <a:lnTo>
                  <a:pt x="3523103" y="22318"/>
                </a:lnTo>
                <a:lnTo>
                  <a:pt x="3532579" y="33866"/>
                </a:lnTo>
                <a:lnTo>
                  <a:pt x="3534843" y="38100"/>
                </a:lnTo>
                <a:lnTo>
                  <a:pt x="0" y="38100"/>
                </a:lnTo>
                <a:lnTo>
                  <a:pt x="2263" y="33866"/>
                </a:lnTo>
                <a:lnTo>
                  <a:pt x="11740" y="22318"/>
                </a:lnTo>
                <a:lnTo>
                  <a:pt x="23287" y="12842"/>
                </a:lnTo>
                <a:lnTo>
                  <a:pt x="36461" y="5800"/>
                </a:lnTo>
                <a:lnTo>
                  <a:pt x="50755" y="1464"/>
                </a:lnTo>
                <a:lnTo>
                  <a:pt x="65621" y="0"/>
                </a:lnTo>
                <a:close/>
              </a:path>
            </a:pathLst>
          </a:custGeom>
          <a:solidFill>
            <a:srgbClr val="2E5E8C"/>
          </a:solidFill>
          <a:ln/>
        </p:spPr>
      </p:sp>
      <p:sp>
        <p:nvSpPr>
          <p:cNvPr id="29" name="Evidência e cuidados"/>
          <p:cNvSpPr txBox="1"/>
          <p:nvPr/>
        </p:nvSpPr>
        <p:spPr>
          <a:xfrm>
            <a:off x="8083550" y="2168686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Evidência e cuidados</a:t>
            </a:r>
            <a:endParaRPr lang="en-US" sz="1700" dirty="0"/>
          </a:p>
        </p:txBody>
      </p:sp>
      <p:sp>
        <p:nvSpPr>
          <p:cNvPr id="30" name="Dose renal não protege o rim (ANZICS, La"/>
          <p:cNvSpPr txBox="1"/>
          <p:nvPr/>
        </p:nvSpPr>
        <p:spPr>
          <a:xfrm>
            <a:off x="8083550" y="2517088"/>
            <a:ext cx="3054350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Dose renal não protege o rim (ANZICS, Lancet 2000). SOAP II: arritmias 24,1% vs. 12,4% e maior mortalidade no subgrupo cardiogênico. SSC 2026: recomendação forte contra como primeira linha (certeza alta).</a:t>
            </a:r>
            <a:endParaRPr lang="en-US" sz="1350" dirty="0"/>
          </a:p>
        </p:txBody>
      </p:sp>
      <p:sp>
        <p:nvSpPr>
          <p:cNvPr id="31" name="Bellomo, Lancet 2000 · De Backer, N Engl"/>
          <p:cNvSpPr txBox="1"/>
          <p:nvPr/>
        </p:nvSpPr>
        <p:spPr>
          <a:xfrm>
            <a:off x="812800" y="6227078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Bellomo, Lancet 2000 · De Backer, N Engl J Med 2010 (SOAP II) · SSC 2026 · barras: escala qualitativa</a:t>
            </a:r>
            <a:endParaRPr lang="en-US" sz="1200" dirty="0"/>
          </a:p>
        </p:txBody>
      </p:sp>
      <p:pic>
        <p:nvPicPr>
          <p:cNvPr id="32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DOBUTAMINA"/>
          <p:cNvSpPr txBox="1"/>
          <p:nvPr/>
        </p:nvSpPr>
        <p:spPr>
          <a:xfrm>
            <a:off x="812800" y="801599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RESERVA · DOBUTAMINA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Dobutamina: inotrópico que pode baixar a PAM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2299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1686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444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9767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3177847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β2</a:t>
            </a:r>
            <a:endParaRPr lang="en-US" sz="1300" dirty="0"/>
          </a:p>
        </p:txBody>
      </p:sp>
      <p:sp>
        <p:nvSpPr>
          <p:cNvPr id="13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Cartão"/>
          <p:cNvSpPr/>
          <p:nvPr/>
        </p:nvSpPr>
        <p:spPr>
          <a:xfrm>
            <a:off x="1524000" y="3248323"/>
            <a:ext cx="889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5" name="D1"/>
          <p:cNvSpPr txBox="1"/>
          <p:nvPr/>
        </p:nvSpPr>
        <p:spPr>
          <a:xfrm>
            <a:off x="1066800" y="3535928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D1</a:t>
            </a:r>
            <a:endParaRPr lang="en-US" sz="1300" dirty="0"/>
          </a:p>
        </p:txBody>
      </p:sp>
      <p:sp>
        <p:nvSpPr>
          <p:cNvPr id="16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7" name="EFEITO HEMODINÂMICO"/>
          <p:cNvSpPr txBox="1"/>
          <p:nvPr/>
        </p:nvSpPr>
        <p:spPr>
          <a:xfrm>
            <a:off x="1066800" y="3894942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8" name="DC ↑↑"/>
          <p:cNvSpPr txBox="1"/>
          <p:nvPr/>
        </p:nvSpPr>
        <p:spPr>
          <a:xfrm>
            <a:off x="1066800" y="4233395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↑↑</a:t>
            </a:r>
            <a:endParaRPr lang="en-US" sz="1400" dirty="0"/>
          </a:p>
        </p:txBody>
      </p:sp>
      <p:sp>
        <p:nvSpPr>
          <p:cNvPr id="19" name="FC ↑"/>
          <p:cNvSpPr txBox="1"/>
          <p:nvPr/>
        </p:nvSpPr>
        <p:spPr>
          <a:xfrm>
            <a:off x="2413000" y="4233395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↑</a:t>
            </a:r>
            <a:endParaRPr lang="en-US" sz="1400" dirty="0"/>
          </a:p>
        </p:txBody>
      </p:sp>
      <p:sp>
        <p:nvSpPr>
          <p:cNvPr id="20" name="RVS ↓"/>
          <p:cNvSpPr txBox="1"/>
          <p:nvPr/>
        </p:nvSpPr>
        <p:spPr>
          <a:xfrm>
            <a:off x="1066800" y="455843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RVS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↓</a:t>
            </a:r>
            <a:endParaRPr lang="en-US" sz="1400" dirty="0"/>
          </a:p>
        </p:txBody>
      </p:sp>
      <p:sp>
        <p:nvSpPr>
          <p:cNvPr id="21" name="PAM ↔/↓"/>
          <p:cNvSpPr txBox="1"/>
          <p:nvPr/>
        </p:nvSpPr>
        <p:spPr>
          <a:xfrm>
            <a:off x="2413000" y="455843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PAM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↔/↓</a:t>
            </a:r>
            <a:endParaRPr lang="en-US" sz="1400" dirty="0"/>
          </a:p>
        </p:txBody>
      </p:sp>
      <p:sp>
        <p:nvSpPr>
          <p:cNvPr id="22" name="Cartão"/>
          <p:cNvSpPr/>
          <p:nvPr/>
        </p:nvSpPr>
        <p:spPr>
          <a:xfrm>
            <a:off x="40640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3" name="Borda de destaque"/>
          <p:cNvSpPr/>
          <p:nvPr/>
        </p:nvSpPr>
        <p:spPr>
          <a:xfrm>
            <a:off x="4074579" y="1879501"/>
            <a:ext cx="3534843" cy="38100"/>
          </a:xfrm>
          <a:custGeom>
            <a:avLst/>
            <a:gdLst/>
            <a:ahLst/>
            <a:cxnLst/>
            <a:rect l="l" t="t" r="r" b="b"/>
            <a:pathLst>
              <a:path w="3534843" h="38100">
                <a:moveTo>
                  <a:pt x="3469221" y="0"/>
                </a:moveTo>
                <a:lnTo>
                  <a:pt x="3484087" y="1464"/>
                </a:lnTo>
                <a:lnTo>
                  <a:pt x="3498382" y="5800"/>
                </a:lnTo>
                <a:lnTo>
                  <a:pt x="3511556" y="12842"/>
                </a:lnTo>
                <a:lnTo>
                  <a:pt x="3523103" y="22318"/>
                </a:lnTo>
                <a:lnTo>
                  <a:pt x="3532579" y="33866"/>
                </a:lnTo>
                <a:lnTo>
                  <a:pt x="3534843" y="38100"/>
                </a:lnTo>
                <a:lnTo>
                  <a:pt x="0" y="38100"/>
                </a:lnTo>
                <a:lnTo>
                  <a:pt x="2263" y="33866"/>
                </a:lnTo>
                <a:lnTo>
                  <a:pt x="11740" y="22318"/>
                </a:lnTo>
                <a:lnTo>
                  <a:pt x="23287" y="12842"/>
                </a:lnTo>
                <a:lnTo>
                  <a:pt x="36461" y="5800"/>
                </a:lnTo>
                <a:lnTo>
                  <a:pt x="50755" y="1464"/>
                </a:lnTo>
                <a:lnTo>
                  <a:pt x="65621" y="0"/>
                </a:lnTo>
                <a:close/>
              </a:path>
            </a:pathLst>
          </a:custGeom>
          <a:solidFill>
            <a:srgbClr val="B9581A"/>
          </a:solidFill>
          <a:ln/>
        </p:spPr>
      </p:sp>
      <p:sp>
        <p:nvSpPr>
          <p:cNvPr id="24" name="Dose e uso"/>
          <p:cNvSpPr txBox="1"/>
          <p:nvPr/>
        </p:nvSpPr>
        <p:spPr>
          <a:xfrm>
            <a:off x="4324350" y="2168686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Dose e uso</a:t>
            </a:r>
            <a:endParaRPr lang="en-US" sz="1700" dirty="0"/>
          </a:p>
        </p:txBody>
      </p:sp>
      <p:sp>
        <p:nvSpPr>
          <p:cNvPr id="25" name="Infusão de 2,5 a 20 mcg/kg/min. Mistura "/>
          <p:cNvSpPr txBox="1"/>
          <p:nvPr/>
        </p:nvSpPr>
        <p:spPr>
          <a:xfrm>
            <a:off x="4324350" y="2517088"/>
            <a:ext cx="3054350" cy="173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Infusão de 2,5 a 20 mcg/kg/min. Mistura racêmica cujos efeitos α1 se anulam: efeito líquido β1, com vasodilatação β2. SSC 2026: com disfunção cardíaca e hipoperfusão persistente, associar à NA ou usar adrenalina isolada.</a:t>
            </a:r>
            <a:endParaRPr lang="en-US" sz="1350" dirty="0"/>
          </a:p>
        </p:txBody>
      </p:sp>
      <p:sp>
        <p:nvSpPr>
          <p:cNvPr id="26" name="Cartão"/>
          <p:cNvSpPr/>
          <p:nvPr/>
        </p:nvSpPr>
        <p:spPr>
          <a:xfrm>
            <a:off x="78232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7" name="Borda de destaque"/>
          <p:cNvSpPr/>
          <p:nvPr/>
        </p:nvSpPr>
        <p:spPr>
          <a:xfrm>
            <a:off x="7833779" y="1879501"/>
            <a:ext cx="3534843" cy="38100"/>
          </a:xfrm>
          <a:custGeom>
            <a:avLst/>
            <a:gdLst/>
            <a:ahLst/>
            <a:cxnLst/>
            <a:rect l="l" t="t" r="r" b="b"/>
            <a:pathLst>
              <a:path w="3534843" h="38100">
                <a:moveTo>
                  <a:pt x="3469221" y="0"/>
                </a:moveTo>
                <a:lnTo>
                  <a:pt x="3484087" y="1464"/>
                </a:lnTo>
                <a:lnTo>
                  <a:pt x="3498382" y="5800"/>
                </a:lnTo>
                <a:lnTo>
                  <a:pt x="3511556" y="12842"/>
                </a:lnTo>
                <a:lnTo>
                  <a:pt x="3523103" y="22318"/>
                </a:lnTo>
                <a:lnTo>
                  <a:pt x="3532579" y="33866"/>
                </a:lnTo>
                <a:lnTo>
                  <a:pt x="3534843" y="38100"/>
                </a:lnTo>
                <a:lnTo>
                  <a:pt x="0" y="38100"/>
                </a:lnTo>
                <a:lnTo>
                  <a:pt x="2263" y="33866"/>
                </a:lnTo>
                <a:lnTo>
                  <a:pt x="11740" y="22318"/>
                </a:lnTo>
                <a:lnTo>
                  <a:pt x="23287" y="12842"/>
                </a:lnTo>
                <a:lnTo>
                  <a:pt x="36461" y="5800"/>
                </a:lnTo>
                <a:lnTo>
                  <a:pt x="50755" y="1464"/>
                </a:lnTo>
                <a:lnTo>
                  <a:pt x="65621" y="0"/>
                </a:lnTo>
                <a:close/>
              </a:path>
            </a:pathLst>
          </a:custGeom>
          <a:solidFill>
            <a:srgbClr val="2E5E8C"/>
          </a:solidFill>
          <a:ln/>
        </p:spPr>
      </p:sp>
      <p:sp>
        <p:nvSpPr>
          <p:cNvPr id="28" name="Evidência e cuidados"/>
          <p:cNvSpPr txBox="1"/>
          <p:nvPr/>
        </p:nvSpPr>
        <p:spPr>
          <a:xfrm>
            <a:off x="8083550" y="2168686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Evidência e cuidados</a:t>
            </a:r>
            <a:endParaRPr lang="en-US" sz="1700" dirty="0"/>
          </a:p>
        </p:txBody>
      </p:sp>
      <p:sp>
        <p:nvSpPr>
          <p:cNvPr id="29" name="Taquicardia, arritmia e maior consumo mi"/>
          <p:cNvSpPr txBox="1"/>
          <p:nvPr/>
        </p:nvSpPr>
        <p:spPr>
          <a:xfrm>
            <a:off x="8083550" y="2517088"/>
            <a:ext cx="3054350" cy="1988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Taquicardia, arritmia e maior consumo miocárdico de oxigênio; tolerância após uso prolongado. Hipotensão se hipovolêmico ou vasoplégico. DOREMI (choque cardiogênico): sem diferença estatisticamente significativa vs. milrinona no desfecho composto (54% vs. 49%).</a:t>
            </a:r>
            <a:endParaRPr lang="en-US" sz="1350" dirty="0"/>
          </a:p>
        </p:txBody>
      </p:sp>
      <p:sp>
        <p:nvSpPr>
          <p:cNvPr id="30" name="Mathew, N Engl J Med 2021 (DOREMI) · SSC"/>
          <p:cNvSpPr txBox="1"/>
          <p:nvPr/>
        </p:nvSpPr>
        <p:spPr>
          <a:xfrm>
            <a:off x="812800" y="6227078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Mathew, N Engl J Med 2021 (DOREMI) · SSC 2026 · barras: escala qualitativa</a:t>
            </a:r>
            <a:endParaRPr lang="en-US" sz="1200" dirty="0"/>
          </a:p>
        </p:txBody>
      </p:sp>
      <p:pic>
        <p:nvPicPr>
          <p:cNvPr id="31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FENILEFRINA"/>
          <p:cNvSpPr txBox="1"/>
          <p:nvPr/>
        </p:nvSpPr>
        <p:spPr>
          <a:xfrm>
            <a:off x="812800" y="801599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RESERVA · FENILEFRINA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Fenilefrina: α1 puro e bradicardia reflexa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2299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1686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9767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β2"/>
          <p:cNvSpPr txBox="1"/>
          <p:nvPr/>
        </p:nvSpPr>
        <p:spPr>
          <a:xfrm>
            <a:off x="1066800" y="3177847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β2</a:t>
            </a:r>
            <a:endParaRPr lang="en-US" sz="1300" dirty="0"/>
          </a:p>
        </p:txBody>
      </p:sp>
      <p:sp>
        <p:nvSpPr>
          <p:cNvPr id="12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3" name="D1"/>
          <p:cNvSpPr txBox="1"/>
          <p:nvPr/>
        </p:nvSpPr>
        <p:spPr>
          <a:xfrm>
            <a:off x="1066800" y="3535928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D1</a:t>
            </a:r>
            <a:endParaRPr lang="en-US" sz="1300" dirty="0"/>
          </a:p>
        </p:txBody>
      </p:sp>
      <p:sp>
        <p:nvSpPr>
          <p:cNvPr id="14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5" name="EFEITO HEMODINÂMICO"/>
          <p:cNvSpPr txBox="1"/>
          <p:nvPr/>
        </p:nvSpPr>
        <p:spPr>
          <a:xfrm>
            <a:off x="1066800" y="3894942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6" name="PAM ↑"/>
          <p:cNvSpPr txBox="1"/>
          <p:nvPr/>
        </p:nvSpPr>
        <p:spPr>
          <a:xfrm>
            <a:off x="1066800" y="4233395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PAM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↑</a:t>
            </a:r>
            <a:endParaRPr lang="en-US" sz="1400" dirty="0"/>
          </a:p>
        </p:txBody>
      </p:sp>
      <p:sp>
        <p:nvSpPr>
          <p:cNvPr id="17" name="RVS ↑↑"/>
          <p:cNvSpPr txBox="1"/>
          <p:nvPr/>
        </p:nvSpPr>
        <p:spPr>
          <a:xfrm>
            <a:off x="2413000" y="4233395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RVS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↑↑</a:t>
            </a:r>
            <a:endParaRPr lang="en-US" sz="1400" dirty="0"/>
          </a:p>
        </p:txBody>
      </p:sp>
      <p:sp>
        <p:nvSpPr>
          <p:cNvPr id="18" name="FC ↓"/>
          <p:cNvSpPr txBox="1"/>
          <p:nvPr/>
        </p:nvSpPr>
        <p:spPr>
          <a:xfrm>
            <a:off x="1066800" y="455843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↓</a:t>
            </a:r>
            <a:endParaRPr lang="en-US" sz="1400" dirty="0"/>
          </a:p>
        </p:txBody>
      </p:sp>
      <p:sp>
        <p:nvSpPr>
          <p:cNvPr id="19" name="DC ↔/↓"/>
          <p:cNvSpPr txBox="1"/>
          <p:nvPr/>
        </p:nvSpPr>
        <p:spPr>
          <a:xfrm>
            <a:off x="2413000" y="455843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↔/↓</a:t>
            </a:r>
            <a:endParaRPr lang="en-US" sz="1400" dirty="0"/>
          </a:p>
        </p:txBody>
      </p:sp>
      <p:sp>
        <p:nvSpPr>
          <p:cNvPr id="20" name="Cartão"/>
          <p:cNvSpPr/>
          <p:nvPr/>
        </p:nvSpPr>
        <p:spPr>
          <a:xfrm>
            <a:off x="40640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1" name="Borda de destaque"/>
          <p:cNvSpPr/>
          <p:nvPr/>
        </p:nvSpPr>
        <p:spPr>
          <a:xfrm>
            <a:off x="4074579" y="1879501"/>
            <a:ext cx="3534843" cy="38100"/>
          </a:xfrm>
          <a:custGeom>
            <a:avLst/>
            <a:gdLst/>
            <a:ahLst/>
            <a:cxnLst/>
            <a:rect l="l" t="t" r="r" b="b"/>
            <a:pathLst>
              <a:path w="3534843" h="38100">
                <a:moveTo>
                  <a:pt x="3469221" y="0"/>
                </a:moveTo>
                <a:lnTo>
                  <a:pt x="3484087" y="1464"/>
                </a:lnTo>
                <a:lnTo>
                  <a:pt x="3498382" y="5800"/>
                </a:lnTo>
                <a:lnTo>
                  <a:pt x="3511556" y="12842"/>
                </a:lnTo>
                <a:lnTo>
                  <a:pt x="3523103" y="22318"/>
                </a:lnTo>
                <a:lnTo>
                  <a:pt x="3532579" y="33866"/>
                </a:lnTo>
                <a:lnTo>
                  <a:pt x="3534843" y="38100"/>
                </a:lnTo>
                <a:lnTo>
                  <a:pt x="0" y="38100"/>
                </a:lnTo>
                <a:lnTo>
                  <a:pt x="2263" y="33866"/>
                </a:lnTo>
                <a:lnTo>
                  <a:pt x="11740" y="22318"/>
                </a:lnTo>
                <a:lnTo>
                  <a:pt x="23287" y="12842"/>
                </a:lnTo>
                <a:lnTo>
                  <a:pt x="36461" y="5800"/>
                </a:lnTo>
                <a:lnTo>
                  <a:pt x="50755" y="1464"/>
                </a:lnTo>
                <a:lnTo>
                  <a:pt x="65621" y="0"/>
                </a:lnTo>
                <a:close/>
              </a:path>
            </a:pathLst>
          </a:custGeom>
          <a:solidFill>
            <a:srgbClr val="B9581A"/>
          </a:solidFill>
          <a:ln/>
        </p:spPr>
      </p:sp>
      <p:sp>
        <p:nvSpPr>
          <p:cNvPr id="22" name="Dose e uso"/>
          <p:cNvSpPr txBox="1"/>
          <p:nvPr/>
        </p:nvSpPr>
        <p:spPr>
          <a:xfrm>
            <a:off x="4324350" y="2168686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Dose e uso</a:t>
            </a:r>
            <a:endParaRPr lang="en-US" sz="1700" dirty="0"/>
          </a:p>
        </p:txBody>
      </p:sp>
      <p:sp>
        <p:nvSpPr>
          <p:cNvPr id="23" name="Bolus de 50–100 mcg, início imediato e e"/>
          <p:cNvSpPr txBox="1"/>
          <p:nvPr/>
        </p:nvSpPr>
        <p:spPr>
          <a:xfrm>
            <a:off x="4324350" y="2517088"/>
            <a:ext cx="3054350" cy="1988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Bolus de 50–100 mcg, início imediato e efeito curto. Na cesárea sob raqui, infusão profilática de 25–50 mcg/min, mantendo a PAS ≥90% da basal. Útil na vasodilatação com FC normal ou alta e, conforme o contexto, na estenose aórtica ou na obstrução dinâmica da via de saída do VE.</a:t>
            </a:r>
            <a:endParaRPr lang="en-US" sz="1350" dirty="0"/>
          </a:p>
        </p:txBody>
      </p:sp>
      <p:sp>
        <p:nvSpPr>
          <p:cNvPr id="24" name="Cartão"/>
          <p:cNvSpPr/>
          <p:nvPr/>
        </p:nvSpPr>
        <p:spPr>
          <a:xfrm>
            <a:off x="78232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5" name="Borda de destaque"/>
          <p:cNvSpPr/>
          <p:nvPr/>
        </p:nvSpPr>
        <p:spPr>
          <a:xfrm>
            <a:off x="7833779" y="1879501"/>
            <a:ext cx="3534843" cy="38100"/>
          </a:xfrm>
          <a:custGeom>
            <a:avLst/>
            <a:gdLst/>
            <a:ahLst/>
            <a:cxnLst/>
            <a:rect l="l" t="t" r="r" b="b"/>
            <a:pathLst>
              <a:path w="3534843" h="38100">
                <a:moveTo>
                  <a:pt x="3469221" y="0"/>
                </a:moveTo>
                <a:lnTo>
                  <a:pt x="3484087" y="1464"/>
                </a:lnTo>
                <a:lnTo>
                  <a:pt x="3498382" y="5800"/>
                </a:lnTo>
                <a:lnTo>
                  <a:pt x="3511556" y="12842"/>
                </a:lnTo>
                <a:lnTo>
                  <a:pt x="3523103" y="22318"/>
                </a:lnTo>
                <a:lnTo>
                  <a:pt x="3532579" y="33866"/>
                </a:lnTo>
                <a:lnTo>
                  <a:pt x="3534843" y="38100"/>
                </a:lnTo>
                <a:lnTo>
                  <a:pt x="0" y="38100"/>
                </a:lnTo>
                <a:lnTo>
                  <a:pt x="2263" y="33866"/>
                </a:lnTo>
                <a:lnTo>
                  <a:pt x="11740" y="22318"/>
                </a:lnTo>
                <a:lnTo>
                  <a:pt x="23287" y="12842"/>
                </a:lnTo>
                <a:lnTo>
                  <a:pt x="36461" y="5800"/>
                </a:lnTo>
                <a:lnTo>
                  <a:pt x="50755" y="1464"/>
                </a:lnTo>
                <a:lnTo>
                  <a:pt x="65621" y="0"/>
                </a:lnTo>
                <a:close/>
              </a:path>
            </a:pathLst>
          </a:custGeom>
          <a:solidFill>
            <a:srgbClr val="2E5E8C"/>
          </a:solidFill>
          <a:ln/>
        </p:spPr>
      </p:sp>
      <p:sp>
        <p:nvSpPr>
          <p:cNvPr id="26" name="Evidência e cuidados"/>
          <p:cNvSpPr txBox="1"/>
          <p:nvPr/>
        </p:nvSpPr>
        <p:spPr>
          <a:xfrm>
            <a:off x="8083550" y="2168686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Evidência e cuidados</a:t>
            </a:r>
            <a:endParaRPr lang="en-US" sz="1700" dirty="0"/>
          </a:p>
        </p:txBody>
      </p:sp>
      <p:sp>
        <p:nvSpPr>
          <p:cNvPr id="27" name="O barorreflexo reduz a FC e pode reduzir"/>
          <p:cNvSpPr txBox="1"/>
          <p:nvPr/>
        </p:nvSpPr>
        <p:spPr>
          <a:xfrm>
            <a:off x="8083550" y="2517088"/>
            <a:ext cx="3054350" cy="173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barorreflexo reduz a FC e pode reduzir o DC, sobretudo com disfunção de VE. Na cesárea, NA 6 mcg em bolus causou menos bradicardia que fenilefrina 100 mcg (10,7% vs. 37,5%). No choque séptico, sem evidência para uso como primeira linha.</a:t>
            </a:r>
            <a:endParaRPr lang="en-US" sz="1350" dirty="0"/>
          </a:p>
        </p:txBody>
      </p:sp>
      <p:sp>
        <p:nvSpPr>
          <p:cNvPr id="28" name="Kinsella, Anaesthesia 2018 · Park &amp; Choi"/>
          <p:cNvSpPr txBox="1"/>
          <p:nvPr/>
        </p:nvSpPr>
        <p:spPr>
          <a:xfrm>
            <a:off x="812800" y="6227078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Kinsella, Anaesthesia 2018 · Park &amp; Choi, Anesth Pain Med 2024 (Sharkey et al.) · barras: escala qualitativa</a:t>
            </a:r>
            <a:endParaRPr lang="en-US" sz="1200" dirty="0"/>
          </a:p>
        </p:txBody>
      </p:sp>
      <p:pic>
        <p:nvPicPr>
          <p:cNvPr id="29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EFEDRINA"/>
          <p:cNvSpPr txBox="1"/>
          <p:nvPr/>
        </p:nvSpPr>
        <p:spPr>
          <a:xfrm>
            <a:off x="812800" y="801599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RESERVA · EFEDRINA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Efedrina: ação mista e taquifilaxia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2299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1686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889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9767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Cartão"/>
          <p:cNvSpPr/>
          <p:nvPr/>
        </p:nvSpPr>
        <p:spPr>
          <a:xfrm>
            <a:off x="1524000" y="2890242"/>
            <a:ext cx="889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3177847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β2</a:t>
            </a:r>
            <a:endParaRPr lang="en-US" sz="1300" dirty="0"/>
          </a:p>
        </p:txBody>
      </p:sp>
      <p:sp>
        <p:nvSpPr>
          <p:cNvPr id="13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Cartão"/>
          <p:cNvSpPr/>
          <p:nvPr/>
        </p:nvSpPr>
        <p:spPr>
          <a:xfrm>
            <a:off x="1524000" y="3248323"/>
            <a:ext cx="444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5" name="D1"/>
          <p:cNvSpPr txBox="1"/>
          <p:nvPr/>
        </p:nvSpPr>
        <p:spPr>
          <a:xfrm>
            <a:off x="1066800" y="3535928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D1</a:t>
            </a:r>
            <a:endParaRPr lang="en-US" sz="1300" dirty="0"/>
          </a:p>
        </p:txBody>
      </p:sp>
      <p:sp>
        <p:nvSpPr>
          <p:cNvPr id="16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7" name="EFEITO HEMODINÂMICO"/>
          <p:cNvSpPr txBox="1"/>
          <p:nvPr/>
        </p:nvSpPr>
        <p:spPr>
          <a:xfrm>
            <a:off x="1066800" y="3894942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8" name="PAM ↑"/>
          <p:cNvSpPr txBox="1"/>
          <p:nvPr/>
        </p:nvSpPr>
        <p:spPr>
          <a:xfrm>
            <a:off x="1066800" y="4233395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PAM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↑</a:t>
            </a:r>
            <a:endParaRPr lang="en-US" sz="1400" dirty="0"/>
          </a:p>
        </p:txBody>
      </p:sp>
      <p:sp>
        <p:nvSpPr>
          <p:cNvPr id="19" name="FC ↑"/>
          <p:cNvSpPr txBox="1"/>
          <p:nvPr/>
        </p:nvSpPr>
        <p:spPr>
          <a:xfrm>
            <a:off x="2413000" y="4233395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↑</a:t>
            </a:r>
            <a:endParaRPr lang="en-US" sz="1400" dirty="0"/>
          </a:p>
        </p:txBody>
      </p:sp>
      <p:sp>
        <p:nvSpPr>
          <p:cNvPr id="20" name="DC ↑"/>
          <p:cNvSpPr txBox="1"/>
          <p:nvPr/>
        </p:nvSpPr>
        <p:spPr>
          <a:xfrm>
            <a:off x="1066800" y="455843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↑</a:t>
            </a:r>
            <a:endParaRPr lang="en-US" sz="1400" dirty="0"/>
          </a:p>
        </p:txBody>
      </p:sp>
      <p:sp>
        <p:nvSpPr>
          <p:cNvPr id="21" name="RVS ↔/↑"/>
          <p:cNvSpPr txBox="1"/>
          <p:nvPr/>
        </p:nvSpPr>
        <p:spPr>
          <a:xfrm>
            <a:off x="2413000" y="455843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RVS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↔/↑</a:t>
            </a:r>
            <a:endParaRPr lang="en-US" sz="1400" dirty="0"/>
          </a:p>
        </p:txBody>
      </p:sp>
      <p:sp>
        <p:nvSpPr>
          <p:cNvPr id="22" name="Cartão"/>
          <p:cNvSpPr/>
          <p:nvPr/>
        </p:nvSpPr>
        <p:spPr>
          <a:xfrm>
            <a:off x="40640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3" name="Borda de destaque"/>
          <p:cNvSpPr/>
          <p:nvPr/>
        </p:nvSpPr>
        <p:spPr>
          <a:xfrm>
            <a:off x="4074579" y="1879501"/>
            <a:ext cx="3534843" cy="38100"/>
          </a:xfrm>
          <a:custGeom>
            <a:avLst/>
            <a:gdLst/>
            <a:ahLst/>
            <a:cxnLst/>
            <a:rect l="l" t="t" r="r" b="b"/>
            <a:pathLst>
              <a:path w="3534843" h="38100">
                <a:moveTo>
                  <a:pt x="3469221" y="0"/>
                </a:moveTo>
                <a:lnTo>
                  <a:pt x="3484087" y="1464"/>
                </a:lnTo>
                <a:lnTo>
                  <a:pt x="3498382" y="5800"/>
                </a:lnTo>
                <a:lnTo>
                  <a:pt x="3511556" y="12842"/>
                </a:lnTo>
                <a:lnTo>
                  <a:pt x="3523103" y="22318"/>
                </a:lnTo>
                <a:lnTo>
                  <a:pt x="3532579" y="33866"/>
                </a:lnTo>
                <a:lnTo>
                  <a:pt x="3534843" y="38100"/>
                </a:lnTo>
                <a:lnTo>
                  <a:pt x="0" y="38100"/>
                </a:lnTo>
                <a:lnTo>
                  <a:pt x="2263" y="33866"/>
                </a:lnTo>
                <a:lnTo>
                  <a:pt x="11740" y="22318"/>
                </a:lnTo>
                <a:lnTo>
                  <a:pt x="23287" y="12842"/>
                </a:lnTo>
                <a:lnTo>
                  <a:pt x="36461" y="5800"/>
                </a:lnTo>
                <a:lnTo>
                  <a:pt x="50755" y="1464"/>
                </a:lnTo>
                <a:lnTo>
                  <a:pt x="65621" y="0"/>
                </a:lnTo>
                <a:close/>
              </a:path>
            </a:pathLst>
          </a:custGeom>
          <a:solidFill>
            <a:srgbClr val="B9581A"/>
          </a:solidFill>
          <a:ln/>
        </p:spPr>
      </p:sp>
      <p:sp>
        <p:nvSpPr>
          <p:cNvPr id="24" name="Dose e uso"/>
          <p:cNvSpPr txBox="1"/>
          <p:nvPr/>
        </p:nvSpPr>
        <p:spPr>
          <a:xfrm>
            <a:off x="4324350" y="2168686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Dose e uso</a:t>
            </a:r>
            <a:endParaRPr lang="en-US" sz="1700" dirty="0"/>
          </a:p>
        </p:txBody>
      </p:sp>
      <p:sp>
        <p:nvSpPr>
          <p:cNvPr id="25" name="Bolus de 5–10 mg EV, repetível. Agonista"/>
          <p:cNvSpPr txBox="1"/>
          <p:nvPr/>
        </p:nvSpPr>
        <p:spPr>
          <a:xfrm>
            <a:off x="4324350" y="2517088"/>
            <a:ext cx="3054350" cy="1988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Bolus de 5–10 mg EV, repetível. Agonista direto α e β e indireto, liberando noradrenalina das terminações. Sem catecol, resiste a MAO e COMT e dura mais que as catecolaminas. Boa opção na hipotensão com bradicardia após indução ou raqui.</a:t>
            </a:r>
            <a:endParaRPr lang="en-US" sz="1350" dirty="0"/>
          </a:p>
        </p:txBody>
      </p:sp>
      <p:sp>
        <p:nvSpPr>
          <p:cNvPr id="26" name="Cartão"/>
          <p:cNvSpPr/>
          <p:nvPr/>
        </p:nvSpPr>
        <p:spPr>
          <a:xfrm>
            <a:off x="78232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7" name="Borda de destaque"/>
          <p:cNvSpPr/>
          <p:nvPr/>
        </p:nvSpPr>
        <p:spPr>
          <a:xfrm>
            <a:off x="7833779" y="1879501"/>
            <a:ext cx="3534843" cy="38100"/>
          </a:xfrm>
          <a:custGeom>
            <a:avLst/>
            <a:gdLst/>
            <a:ahLst/>
            <a:cxnLst/>
            <a:rect l="l" t="t" r="r" b="b"/>
            <a:pathLst>
              <a:path w="3534843" h="38100">
                <a:moveTo>
                  <a:pt x="3469221" y="0"/>
                </a:moveTo>
                <a:lnTo>
                  <a:pt x="3484087" y="1464"/>
                </a:lnTo>
                <a:lnTo>
                  <a:pt x="3498382" y="5800"/>
                </a:lnTo>
                <a:lnTo>
                  <a:pt x="3511556" y="12842"/>
                </a:lnTo>
                <a:lnTo>
                  <a:pt x="3523103" y="22318"/>
                </a:lnTo>
                <a:lnTo>
                  <a:pt x="3532579" y="33866"/>
                </a:lnTo>
                <a:lnTo>
                  <a:pt x="3534843" y="38100"/>
                </a:lnTo>
                <a:lnTo>
                  <a:pt x="0" y="38100"/>
                </a:lnTo>
                <a:lnTo>
                  <a:pt x="2263" y="33866"/>
                </a:lnTo>
                <a:lnTo>
                  <a:pt x="11740" y="22318"/>
                </a:lnTo>
                <a:lnTo>
                  <a:pt x="23287" y="12842"/>
                </a:lnTo>
                <a:lnTo>
                  <a:pt x="36461" y="5800"/>
                </a:lnTo>
                <a:lnTo>
                  <a:pt x="50755" y="1464"/>
                </a:lnTo>
                <a:lnTo>
                  <a:pt x="65621" y="0"/>
                </a:lnTo>
                <a:close/>
              </a:path>
            </a:pathLst>
          </a:custGeom>
          <a:solidFill>
            <a:srgbClr val="2E5E8C"/>
          </a:solidFill>
          <a:ln/>
        </p:spPr>
      </p:sp>
      <p:sp>
        <p:nvSpPr>
          <p:cNvPr id="28" name="Evidência e cuidados"/>
          <p:cNvSpPr txBox="1"/>
          <p:nvPr/>
        </p:nvSpPr>
        <p:spPr>
          <a:xfrm>
            <a:off x="8083550" y="2168686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Evidência e cuidados</a:t>
            </a:r>
            <a:endParaRPr lang="en-US" sz="1700" dirty="0"/>
          </a:p>
        </p:txBody>
      </p:sp>
      <p:sp>
        <p:nvSpPr>
          <p:cNvPr id="29" name="Taquifilaxia por depleção dos estoques d"/>
          <p:cNvSpPr txBox="1"/>
          <p:nvPr/>
        </p:nvSpPr>
        <p:spPr>
          <a:xfrm>
            <a:off x="8083550" y="2517088"/>
            <a:ext cx="3054350" cy="173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Taquifilaxia por depleção dos estoques de noradrenalina: doses repetidas perdem efeito. Interação grave com IMAO. Na cesárea, atravessa a placenta e se associa a mais acidose fetal que a fenilefrina; fica como resgate.</a:t>
            </a:r>
            <a:endParaRPr lang="en-US" sz="1350" dirty="0"/>
          </a:p>
        </p:txBody>
      </p:sp>
      <p:sp>
        <p:nvSpPr>
          <p:cNvPr id="30" name="Kinsella, Anaesthesia 2018 · Park &amp; Choi"/>
          <p:cNvSpPr txBox="1"/>
          <p:nvPr/>
        </p:nvSpPr>
        <p:spPr>
          <a:xfrm>
            <a:off x="812800" y="6227078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Kinsella, Anaesthesia 2018 · Park &amp; Choi, Anesth Pain Med 2024 · Miller’s Anesthesia, 10ª ed. · [cap./pág.] · barras: escala qualitativa</a:t>
            </a:r>
            <a:endParaRPr lang="en-US" sz="1200" dirty="0"/>
          </a:p>
        </p:txBody>
      </p:sp>
      <p:pic>
        <p:nvPicPr>
          <p:cNvPr id="31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VASOPRESSINA"/>
          <p:cNvSpPr txBox="1"/>
          <p:nvPr/>
        </p:nvSpPr>
        <p:spPr>
          <a:xfrm>
            <a:off x="812800" y="801599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RESERVA · VASOPRESSINA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Vasopressina: adjuvante que poupa catecolamina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386634" cy="2652911"/>
          </a:xfrm>
          <a:prstGeom prst="roundRect">
            <a:avLst>
              <a:gd name="adj" fmla="val 287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5" name="Borda de destaque"/>
          <p:cNvSpPr/>
          <p:nvPr/>
        </p:nvSpPr>
        <p:spPr>
          <a:xfrm>
            <a:off x="823379" y="1879501"/>
            <a:ext cx="3365476" cy="38100"/>
          </a:xfrm>
          <a:custGeom>
            <a:avLst/>
            <a:gdLst/>
            <a:ahLst/>
            <a:cxnLst/>
            <a:rect l="l" t="t" r="r" b="b"/>
            <a:pathLst>
              <a:path w="3365476" h="38100">
                <a:moveTo>
                  <a:pt x="3299855" y="0"/>
                </a:moveTo>
                <a:lnTo>
                  <a:pt x="3314721" y="1464"/>
                </a:lnTo>
                <a:lnTo>
                  <a:pt x="3329015" y="5800"/>
                </a:lnTo>
                <a:lnTo>
                  <a:pt x="3342189" y="12842"/>
                </a:lnTo>
                <a:lnTo>
                  <a:pt x="3353736" y="22318"/>
                </a:lnTo>
                <a:lnTo>
                  <a:pt x="3363213" y="33866"/>
                </a:lnTo>
                <a:lnTo>
                  <a:pt x="3365476" y="38100"/>
                </a:lnTo>
                <a:lnTo>
                  <a:pt x="0" y="38100"/>
                </a:lnTo>
                <a:lnTo>
                  <a:pt x="2263" y="33866"/>
                </a:lnTo>
                <a:lnTo>
                  <a:pt x="11740" y="22318"/>
                </a:lnTo>
                <a:lnTo>
                  <a:pt x="23287" y="12842"/>
                </a:lnTo>
                <a:lnTo>
                  <a:pt x="36461" y="5800"/>
                </a:lnTo>
                <a:lnTo>
                  <a:pt x="50755" y="1464"/>
                </a:lnTo>
                <a:lnTo>
                  <a:pt x="65621" y="0"/>
                </a:lnTo>
                <a:close/>
              </a:path>
            </a:pathLst>
          </a:custGeom>
          <a:solidFill>
            <a:srgbClr val="2E5E8C"/>
          </a:solidFill>
          <a:ln/>
        </p:spPr>
      </p:sp>
      <p:sp>
        <p:nvSpPr>
          <p:cNvPr id="6" name="Mecanismo"/>
          <p:cNvSpPr txBox="1"/>
          <p:nvPr/>
        </p:nvSpPr>
        <p:spPr>
          <a:xfrm>
            <a:off x="1073150" y="2168686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Mecanismo</a:t>
            </a:r>
            <a:endParaRPr lang="en-US" sz="1700" dirty="0"/>
          </a:p>
        </p:txBody>
      </p:sp>
      <p:sp>
        <p:nvSpPr>
          <p:cNvPr id="7" name="Hormônio não adrenérgico: receptor V1 no"/>
          <p:cNvSpPr txBox="1"/>
          <p:nvPr/>
        </p:nvSpPr>
        <p:spPr>
          <a:xfrm>
            <a:off x="1073150" y="2517088"/>
            <a:ext cx="2884984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Hormônio não adrenérgico: receptor V1 no músculo liso vascular. Mantém efeito em acidose e com adrenoceptores dessensibilizados. No choque séptico há deficiência relativa de vasopressina endógena.</a:t>
            </a:r>
            <a:endParaRPr lang="en-US" sz="1350" dirty="0"/>
          </a:p>
        </p:txBody>
      </p:sp>
      <p:sp>
        <p:nvSpPr>
          <p:cNvPr id="8" name="Cartão"/>
          <p:cNvSpPr/>
          <p:nvPr/>
        </p:nvSpPr>
        <p:spPr>
          <a:xfrm>
            <a:off x="4402634" y="1879501"/>
            <a:ext cx="3386634" cy="2652911"/>
          </a:xfrm>
          <a:prstGeom prst="roundRect">
            <a:avLst>
              <a:gd name="adj" fmla="val 287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9" name="Borda de destaque"/>
          <p:cNvSpPr/>
          <p:nvPr/>
        </p:nvSpPr>
        <p:spPr>
          <a:xfrm>
            <a:off x="4413212" y="1879501"/>
            <a:ext cx="3365476" cy="38100"/>
          </a:xfrm>
          <a:custGeom>
            <a:avLst/>
            <a:gdLst/>
            <a:ahLst/>
            <a:cxnLst/>
            <a:rect l="l" t="t" r="r" b="b"/>
            <a:pathLst>
              <a:path w="3365476" h="38100">
                <a:moveTo>
                  <a:pt x="3299855" y="0"/>
                </a:moveTo>
                <a:lnTo>
                  <a:pt x="3314721" y="1464"/>
                </a:lnTo>
                <a:lnTo>
                  <a:pt x="3329015" y="5800"/>
                </a:lnTo>
                <a:lnTo>
                  <a:pt x="3342189" y="12842"/>
                </a:lnTo>
                <a:lnTo>
                  <a:pt x="3353736" y="22318"/>
                </a:lnTo>
                <a:lnTo>
                  <a:pt x="3363213" y="33866"/>
                </a:lnTo>
                <a:lnTo>
                  <a:pt x="3365476" y="38100"/>
                </a:lnTo>
                <a:lnTo>
                  <a:pt x="0" y="38100"/>
                </a:lnTo>
                <a:lnTo>
                  <a:pt x="2263" y="33866"/>
                </a:lnTo>
                <a:lnTo>
                  <a:pt x="11740" y="22318"/>
                </a:lnTo>
                <a:lnTo>
                  <a:pt x="23287" y="12842"/>
                </a:lnTo>
                <a:lnTo>
                  <a:pt x="36461" y="5800"/>
                </a:lnTo>
                <a:lnTo>
                  <a:pt x="50755" y="1464"/>
                </a:lnTo>
                <a:lnTo>
                  <a:pt x="65621" y="0"/>
                </a:lnTo>
                <a:close/>
              </a:path>
            </a:pathLst>
          </a:custGeom>
          <a:solidFill>
            <a:srgbClr val="B9581A"/>
          </a:solidFill>
          <a:ln/>
        </p:spPr>
      </p:sp>
      <p:sp>
        <p:nvSpPr>
          <p:cNvPr id="10" name="Uso"/>
          <p:cNvSpPr txBox="1"/>
          <p:nvPr/>
        </p:nvSpPr>
        <p:spPr>
          <a:xfrm>
            <a:off x="4662984" y="2168686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Uso</a:t>
            </a:r>
            <a:endParaRPr lang="en-US" sz="1700" dirty="0"/>
          </a:p>
        </p:txBody>
      </p:sp>
      <p:sp>
        <p:nvSpPr>
          <p:cNvPr id="11" name="Dose fixa de 0,03 U/min (até 0,04), sem "/>
          <p:cNvSpPr txBox="1"/>
          <p:nvPr/>
        </p:nvSpPr>
        <p:spPr>
          <a:xfrm>
            <a:off x="4662984" y="2517088"/>
            <a:ext cx="2884984" cy="173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Dose fixa de 0,03 U/min (até 0,04), sem titulação como a NA. SSC 2026: associar quando a NA está em escalada (condicional, certeza moderada); entre os painelistas, o início típico foi com NA ~0,3 mcg/kg/min.</a:t>
            </a:r>
            <a:endParaRPr lang="en-US" sz="1350" dirty="0"/>
          </a:p>
        </p:txBody>
      </p:sp>
      <p:sp>
        <p:nvSpPr>
          <p:cNvPr id="12" name="Cartão"/>
          <p:cNvSpPr/>
          <p:nvPr/>
        </p:nvSpPr>
        <p:spPr>
          <a:xfrm>
            <a:off x="7992467" y="1879501"/>
            <a:ext cx="3386634" cy="2652911"/>
          </a:xfrm>
          <a:prstGeom prst="roundRect">
            <a:avLst>
              <a:gd name="adj" fmla="val 287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3" name="Borda de destaque"/>
          <p:cNvSpPr/>
          <p:nvPr/>
        </p:nvSpPr>
        <p:spPr>
          <a:xfrm>
            <a:off x="8003046" y="1879501"/>
            <a:ext cx="3365476" cy="38100"/>
          </a:xfrm>
          <a:custGeom>
            <a:avLst/>
            <a:gdLst/>
            <a:ahLst/>
            <a:cxnLst/>
            <a:rect l="l" t="t" r="r" b="b"/>
            <a:pathLst>
              <a:path w="3365476" h="38100">
                <a:moveTo>
                  <a:pt x="3299855" y="0"/>
                </a:moveTo>
                <a:lnTo>
                  <a:pt x="3314721" y="1464"/>
                </a:lnTo>
                <a:lnTo>
                  <a:pt x="3329015" y="5800"/>
                </a:lnTo>
                <a:lnTo>
                  <a:pt x="3342189" y="12842"/>
                </a:lnTo>
                <a:lnTo>
                  <a:pt x="3353736" y="22318"/>
                </a:lnTo>
                <a:lnTo>
                  <a:pt x="3363213" y="33866"/>
                </a:lnTo>
                <a:lnTo>
                  <a:pt x="3365476" y="38100"/>
                </a:lnTo>
                <a:lnTo>
                  <a:pt x="0" y="38100"/>
                </a:lnTo>
                <a:lnTo>
                  <a:pt x="2263" y="33866"/>
                </a:lnTo>
                <a:lnTo>
                  <a:pt x="11740" y="22318"/>
                </a:lnTo>
                <a:lnTo>
                  <a:pt x="23287" y="12842"/>
                </a:lnTo>
                <a:lnTo>
                  <a:pt x="36461" y="5800"/>
                </a:lnTo>
                <a:lnTo>
                  <a:pt x="50755" y="1464"/>
                </a:lnTo>
                <a:lnTo>
                  <a:pt x="65621" y="0"/>
                </a:lnTo>
                <a:close/>
              </a:path>
            </a:pathLst>
          </a:custGeom>
          <a:solidFill>
            <a:srgbClr val="56606B"/>
          </a:solidFill>
          <a:ln/>
        </p:spPr>
      </p:sp>
      <p:sp>
        <p:nvSpPr>
          <p:cNvPr id="14" name="Evidência"/>
          <p:cNvSpPr txBox="1"/>
          <p:nvPr/>
        </p:nvSpPr>
        <p:spPr>
          <a:xfrm>
            <a:off x="8252817" y="2168686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Evidência</a:t>
            </a:r>
            <a:endParaRPr lang="en-US" sz="1700" dirty="0"/>
          </a:p>
        </p:txBody>
      </p:sp>
      <p:sp>
        <p:nvSpPr>
          <p:cNvPr id="15" name="VASST: sem redução de mortalidade em 28 "/>
          <p:cNvSpPr txBox="1"/>
          <p:nvPr/>
        </p:nvSpPr>
        <p:spPr>
          <a:xfrm>
            <a:off x="8252817" y="2517088"/>
            <a:ext cx="2884984" cy="173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VASST: sem redução de mortalidade em 28 dias (35,4% vs. 39,3%). VASSPR (JAMA 2026; n = 3.959): políticas por hospital de iniciar com NA 0,1 vs. 0,4 mcg/kg/min não mudaram a mortalidade (31,8% vs. 33,0%).</a:t>
            </a:r>
            <a:endParaRPr lang="en-US" sz="1350" dirty="0"/>
          </a:p>
        </p:txBody>
      </p:sp>
      <p:sp>
        <p:nvSpPr>
          <p:cNvPr id="16" name="Russell, N Engl J Med 2008 (VASST) · Pel"/>
          <p:cNvSpPr txBox="1"/>
          <p:nvPr/>
        </p:nvSpPr>
        <p:spPr>
          <a:xfrm>
            <a:off x="812800" y="6227078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Russell, N Engl J Med 2008 (VASST) · Peltan, JAMA 2026 (VASSPR) · SSC 2026</a:t>
            </a:r>
            <a:endParaRPr lang="en-US" sz="1200" dirty="0"/>
          </a:p>
        </p:txBody>
      </p:sp>
      <p:pic>
        <p:nvPicPr>
          <p:cNvPr id="17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CHOQUE REFRATÁRIO"/>
          <p:cNvSpPr txBox="1"/>
          <p:nvPr/>
        </p:nvSpPr>
        <p:spPr>
          <a:xfrm>
            <a:off x="812800" y="801599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RESERVA · CHOQUE REFRATÁRIO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Choque refratário: adjuvantes além das aminas</a:t>
            </a:r>
            <a:endParaRPr lang="en-US" sz="3200" dirty="0"/>
          </a:p>
        </p:txBody>
      </p:sp>
      <p:graphicFrame>
        <p:nvGraphicFramePr>
          <p:cNvPr id="24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879501"/>
          <a:ext cx="10566400" cy="914400"/>
        </p:xfrm>
        <a:graphic>
          <a:graphicData uri="http://schemas.openxmlformats.org/drawingml/2006/table">
            <a:tbl>
              <a:tblPr/>
              <a:tblGrid>
                <a:gridCol w="1901924"/>
                <a:gridCol w="2747169"/>
                <a:gridCol w="3592513"/>
                <a:gridCol w="2324795"/>
              </a:tblGrid>
              <a:tr h="39112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Agente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Mecanismo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Evidência-chave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SSC 2026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607616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Hidrocortisona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Restaura a resposta vascular às catecolaminas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ADRENAL: choque resolve mais rápido. APROCCHSS: ↓ mortalidade com fludrocortisona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Sugere usar (condicional, baixa)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079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Angiotensina II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Agonista AT1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ATHOS-3: resposta da PAM em 3 h 69,9% vs. 23,4%; mortalidade sem diferença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 preferida como 1ª linha (condicional)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Azul de metileno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Inibe a via NO–GMPc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ECRs pequenos, sem desfecho clínico robusto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Evidência insuficiente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079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Milrinona, levosimendan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Inodilatadores não adrenérgicos (PDE3; sensibilização ao Ca</a:t>
                      </a:r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aseline="300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2+</a:t>
                      </a:r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DOREMI: sem diferença significativa vs. dobutamina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Contra levosimendan (condicional)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Venkatesh, N Engl J Med 2018 · Annane, N"/>
          <p:cNvSpPr txBox="1"/>
          <p:nvPr/>
        </p:nvSpPr>
        <p:spPr>
          <a:xfrm>
            <a:off x="812800" y="6227078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Venkatesh, N Engl J Med 2018 · Annane, N Engl J Med 2018 · Khanna, N Engl J Med 2017 · Mathew, N Engl J Med 2021 · SSC 2026</a:t>
            </a:r>
            <a:endParaRPr lang="en-US" sz="1200" dirty="0"/>
          </a:p>
        </p:txBody>
      </p:sp>
      <p:pic>
        <p:nvPicPr>
          <p:cNvPr id="6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SEQUÊNCIA SSC 2026"/>
          <p:cNvSpPr txBox="1"/>
          <p:nvPr/>
        </p:nvSpPr>
        <p:spPr>
          <a:xfrm>
            <a:off x="812800" y="801599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RESERVA · SEQUÊNCIA SSC 2026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SSC 2026: a sequência de vasopressores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81834" cy="1457722"/>
          </a:xfrm>
          <a:prstGeom prst="roundRect">
            <a:avLst>
              <a:gd name="adj" fmla="val 5227"/>
            </a:avLst>
          </a:prstGeom>
          <a:solidFill>
            <a:srgbClr val="1B2A3A"/>
          </a:solidFill>
          <a:ln/>
        </p:spPr>
      </p:sp>
      <p:sp>
        <p:nvSpPr>
          <p:cNvPr id="5" name="PASSO 1"/>
          <p:cNvSpPr txBox="1"/>
          <p:nvPr/>
        </p:nvSpPr>
        <p:spPr>
          <a:xfrm>
            <a:off x="1016000" y="2071499"/>
            <a:ext cx="2694484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1</a:t>
            </a:r>
            <a:endParaRPr lang="en-US" sz="1200" dirty="0"/>
          </a:p>
        </p:txBody>
      </p:sp>
      <p:sp>
        <p:nvSpPr>
          <p:cNvPr id="6" name="Noradrenalina"/>
          <p:cNvSpPr txBox="1"/>
          <p:nvPr/>
        </p:nvSpPr>
        <p:spPr>
          <a:xfrm>
            <a:off x="1016000" y="2343735"/>
            <a:ext cx="2694484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Noradrenalina</a:t>
            </a:r>
            <a:endParaRPr lang="en-US" sz="1800" dirty="0"/>
          </a:p>
        </p:txBody>
      </p:sp>
      <p:sp>
        <p:nvSpPr>
          <p:cNvPr id="7" name="1ª linha (forte); iniciar cedo, até por "/>
          <p:cNvSpPr txBox="1"/>
          <p:nvPr/>
        </p:nvSpPr>
        <p:spPr>
          <a:xfrm>
            <a:off x="1016000" y="2659727"/>
            <a:ext cx="2694484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1ª linha (forte); iniciar cedo, até por veia periférica.</a:t>
            </a:r>
            <a:endParaRPr lang="en-US" sz="1300" dirty="0"/>
          </a:p>
        </p:txBody>
      </p:sp>
      <p:sp>
        <p:nvSpPr>
          <p:cNvPr id="8" name="Seta"/>
          <p:cNvSpPr/>
          <p:nvPr/>
        </p:nvSpPr>
        <p:spPr>
          <a:xfrm>
            <a:off x="4021634" y="2494062"/>
            <a:ext cx="406400" cy="228600"/>
          </a:xfrm>
          <a:prstGeom prst="rightArrow">
            <a:avLst/>
          </a:prstGeom>
          <a:solidFill>
            <a:srgbClr val="B9581A"/>
          </a:solidFill>
          <a:ln/>
        </p:spPr>
      </p:sp>
      <p:sp>
        <p:nvSpPr>
          <p:cNvPr id="9" name="Cartão"/>
          <p:cNvSpPr/>
          <p:nvPr/>
        </p:nvSpPr>
        <p:spPr>
          <a:xfrm>
            <a:off x="4555034" y="1879501"/>
            <a:ext cx="3081834" cy="1457722"/>
          </a:xfrm>
          <a:prstGeom prst="roundRect">
            <a:avLst>
              <a:gd name="adj" fmla="val 5227"/>
            </a:avLst>
          </a:prstGeom>
          <a:solidFill>
            <a:srgbClr val="1B2A3A"/>
          </a:solidFill>
          <a:ln/>
        </p:spPr>
      </p:sp>
      <p:sp>
        <p:nvSpPr>
          <p:cNvPr id="10" name="PASSO 2"/>
          <p:cNvSpPr txBox="1"/>
          <p:nvPr/>
        </p:nvSpPr>
        <p:spPr>
          <a:xfrm>
            <a:off x="4758234" y="2071499"/>
            <a:ext cx="2694484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2</a:t>
            </a:r>
            <a:endParaRPr lang="en-US" sz="1200" dirty="0"/>
          </a:p>
        </p:txBody>
      </p:sp>
      <p:sp>
        <p:nvSpPr>
          <p:cNvPr id="11" name="+ Vasopressina"/>
          <p:cNvSpPr txBox="1"/>
          <p:nvPr/>
        </p:nvSpPr>
        <p:spPr>
          <a:xfrm>
            <a:off x="4758234" y="2343735"/>
            <a:ext cx="2694484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Vasopressina</a:t>
            </a:r>
            <a:endParaRPr lang="en-US" sz="1800" dirty="0"/>
          </a:p>
        </p:txBody>
      </p:sp>
      <p:sp>
        <p:nvSpPr>
          <p:cNvPr id="12" name="NA em escalada (condicional, certeza mod"/>
          <p:cNvSpPr txBox="1"/>
          <p:nvPr/>
        </p:nvSpPr>
        <p:spPr>
          <a:xfrm>
            <a:off x="4758234" y="2659727"/>
            <a:ext cx="2694484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em escalada (condicional, certeza moderada).</a:t>
            </a:r>
            <a:endParaRPr lang="en-US" sz="1300" dirty="0"/>
          </a:p>
        </p:txBody>
      </p:sp>
      <p:sp>
        <p:nvSpPr>
          <p:cNvPr id="13" name="Seta"/>
          <p:cNvSpPr/>
          <p:nvPr/>
        </p:nvSpPr>
        <p:spPr>
          <a:xfrm>
            <a:off x="7763867" y="2494062"/>
            <a:ext cx="406400" cy="228600"/>
          </a:xfrm>
          <a:prstGeom prst="rightArrow">
            <a:avLst/>
          </a:prstGeom>
          <a:solidFill>
            <a:srgbClr val="B9581A"/>
          </a:solidFill>
          <a:ln/>
        </p:spPr>
      </p:sp>
      <p:sp>
        <p:nvSpPr>
          <p:cNvPr id="14" name="Cartão"/>
          <p:cNvSpPr/>
          <p:nvPr/>
        </p:nvSpPr>
        <p:spPr>
          <a:xfrm>
            <a:off x="8297267" y="1879501"/>
            <a:ext cx="3081834" cy="1457722"/>
          </a:xfrm>
          <a:prstGeom prst="roundRect">
            <a:avLst>
              <a:gd name="adj" fmla="val 5227"/>
            </a:avLst>
          </a:prstGeom>
          <a:solidFill>
            <a:srgbClr val="1B2A3A"/>
          </a:solidFill>
          <a:ln/>
        </p:spPr>
      </p:sp>
      <p:sp>
        <p:nvSpPr>
          <p:cNvPr id="15" name="PASSO 3"/>
          <p:cNvSpPr txBox="1"/>
          <p:nvPr/>
        </p:nvSpPr>
        <p:spPr>
          <a:xfrm>
            <a:off x="8500467" y="2071499"/>
            <a:ext cx="2694484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3</a:t>
            </a:r>
            <a:endParaRPr lang="en-US" sz="1200" dirty="0"/>
          </a:p>
        </p:txBody>
      </p:sp>
      <p:sp>
        <p:nvSpPr>
          <p:cNvPr id="16" name="+ Adrenalina"/>
          <p:cNvSpPr txBox="1"/>
          <p:nvPr/>
        </p:nvSpPr>
        <p:spPr>
          <a:xfrm>
            <a:off x="8500467" y="2343735"/>
            <a:ext cx="2694484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Adrenalina</a:t>
            </a:r>
            <a:endParaRPr lang="en-US" sz="1800" dirty="0"/>
          </a:p>
        </p:txBody>
      </p:sp>
      <p:sp>
        <p:nvSpPr>
          <p:cNvPr id="17" name="PAM ainda inadequada (condicional, muito"/>
          <p:cNvSpPr txBox="1"/>
          <p:nvPr/>
        </p:nvSpPr>
        <p:spPr>
          <a:xfrm>
            <a:off x="8500467" y="2659727"/>
            <a:ext cx="2694484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PAM ainda inadequada (condicional, muito baixa).</a:t>
            </a:r>
            <a:endParaRPr lang="en-US" sz="1300" dirty="0"/>
          </a:p>
        </p:txBody>
      </p:sp>
      <p:sp>
        <p:nvSpPr>
          <p:cNvPr id="18" name="Cartão"/>
          <p:cNvSpPr/>
          <p:nvPr/>
        </p:nvSpPr>
        <p:spPr>
          <a:xfrm>
            <a:off x="812800" y="3540423"/>
            <a:ext cx="5181600" cy="1907282"/>
          </a:xfrm>
          <a:prstGeom prst="roundRect">
            <a:avLst>
              <a:gd name="adj" fmla="val 39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9" name="Borda de destaque"/>
          <p:cNvSpPr/>
          <p:nvPr/>
        </p:nvSpPr>
        <p:spPr>
          <a:xfrm>
            <a:off x="823379" y="3540423"/>
            <a:ext cx="5160443" cy="38100"/>
          </a:xfrm>
          <a:custGeom>
            <a:avLst/>
            <a:gdLst/>
            <a:ahLst/>
            <a:cxnLst/>
            <a:rect l="l" t="t" r="r" b="b"/>
            <a:pathLst>
              <a:path w="5160443" h="38100">
                <a:moveTo>
                  <a:pt x="5094821" y="0"/>
                </a:moveTo>
                <a:lnTo>
                  <a:pt x="5109687" y="1464"/>
                </a:lnTo>
                <a:lnTo>
                  <a:pt x="5123982" y="5800"/>
                </a:lnTo>
                <a:lnTo>
                  <a:pt x="5137156" y="12842"/>
                </a:lnTo>
                <a:lnTo>
                  <a:pt x="5148703" y="22318"/>
                </a:lnTo>
                <a:lnTo>
                  <a:pt x="5158179" y="33866"/>
                </a:lnTo>
                <a:lnTo>
                  <a:pt x="5160443" y="38100"/>
                </a:lnTo>
                <a:lnTo>
                  <a:pt x="0" y="38100"/>
                </a:lnTo>
                <a:lnTo>
                  <a:pt x="2263" y="33866"/>
                </a:lnTo>
                <a:lnTo>
                  <a:pt x="11740" y="22318"/>
                </a:lnTo>
                <a:lnTo>
                  <a:pt x="23287" y="12842"/>
                </a:lnTo>
                <a:lnTo>
                  <a:pt x="36461" y="5800"/>
                </a:lnTo>
                <a:lnTo>
                  <a:pt x="50755" y="1464"/>
                </a:lnTo>
                <a:lnTo>
                  <a:pt x="65621" y="0"/>
                </a:lnTo>
                <a:close/>
              </a:path>
            </a:pathLst>
          </a:custGeom>
          <a:solidFill>
            <a:srgbClr val="2E5E8C"/>
          </a:solidFill>
          <a:ln/>
        </p:spPr>
      </p:sp>
      <p:sp>
        <p:nvSpPr>
          <p:cNvPr id="20" name="Disfunção cardíaca"/>
          <p:cNvSpPr txBox="1"/>
          <p:nvPr/>
        </p:nvSpPr>
        <p:spPr>
          <a:xfrm>
            <a:off x="1073150" y="3829608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Disfunção cardíaca</a:t>
            </a:r>
            <a:endParaRPr lang="en-US" sz="1700" dirty="0"/>
          </a:p>
        </p:txBody>
      </p:sp>
      <p:sp>
        <p:nvSpPr>
          <p:cNvPr id="21" name="Hipoperfusão apesar de volume e PAM adeq"/>
          <p:cNvSpPr txBox="1"/>
          <p:nvPr/>
        </p:nvSpPr>
        <p:spPr>
          <a:xfrm>
            <a:off x="1073150" y="4178009"/>
            <a:ext cx="46799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Hipoperfusão apesar de volume e PAM adequados: dobutamina + NA, ou adrenalina isolada. Na escolha inicial, NA se taquiarritmia, adrenalina se bradiarritmia. Levosimendan: contra.</a:t>
            </a:r>
            <a:endParaRPr lang="en-US" sz="1350" dirty="0"/>
          </a:p>
        </p:txBody>
      </p:sp>
      <p:sp>
        <p:nvSpPr>
          <p:cNvPr id="22" name="Cartão"/>
          <p:cNvSpPr/>
          <p:nvPr/>
        </p:nvSpPr>
        <p:spPr>
          <a:xfrm>
            <a:off x="6197600" y="3540423"/>
            <a:ext cx="5181600" cy="1907282"/>
          </a:xfrm>
          <a:prstGeom prst="roundRect">
            <a:avLst>
              <a:gd name="adj" fmla="val 39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3" name="Borda de destaque"/>
          <p:cNvSpPr/>
          <p:nvPr/>
        </p:nvSpPr>
        <p:spPr>
          <a:xfrm>
            <a:off x="6208179" y="3540423"/>
            <a:ext cx="5160443" cy="38100"/>
          </a:xfrm>
          <a:custGeom>
            <a:avLst/>
            <a:gdLst/>
            <a:ahLst/>
            <a:cxnLst/>
            <a:rect l="l" t="t" r="r" b="b"/>
            <a:pathLst>
              <a:path w="5160443" h="38100">
                <a:moveTo>
                  <a:pt x="5094821" y="0"/>
                </a:moveTo>
                <a:lnTo>
                  <a:pt x="5109687" y="1464"/>
                </a:lnTo>
                <a:lnTo>
                  <a:pt x="5123982" y="5800"/>
                </a:lnTo>
                <a:lnTo>
                  <a:pt x="5137156" y="12842"/>
                </a:lnTo>
                <a:lnTo>
                  <a:pt x="5148703" y="22318"/>
                </a:lnTo>
                <a:lnTo>
                  <a:pt x="5158179" y="33866"/>
                </a:lnTo>
                <a:lnTo>
                  <a:pt x="5160443" y="38100"/>
                </a:lnTo>
                <a:lnTo>
                  <a:pt x="0" y="38100"/>
                </a:lnTo>
                <a:lnTo>
                  <a:pt x="2263" y="33866"/>
                </a:lnTo>
                <a:lnTo>
                  <a:pt x="11740" y="22318"/>
                </a:lnTo>
                <a:lnTo>
                  <a:pt x="23287" y="12842"/>
                </a:lnTo>
                <a:lnTo>
                  <a:pt x="36461" y="5800"/>
                </a:lnTo>
                <a:lnTo>
                  <a:pt x="50755" y="1464"/>
                </a:lnTo>
                <a:lnTo>
                  <a:pt x="65621" y="0"/>
                </a:lnTo>
                <a:close/>
              </a:path>
            </a:pathLst>
          </a:custGeom>
          <a:solidFill>
            <a:srgbClr val="56606B"/>
          </a:solidFill>
          <a:ln/>
        </p:spPr>
      </p:sp>
      <p:sp>
        <p:nvSpPr>
          <p:cNvPr id="24" name="Adjuvantes e o que evitar"/>
          <p:cNvSpPr txBox="1"/>
          <p:nvPr/>
        </p:nvSpPr>
        <p:spPr>
          <a:xfrm>
            <a:off x="6457950" y="3829608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Adjuvantes e o que evitar</a:t>
            </a:r>
            <a:endParaRPr lang="en-US" sz="1700" dirty="0"/>
          </a:p>
        </p:txBody>
      </p:sp>
      <p:sp>
        <p:nvSpPr>
          <p:cNvPr id="25" name="Hidrocortisona EV sugerida (condicional,"/>
          <p:cNvSpPr txBox="1"/>
          <p:nvPr/>
        </p:nvSpPr>
        <p:spPr>
          <a:xfrm>
            <a:off x="6457950" y="4178009"/>
            <a:ext cx="46799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Hidrocortisona EV sugerida (condicional, baixa). Dopamina como primeira linha: contra (forte). Terlipressina: contra. Azul de metileno: evidência insuficiente.</a:t>
            </a:r>
            <a:endParaRPr lang="en-US" sz="1350" dirty="0"/>
          </a:p>
        </p:txBody>
      </p:sp>
      <p:sp>
        <p:nvSpPr>
          <p:cNvPr id="26" name="Prescott, Antonelli et al., Crit Care Me"/>
          <p:cNvSpPr txBox="1"/>
          <p:nvPr/>
        </p:nvSpPr>
        <p:spPr>
          <a:xfrm>
            <a:off x="812800" y="6227078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Prescott, Antonelli et al., Crit Care Med 2026;54(4):725–812 (Surviving Sepsis Campaign 2026)</a:t>
            </a:r>
            <a:endParaRPr lang="en-US" sz="1200" dirty="0"/>
          </a:p>
        </p:txBody>
      </p:sp>
      <p:pic>
        <p:nvPicPr>
          <p:cNvPr id="27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ALVO DE PAM"/>
          <p:cNvSpPr txBox="1"/>
          <p:nvPr/>
        </p:nvSpPr>
        <p:spPr>
          <a:xfrm>
            <a:off x="812800" y="801599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RESERVA · ALVO DE PAM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Alvo de PAM: começar em 65 mmHg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556000" cy="3468092"/>
          </a:xfrm>
          <a:prstGeom prst="roundRect">
            <a:avLst>
              <a:gd name="adj" fmla="val 2197"/>
            </a:avLst>
          </a:prstGeom>
          <a:solidFill>
            <a:srgbClr val="1B2A3A"/>
          </a:solidFill>
          <a:ln/>
        </p:spPr>
      </p:sp>
      <p:sp>
        <p:nvSpPr>
          <p:cNvPr id="5" name="SSC 2026"/>
          <p:cNvSpPr txBox="1"/>
          <p:nvPr/>
        </p:nvSpPr>
        <p:spPr>
          <a:xfrm>
            <a:off x="1117600" y="2171232"/>
            <a:ext cx="29654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E49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SSC 2026</a:t>
            </a:r>
            <a:endParaRPr lang="en-US" sz="1400" dirty="0"/>
          </a:p>
        </p:txBody>
      </p:sp>
      <p:sp>
        <p:nvSpPr>
          <p:cNvPr id="6" name="65"/>
          <p:cNvSpPr txBox="1"/>
          <p:nvPr/>
        </p:nvSpPr>
        <p:spPr>
          <a:xfrm>
            <a:off x="1117600" y="2635325"/>
            <a:ext cx="2965450" cy="1016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000"/>
              </a:lnSpc>
              <a:buNone/>
            </a:pPr>
            <a:r>
              <a:rPr lang="pt-BR" altLang="en-US" sz="80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65</a:t>
            </a:r>
            <a:endParaRPr lang="en-US" sz="8000" dirty="0"/>
          </a:p>
        </p:txBody>
      </p:sp>
      <p:sp>
        <p:nvSpPr>
          <p:cNvPr id="7" name="mmHg como alvo inicial no choque séptico"/>
          <p:cNvSpPr txBox="1"/>
          <p:nvPr/>
        </p:nvSpPr>
        <p:spPr>
          <a:xfrm>
            <a:off x="1117600" y="3738206"/>
            <a:ext cx="2965450" cy="1288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pt-BR" altLang="en-US" sz="1400" dirty="0">
                <a:solidFill>
                  <a:srgbClr val="DFE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mmHg como alvo inicial no choque séptico (forte, certeza moderada), titulando dentro de ~5 mmHg. Em ≥65 anos: 60–65 mmHg (condicional, baixa).</a:t>
            </a:r>
            <a:endParaRPr lang="en-US" sz="1400" dirty="0"/>
          </a:p>
        </p:txBody>
      </p:sp>
      <p:sp>
        <p:nvSpPr>
          <p:cNvPr id="8" name="Cartão"/>
          <p:cNvSpPr/>
          <p:nvPr/>
        </p:nvSpPr>
        <p:spPr>
          <a:xfrm>
            <a:off x="4572000" y="1879501"/>
            <a:ext cx="6807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9" name="Borda de destaque"/>
          <p:cNvSpPr/>
          <p:nvPr/>
        </p:nvSpPr>
        <p:spPr>
          <a:xfrm>
            <a:off x="4572000" y="1890079"/>
            <a:ext cx="38100" cy="1037904"/>
          </a:xfrm>
          <a:custGeom>
            <a:avLst/>
            <a:gdLst/>
            <a:ahLst/>
            <a:cxnLst/>
            <a:rect l="l" t="t" r="r" b="b"/>
            <a:pathLst>
              <a:path w="38100" h="1037904">
                <a:moveTo>
                  <a:pt x="38100" y="1037904"/>
                </a:moveTo>
                <a:lnTo>
                  <a:pt x="33866" y="1035640"/>
                </a:lnTo>
                <a:lnTo>
                  <a:pt x="22318" y="1026164"/>
                </a:lnTo>
                <a:lnTo>
                  <a:pt x="12842" y="1014617"/>
                </a:lnTo>
                <a:lnTo>
                  <a:pt x="5800" y="1001443"/>
                </a:lnTo>
                <a:lnTo>
                  <a:pt x="1464" y="987148"/>
                </a:lnTo>
                <a:lnTo>
                  <a:pt x="0" y="972282"/>
                </a:lnTo>
                <a:lnTo>
                  <a:pt x="0" y="65621"/>
                </a:lnTo>
                <a:lnTo>
                  <a:pt x="1464" y="50755"/>
                </a:lnTo>
                <a:lnTo>
                  <a:pt x="5800" y="36461"/>
                </a:lnTo>
                <a:lnTo>
                  <a:pt x="12842" y="23287"/>
                </a:lnTo>
                <a:lnTo>
                  <a:pt x="22318" y="11740"/>
                </a:lnTo>
                <a:lnTo>
                  <a:pt x="33866" y="2263"/>
                </a:lnTo>
                <a:lnTo>
                  <a:pt x="38100" y="0"/>
                </a:lnTo>
                <a:close/>
              </a:path>
            </a:pathLst>
          </a:custGeom>
          <a:solidFill>
            <a:srgbClr val="2E5E8C"/>
          </a:solidFill>
          <a:ln/>
        </p:spPr>
      </p:sp>
      <p:sp>
        <p:nvSpPr>
          <p:cNvPr id="10" name="65 trial · JAMA 2020"/>
          <p:cNvSpPr txBox="1"/>
          <p:nvPr/>
        </p:nvSpPr>
        <p:spPr>
          <a:xfrm>
            <a:off x="4813300" y="2035679"/>
            <a:ext cx="6375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 trial · JAMA 2020</a:t>
            </a:r>
            <a:endParaRPr lang="en-US" sz="1500" dirty="0"/>
          </a:p>
        </p:txBody>
      </p:sp>
      <p:sp>
        <p:nvSpPr>
          <p:cNvPr id="11" name="≥65 anos, PAM 60–65 vs. cuidado usual: m"/>
          <p:cNvSpPr txBox="1"/>
          <p:nvPr/>
        </p:nvSpPr>
        <p:spPr>
          <a:xfrm>
            <a:off x="4813300" y="2305516"/>
            <a:ext cx="637540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≥65 anos, PAM 60–65 vs. cuidado usual: mortalidade em 90 dias 41,0% vs. 43,8% (NS), com menos noradrenalina e menor duração.</a:t>
            </a:r>
            <a:endParaRPr lang="en-US" sz="1300" dirty="0"/>
          </a:p>
        </p:txBody>
      </p:sp>
      <p:sp>
        <p:nvSpPr>
          <p:cNvPr id="12" name="Cartão"/>
          <p:cNvSpPr/>
          <p:nvPr/>
        </p:nvSpPr>
        <p:spPr>
          <a:xfrm>
            <a:off x="4572000" y="3040162"/>
            <a:ext cx="6807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3" name="Borda de destaque"/>
          <p:cNvSpPr/>
          <p:nvPr/>
        </p:nvSpPr>
        <p:spPr>
          <a:xfrm>
            <a:off x="4572000" y="3050740"/>
            <a:ext cx="38100" cy="1037904"/>
          </a:xfrm>
          <a:custGeom>
            <a:avLst/>
            <a:gdLst/>
            <a:ahLst/>
            <a:cxnLst/>
            <a:rect l="l" t="t" r="r" b="b"/>
            <a:pathLst>
              <a:path w="38100" h="1037904">
                <a:moveTo>
                  <a:pt x="38100" y="1037904"/>
                </a:moveTo>
                <a:lnTo>
                  <a:pt x="33866" y="1035640"/>
                </a:lnTo>
                <a:lnTo>
                  <a:pt x="22318" y="1026164"/>
                </a:lnTo>
                <a:lnTo>
                  <a:pt x="12842" y="1014617"/>
                </a:lnTo>
                <a:lnTo>
                  <a:pt x="5800" y="1001443"/>
                </a:lnTo>
                <a:lnTo>
                  <a:pt x="1464" y="987148"/>
                </a:lnTo>
                <a:lnTo>
                  <a:pt x="0" y="972282"/>
                </a:lnTo>
                <a:lnTo>
                  <a:pt x="0" y="65621"/>
                </a:lnTo>
                <a:lnTo>
                  <a:pt x="1464" y="50755"/>
                </a:lnTo>
                <a:lnTo>
                  <a:pt x="5800" y="36461"/>
                </a:lnTo>
                <a:lnTo>
                  <a:pt x="12842" y="23287"/>
                </a:lnTo>
                <a:lnTo>
                  <a:pt x="22318" y="11740"/>
                </a:lnTo>
                <a:lnTo>
                  <a:pt x="33866" y="2263"/>
                </a:lnTo>
                <a:lnTo>
                  <a:pt x="38100" y="0"/>
                </a:lnTo>
                <a:close/>
              </a:path>
            </a:pathLst>
          </a:custGeom>
          <a:solidFill>
            <a:srgbClr val="B9581A"/>
          </a:solidFill>
          <a:ln/>
        </p:spPr>
      </p:sp>
      <p:sp>
        <p:nvSpPr>
          <p:cNvPr id="14" name="OPTPRESS · 2025"/>
          <p:cNvSpPr txBox="1"/>
          <p:nvPr/>
        </p:nvSpPr>
        <p:spPr>
          <a:xfrm>
            <a:off x="4813300" y="3196340"/>
            <a:ext cx="6375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OPTPRESS · 2025</a:t>
            </a:r>
            <a:endParaRPr lang="en-US" sz="1500" dirty="0"/>
          </a:p>
        </p:txBody>
      </p:sp>
      <p:sp>
        <p:nvSpPr>
          <p:cNvPr id="15" name="≥65 anos com choque séptico, alvo 80–85 "/>
          <p:cNvSpPr txBox="1"/>
          <p:nvPr/>
        </p:nvSpPr>
        <p:spPr>
          <a:xfrm>
            <a:off x="4813300" y="3466177"/>
            <a:ext cx="637540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≥65 anos com choque séptico, alvo 80–85 vs. 65–70 mmHg: interrompido por dano (mortalidade em 90 dias 39,3% vs. 28,6%; n = 518).</a:t>
            </a:r>
            <a:endParaRPr lang="en-US" sz="1300" dirty="0"/>
          </a:p>
        </p:txBody>
      </p:sp>
      <p:sp>
        <p:nvSpPr>
          <p:cNvPr id="16" name="Cartão"/>
          <p:cNvSpPr/>
          <p:nvPr/>
        </p:nvSpPr>
        <p:spPr>
          <a:xfrm>
            <a:off x="4572000" y="4200823"/>
            <a:ext cx="6807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7" name="Borda de destaque"/>
          <p:cNvSpPr/>
          <p:nvPr/>
        </p:nvSpPr>
        <p:spPr>
          <a:xfrm>
            <a:off x="4572000" y="4211401"/>
            <a:ext cx="38100" cy="1037904"/>
          </a:xfrm>
          <a:custGeom>
            <a:avLst/>
            <a:gdLst/>
            <a:ahLst/>
            <a:cxnLst/>
            <a:rect l="l" t="t" r="r" b="b"/>
            <a:pathLst>
              <a:path w="38100" h="1037904">
                <a:moveTo>
                  <a:pt x="38100" y="1037904"/>
                </a:moveTo>
                <a:lnTo>
                  <a:pt x="33866" y="1035640"/>
                </a:lnTo>
                <a:lnTo>
                  <a:pt x="22318" y="1026164"/>
                </a:lnTo>
                <a:lnTo>
                  <a:pt x="12842" y="1014617"/>
                </a:lnTo>
                <a:lnTo>
                  <a:pt x="5800" y="1001443"/>
                </a:lnTo>
                <a:lnTo>
                  <a:pt x="1464" y="987148"/>
                </a:lnTo>
                <a:lnTo>
                  <a:pt x="0" y="972282"/>
                </a:lnTo>
                <a:lnTo>
                  <a:pt x="0" y="65621"/>
                </a:lnTo>
                <a:lnTo>
                  <a:pt x="1464" y="50755"/>
                </a:lnTo>
                <a:lnTo>
                  <a:pt x="5800" y="36461"/>
                </a:lnTo>
                <a:lnTo>
                  <a:pt x="12842" y="23287"/>
                </a:lnTo>
                <a:lnTo>
                  <a:pt x="22318" y="11740"/>
                </a:lnTo>
                <a:lnTo>
                  <a:pt x="33866" y="2263"/>
                </a:lnTo>
                <a:lnTo>
                  <a:pt x="38100" y="0"/>
                </a:lnTo>
                <a:close/>
              </a:path>
            </a:pathLst>
          </a:custGeom>
          <a:solidFill>
            <a:srgbClr val="56606B"/>
          </a:solidFill>
          <a:ln/>
        </p:spPr>
      </p:sp>
      <p:sp>
        <p:nvSpPr>
          <p:cNvPr id="18" name="ESICM 2025"/>
          <p:cNvSpPr txBox="1"/>
          <p:nvPr/>
        </p:nvSpPr>
        <p:spPr>
          <a:xfrm>
            <a:off x="4813300" y="4357001"/>
            <a:ext cx="6375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ESICM 2025</a:t>
            </a:r>
            <a:endParaRPr lang="en-US" sz="1500" dirty="0"/>
          </a:p>
        </p:txBody>
      </p:sp>
      <p:sp>
        <p:nvSpPr>
          <p:cNvPr id="19" name="Individualizar: considerar alvo maior em"/>
          <p:cNvSpPr txBox="1"/>
          <p:nvPr/>
        </p:nvSpPr>
        <p:spPr>
          <a:xfrm>
            <a:off x="4813300" y="4626838"/>
            <a:ext cx="637540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Individualizar: considerar alvo maior em hipertensão crônica ou PVC alta, se houver melhora clínica com PA mais alta.</a:t>
            </a:r>
            <a:endParaRPr lang="en-US" sz="1300" dirty="0"/>
          </a:p>
        </p:txBody>
      </p:sp>
      <p:sp>
        <p:nvSpPr>
          <p:cNvPr id="20" name="Lamontagne, JAMA 2020 · Endo, Intensive "/>
          <p:cNvSpPr txBox="1"/>
          <p:nvPr/>
        </p:nvSpPr>
        <p:spPr>
          <a:xfrm>
            <a:off x="812800" y="6227078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Lamontagne, JAMA 2020 · Endo, Intensive Care Med 2025 (OPTPRESS) · Monnet, Intensive Care Med 2025 (ESICM) · SSC 2026</a:t>
            </a:r>
            <a:endParaRPr lang="en-US" sz="1200" dirty="0"/>
          </a:p>
        </p:txBody>
      </p:sp>
      <p:pic>
        <p:nvPicPr>
          <p:cNvPr id="21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TIMING E VIA"/>
          <p:cNvSpPr txBox="1"/>
          <p:nvPr/>
        </p:nvSpPr>
        <p:spPr>
          <a:xfrm>
            <a:off x="812800" y="801599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RESERVA · TIMING E VIA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Timing e via: começar cedo, mesmo periférico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386634" cy="2652911"/>
          </a:xfrm>
          <a:prstGeom prst="roundRect">
            <a:avLst>
              <a:gd name="adj" fmla="val 287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5" name="Borda de destaque"/>
          <p:cNvSpPr/>
          <p:nvPr/>
        </p:nvSpPr>
        <p:spPr>
          <a:xfrm>
            <a:off x="823379" y="1879501"/>
            <a:ext cx="3365476" cy="38100"/>
          </a:xfrm>
          <a:custGeom>
            <a:avLst/>
            <a:gdLst/>
            <a:ahLst/>
            <a:cxnLst/>
            <a:rect l="l" t="t" r="r" b="b"/>
            <a:pathLst>
              <a:path w="3365476" h="38100">
                <a:moveTo>
                  <a:pt x="3299855" y="0"/>
                </a:moveTo>
                <a:lnTo>
                  <a:pt x="3314721" y="1464"/>
                </a:lnTo>
                <a:lnTo>
                  <a:pt x="3329015" y="5800"/>
                </a:lnTo>
                <a:lnTo>
                  <a:pt x="3342189" y="12842"/>
                </a:lnTo>
                <a:lnTo>
                  <a:pt x="3353736" y="22318"/>
                </a:lnTo>
                <a:lnTo>
                  <a:pt x="3363213" y="33866"/>
                </a:lnTo>
                <a:lnTo>
                  <a:pt x="3365476" y="38100"/>
                </a:lnTo>
                <a:lnTo>
                  <a:pt x="0" y="38100"/>
                </a:lnTo>
                <a:lnTo>
                  <a:pt x="2263" y="33866"/>
                </a:lnTo>
                <a:lnTo>
                  <a:pt x="11740" y="22318"/>
                </a:lnTo>
                <a:lnTo>
                  <a:pt x="23287" y="12842"/>
                </a:lnTo>
                <a:lnTo>
                  <a:pt x="36461" y="5800"/>
                </a:lnTo>
                <a:lnTo>
                  <a:pt x="50755" y="1464"/>
                </a:lnTo>
                <a:lnTo>
                  <a:pt x="65621" y="0"/>
                </a:lnTo>
                <a:close/>
              </a:path>
            </a:pathLst>
          </a:custGeom>
          <a:solidFill>
            <a:srgbClr val="B9581A"/>
          </a:solidFill>
          <a:ln/>
        </p:spPr>
      </p:sp>
      <p:sp>
        <p:nvSpPr>
          <p:cNvPr id="6" name="Precoce"/>
          <p:cNvSpPr txBox="1"/>
          <p:nvPr/>
        </p:nvSpPr>
        <p:spPr>
          <a:xfrm>
            <a:off x="1073150" y="2168686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Precoce</a:t>
            </a:r>
            <a:endParaRPr lang="en-US" sz="1700" dirty="0"/>
          </a:p>
        </p:txBody>
      </p:sp>
      <p:sp>
        <p:nvSpPr>
          <p:cNvPr id="7" name="CENSER: NA 0,05 mcg/kg/min desde a admis"/>
          <p:cNvSpPr txBox="1"/>
          <p:nvPr/>
        </p:nvSpPr>
        <p:spPr>
          <a:xfrm>
            <a:off x="1073150" y="2517088"/>
            <a:ext cx="2884984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CENSER: NA 0,05 mcg/kg/min desde a admissão elevou o controle do choque em 6 h (76,1% vs. 48,4%), com menos edema pulmonar (14,4% vs. 27,7%) e arritmia. Mortalidade sem diferença.</a:t>
            </a:r>
            <a:endParaRPr lang="en-US" sz="1350" dirty="0"/>
          </a:p>
        </p:txBody>
      </p:sp>
      <p:sp>
        <p:nvSpPr>
          <p:cNvPr id="8" name="Cartão"/>
          <p:cNvSpPr/>
          <p:nvPr/>
        </p:nvSpPr>
        <p:spPr>
          <a:xfrm>
            <a:off x="4402634" y="1879501"/>
            <a:ext cx="3386634" cy="2652911"/>
          </a:xfrm>
          <a:prstGeom prst="roundRect">
            <a:avLst>
              <a:gd name="adj" fmla="val 287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9" name="Borda de destaque"/>
          <p:cNvSpPr/>
          <p:nvPr/>
        </p:nvSpPr>
        <p:spPr>
          <a:xfrm>
            <a:off x="4413212" y="1879501"/>
            <a:ext cx="3365476" cy="38100"/>
          </a:xfrm>
          <a:custGeom>
            <a:avLst/>
            <a:gdLst/>
            <a:ahLst/>
            <a:cxnLst/>
            <a:rect l="l" t="t" r="r" b="b"/>
            <a:pathLst>
              <a:path w="3365476" h="38100">
                <a:moveTo>
                  <a:pt x="3299855" y="0"/>
                </a:moveTo>
                <a:lnTo>
                  <a:pt x="3314721" y="1464"/>
                </a:lnTo>
                <a:lnTo>
                  <a:pt x="3329015" y="5800"/>
                </a:lnTo>
                <a:lnTo>
                  <a:pt x="3342189" y="12842"/>
                </a:lnTo>
                <a:lnTo>
                  <a:pt x="3353736" y="22318"/>
                </a:lnTo>
                <a:lnTo>
                  <a:pt x="3363213" y="33866"/>
                </a:lnTo>
                <a:lnTo>
                  <a:pt x="3365476" y="38100"/>
                </a:lnTo>
                <a:lnTo>
                  <a:pt x="0" y="38100"/>
                </a:lnTo>
                <a:lnTo>
                  <a:pt x="2263" y="33866"/>
                </a:lnTo>
                <a:lnTo>
                  <a:pt x="11740" y="22318"/>
                </a:lnTo>
                <a:lnTo>
                  <a:pt x="23287" y="12842"/>
                </a:lnTo>
                <a:lnTo>
                  <a:pt x="36461" y="5800"/>
                </a:lnTo>
                <a:lnTo>
                  <a:pt x="50755" y="1464"/>
                </a:lnTo>
                <a:lnTo>
                  <a:pt x="65621" y="0"/>
                </a:lnTo>
                <a:close/>
              </a:path>
            </a:pathLst>
          </a:custGeom>
          <a:solidFill>
            <a:srgbClr val="2E5E8C"/>
          </a:solidFill>
          <a:ln/>
        </p:spPr>
      </p:sp>
      <p:sp>
        <p:nvSpPr>
          <p:cNvPr id="10" name="Periférico"/>
          <p:cNvSpPr txBox="1"/>
          <p:nvPr/>
        </p:nvSpPr>
        <p:spPr>
          <a:xfrm>
            <a:off x="4662984" y="2168686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Periférico</a:t>
            </a:r>
            <a:endParaRPr lang="en-US" sz="1700" dirty="0"/>
          </a:p>
        </p:txBody>
      </p:sp>
      <p:sp>
        <p:nvSpPr>
          <p:cNvPr id="11" name="Metanálise de Tran (n = 1.835): complica"/>
          <p:cNvSpPr txBox="1"/>
          <p:nvPr/>
        </p:nvSpPr>
        <p:spPr>
          <a:xfrm>
            <a:off x="4662984" y="2517088"/>
            <a:ext cx="2884984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Metanálise de Tran (n = 1.835): complicações em 7% (combinada 8,6%), 96% leves; menos com protocolo de segurança (2,9% vs. 12%). SSC 2026: iniciar periférico em vez de esperar o acesso central.</a:t>
            </a:r>
            <a:endParaRPr lang="en-US" sz="1350" dirty="0"/>
          </a:p>
        </p:txBody>
      </p:sp>
      <p:sp>
        <p:nvSpPr>
          <p:cNvPr id="12" name="Cartão"/>
          <p:cNvSpPr/>
          <p:nvPr/>
        </p:nvSpPr>
        <p:spPr>
          <a:xfrm>
            <a:off x="7992467" y="1879501"/>
            <a:ext cx="3386634" cy="2652911"/>
          </a:xfrm>
          <a:prstGeom prst="roundRect">
            <a:avLst>
              <a:gd name="adj" fmla="val 287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3" name="Borda de destaque"/>
          <p:cNvSpPr/>
          <p:nvPr/>
        </p:nvSpPr>
        <p:spPr>
          <a:xfrm>
            <a:off x="8003046" y="1879501"/>
            <a:ext cx="3365476" cy="38100"/>
          </a:xfrm>
          <a:custGeom>
            <a:avLst/>
            <a:gdLst/>
            <a:ahLst/>
            <a:cxnLst/>
            <a:rect l="l" t="t" r="r" b="b"/>
            <a:pathLst>
              <a:path w="3365476" h="38100">
                <a:moveTo>
                  <a:pt x="3299855" y="0"/>
                </a:moveTo>
                <a:lnTo>
                  <a:pt x="3314721" y="1464"/>
                </a:lnTo>
                <a:lnTo>
                  <a:pt x="3329015" y="5800"/>
                </a:lnTo>
                <a:lnTo>
                  <a:pt x="3342189" y="12842"/>
                </a:lnTo>
                <a:lnTo>
                  <a:pt x="3353736" y="22318"/>
                </a:lnTo>
                <a:lnTo>
                  <a:pt x="3363213" y="33866"/>
                </a:lnTo>
                <a:lnTo>
                  <a:pt x="3365476" y="38100"/>
                </a:lnTo>
                <a:lnTo>
                  <a:pt x="0" y="38100"/>
                </a:lnTo>
                <a:lnTo>
                  <a:pt x="2263" y="33866"/>
                </a:lnTo>
                <a:lnTo>
                  <a:pt x="11740" y="22318"/>
                </a:lnTo>
                <a:lnTo>
                  <a:pt x="23287" y="12842"/>
                </a:lnTo>
                <a:lnTo>
                  <a:pt x="36461" y="5800"/>
                </a:lnTo>
                <a:lnTo>
                  <a:pt x="50755" y="1464"/>
                </a:lnTo>
                <a:lnTo>
                  <a:pt x="65621" y="0"/>
                </a:lnTo>
                <a:close/>
              </a:path>
            </a:pathLst>
          </a:custGeom>
          <a:solidFill>
            <a:srgbClr val="56606B"/>
          </a:solidFill>
          <a:ln/>
        </p:spPr>
      </p:sp>
      <p:sp>
        <p:nvSpPr>
          <p:cNvPr id="14" name="Prescrição"/>
          <p:cNvSpPr txBox="1"/>
          <p:nvPr/>
        </p:nvSpPr>
        <p:spPr>
          <a:xfrm>
            <a:off x="8252817" y="2168686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Prescrição</a:t>
            </a:r>
            <a:endParaRPr lang="en-US" sz="1700" dirty="0"/>
          </a:p>
        </p:txBody>
      </p:sp>
      <p:sp>
        <p:nvSpPr>
          <p:cNvPr id="15" name="No Brasil, a ampola de hemitartarato 2 m"/>
          <p:cNvSpPr txBox="1"/>
          <p:nvPr/>
        </p:nvSpPr>
        <p:spPr>
          <a:xfrm>
            <a:off x="8252817" y="2517088"/>
            <a:ext cx="2884984" cy="173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Brasil, a ampola de hemitartarato 2 mg/mL equivale a 1 mg/mL de noradrenalina base. A mesma infusão expressa em sal tem o dobro do valor em base: especificar a forma na prescrição e ao comparar com estudos.</a:t>
            </a:r>
            <a:endParaRPr lang="en-US" sz="1350" dirty="0"/>
          </a:p>
        </p:txBody>
      </p:sp>
      <p:sp>
        <p:nvSpPr>
          <p:cNvPr id="16" name="Permpikul, Am J Respir Crit Care Med 201"/>
          <p:cNvSpPr txBox="1"/>
          <p:nvPr/>
        </p:nvSpPr>
        <p:spPr>
          <a:xfrm>
            <a:off x="812800" y="6227078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Permpikul, Am J Respir Crit Care Med 2019 · Tran, Am J Emerg Med 2020 · Ibarra-Estrada, Intensive Care Med 2024 · SSC 2026</a:t>
            </a:r>
            <a:endParaRPr lang="en-US" sz="1200" dirty="0"/>
          </a:p>
        </p:txBody>
      </p:sp>
      <p:pic>
        <p:nvPicPr>
          <p:cNvPr id="17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ALVO INTRAOPERATÓRIO"/>
          <p:cNvSpPr txBox="1"/>
          <p:nvPr/>
        </p:nvSpPr>
        <p:spPr>
          <a:xfrm>
            <a:off x="812800" y="801599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RESERVA · ALVO INTRAOPERATÓRIO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Alvo intraoperatório: PAM 60–65 como piso</a:t>
            </a:r>
            <a:endParaRPr lang="en-US" sz="3200" dirty="0"/>
          </a:p>
        </p:txBody>
      </p:sp>
      <p:graphicFrame>
        <p:nvGraphicFramePr>
          <p:cNvPr id="28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879501"/>
          <a:ext cx="10566400" cy="914400"/>
        </p:xfrm>
        <a:graphic>
          <a:graphicData uri="http://schemas.openxmlformats.org/drawingml/2006/table">
            <a:tbl>
              <a:tblPr/>
              <a:tblGrid>
                <a:gridCol w="2113260"/>
                <a:gridCol w="2747169"/>
                <a:gridCol w="2535932"/>
                <a:gridCol w="3170039"/>
              </a:tblGrid>
              <a:tr h="39112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Estudo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População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Alvos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Resultado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607616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POISE-3 · Ann Intern Med 2023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7.490; cirurgia não cardíaca, risco cardiovascular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PAM ≥80 vs. ≥60, com manejo de anti-hipertensivos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Eventos vasculares em 30 dias: 13,9% vs. 14,0%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079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IMPROVE-multi · JAMA 2025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1.134; cirurgia abdominal maior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PAM individualizada pela basal noturna vs. ≥65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Composto em 7 dias: 33,5% vs. 30,5% (NS)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079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HISTAP · Intensive Care Med 2026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630; ≥60 anos, hipertensos, abdominal maior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PAM ≥80 vs. ≥65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Morte ou disfunção orgânica: 38,1% vs. 48,9% (RR 0,78), sobretudo LRA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POQI 2024: PAM ≥60 em pacientes de risco"/>
          <p:cNvSpPr txBox="1"/>
          <p:nvPr/>
        </p:nvSpPr>
        <p:spPr>
          <a:xfrm>
            <a:off x="812800" y="4394725"/>
            <a:ext cx="10585450" cy="4976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2C3A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POQI 2024: PAM ≥60 em pacientes de risco é limite mínimo, não garantia de perfusão; com pressão venosa alta, o alvo é maior. Acima do piso, benefício só em hipertensos de alto risco, e os ECRs divergem.</a:t>
            </a:r>
            <a:endParaRPr lang="en-US" sz="1400" dirty="0"/>
          </a:p>
        </p:txBody>
      </p:sp>
      <p:sp>
        <p:nvSpPr>
          <p:cNvPr id="6" name="Marcucci, Ann Intern Med 2023 · Saugel, "/>
          <p:cNvSpPr txBox="1"/>
          <p:nvPr/>
        </p:nvSpPr>
        <p:spPr>
          <a:xfrm>
            <a:off x="812800" y="6227078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Marcucci, Ann Intern Med 2023 · Saugel, JAMA 2025 · HISTAP (SIAARTI), Intensive Care Med 2026 · Saugel, Br J Anaesth 2024 (POQI)</a:t>
            </a:r>
            <a:endParaRPr lang="en-US" sz="1200" dirty="0"/>
          </a:p>
        </p:txBody>
      </p:sp>
      <p:pic>
        <p:nvPicPr>
          <p:cNvPr id="7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ROTEIRO"/>
          <p:cNvSpPr txBox="1"/>
          <p:nvPr/>
        </p:nvSpPr>
        <p:spPr>
          <a:xfrm>
            <a:off x="812800" y="801599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RESERVA · ROTEIRO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que vamos discutir</a:t>
            </a:r>
            <a:endParaRPr lang="en-US" sz="3200" dirty="0"/>
          </a:p>
        </p:txBody>
      </p:sp>
      <p:sp>
        <p:nvSpPr>
          <p:cNvPr id="4" name="01"/>
          <p:cNvSpPr txBox="1"/>
          <p:nvPr/>
        </p:nvSpPr>
        <p:spPr>
          <a:xfrm>
            <a:off x="812800" y="1857860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400" dirty="0"/>
          </a:p>
        </p:txBody>
      </p:sp>
      <p:sp>
        <p:nvSpPr>
          <p:cNvPr id="5" name="Fisiologia: PAM, débito cardíaco e resis"/>
          <p:cNvSpPr txBox="1"/>
          <p:nvPr/>
        </p:nvSpPr>
        <p:spPr>
          <a:xfrm>
            <a:off x="1371600" y="1959009"/>
            <a:ext cx="4540250" cy="5611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Fisiologia: PAM, débito cardíaco e resistência vascular</a:t>
            </a:r>
            <a:endParaRPr lang="en-US" sz="1700" dirty="0"/>
          </a:p>
        </p:txBody>
      </p:sp>
      <p:sp>
        <p:nvSpPr>
          <p:cNvPr id="6" name="02"/>
          <p:cNvSpPr txBox="1"/>
          <p:nvPr/>
        </p:nvSpPr>
        <p:spPr>
          <a:xfrm>
            <a:off x="6299200" y="1857860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400" dirty="0"/>
          </a:p>
        </p:txBody>
      </p:sp>
      <p:sp>
        <p:nvSpPr>
          <p:cNvPr id="7" name="Receptores adrenérgicos e classificação "/>
          <p:cNvSpPr txBox="1"/>
          <p:nvPr/>
        </p:nvSpPr>
        <p:spPr>
          <a:xfrm>
            <a:off x="6858000" y="1959009"/>
            <a:ext cx="4540250" cy="5611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Receptores adrenérgicos e classificação das aminas</a:t>
            </a:r>
            <a:endParaRPr lang="en-US" sz="1700" dirty="0"/>
          </a:p>
        </p:txBody>
      </p:sp>
      <p:sp>
        <p:nvSpPr>
          <p:cNvPr id="8" name="03"/>
          <p:cNvSpPr txBox="1"/>
          <p:nvPr/>
        </p:nvSpPr>
        <p:spPr>
          <a:xfrm>
            <a:off x="812800" y="2660341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400" dirty="0"/>
          </a:p>
        </p:txBody>
      </p:sp>
      <p:sp>
        <p:nvSpPr>
          <p:cNvPr id="9" name="Drogas: noradrenalina, adrenalina, dopam"/>
          <p:cNvSpPr txBox="1"/>
          <p:nvPr/>
        </p:nvSpPr>
        <p:spPr>
          <a:xfrm>
            <a:off x="1371600" y="2761490"/>
            <a:ext cx="4540250" cy="5611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Drogas: noradrenalina, adrenalina, dopamina, dobutamina, milrinona, fenilefrina e efedrina</a:t>
            </a:r>
            <a:endParaRPr lang="en-US" sz="1700" dirty="0"/>
          </a:p>
        </p:txBody>
      </p:sp>
      <p:sp>
        <p:nvSpPr>
          <p:cNvPr id="10" name="04"/>
          <p:cNvSpPr txBox="1"/>
          <p:nvPr/>
        </p:nvSpPr>
        <p:spPr>
          <a:xfrm>
            <a:off x="6299200" y="2660341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2400" dirty="0"/>
          </a:p>
        </p:txBody>
      </p:sp>
      <p:sp>
        <p:nvSpPr>
          <p:cNvPr id="11" name="Além das aminas: vasopressina e adjuvant"/>
          <p:cNvSpPr txBox="1"/>
          <p:nvPr/>
        </p:nvSpPr>
        <p:spPr>
          <a:xfrm>
            <a:off x="6858000" y="2761490"/>
            <a:ext cx="4540250" cy="5611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Além das aminas: vasopressina e adjuvantes do choque refratário</a:t>
            </a:r>
            <a:endParaRPr lang="en-US" sz="1700" dirty="0"/>
          </a:p>
        </p:txBody>
      </p:sp>
      <p:sp>
        <p:nvSpPr>
          <p:cNvPr id="12" name="05"/>
          <p:cNvSpPr txBox="1"/>
          <p:nvPr/>
        </p:nvSpPr>
        <p:spPr>
          <a:xfrm>
            <a:off x="812800" y="3462822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2400" dirty="0"/>
          </a:p>
        </p:txBody>
      </p:sp>
      <p:sp>
        <p:nvSpPr>
          <p:cNvPr id="13" name="Choque séptico: a sequência da SSC 2026"/>
          <p:cNvSpPr txBox="1"/>
          <p:nvPr/>
        </p:nvSpPr>
        <p:spPr>
          <a:xfrm>
            <a:off x="1371600" y="3563972"/>
            <a:ext cx="4148038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Choque séptico: a sequência da SSC 2026</a:t>
            </a:r>
            <a:endParaRPr lang="en-US" sz="1700" dirty="0"/>
          </a:p>
        </p:txBody>
      </p:sp>
      <p:sp>
        <p:nvSpPr>
          <p:cNvPr id="14" name="06"/>
          <p:cNvSpPr txBox="1"/>
          <p:nvPr/>
        </p:nvSpPr>
        <p:spPr>
          <a:xfrm>
            <a:off x="6299200" y="3462822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2400" dirty="0"/>
          </a:p>
        </p:txBody>
      </p:sp>
      <p:sp>
        <p:nvSpPr>
          <p:cNvPr id="15" name="Perioperatório: escolha da droga e custo"/>
          <p:cNvSpPr txBox="1"/>
          <p:nvPr/>
        </p:nvSpPr>
        <p:spPr>
          <a:xfrm>
            <a:off x="6858000" y="3563972"/>
            <a:ext cx="4540250" cy="5611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Perioperatório: escolha da droga e custo da hipotensão</a:t>
            </a:r>
            <a:endParaRPr lang="en-US" sz="1700" dirty="0"/>
          </a:p>
        </p:txBody>
      </p:sp>
      <p:sp>
        <p:nvSpPr>
          <p:cNvPr id="16" name="07"/>
          <p:cNvSpPr txBox="1"/>
          <p:nvPr/>
        </p:nvSpPr>
        <p:spPr>
          <a:xfrm>
            <a:off x="812800" y="4265304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2400" dirty="0"/>
          </a:p>
        </p:txBody>
      </p:sp>
      <p:sp>
        <p:nvSpPr>
          <p:cNvPr id="17" name="Mensagens finais: a droga certa para o p"/>
          <p:cNvSpPr txBox="1"/>
          <p:nvPr/>
        </p:nvSpPr>
        <p:spPr>
          <a:xfrm>
            <a:off x="1371600" y="4366453"/>
            <a:ext cx="4540250" cy="5611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Mensagens finais: a droga certa para o problema certo</a:t>
            </a:r>
            <a:endParaRPr lang="en-US" sz="1700" dirty="0"/>
          </a:p>
        </p:txBody>
      </p:sp>
      <p:sp>
        <p:nvSpPr>
          <p:cNvPr id="18" name="Surviving Sepsis Campaign 2026 · ESICM 2"/>
          <p:cNvSpPr txBox="1"/>
          <p:nvPr/>
        </p:nvSpPr>
        <p:spPr>
          <a:xfrm>
            <a:off x="812800" y="6227078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Surviving Sepsis Campaign 2026 · ESICM 2025 · Miller’s Anesthesia, 10ª ed. (2024)</a:t>
            </a:r>
            <a:endParaRPr lang="en-US" sz="1200" dirty="0"/>
          </a:p>
        </p:txBody>
      </p:sp>
      <p:pic>
        <p:nvPicPr>
          <p:cNvPr id="19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REFERÊNCIAS"/>
          <p:cNvSpPr txBox="1"/>
          <p:nvPr/>
        </p:nvSpPr>
        <p:spPr>
          <a:xfrm>
            <a:off x="812800" y="801599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RESERVA · REFERÊNCIAS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Leitura base</a:t>
            </a:r>
            <a:endParaRPr lang="en-US" sz="3200" dirty="0"/>
          </a:p>
        </p:txBody>
      </p:sp>
      <p:sp>
        <p:nvSpPr>
          <p:cNvPr id="4" name="Prescott, Antonelli · SSC 2026 · Crit Ca"/>
          <p:cNvSpPr txBox="1"/>
          <p:nvPr/>
        </p:nvSpPr>
        <p:spPr>
          <a:xfrm>
            <a:off x="812800" y="1868299"/>
            <a:ext cx="5149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Prescott, Antonelli · SSC 2026 · Crit Care Med 2026</a:t>
            </a:r>
            <a:endParaRPr lang="en-US" sz="1200" dirty="0"/>
          </a:p>
        </p:txBody>
      </p:sp>
      <p:sp>
        <p:nvSpPr>
          <p:cNvPr id="5" name="Monnet, Messina · ESICM 2025 · Intensive"/>
          <p:cNvSpPr txBox="1"/>
          <p:nvPr/>
        </p:nvSpPr>
        <p:spPr>
          <a:xfrm>
            <a:off x="812800" y="2119720"/>
            <a:ext cx="5149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Monnet, Messina · ESICM 2025 · Intensive Care Med 2025</a:t>
            </a:r>
            <a:endParaRPr lang="en-US" sz="1200" dirty="0"/>
          </a:p>
        </p:txBody>
      </p:sp>
      <p:sp>
        <p:nvSpPr>
          <p:cNvPr id="6" name="Miller’s Anesthesia, 10ª ed. · Elsevier "/>
          <p:cNvSpPr txBox="1"/>
          <p:nvPr/>
        </p:nvSpPr>
        <p:spPr>
          <a:xfrm>
            <a:off x="812800" y="2371140"/>
            <a:ext cx="5149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Miller’s Anesthesia, 10ª ed. · Elsevier 2024 · [caps.]</a:t>
            </a:r>
            <a:endParaRPr lang="en-US" sz="1200" dirty="0"/>
          </a:p>
        </p:txBody>
      </p:sp>
      <p:sp>
        <p:nvSpPr>
          <p:cNvPr id="7" name="De Backer · SOAP II · N Engl J Med 2010"/>
          <p:cNvSpPr txBox="1"/>
          <p:nvPr/>
        </p:nvSpPr>
        <p:spPr>
          <a:xfrm>
            <a:off x="812800" y="2622560"/>
            <a:ext cx="5149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Backer · SOAP II · N Engl J Med 2010</a:t>
            </a:r>
            <a:endParaRPr lang="en-US" sz="1200" dirty="0"/>
          </a:p>
        </p:txBody>
      </p:sp>
      <p:sp>
        <p:nvSpPr>
          <p:cNvPr id="8" name="Russell · VASST · N Engl J Med 2008"/>
          <p:cNvSpPr txBox="1"/>
          <p:nvPr/>
        </p:nvSpPr>
        <p:spPr>
          <a:xfrm>
            <a:off x="812800" y="2873981"/>
            <a:ext cx="5149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Russell · VASST · N Engl J Med 2008</a:t>
            </a:r>
            <a:endParaRPr lang="en-US" sz="1200" dirty="0"/>
          </a:p>
        </p:txBody>
      </p:sp>
      <p:sp>
        <p:nvSpPr>
          <p:cNvPr id="9" name="Peltan · VASSPR · JAMA 2026"/>
          <p:cNvSpPr txBox="1"/>
          <p:nvPr/>
        </p:nvSpPr>
        <p:spPr>
          <a:xfrm>
            <a:off x="812800" y="3125401"/>
            <a:ext cx="5149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Peltan · VASSPR · JAMA 2026</a:t>
            </a:r>
            <a:endParaRPr lang="en-US" sz="1200" dirty="0"/>
          </a:p>
        </p:txBody>
      </p:sp>
      <p:sp>
        <p:nvSpPr>
          <p:cNvPr id="10" name="Lamontagne · 65 trial · JAMA 2020"/>
          <p:cNvSpPr txBox="1"/>
          <p:nvPr/>
        </p:nvSpPr>
        <p:spPr>
          <a:xfrm>
            <a:off x="812800" y="3376821"/>
            <a:ext cx="5149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Lamontagne · 65 trial · JAMA 2020</a:t>
            </a:r>
            <a:endParaRPr lang="en-US" sz="1200" dirty="0"/>
          </a:p>
        </p:txBody>
      </p:sp>
      <p:sp>
        <p:nvSpPr>
          <p:cNvPr id="11" name="Endo · OPTPRESS · Intensive Care Med 202"/>
          <p:cNvSpPr txBox="1"/>
          <p:nvPr/>
        </p:nvSpPr>
        <p:spPr>
          <a:xfrm>
            <a:off x="812800" y="3628242"/>
            <a:ext cx="5149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Endo · OPTPRESS · Intensive Care Med 2025</a:t>
            </a:r>
            <a:endParaRPr lang="en-US" sz="1200" dirty="0"/>
          </a:p>
        </p:txBody>
      </p:sp>
      <p:sp>
        <p:nvSpPr>
          <p:cNvPr id="12" name="Permpikul · CENSER · Am J Respir Crit Ca"/>
          <p:cNvSpPr txBox="1"/>
          <p:nvPr/>
        </p:nvSpPr>
        <p:spPr>
          <a:xfrm>
            <a:off x="812800" y="3879662"/>
            <a:ext cx="5149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Permpikul · CENSER · Am J Respir Crit Care Med 2019</a:t>
            </a:r>
            <a:endParaRPr lang="en-US" sz="1200" dirty="0"/>
          </a:p>
        </p:txBody>
      </p:sp>
      <p:sp>
        <p:nvSpPr>
          <p:cNvPr id="13" name="Annane · CATS · Lancet 2007"/>
          <p:cNvSpPr txBox="1"/>
          <p:nvPr/>
        </p:nvSpPr>
        <p:spPr>
          <a:xfrm>
            <a:off x="812800" y="4131082"/>
            <a:ext cx="5149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Annane · CATS · Lancet 2007</a:t>
            </a:r>
            <a:endParaRPr lang="en-US" sz="1200" dirty="0"/>
          </a:p>
        </p:txBody>
      </p:sp>
      <p:sp>
        <p:nvSpPr>
          <p:cNvPr id="14" name="Levy · OptimaCC · J Am Coll Cardiol 2018"/>
          <p:cNvSpPr txBox="1"/>
          <p:nvPr/>
        </p:nvSpPr>
        <p:spPr>
          <a:xfrm>
            <a:off x="812800" y="4382503"/>
            <a:ext cx="5149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Levy · OptimaCC · J Am Coll Cardiol 2018</a:t>
            </a:r>
            <a:endParaRPr lang="en-US" sz="1200" dirty="0"/>
          </a:p>
        </p:txBody>
      </p:sp>
      <p:sp>
        <p:nvSpPr>
          <p:cNvPr id="15" name="Mathew · DOREMI · N Engl J Med 2021"/>
          <p:cNvSpPr txBox="1"/>
          <p:nvPr/>
        </p:nvSpPr>
        <p:spPr>
          <a:xfrm>
            <a:off x="812800" y="4633923"/>
            <a:ext cx="5149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Mathew · DOREMI · N Engl J Med 2021</a:t>
            </a:r>
            <a:endParaRPr lang="en-US" sz="1200" dirty="0"/>
          </a:p>
        </p:txBody>
      </p:sp>
      <p:sp>
        <p:nvSpPr>
          <p:cNvPr id="16" name="Cuffe · OPTIME-CHF · JAMA 2002"/>
          <p:cNvSpPr txBox="1"/>
          <p:nvPr/>
        </p:nvSpPr>
        <p:spPr>
          <a:xfrm>
            <a:off x="812800" y="4885343"/>
            <a:ext cx="5149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Cuffe · OPTIME-CHF · JAMA 2002</a:t>
            </a:r>
            <a:endParaRPr lang="en-US" sz="1200" dirty="0"/>
          </a:p>
        </p:txBody>
      </p:sp>
      <p:sp>
        <p:nvSpPr>
          <p:cNvPr id="17" name="Hajjar · VANCS · Anesthesiology 2017"/>
          <p:cNvSpPr txBox="1"/>
          <p:nvPr/>
        </p:nvSpPr>
        <p:spPr>
          <a:xfrm>
            <a:off x="812800" y="5136763"/>
            <a:ext cx="5149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Hajjar · VANCS · Anesthesiology 2017</a:t>
            </a:r>
            <a:endParaRPr lang="en-US" sz="1200" dirty="0"/>
          </a:p>
        </p:txBody>
      </p:sp>
      <p:sp>
        <p:nvSpPr>
          <p:cNvPr id="18" name="Khanna · ATHOS-3 · N Engl J Med 2017"/>
          <p:cNvSpPr txBox="1"/>
          <p:nvPr/>
        </p:nvSpPr>
        <p:spPr>
          <a:xfrm>
            <a:off x="812800" y="5388184"/>
            <a:ext cx="5149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Khanna · ATHOS-3 · N Engl J Med 2017</a:t>
            </a:r>
            <a:endParaRPr lang="en-US" sz="1200" dirty="0"/>
          </a:p>
        </p:txBody>
      </p:sp>
      <p:sp>
        <p:nvSpPr>
          <p:cNvPr id="19" name="Bellomo · dopamina em dose baixa (ANZICS"/>
          <p:cNvSpPr txBox="1"/>
          <p:nvPr/>
        </p:nvSpPr>
        <p:spPr>
          <a:xfrm>
            <a:off x="6248400" y="1868299"/>
            <a:ext cx="5149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Bellomo · dopamina em dose baixa (ANZICS) · Lancet 2000</a:t>
            </a:r>
            <a:endParaRPr lang="en-US" sz="1200" dirty="0"/>
          </a:p>
        </p:txBody>
      </p:sp>
      <p:sp>
        <p:nvSpPr>
          <p:cNvPr id="20" name="Venkatesh · ADRENAL · N Engl J Med 2018"/>
          <p:cNvSpPr txBox="1"/>
          <p:nvPr/>
        </p:nvSpPr>
        <p:spPr>
          <a:xfrm>
            <a:off x="6248400" y="2119720"/>
            <a:ext cx="5149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Venkatesh · ADRENAL · N Engl J Med 2018</a:t>
            </a:r>
            <a:endParaRPr lang="en-US" sz="1200" dirty="0"/>
          </a:p>
        </p:txBody>
      </p:sp>
      <p:sp>
        <p:nvSpPr>
          <p:cNvPr id="21" name="Annane · APROCCHSS · N Engl J Med 2018"/>
          <p:cNvSpPr txBox="1"/>
          <p:nvPr/>
        </p:nvSpPr>
        <p:spPr>
          <a:xfrm>
            <a:off x="6248400" y="2371140"/>
            <a:ext cx="5149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Annane · APROCCHSS · N Engl J Med 2018</a:t>
            </a:r>
            <a:endParaRPr lang="en-US" sz="1200" dirty="0"/>
          </a:p>
        </p:txBody>
      </p:sp>
      <p:sp>
        <p:nvSpPr>
          <p:cNvPr id="22" name="Kinsella · consenso cesárea · Anaesthesi"/>
          <p:cNvSpPr txBox="1"/>
          <p:nvPr/>
        </p:nvSpPr>
        <p:spPr>
          <a:xfrm>
            <a:off x="6248400" y="2622560"/>
            <a:ext cx="5149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Kinsella · consenso cesárea · Anaesthesia 2018</a:t>
            </a:r>
            <a:endParaRPr lang="en-US" sz="1200" dirty="0"/>
          </a:p>
        </p:txBody>
      </p:sp>
      <p:sp>
        <p:nvSpPr>
          <p:cNvPr id="23" name="Park, Choi · vasopressores na cesárea · "/>
          <p:cNvSpPr txBox="1"/>
          <p:nvPr/>
        </p:nvSpPr>
        <p:spPr>
          <a:xfrm>
            <a:off x="6248400" y="2873981"/>
            <a:ext cx="5149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Park, Choi · vasopressores na cesárea · Anesth Pain Med 2024</a:t>
            </a:r>
            <a:endParaRPr lang="en-US" sz="1200" dirty="0"/>
          </a:p>
        </p:txBody>
      </p:sp>
      <p:sp>
        <p:nvSpPr>
          <p:cNvPr id="24" name="Marcucci · POISE-3 · Ann Intern Med 2023"/>
          <p:cNvSpPr txBox="1"/>
          <p:nvPr/>
        </p:nvSpPr>
        <p:spPr>
          <a:xfrm>
            <a:off x="6248400" y="3125401"/>
            <a:ext cx="5149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Marcucci · POISE-3 · Ann Intern Med 2023</a:t>
            </a:r>
            <a:endParaRPr lang="en-US" sz="1200" dirty="0"/>
          </a:p>
        </p:txBody>
      </p:sp>
      <p:sp>
        <p:nvSpPr>
          <p:cNvPr id="25" name="Saugel · POQI · Br J Anaesth 2024"/>
          <p:cNvSpPr txBox="1"/>
          <p:nvPr/>
        </p:nvSpPr>
        <p:spPr>
          <a:xfrm>
            <a:off x="6248400" y="3376821"/>
            <a:ext cx="5149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Saugel · POQI · Br J Anaesth 2024</a:t>
            </a:r>
            <a:endParaRPr lang="en-US" sz="1200" dirty="0"/>
          </a:p>
        </p:txBody>
      </p:sp>
      <p:sp>
        <p:nvSpPr>
          <p:cNvPr id="26" name="Lineburger · custo da hipotensão · Braz "/>
          <p:cNvSpPr txBox="1"/>
          <p:nvPr/>
        </p:nvSpPr>
        <p:spPr>
          <a:xfrm>
            <a:off x="6248400" y="3628242"/>
            <a:ext cx="5149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Lineburger · custo da hipotensão · Braz J Anesthesiol 2025</a:t>
            </a:r>
            <a:endParaRPr lang="en-US" sz="1200" dirty="0"/>
          </a:p>
        </p:txBody>
      </p:sp>
      <p:sp>
        <p:nvSpPr>
          <p:cNvPr id="27" name="Saugel · IMPROVE-multi · JAMA 2025"/>
          <p:cNvSpPr txBox="1"/>
          <p:nvPr/>
        </p:nvSpPr>
        <p:spPr>
          <a:xfrm>
            <a:off x="6248400" y="3879662"/>
            <a:ext cx="5149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Saugel · IMPROVE-multi · JAMA 2025</a:t>
            </a:r>
            <a:endParaRPr lang="en-US" sz="1200" dirty="0"/>
          </a:p>
        </p:txBody>
      </p:sp>
      <p:sp>
        <p:nvSpPr>
          <p:cNvPr id="28" name="SIAARTI · HISTAP · Intensive Care Med 20"/>
          <p:cNvSpPr txBox="1"/>
          <p:nvPr/>
        </p:nvSpPr>
        <p:spPr>
          <a:xfrm>
            <a:off x="6248400" y="4131082"/>
            <a:ext cx="5149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SIAARTI · HISTAP · Intensive Care Med 2026</a:t>
            </a:r>
            <a:endParaRPr lang="en-US" sz="1200" dirty="0"/>
          </a:p>
        </p:txBody>
      </p:sp>
      <p:sp>
        <p:nvSpPr>
          <p:cNvPr id="29" name="Tran · NA periférica · Am J Emerg Med 20"/>
          <p:cNvSpPr txBox="1"/>
          <p:nvPr/>
        </p:nvSpPr>
        <p:spPr>
          <a:xfrm>
            <a:off x="6248400" y="4382503"/>
            <a:ext cx="5149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 · NA periférica · Am J Emerg Med 2020</a:t>
            </a:r>
            <a:endParaRPr lang="en-US" sz="1200" dirty="0"/>
          </a:p>
        </p:txBody>
      </p:sp>
      <p:sp>
        <p:nvSpPr>
          <p:cNvPr id="30" name="Ibarra-Estrada · NA base vs. sal · Inten"/>
          <p:cNvSpPr txBox="1"/>
          <p:nvPr/>
        </p:nvSpPr>
        <p:spPr>
          <a:xfrm>
            <a:off x="6248400" y="4633923"/>
            <a:ext cx="5149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Ibarra-Estrada · NA base vs. sal · Intensive Care Med 2024</a:t>
            </a:r>
            <a:endParaRPr lang="en-US" sz="1200" dirty="0"/>
          </a:p>
        </p:txBody>
      </p:sp>
      <p:sp>
        <p:nvSpPr>
          <p:cNvPr id="31" name="ANZCA/ANZAAG · anafilaxia perioperatória"/>
          <p:cNvSpPr txBox="1"/>
          <p:nvPr/>
        </p:nvSpPr>
        <p:spPr>
          <a:xfrm>
            <a:off x="6248400" y="4885343"/>
            <a:ext cx="5149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ANZCA/ANZAAG · anafilaxia perioperatória · 2022</a:t>
            </a:r>
            <a:endParaRPr lang="en-US" sz="1200" dirty="0"/>
          </a:p>
        </p:txBody>
      </p:sp>
      <p:sp>
        <p:nvSpPr>
          <p:cNvPr id="32" name="Overgaard, Džavík · revisão · Circulatio"/>
          <p:cNvSpPr txBox="1"/>
          <p:nvPr/>
        </p:nvSpPr>
        <p:spPr>
          <a:xfrm>
            <a:off x="6248400" y="5136763"/>
            <a:ext cx="5149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Overgaard, Džavík · revisão · Circulation 2008</a:t>
            </a:r>
            <a:endParaRPr lang="en-US" sz="1200" dirty="0"/>
          </a:p>
        </p:txBody>
      </p:sp>
      <p:sp>
        <p:nvSpPr>
          <p:cNvPr id="33" name="Persichini · NA e retorno venoso · Crit "/>
          <p:cNvSpPr txBox="1"/>
          <p:nvPr/>
        </p:nvSpPr>
        <p:spPr>
          <a:xfrm>
            <a:off x="6248400" y="5388184"/>
            <a:ext cx="5149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Persichini · NA e retorno venoso · Crit Care Med 2012</a:t>
            </a:r>
            <a:endParaRPr lang="en-US" sz="1200" dirty="0"/>
          </a:p>
        </p:txBody>
      </p:sp>
      <p:pic>
        <p:nvPicPr>
          <p:cNvPr id="34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Aminas Vasoativas">
      <a:dk1>
        <a:srgbClr val="1B2A3A"/>
      </a:dk1>
      <a:lt1>
        <a:srgbClr val="FFFDF8"/>
      </a:lt1>
      <a:dk2>
        <a:srgbClr val="2C3A48"/>
      </a:dk2>
      <a:lt2>
        <a:srgbClr val="F5F3EE"/>
      </a:lt2>
      <a:accent1>
        <a:srgbClr val="B9581A"/>
      </a:accent1>
      <a:accent2>
        <a:srgbClr val="2E5E8C"/>
      </a:accent2>
      <a:accent3>
        <a:srgbClr val="56606B"/>
      </a:accent3>
      <a:accent4>
        <a:srgbClr val="E49A5C"/>
      </a:accent4>
      <a:accent5>
        <a:srgbClr val="33475E"/>
      </a:accent5>
      <a:accent6>
        <a:srgbClr val="E2DDD2"/>
      </a:accent6>
      <a:hlink>
        <a:srgbClr val="2E5E8C"/>
      </a:hlink>
      <a:folHlink>
        <a:srgbClr val="56606B"/>
      </a:folHlink>
    </a:clrScheme>
    <a:fontScheme name="Offic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Aminas Vasoativas</dc:title>
  <dc:subject>Sessão clínica</dc:subject>
  <dc:creator>Bruno Dubois</dc:creator>
  <cp:lastModifiedBy>Bruno Dubois</cp:lastModifiedBy>
  <cp:revision>1</cp:revision>
  <dcterms:created xsi:type="dcterms:W3CDTF">2026-10-18T18:49:35Z</dcterms:created>
  <dcterms:modified xsi:type="dcterms:W3CDTF">2026-10-18T18:49:35Z</dcterms:modified>
</cp:coreProperties>
</file>