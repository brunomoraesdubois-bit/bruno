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e objetivo" id="{57da30cc-0ff1-3fd9-95e1-081cfa9f9ac9}">
          <p14:sldIdLst>
            <p14:sldId id="256"/>
          </p14:sldIdLst>
        </p14:section>
        <p14:section name="Fisiologia da PAM e farmacologia dos receptores" id="{8e26b7b6-7488-225c-bb1b-315cc3c8d980}">
          <p14:sldIdLst>
            <p14:sldId id="257"/>
            <p14:sldId id="258"/>
            <p14:sldId id="259"/>
          </p14:sldIdLst>
        </p14:section>
        <p14:section name="Drogas: noradrenalina, adrenalina, inotrópicos, drogas de bolus e vasopressina" id="{7a8255d9-b48d-6533-e14d-8f765adad70d}">
          <p14:sldIdLst>
            <p14:sldId id="260"/>
            <p14:sldId id="261"/>
            <p14:sldId id="262"/>
            <p14:sldId id="263"/>
            <p14:sldId id="264"/>
          </p14:sldIdLst>
        </p14:section>
        <p14:section name="Choque séptico: SSC 2026 e VASSPR" id="{45fd8f58-1570-0e66-bcc4-885b4059bc0f}">
          <p14:sldIdLst>
            <p14:sldId id="265"/>
          </p14:sldIdLst>
        </p14:section>
        <p14:section name="Perioperatório: escolha da droga e alvo de PAM" id="{f3bf76d1-f5a8-beda-2d6b-d6cdf2ae4cd1}">
          <p14:sldIdLst>
            <p14:sldId id="266"/>
            <p14:sldId id="267"/>
          </p14:sldIdLst>
        </p14:section>
        <p14:section name="Mensagens finais" id="{9fef6f1e-2154-f836-c0c3-3547378f43ed}">
          <p14:sldIdLst>
            <p14:sldId id="268"/>
          </p14:sldIdLst>
        </p14:section>
        <p14:section name="Slides de reserva para perguntas" id="{b7d3b81b-e1c2-49ec-7d4e-9a2a3e8e0e75}">
          <p14:sldIdLst>
            <p14:sldId id="269"/>
            <p14:sldId id="270"/>
            <p14:sldId id="271"/>
            <p14:sldId id="272"/>
            <p14:sldId id="273"/>
            <p14:sldId id="274"/>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Duração-alvo: 15 minutos, em 13 slides. Tempos: capa e objetivo (20 s), fisiologia (1 min), receptores (1 min), classificação (1 min), noradrenalina (1 min 30 s), adrenalina (1 min), dopamina e dobutamina (1 min 30 s), fenilefrina e efedrina (1 min), vasopressina e adjuvantes (1 min), SSC 2026 e VASSPR (1 min 30 s), intraoperatório (1 min 30 s), alvo intraoperatório (1 min 30 s), mensagens finais (30 s). Depois das mensagens finais ficam os slides de reserva, para perguntas. Fontes principais: Surviving Sepsis Campaign 2026, ESICM 2025 e ensaios clínicos-chave. Farmacologia básica a conferir no Miller’s Anesthesia 10ª ed. (inserir capítulo e página nos rodapés marcados).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Abrir com a pergunta clínica: qual componente da PAM está falhando? Vasoplegia pede vasopressor, falência de bomba pede inotrópico, hipovolemia pede volume. A relação completa é PAM − PVC = DC × RVS; a PVC costuma ser pequena, mas pesa quando está alta. O DC depende de FC × volume sistólico: agonistas β1 elevam os dois, à custa de consumo de O₂ miocárdico e arritmia. Ponto menos lembrado: a noradrenalina aumenta a pressão média de enchimento sistêmico e o retorno venoso no choque séptico (Persichini, CCM 2012), por isso o DC pode subir mesmo com aumento da pós-carga. Como saber qual componente falha (ESICM 2025): ecocardiograma como primeira imagem para o tipo de choque, responsividade a volume por parâmetros dinâmicos antes de dar mais fluido, e perfusão seriada pelo tempo de enchimento capilar, com temperatura e livedo da pele.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V1 entra na tabela porque a vasopressina é a principal alternativa não adrenérgica. α2 aparece para lembrar que agonistas α2 (clonidina, dexmedetomidina) são simpatolíticos, não vasopressores de uso clínico. A dessensibilização ajuda a explicar a taquifilaxia e a lógica de associar um vasopressor de outra via.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A via de síntese explica duas coisas práticas: a dopamina age em parte por conversão e liberação de noradrenalina, e a adrenalina depende de cortisol para ser sintetizada na medula adrenal. A distinção direta versus indireta explica a taquifilaxia da efedrina, que depende dos estoques de noradrenalina.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e meio. Agonista α1 potente com β1 modesto: sobe a PAM pela RVS e pela venoconstrição, com DC preservado ou maior e FC estável ou menor por reflexo. SOAP II (n = 1.679): mortalidade em 28 dias 48,5% vs. 52,5% com dopamina (NS), arritmias 12,4% vs. 24,1%. SSC 2026: recomendação forte da noradrenalina sobre dopamina (certeza alta) e sobre adrenalina (certeza baixa). Prescrição no Brasil: ampolas de hemitartarato 2 mg/mL equivalem a 1 mg/mL de base (ver o slide de reserva sobre prescrição). Extravasamento: o antídoto clássico é a fentolamina infiltrada localmente.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Efeito dose-dependente: em dose baixa, β1 e β2 dominam (DC alto, RVS pode cair); em dose alta, α1 prevalece. SSC 2026: adicionar adrenalina quando a PAM segue inadequada com NA + vasopressina (condicional, certeza muito baixa); na disfunção cardíaca, NA ou adrenalina como primeira linha, com adrenalina preferível na bradiarritmia. No estudo CAT, 12,9% dos pacientes em adrenalina foram retirados por efeitos metabólicos transitórios. Anafilaxia (ANZCA 2022): as doses EV valem para o ambiente anestésico monitorizado, com diluição e titulação; iniciar infusão após três bolus; IM 0,5 mg se não houver acesso venoso, a via padrão fora desse ambiente. OptimaCC foi pequeno (n = 57) e interrompido precocemente; choque refratário não era desfecho pré-especificado.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e meio para as duas drogas. Dopamina: a resposta a cada faixa de dose varia muito entre pacientes. A dose “renal” (ANZICS, n = 328) não mudou creatinina, diálise nem mortalidade. No SOAP II, o subgrupo de choque cardiogênico teve maior mortalidade com dopamina. Uso residual: bradicardia sintomática sem alternativa. Dobutamina: mistura racêmica; o isômero (+) é agonista β1 e β2 e antagonista α1, o isômero (−) é agonista α1, e o efeito líquido é inotropismo com queda discreta da RVS. DOREMI (n = 192): desfecho composto 54% vs. 49% com milrinona (NS). As barras são uma escala qualitativa do efeito clínico, não afinidade medida.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Fenilefrina: agonista α1 puro, sem ação β; a PAM sobe pela RVS e a FC cai por reflexo. Isso ajuda quando a taquicardia atrapalha, mas pode reduzir o DC quando ele depende da FC. Na estenose aórtica, os objetivos são manter a pós-carga e evitar taquicardia; a droga é escolhida conforme a FC e a função ventricular, não por regra fixa. Cesárea: o consenso internacional de 2018 recomenda vasopressor α-agonista em infusão profilática, titulado para manter a PAS perto do basal; metanálises recentes mostram menos bradicardia materna com noradrenalina e pH umbilical semelhante. Efedrina: a ação indireta explica a taquifilaxia e a resposta menor com estoques depletados; atravessa a placenta e se associa a mais acidose fetal. As barras são uma escala qualitativa do efeito clínico, não afinidade medida.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Vasopressina: hormônio não adrenérgico (receptor V1), com deficiência relativa no choque séptico. Na enquete da SSC 2026, 85,1% dos painelistas associam vasopressina com a NA em escalada, com mediana de NA de 0,3 mcg/kg/min (IIQ 0,2–0,5). Choque refratário: antes de acrescentar drogas, corrigir causas tratáveis (volume, foco, acidose, cálcio, disfunção ventricular e dose de NA em base ou em sal). Hidrocortisona: ADRENAL usou 200 mg/dia em infusão; APROCCHSS usou 50 mg a cada 6 h com fludrocortisona (mortalidade em 90 dias 43,0% vs. 49,1%). Angiotensina II: checar disponibilidade no serviço. Azul de metileno: ECR de 91 pacientes com vasopressor retirado em 69 vs. 94 h; 69% dos painelistas da SSC nunca ou quase nunca o usam como resgate; evitar com inibidores de recaptação de serotonina e na deficiência de G6PD.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e meio. SSC 2026: a NA continua primeira linha (forte sobre dopamina; a preferência sobre vasopressina e angiotensina II virou sugestão) e pode ser iniciada por veia periférica em vez de esperar o acesso central (condicional, certeza muito baixa). A vasopressina não tem limiar numérico; na enquete dos painelistas, a mediana de NA para associá-la foi 0,3 mcg/kg/min. Alvo de PAM: 65 mmHg como alvo inicial (forte, certeza moderada) e 60–65 a partir dos 65 anos (condicional, certeza baixa). VASSPR (13 hospitais, cluster-crossover, n = 3.959): comparou estratégias de início por hospital, não doses individuais; os pedidos baseados no limiar foram feitos em cerca de 83% nos dois braços, e a vasopressina foi de fato usada em 52,4% vs. 32,9%. Único sinal de diferença: mais choque cardiogênico no grupo precoce (7,4% vs. 6,3%). O resultado negativo mostra que o início precoce como regra geral não trouxe ganho, mas não prova que o momento seja irrelevante em todos os pacientes. OPTPRESS (29 hospitais japoneses, 65 anos ou mais) foi interrompido por dano no alvo de 80–85 mmHg.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e meio. Antes de escolher a droga, excluir causas tratáveis: profundidade anestésica excessiva, hipovolemia, compressão de cava, pneumotórax, anafilaxia. Se a hipotensão persistir, avaliar a resposta a volume com parâmetros dinâmicos e fazer ecocardiograma (ESICM 2025). A tabela resume a lógica da aula aplicada ao centro cirúrgico: tônus baixo com FC preservada pede α1; bradicardia associada pede ação β1; vasoplegia que persiste pede infusão titulável em vez de bolus seriados. Na anafilaxia grau 3 sem resposta, escalar até 200 mcg e iniciar infusão após três bolus (ANZCA 2022); essas doses EV pressupõem ambiente anestésico monitorizado. Cesárea: metanálises recentes mostram menos bradicardia materna com noradrenalina e pH umbilical semelhante ao da fenilefrina.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minuto e meio. HISTAP (18 centros italianos): hipertensos com 60 anos ou mais e alto risco, em cirurgia abdominal maior. O benefício do alvo ≥80 veio sobretudo de menos lesão renal aguda leve a moderada (23,5% vs. 33,7%), sem diferença de mortalidade; o grupo de alvo alto recebeu mais noradrenalina, efedrina e transfusão. IMPROVE-multi (15 centros alemães): o alvo individual veio da PAM noturna pré-operatória e não foi melhor que PAM ≥65. Os dois estudos não são contraditórios: populações, intervenções e pressões alcançadas diferentes. POISE-3 (n = 7.490), com PAM ≥80 vs. ≥60 e manejo de anti-hipertensivos, foi neutro (13,9% vs. 14,0%). POQI 2024 (Saugel, BJA): manter PAM ≥60 mmHg em pacientes de risco, com alvo maior quando a pressão venosa ou de compartimento está alta. Leitura prática: evitar ficar abaixo do piso; subir o alvo é decisão individual, em paciente selecionado e monitorizado.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Trinta segundos. Fechar voltando à pergunta do início: qual componente da PAM está falhando? A droga certa é a que corrige esse componente, na menor dose eficaz, pelo menor tempo. A pergunta final serve para abrir a discussão com o grupo sobre os protocolos do serviço. Depois deste slide ficam os slides de reserva,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apresentação principal termina no slide de mensagens finais. Daqui em diante, apenas material de apoio: síntese das drogas, slides individuais de cada droga, vasopressina e choque refratário em detalhe, sequência da SSC 2026, alvo de PAM, timing e via periférica, prescrição de noradrenalina, alvo intraoperatório, roteiro e referências.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consolidação: ler por coluna. Quem tem α1 alto sobe RVS (noradrenalina, fenilefrina); quem tem β1 alto sobe DC e FC (adrenalina, dobutamina, isoproterenol); β2 explica vasodilatação e lactato. A afinidade da dopamina varia com a dose. As faixas de dose são as usuais em adultos e devem ser tituladas pela resposta. Isoproterenol aparece só aqui: uso restrito a bradicardia refratária e ponte para marca-passo.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barras mostram o perfil em toda a faixa de dose; na prática, a resposta a cada faixa é imprevisível. ANZICS (n = 328): dopamina 2 mcg/kg/min versus placebo sem diferença em pico de creatinina, necessidade de diálise ou mortalidade. SOAP II: no subgrupo de choque cardiogênico, mortalidade maior com dopamina (p = 0,03). Uso residual: bradicardia sintomática, quando não houver alternativa.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Isômero (+): agonista β1 e β2 e antagonista α1; isômero (−): agonista α1. O resultado clínico é inotropismo com queda discreta da RVS. Por isso, no paciente vasoplégico, a dobutamina entra junto com o vasopressor, nunca no lugar dele. DOREMI (n = 192): mortalidade hospitalar 43% vs. 37% com milrinona, sem diferença significativa. A SSC 2026 não encontrou dados suficientes para comparar dobutamina e milrinona e sugere contra levosimendan.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Agonista α1 direto, sem ação β: a PAM sobe pela RVS e a FC cai por reflexo. Isso é vantagem quando a taquicardia é o problema (estenose aórtica, cardiomiopatia hipertrófica obstrutiva, FA com resposta rápida) e desvantagem quando o DC depende da FC. Consenso internacional obstétrico (Kinsella 2018): fenilefrina como agente de escolha, em infusão profilática; noradrenalina é alternativa crescente, com melhor preservação do DC materno e desfechos neonatais comparáveis.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ação indireta explica as limitações: menor resposta quando os estoques de noradrenalina estão depletados (choque prolongado, uso crônico de simpatolíticos) e pouca eficácia no coração transplantado, que é desnervado. Na cesárea, a efedrina foi substituída pela fenilefrina como primeira escolha; continua útil como resgate quando há bradicardia.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Não é amina, mas é o principal parceiro da noradrenalina. VASST: no subgrupo de choque menos grave (NA 5–14 mcg/min), mortalidade 26,5% vs. 35,7%, achado apenas gerador de hipótese. VANISH (vasopressina precoce): sem diferença em dias livres de falência renal. VASSPR, publicado em 14/10/2026, é a novidade: comparou políticas de início por hospital (vasopressina de fato usada em 52,4% vs. 32,9%), sem ganho de mortalidade nem de dias livres de diálise, com sinal de mais choque cardiogênico no grupo precoce (7,4% vs. 6,3%). Equivalência usada em escores: vasopressina 0,03 U/min corresponde a cerca de 0,075 mcg/kg/min de NA (fator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Mensagem: no choque que não responde à noradrenalina, a estratégia é somar mecanismos diferentes, não subir indefinidamente a mesma droga. ATHOS-3 (n = 344): mortalidade em 28 dias 46% vs. 53,8% (NS). Azul de metileno: em pesquisa com os painelistas da SSC 2026, 69% nunca ou quase nunca o usam como resgate. Disponibilidade local de angiotensina II deve ser checada antes de citar como opção.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Mudanças em relação a 2021: a preferência da NA sobre vasopressina e angiotensina II virou sugestão (condicional); passou a haver sugestão explícita de iniciar vasopressor por via periférica em vez de esperar acesso central; terlipressina e levosimendan receberam sugestão contra; azul de metileno ficou sem recomendação por evidência insuficiente. A SSC não define limiar numérico para associar vasopressina.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trial (n = 2.463 na análise primária): menos exposição a vasopressor no grupo permissivo (duração média 46,0 vs. 55,9 h; dose total média de noradrenalina-equivalente 31,5 vs. 44,3 mg), sem sinal de dano; a OR ajustada favoreceu a hipotensão permissiva (0,82). OPTPRESS (29 hospitais japoneses) foi interrompido precocemente por dano: diferença absoluta de 10,7 pontos percentuais (IC 95% 2,6–18,9), com menos dias livres de terapia renal substitutiva no alvo alto. O protocolo associava vasopressina cedo, com NA ≥ 0,1 mcg/kg/min. A ESICM 2025 também sugere alvo menor no trauma com sangramento ativo sem TCE e PAM ≥80 mmHg no TCE grave.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CENSER (n = 310): dose fixa, não titulada, por 24 h; mortalidade em 28 dias 15,5% vs. 21,9% (NS). Na metanálise de Tran (Am J Emerg Med 2020), houve 122 complicações em 1.835 pacientes (7%), 96% delas leves; a prevalência combinada por efeitos aleatórios foi 8,6% (IC 95% 3,1–21%), e os estudos com protocolo de segurança tiveram menos complicações (2,9% vs. 12%). Na prática: veia calibrosa e proximal, inspeção frequente do sítio, plano para acesso central se a dose subir ou a infusão se prolongar; em extravasamento, fentolamina local. Dose em sal versus base: Ibarra-Estrada, Kattan e Jung (ICM 2024) defendem padronizar logo o relato da dose; a mesma infusão expressa em sal dá o dobro do número em base (0,1 mcg/kg/min de sal ≈ 0,05 de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para mostrar a diferença entre sal e base; conferir sempre a solução padrão e o protocolo da instituição. A noradrenalina é diluída em soro glicosado 5%. Muitos estudos e protocolos não informam se a dose está em base ou em sal, o que dificulta comparar limiares (por exemplo, o limiar de vasopressina da SSC 2021). Ibarra-Estrada, Kattan e Jung (Intensive Care Med 2024) defendem padronizar logo o relato da dose.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POISE-3: o braço de evitar hipotensão suspendia anti-hipertensivos e mirava PAM ≥80, sem redução de eventos vasculares. IMPROVE-multi: alvo individualizado não foi melhor que PAM ≥65. HISTAP (n = 630, 18 centros italianos): em idosos hipertensos de alto risco, com monitorização contínua e fluidoterapia protocolada, PAM ≥80 reduziu o desfecho composto, sobretudo por menos lesão renal aguda leve a moderada (23,5% vs. 33,7%). Atenção: a PAM média alcançada foi 77 mmHg no controle e 88 mmHg no grupo de alvo alto, ou seja, o controle não ficou em 65; o alvo alto exigiu mais noradrenalina, efedrina e transfusão. Leitura prática: o piso de 65 é consenso; subir o alvo é decisão individual em paciente selecionado.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Roteiro da apresentação, mantido como reserva (a versão de 15 minutos começa direto na fisiologia). Estrutura: do raciocínio fisiológico para a farmacologia, depois cada droga, e por fim a aplicação no choque séptico e no centro cirúrgico. O bloco 03 é o núcleo da apresentação (cerca de 1 minuto por droga).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Completar a entrada do Miller com os capítulos de farmacologia do sistema nervoso autônomo e de farmacologia cardiovascular, e preencher os rodapés marcados com [cap./pág.]. SSC 2026: Crit Care Med 2026;54(4):725–812. VASSPR: JAMA, publicado online em 14/10/2026. HISTAP: Intensive Care Med 2026;52(8):1619–1634. IMPROVE-multi: JAMA 2025;334(21):1893–1904. POISE-3 (braço de pressão): Ann Intern Med 2023;176:605–614. POQI: Br J Anaesth 2024;133(2):264–276.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apa">
    <p:bg>
      <p:bgPr>
        <a:solidFill>
          <a:srgbClr val="1B2A3A"/>
        </a:solidFill>
      </p:bgPr>
    </p:bg>
    <p:spTree>
      <p:nvGrpSpPr>
        <p:cNvPr id="1" name=""/>
        <p:cNvGrpSpPr/>
        <p:nvPr/>
      </p:nvGrpSpPr>
      <p:grpSpPr>
        <a:xfrm>
          <a:off x="0" y="0"/>
          <a:ext cx="0" cy="0"/>
          <a:chOff x="0" y="0"/>
          <a:chExt cx="0" cy="0"/>
        </a:xfrm>
      </p:grpSpPr>
      <p:sp>
        <p:nvSpPr>
          <p:cNvPr id="2" name="Text 0"/>
          <p:cNvSpPr/>
          <p:nvPr>
            <p:ph type="title"/>
          </p:nvPr>
        </p:nvSpPr>
        <p:spPr>
          <a:xfrm>
            <a:off x="812800" y="3628699"/>
            <a:ext cx="9042400" cy="1493520"/>
          </a:xfrm>
          <a:prstGeom prst="rect">
            <a:avLst/>
          </a:prstGeom>
          <a:noFill/>
          <a:ln/>
        </p:spPr>
        <p:txBody>
          <a:bodyPr wrap="square" rtlCol="0"/>
          <a:lstStyle>
            <a:lvl1pPr algn="l" indent="0" marL="0">
              <a:buNone/>
              <a:defRPr lang="en-US" sz="5600" dirty="0">
                <a:solidFill>
                  <a:srgbClr val="F5F3EE"/>
                </a:solidFill>
                <a:latin typeface="Georgia" pitchFamily="34" charset="0"/>
                <a:ea typeface="Georgia" pitchFamily="34" charset="-122"/>
                <a:cs typeface="Georgia" pitchFamily="34" charset="-120"/>
              </a:defRPr>
            </a:lvl1pPr>
          </a:lstStyle>
          <a:p>
            <a:pPr algn="l" indent="0" marL="0">
              <a:buNone/>
            </a:pPr>
            <a:endParaRPr lang="en-US" sz="5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údo">
    <p:bg>
      <p:bgPr>
        <a:solidFill>
          <a:srgbClr val="F5F3EE"/>
        </a:solidFill>
      </p:bgPr>
    </p:bg>
    <p:spTree>
      <p:nvGrpSpPr>
        <p:cNvPr id="1" name=""/>
        <p:cNvGrpSpPr/>
        <p:nvPr/>
      </p:nvGrpSpPr>
      <p:grpSpPr>
        <a:xfrm>
          <a:off x="0" y="0"/>
          <a:ext cx="0" cy="0"/>
          <a:chOff x="0" y="0"/>
          <a:chExt cx="0" cy="0"/>
        </a:xfrm>
      </p:grpSpPr>
      <p:sp>
        <p:nvSpPr>
          <p:cNvPr id="2" name="Text 0"/>
          <p:cNvSpPr/>
          <p:nvPr>
            <p:ph type="title"/>
          </p:nvPr>
        </p:nvSpPr>
        <p:spPr>
          <a:xfrm>
            <a:off x="812800" y="1135442"/>
            <a:ext cx="10718800" cy="894080"/>
          </a:xfrm>
          <a:prstGeom prst="rect">
            <a:avLst/>
          </a:prstGeom>
          <a:noFill/>
          <a:ln/>
        </p:spPr>
        <p:txBody>
          <a:bodyPr wrap="square" rtlCol="0"/>
          <a:lstStyle>
            <a:lvl1pPr algn="l" indent="0" marL="0">
              <a:buNone/>
              <a:defRPr lang="en-US" sz="3200" dirty="0">
                <a:solidFill>
                  <a:srgbClr val="1B2A3A"/>
                </a:solidFill>
                <a:latin typeface="Georgia" pitchFamily="34" charset="0"/>
                <a:ea typeface="Georgia" pitchFamily="34" charset="-122"/>
                <a:cs typeface="Georgia" pitchFamily="34" charset="-120"/>
              </a:defRPr>
            </a:lvl1pPr>
          </a:lstStyle>
          <a:p>
            <a:pPr algn="l" indent="0" marL="0">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sor">
    <p:bg>
      <p:bgPr>
        <a:solidFill>
          <a:srgbClr val="1B2A3A"/>
        </a:solidFill>
      </p:bgPr>
    </p:bg>
    <p:spTree>
      <p:nvGrpSpPr>
        <p:cNvPr id="1" name=""/>
        <p:cNvGrpSpPr/>
        <p:nvPr/>
      </p:nvGrpSpPr>
      <p:grpSpPr>
        <a:xfrm>
          <a:off x="0" y="0"/>
          <a:ext cx="0" cy="0"/>
          <a:chOff x="0" y="0"/>
          <a:chExt cx="0" cy="0"/>
        </a:xfrm>
      </p:grpSpPr>
      <p:sp>
        <p:nvSpPr>
          <p:cNvPr id="2" name="Text 0"/>
          <p:cNvSpPr/>
          <p:nvPr>
            <p:ph type="title"/>
          </p:nvPr>
        </p:nvSpPr>
        <p:spPr>
          <a:xfrm>
            <a:off x="812800" y="1307930"/>
            <a:ext cx="10718800" cy="497840"/>
          </a:xfrm>
          <a:prstGeom prst="rect">
            <a:avLst/>
          </a:prstGeom>
          <a:noFill/>
          <a:ln/>
        </p:spPr>
        <p:txBody>
          <a:bodyPr wrap="square" rtlCol="0"/>
          <a:lstStyle>
            <a:lvl1pPr algn="l" indent="0" marL="0">
              <a:buNone/>
              <a:defRPr lang="en-US" sz="1400" dirty="0">
                <a:solidFill>
                  <a:srgbClr val="E49A5C"/>
                </a:solidFill>
                <a:latin typeface="Georgia" pitchFamily="34" charset="0"/>
                <a:ea typeface="Georgia" pitchFamily="34" charset="-122"/>
                <a:cs typeface="Georgia" pitchFamily="34" charset="-120"/>
              </a:defRPr>
            </a:lvl1pPr>
          </a:lstStyle>
          <a:p>
            <a:pPr algn="l"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3A"/>
        </a:solidFill>
      </p:bgPr>
    </p:bg>
    <p:spTree>
      <p:nvGrpSpPr>
        <p:cNvPr id="1" name=""/>
        <p:cNvGrpSpPr/>
        <p:nvPr/>
      </p:nvGrpSpPr>
      <p:grpSpPr>
        <a:xfrm>
          <a:off x="0" y="0"/>
          <a:ext cx="0" cy="0"/>
          <a:chOff x="0" y="0"/>
          <a:chExt cx="0" cy="0"/>
        </a:xfrm>
      </p:grpSpPr>
      <p:sp>
        <p:nvSpPr>
          <p:cNvPr id="2" name="SESSÃO CLÍNICA · ANESTESIOLOGIA E TERAPI"/>
          <p:cNvSpPr txBox="1"/>
          <p:nvPr/>
        </p:nvSpPr>
        <p:spPr>
          <a:xfrm>
            <a:off x="812800" y="3088609"/>
            <a:ext cx="10585450" cy="248841"/>
          </a:xfrm>
          <a:prstGeom prst="rect">
            <a:avLst/>
          </a:prstGeom>
          <a:noFill/>
          <a:ln/>
        </p:spPr>
        <p:txBody>
          <a:bodyPr wrap="none" lIns="0" tIns="0" rIns="0" bIns="0" rtlCol="0" anchor="t"/>
          <a:lstStyle/>
          <a:p>
            <a:pPr algn="l" indent="0" marL="0">
              <a:lnSpc>
                <a:spcPts val="1960"/>
              </a:lnSpc>
              <a:buNone/>
            </a:pPr>
            <a:r>
              <a:rPr lang="pt-BR" altLang="en-US" sz="1400" b="1" spc="150" kern="0" dirty="0">
                <a:solidFill>
                  <a:srgbClr val="E49A5C"/>
                </a:solidFill>
                <a:latin typeface="Arial" pitchFamily="34" charset="0"/>
                <a:ea typeface="Arial" pitchFamily="34" charset="-122"/>
                <a:cs typeface="Arial" pitchFamily="34" charset="-120"/>
              </a:rPr>
              <a:t>SESSÃO CLÍNICA · ANESTESIOLOGIA E TERAPIA INTENSIVA</a:t>
            </a:r>
            <a:endParaRPr lang="en-US" sz="1400" dirty="0"/>
          </a:p>
        </p:txBody>
      </p:sp>
      <p:sp>
        <p:nvSpPr>
          <p:cNvPr id="3" name="Text 0"/>
          <p:cNvSpPr/>
          <p:nvPr>
            <p:ph type="title"/>
          </p:nvPr>
        </p:nvSpPr>
        <p:spPr>
          <a:xfrm>
            <a:off x="812800" y="3628699"/>
            <a:ext cx="9042400" cy="1493520"/>
          </a:xfrm>
          <a:prstGeom prst="rect">
            <a:avLst/>
          </a:prstGeom>
          <a:noFill/>
          <a:ln/>
        </p:spPr>
        <p:txBody>
          <a:bodyPr wrap="square" lIns="0" tIns="0" rIns="0" bIns="0" rtlCol="0" anchor="t"/>
          <a:lstStyle/>
          <a:p>
            <a:pPr algn="l" indent="0" marL="0">
              <a:lnSpc>
                <a:spcPts val="5880"/>
              </a:lnSpc>
              <a:buNone/>
            </a:pPr>
            <a:r>
              <a:rPr lang="pt-BR" altLang="en-US" sz="5600" dirty="0">
                <a:solidFill>
                  <a:srgbClr val="F5F3EE"/>
                </a:solidFill>
                <a:latin typeface="Georgia" pitchFamily="34" charset="0"/>
                <a:ea typeface="Georgia" pitchFamily="34" charset="-122"/>
                <a:cs typeface="Georgia" pitchFamily="34" charset="-120"/>
              </a:rPr>
              <a:t>Aminas vasoativas</a:t>
            </a:r>
            <a:endParaRPr lang="en-US" sz="5600" dirty="0"/>
          </a:p>
        </p:txBody>
      </p:sp>
      <p:sp>
        <p:nvSpPr>
          <p:cNvPr id="4" name="Objetivo: escolher a droga pelo mecanism"/>
          <p:cNvSpPr txBox="1"/>
          <p:nvPr/>
        </p:nvSpPr>
        <p:spPr>
          <a:xfrm>
            <a:off x="812800" y="4588436"/>
            <a:ext cx="10585450" cy="319980"/>
          </a:xfrm>
          <a:prstGeom prst="rect">
            <a:avLst/>
          </a:prstGeom>
          <a:noFill/>
          <a:ln/>
        </p:spPr>
        <p:txBody>
          <a:bodyPr wrap="none" lIns="0" tIns="0" rIns="0" bIns="0" rtlCol="0" anchor="t"/>
          <a:lstStyle/>
          <a:p>
            <a:pPr algn="l" indent="0" marL="0">
              <a:lnSpc>
                <a:spcPts val="2520"/>
              </a:lnSpc>
              <a:buNone/>
            </a:pPr>
            <a:r>
              <a:rPr lang="pt-BR" altLang="en-US" sz="1800" dirty="0">
                <a:solidFill>
                  <a:srgbClr val="C9CFD6"/>
                </a:solidFill>
                <a:latin typeface="Arial" pitchFamily="34" charset="0"/>
                <a:ea typeface="Arial" pitchFamily="34" charset="-122"/>
                <a:cs typeface="Arial" pitchFamily="34" charset="-120"/>
              </a:rPr>
              <a:t>Objetivo: escolher a droga pelo mecanismo da hipotensão, no choque e na anestesia</a:t>
            </a:r>
            <a:endParaRPr lang="en-US" sz="1800" dirty="0"/>
          </a:p>
        </p:txBody>
      </p:sp>
      <p:sp>
        <p:nvSpPr>
          <p:cNvPr id="5" name="Bruno Dubois"/>
          <p:cNvSpPr txBox="1"/>
          <p:nvPr/>
        </p:nvSpPr>
        <p:spPr>
          <a:xfrm>
            <a:off x="812800" y="5165217"/>
            <a:ext cx="10585450" cy="266700"/>
          </a:xfrm>
          <a:prstGeom prst="rect">
            <a:avLst/>
          </a:prstGeom>
          <a:noFill/>
          <a:ln/>
        </p:spPr>
        <p:txBody>
          <a:bodyPr wrap="none" lIns="0" tIns="0" rIns="0" bIns="0" rtlCol="0" anchor="t"/>
          <a:lstStyle/>
          <a:p>
            <a:pPr algn="l" indent="0" marL="0">
              <a:lnSpc>
                <a:spcPts val="2100"/>
              </a:lnSpc>
              <a:buNone/>
            </a:pPr>
            <a:r>
              <a:rPr lang="pt-BR" altLang="en-US" sz="1500" b="1" dirty="0">
                <a:solidFill>
                  <a:srgbClr val="F5F3EE"/>
                </a:solidFill>
                <a:latin typeface="Arial" pitchFamily="34" charset="0"/>
                <a:ea typeface="Arial" pitchFamily="34" charset="-122"/>
                <a:cs typeface="Arial" pitchFamily="34" charset="-120"/>
              </a:rPr>
              <a:t>Bruno Dubois</a:t>
            </a:r>
            <a:endParaRPr lang="en-US" sz="1500" dirty="0"/>
          </a:p>
        </p:txBody>
      </p:sp>
      <p:sp>
        <p:nvSpPr>
          <p:cNvPr id="6" name="Orientadores: Marcelo Bandeira e Glauber"/>
          <p:cNvSpPr txBox="1"/>
          <p:nvPr/>
        </p:nvSpPr>
        <p:spPr>
          <a:xfrm>
            <a:off x="812800" y="5483650"/>
            <a:ext cx="10585450" cy="248841"/>
          </a:xfrm>
          <a:prstGeom prst="rect">
            <a:avLst/>
          </a:prstGeom>
          <a:noFill/>
          <a:ln/>
        </p:spPr>
        <p:txBody>
          <a:bodyPr wrap="none" lIns="0" tIns="0" rIns="0" bIns="0" rtlCol="0" anchor="t"/>
          <a:lstStyle/>
          <a:p>
            <a:pPr algn="l" indent="0" marL="0">
              <a:lnSpc>
                <a:spcPts val="1960"/>
              </a:lnSpc>
              <a:buNone/>
            </a:pPr>
            <a:r>
              <a:rPr lang="pt-BR" altLang="en-US" sz="1400" dirty="0">
                <a:solidFill>
                  <a:srgbClr val="C9CFD6"/>
                </a:solidFill>
                <a:latin typeface="Arial" pitchFamily="34" charset="0"/>
                <a:ea typeface="Arial" pitchFamily="34" charset="-122"/>
                <a:cs typeface="Arial" pitchFamily="34" charset="-120"/>
              </a:rPr>
              <a:t>Orientadores: Marcelo Bandeira e Glauber Gouvea</a:t>
            </a:r>
            <a:endParaRPr lang="en-US" sz="1400" dirty="0"/>
          </a:p>
        </p:txBody>
      </p:sp>
      <p:sp>
        <p:nvSpPr>
          <p:cNvPr id="7" name="[Serviço] · [Data]"/>
          <p:cNvSpPr txBox="1"/>
          <p:nvPr/>
        </p:nvSpPr>
        <p:spPr>
          <a:xfrm>
            <a:off x="812800" y="5783291"/>
            <a:ext cx="10585450" cy="248841"/>
          </a:xfrm>
          <a:prstGeom prst="rect">
            <a:avLst/>
          </a:prstGeom>
          <a:noFill/>
          <a:ln/>
        </p:spPr>
        <p:txBody>
          <a:bodyPr wrap="none" lIns="0" tIns="0" rIns="0" bIns="0" rtlCol="0" anchor="t"/>
          <a:lstStyle/>
          <a:p>
            <a:pPr algn="l" indent="0" marL="0">
              <a:lnSpc>
                <a:spcPts val="1960"/>
              </a:lnSpc>
              <a:buNone/>
            </a:pPr>
            <a:r>
              <a:rPr lang="pt-BR" altLang="en-US" sz="1400" dirty="0">
                <a:solidFill>
                  <a:srgbClr val="C9CFD6"/>
                </a:solidFill>
                <a:latin typeface="Arial" pitchFamily="34" charset="0"/>
                <a:ea typeface="Arial" pitchFamily="34" charset="-122"/>
                <a:cs typeface="Arial" pitchFamily="34" charset="-120"/>
              </a:rPr>
              <a:t>[Serviço] · [Data]</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E"/>
        </a:solidFill>
      </p:bgPr>
    </p:bg>
    <p:spTree>
      <p:nvGrpSpPr>
        <p:cNvPr id="1" name=""/>
        <p:cNvGrpSpPr/>
        <p:nvPr/>
      </p:nvGrpSpPr>
      <p:grpSpPr>
        <a:xfrm>
          <a:off x="0" y="0"/>
          <a:ext cx="0" cy="0"/>
          <a:chOff x="0" y="0"/>
          <a:chExt cx="0" cy="0"/>
        </a:xfrm>
      </p:grpSpPr>
      <p:sp>
        <p:nvSpPr>
          <p:cNvPr id="2" name="01 · FISIOLOGIA"/>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01 · FISIOLOGIA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PAM ≈ DC × RVS: qual componente está falhando?</a:t>
            </a:r>
            <a:endParaRPr lang="en-US" sz="3200" dirty="0"/>
          </a:p>
        </p:txBody>
      </p:sp>
      <p:sp>
        <p:nvSpPr>
          <p:cNvPr id="4" name="Cartão"/>
          <p:cNvSpPr/>
          <p:nvPr/>
        </p:nvSpPr>
        <p:spPr>
          <a:xfrm>
            <a:off x="812800" y="1879501"/>
            <a:ext cx="3386634" cy="2155825"/>
          </a:xfrm>
          <a:prstGeom prst="roundRect">
            <a:avLst>
              <a:gd name="adj" fmla="val 3535"/>
            </a:avLst>
          </a:prstGeom>
          <a:solidFill>
            <a:srgbClr val="FFFDF8"/>
          </a:solidFill>
          <a:ln w="6350">
            <a:solidFill>
              <a:srgbClr val="E2DDD2"/>
            </a:solidFill>
            <a:prstDash val="solid"/>
          </a:ln>
        </p:spPr>
      </p:sp>
      <p:sp>
        <p:nvSpPr>
          <p:cNvPr id="5" name="Borda de destaque"/>
          <p:cNvSpPr/>
          <p:nvPr/>
        </p:nvSpPr>
        <p:spPr>
          <a:xfrm>
            <a:off x="823379" y="1879501"/>
            <a:ext cx="3365476" cy="38100"/>
          </a:xfrm>
          <a:custGeom>
            <a:avLst/>
            <a:gdLst/>
            <a:ahLst/>
            <a:cxnLst/>
            <a:rect l="l" t="t" r="r" b="b"/>
            <a:pathLst>
              <a:path w="3365476" h="38100">
                <a:moveTo>
                  <a:pt x="3299855" y="0"/>
                </a:moveTo>
                <a:lnTo>
                  <a:pt x="3314721" y="1464"/>
                </a:lnTo>
                <a:lnTo>
                  <a:pt x="3329015" y="5800"/>
                </a:lnTo>
                <a:lnTo>
                  <a:pt x="3342189" y="12842"/>
                </a:lnTo>
                <a:lnTo>
                  <a:pt x="3353736" y="22318"/>
                </a:lnTo>
                <a:lnTo>
                  <a:pt x="3363213" y="33866"/>
                </a:lnTo>
                <a:lnTo>
                  <a:pt x="3365476"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6" name="Vasoplegia"/>
          <p:cNvSpPr txBox="1"/>
          <p:nvPr/>
        </p:nvSpPr>
        <p:spPr>
          <a:xfrm>
            <a:off x="1073150" y="2168686"/>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Vasoplegia</a:t>
            </a:r>
            <a:endParaRPr lang="en-US" sz="1700" dirty="0"/>
          </a:p>
        </p:txBody>
      </p:sp>
      <p:sp>
        <p:nvSpPr>
          <p:cNvPr id="7" name="RVS baixa com DC preservado ou alto: sep"/>
          <p:cNvSpPr txBox="1"/>
          <p:nvPr/>
        </p:nvSpPr>
        <p:spPr>
          <a:xfrm>
            <a:off x="1073150" y="2517088"/>
            <a:ext cx="2884984" cy="1242715"/>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RVS baixa com DC preservado ou alto: sepse, anestesia geral, neuroeixo, anafilaxia, pós-CEC. Alvo: tônus arterial, com vasopressor α1 ou V1.</a:t>
            </a:r>
            <a:endParaRPr lang="en-US" sz="1350" dirty="0"/>
          </a:p>
        </p:txBody>
      </p:sp>
      <p:sp>
        <p:nvSpPr>
          <p:cNvPr id="8" name="Cartão"/>
          <p:cNvSpPr/>
          <p:nvPr/>
        </p:nvSpPr>
        <p:spPr>
          <a:xfrm>
            <a:off x="4402634" y="1879501"/>
            <a:ext cx="3386634" cy="2155825"/>
          </a:xfrm>
          <a:prstGeom prst="roundRect">
            <a:avLst>
              <a:gd name="adj" fmla="val 3535"/>
            </a:avLst>
          </a:prstGeom>
          <a:solidFill>
            <a:srgbClr val="FFFDF8"/>
          </a:solidFill>
          <a:ln w="6350">
            <a:solidFill>
              <a:srgbClr val="E2DDD2"/>
            </a:solidFill>
            <a:prstDash val="solid"/>
          </a:ln>
        </p:spPr>
      </p:sp>
      <p:sp>
        <p:nvSpPr>
          <p:cNvPr id="9" name="Borda de destaque"/>
          <p:cNvSpPr/>
          <p:nvPr/>
        </p:nvSpPr>
        <p:spPr>
          <a:xfrm>
            <a:off x="4413212" y="1879501"/>
            <a:ext cx="3365476" cy="38100"/>
          </a:xfrm>
          <a:custGeom>
            <a:avLst/>
            <a:gdLst/>
            <a:ahLst/>
            <a:cxnLst/>
            <a:rect l="l" t="t" r="r" b="b"/>
            <a:pathLst>
              <a:path w="3365476" h="38100">
                <a:moveTo>
                  <a:pt x="3299855" y="0"/>
                </a:moveTo>
                <a:lnTo>
                  <a:pt x="3314721" y="1464"/>
                </a:lnTo>
                <a:lnTo>
                  <a:pt x="3329015" y="5800"/>
                </a:lnTo>
                <a:lnTo>
                  <a:pt x="3342189" y="12842"/>
                </a:lnTo>
                <a:lnTo>
                  <a:pt x="3353736" y="22318"/>
                </a:lnTo>
                <a:lnTo>
                  <a:pt x="3363213" y="33866"/>
                </a:lnTo>
                <a:lnTo>
                  <a:pt x="3365476"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10" name="Falência de bomba"/>
          <p:cNvSpPr txBox="1"/>
          <p:nvPr/>
        </p:nvSpPr>
        <p:spPr>
          <a:xfrm>
            <a:off x="4662984" y="2168686"/>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Falência de bomba</a:t>
            </a:r>
            <a:endParaRPr lang="en-US" sz="1700" dirty="0"/>
          </a:p>
        </p:txBody>
      </p:sp>
      <p:sp>
        <p:nvSpPr>
          <p:cNvPr id="11" name="DC baixo com RVS alta: choque cardiogêni"/>
          <p:cNvSpPr txBox="1"/>
          <p:nvPr/>
        </p:nvSpPr>
        <p:spPr>
          <a:xfrm>
            <a:off x="4662984" y="2517088"/>
            <a:ext cx="2884984" cy="1242715"/>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DC baixo com RVS alta: choque cardiogênico, depressão miocárdica da sepse. Alvo: contratilidade, com inotrópico β1, associado a vasopressor se a PAM cair.</a:t>
            </a:r>
            <a:endParaRPr lang="en-US" sz="1350" dirty="0"/>
          </a:p>
        </p:txBody>
      </p:sp>
      <p:sp>
        <p:nvSpPr>
          <p:cNvPr id="12" name="Cartão"/>
          <p:cNvSpPr/>
          <p:nvPr/>
        </p:nvSpPr>
        <p:spPr>
          <a:xfrm>
            <a:off x="7992467" y="1879501"/>
            <a:ext cx="3386634" cy="2155825"/>
          </a:xfrm>
          <a:prstGeom prst="roundRect">
            <a:avLst>
              <a:gd name="adj" fmla="val 3535"/>
            </a:avLst>
          </a:prstGeom>
          <a:solidFill>
            <a:srgbClr val="FFFDF8"/>
          </a:solidFill>
          <a:ln w="6350">
            <a:solidFill>
              <a:srgbClr val="E2DDD2"/>
            </a:solidFill>
            <a:prstDash val="solid"/>
          </a:ln>
        </p:spPr>
      </p:sp>
      <p:sp>
        <p:nvSpPr>
          <p:cNvPr id="13" name="Borda de destaque"/>
          <p:cNvSpPr/>
          <p:nvPr/>
        </p:nvSpPr>
        <p:spPr>
          <a:xfrm>
            <a:off x="8003046" y="1879501"/>
            <a:ext cx="3365476" cy="38100"/>
          </a:xfrm>
          <a:custGeom>
            <a:avLst/>
            <a:gdLst/>
            <a:ahLst/>
            <a:cxnLst/>
            <a:rect l="l" t="t" r="r" b="b"/>
            <a:pathLst>
              <a:path w="3365476" h="38100">
                <a:moveTo>
                  <a:pt x="3299855" y="0"/>
                </a:moveTo>
                <a:lnTo>
                  <a:pt x="3314721" y="1464"/>
                </a:lnTo>
                <a:lnTo>
                  <a:pt x="3329015" y="5800"/>
                </a:lnTo>
                <a:lnTo>
                  <a:pt x="3342189" y="12842"/>
                </a:lnTo>
                <a:lnTo>
                  <a:pt x="3353736" y="22318"/>
                </a:lnTo>
                <a:lnTo>
                  <a:pt x="3363213" y="33866"/>
                </a:lnTo>
                <a:lnTo>
                  <a:pt x="3365476" y="38100"/>
                </a:lnTo>
                <a:lnTo>
                  <a:pt x="0" y="38100"/>
                </a:lnTo>
                <a:lnTo>
                  <a:pt x="2263" y="33866"/>
                </a:lnTo>
                <a:lnTo>
                  <a:pt x="11740" y="22318"/>
                </a:lnTo>
                <a:lnTo>
                  <a:pt x="23287" y="12842"/>
                </a:lnTo>
                <a:lnTo>
                  <a:pt x="36461" y="5800"/>
                </a:lnTo>
                <a:lnTo>
                  <a:pt x="50755" y="1464"/>
                </a:lnTo>
                <a:lnTo>
                  <a:pt x="65621" y="0"/>
                </a:lnTo>
                <a:close/>
              </a:path>
            </a:pathLst>
          </a:custGeom>
          <a:solidFill>
            <a:srgbClr val="56606B"/>
          </a:solidFill>
          <a:ln/>
        </p:spPr>
      </p:sp>
      <p:sp>
        <p:nvSpPr>
          <p:cNvPr id="14" name="Pré-carga"/>
          <p:cNvSpPr txBox="1"/>
          <p:nvPr/>
        </p:nvSpPr>
        <p:spPr>
          <a:xfrm>
            <a:off x="8252817" y="2168686"/>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Pré-carga</a:t>
            </a:r>
            <a:endParaRPr lang="en-US" sz="1700" dirty="0"/>
          </a:p>
        </p:txBody>
      </p:sp>
      <p:sp>
        <p:nvSpPr>
          <p:cNvPr id="15" name="Hipovolemia não se corrige com amina. Ma"/>
          <p:cNvSpPr txBox="1"/>
          <p:nvPr/>
        </p:nvSpPr>
        <p:spPr>
          <a:xfrm>
            <a:off x="8252817" y="2517088"/>
            <a:ext cx="2884984"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Hipovolemia não se corrige com amina. Mas o α1 também contrai veias: recruta volume não estressado e aumenta o retorno venoso.</a:t>
            </a:r>
            <a:endParaRPr lang="en-US" sz="1350" dirty="0"/>
          </a:p>
        </p:txBody>
      </p:sp>
      <p:sp>
        <p:nvSpPr>
          <p:cNvPr id="16" name="Cartão"/>
          <p:cNvSpPr/>
          <p:nvPr/>
        </p:nvSpPr>
        <p:spPr>
          <a:xfrm>
            <a:off x="812800" y="4340126"/>
            <a:ext cx="10566400" cy="988020"/>
          </a:xfrm>
          <a:prstGeom prst="roundRect">
            <a:avLst>
              <a:gd name="adj" fmla="val 7712"/>
            </a:avLst>
          </a:prstGeom>
          <a:solidFill>
            <a:srgbClr val="FFFDF8"/>
          </a:solidFill>
          <a:ln w="6350">
            <a:solidFill>
              <a:srgbClr val="E2DDD2"/>
            </a:solidFill>
            <a:prstDash val="solid"/>
          </a:ln>
        </p:spPr>
      </p:sp>
      <p:sp>
        <p:nvSpPr>
          <p:cNvPr id="17" name="Como saber?"/>
          <p:cNvSpPr txBox="1"/>
          <p:nvPr/>
        </p:nvSpPr>
        <p:spPr>
          <a:xfrm>
            <a:off x="1073150" y="4520821"/>
            <a:ext cx="2339578" cy="568920"/>
          </a:xfrm>
          <a:prstGeom prst="rect">
            <a:avLst/>
          </a:prstGeom>
          <a:noFill/>
          <a:ln/>
        </p:spPr>
        <p:txBody>
          <a:bodyPr wrap="none" lIns="0" tIns="0" rIns="0" bIns="0" rtlCol="0" anchor="t"/>
          <a:lstStyle/>
          <a:p>
            <a:pPr algn="l" indent="0" marL="0">
              <a:lnSpc>
                <a:spcPts val="4480"/>
              </a:lnSpc>
              <a:buNone/>
            </a:pPr>
            <a:r>
              <a:rPr lang="pt-BR" altLang="en-US" sz="3200" dirty="0">
                <a:solidFill>
                  <a:srgbClr val="B9581A"/>
                </a:solidFill>
                <a:latin typeface="Georgia" pitchFamily="34" charset="0"/>
                <a:ea typeface="Georgia" pitchFamily="34" charset="-122"/>
                <a:cs typeface="Georgia" pitchFamily="34" charset="-120"/>
              </a:rPr>
              <a:t>Como saber?</a:t>
            </a:r>
            <a:endParaRPr lang="en-US" sz="3200" dirty="0"/>
          </a:p>
        </p:txBody>
      </p:sp>
      <p:sp>
        <p:nvSpPr>
          <p:cNvPr id="18" name="Eco como primeira imagem para o tipo de "/>
          <p:cNvSpPr txBox="1"/>
          <p:nvPr/>
        </p:nvSpPr>
        <p:spPr>
          <a:xfrm>
            <a:off x="3596878" y="4553434"/>
            <a:ext cx="7541022" cy="533400"/>
          </a:xfrm>
          <a:prstGeom prst="rect">
            <a:avLst/>
          </a:prstGeom>
          <a:noFill/>
          <a:ln/>
        </p:spPr>
        <p:txBody>
          <a:bodyPr wrap="square" lIns="0" tIns="0" rIns="0" bIns="0" rtlCol="0" anchor="t"/>
          <a:lstStyle/>
          <a:p>
            <a:pPr algn="l" indent="0" marL="0">
              <a:lnSpc>
                <a:spcPts val="2100"/>
              </a:lnSpc>
              <a:buNone/>
            </a:pPr>
            <a:r>
              <a:rPr lang="pt-BR" altLang="en-US" sz="1500" dirty="0">
                <a:solidFill>
                  <a:srgbClr val="1B2A3A"/>
                </a:solidFill>
                <a:latin typeface="Arial" pitchFamily="34" charset="0"/>
                <a:ea typeface="Arial" pitchFamily="34" charset="-122"/>
                <a:cs typeface="Arial" pitchFamily="34" charset="-120"/>
              </a:rPr>
              <a:t>Eco como primeira imagem para o tipo de choque, parâmetros dinâmicos para a resposta a volume e perfusão seriada (enchimento capilar).</a:t>
            </a:r>
            <a:endParaRPr lang="en-US" sz="1500" dirty="0"/>
          </a:p>
        </p:txBody>
      </p:sp>
      <p:sp>
        <p:nvSpPr>
          <p:cNvPr id="19" name="Miller’s Anesthesia, 10ª ed. (2024) · [c"/>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Miller’s Anesthesia, 10ª ed. (2024) · [cap./pág.] · Persichini et al., Crit Care Med 2012 · ESICM 2025</a:t>
            </a:r>
            <a:endParaRPr lang="en-US"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E"/>
        </a:solidFill>
      </p:bgPr>
    </p:bg>
    <p:spTree>
      <p:nvGrpSpPr>
        <p:cNvPr id="1" name=""/>
        <p:cNvGrpSpPr/>
        <p:nvPr/>
      </p:nvGrpSpPr>
      <p:grpSpPr>
        <a:xfrm>
          <a:off x="0" y="0"/>
          <a:ext cx="0" cy="0"/>
          <a:chOff x="0" y="0"/>
          <a:chExt cx="0" cy="0"/>
        </a:xfrm>
      </p:grpSpPr>
      <p:sp>
        <p:nvSpPr>
          <p:cNvPr id="2" name="02 · RECEPTORES"/>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02 · RECEPTORES</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Receptores: cada amina é um perfil de afinidade</a:t>
            </a:r>
            <a:endParaRPr lang="en-US" sz="3200" dirty="0"/>
          </a:p>
        </p:txBody>
      </p:sp>
      <p:graphicFrame>
        <p:nvGraphicFramePr>
          <p:cNvPr id="4" name="Tabela"/>
          <p:cNvGraphicFramePr>
            <a:graphicFrameLocks noGrp="1"/>
          </p:cNvGraphicFramePr>
          <p:nvPr>
            <p:extLst>
              <p:ext uri="{D42A27DB-BD31-4B8C-83A1-F6EECF244321}">
                <p14:modId xmlns:p14="http://schemas.microsoft.com/office/powerpoint/2010/main" val="1579011935"/>
              </p:ext>
            </p:extLst>
          </p:nvPr>
        </p:nvGraphicFramePr>
        <p:xfrm>
          <a:off x="812800" y="1879501"/>
          <a:ext cx="10566400" cy="914400"/>
        </p:xfrm>
        <a:graphic>
          <a:graphicData uri="http://schemas.openxmlformats.org/drawingml/2006/table">
            <a:tbl>
              <a:tblPr/>
              <a:tblGrid>
                <a:gridCol w="1056580"/>
                <a:gridCol w="3169841"/>
                <a:gridCol w="4226520"/>
                <a:gridCol w="2113459"/>
              </a:tblGrid>
              <a:tr h="391120">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Receptor</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Onde</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Efeito principal</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Sinalização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r>
              <a:tr h="394295">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α1</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Músculo liso de artérias e veias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Vasoconstrição: ↑RVS e ↑retorno venoso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Gq → ↑Ca</a:t>
                      </a:r>
                      <a:pPr algn="l" indent="0" marL="0">
                        <a:lnSpc>
                          <a:spcPts val="1680"/>
                        </a:lnSpc>
                        <a:buNone/>
                      </a:pPr>
                      <a:r>
                        <a:rPr lang="pt-BR" altLang="en-US" sz="1200" baseline="30000" dirty="0">
                          <a:solidFill>
                            <a:srgbClr val="1B2A3A"/>
                          </a:solidFill>
                          <a:latin typeface="Arial" pitchFamily="34" charset="0"/>
                          <a:ea typeface="Arial" pitchFamily="34" charset="-122"/>
                          <a:cs typeface="Arial" pitchFamily="34" charset="-120"/>
                        </a:rPr>
                        <a:t>2+</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α2</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Terminal pré-sináptico, SNC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 liberação de noradrenalina; sedação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Gi → ↓AMPc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β1</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Miocárdio, nós SA e AV</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 inotropismo, cronotropismo e dromotropismo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Gs → ↑AMPc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β2</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Vasos, brônquios, fígado, músculo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Vasodilatação, broncodilatação, ↑glicemia e lactato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Gs → ↑AMPc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D1</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Leitos renal, mesentérico, coronariano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Vasodilatação e natriurese</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Gs → ↑AMPc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V1</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Músculo liso vascular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Vasoconstrição sem receptor adrenérgico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Gq → ↑Ca</a:t>
                      </a:r>
                      <a:pPr algn="l" indent="0" marL="0">
                        <a:lnSpc>
                          <a:spcPts val="1680"/>
                        </a:lnSpc>
                        <a:buNone/>
                      </a:pPr>
                      <a:r>
                        <a:rPr lang="pt-BR" altLang="en-US" sz="1200" baseline="30000" dirty="0">
                          <a:solidFill>
                            <a:srgbClr val="1B2A3A"/>
                          </a:solidFill>
                          <a:latin typeface="Arial" pitchFamily="34" charset="0"/>
                          <a:ea typeface="Arial" pitchFamily="34" charset="-122"/>
                          <a:cs typeface="Arial" pitchFamily="34" charset="-120"/>
                        </a:rPr>
                        <a:t>2+</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bl>
          </a:graphicData>
        </a:graphic>
      </p:graphicFrame>
      <p:sp>
        <p:nvSpPr>
          <p:cNvPr id="5" name="Exposição prolongada dessensibiliza adre"/>
          <p:cNvSpPr txBox="1"/>
          <p:nvPr/>
        </p:nvSpPr>
        <p:spPr>
          <a:xfrm>
            <a:off x="812800" y="4947175"/>
            <a:ext cx="10585450" cy="248841"/>
          </a:xfrm>
          <a:prstGeom prst="rect">
            <a:avLst/>
          </a:prstGeom>
          <a:noFill/>
          <a:ln/>
        </p:spPr>
        <p:txBody>
          <a:bodyPr wrap="none" lIns="0" tIns="0" rIns="0" bIns="0" rtlCol="0" anchor="t"/>
          <a:lstStyle/>
          <a:p>
            <a:pPr algn="l" indent="0" marL="0">
              <a:lnSpc>
                <a:spcPts val="1960"/>
              </a:lnSpc>
              <a:buNone/>
            </a:pPr>
            <a:r>
              <a:rPr lang="pt-BR" altLang="en-US" sz="1400" dirty="0">
                <a:solidFill>
                  <a:srgbClr val="2C3A48"/>
                </a:solidFill>
                <a:latin typeface="Arial" pitchFamily="34" charset="0"/>
                <a:ea typeface="Arial" pitchFamily="34" charset="-122"/>
                <a:cs typeface="Arial" pitchFamily="34" charset="-120"/>
              </a:rPr>
              <a:t>Exposição prolongada dessensibiliza adrenoceptores: parte da perda de resposta no choque.</a:t>
            </a:r>
            <a:endParaRPr lang="en-US" sz="1400" dirty="0"/>
          </a:p>
        </p:txBody>
      </p:sp>
      <p:sp>
        <p:nvSpPr>
          <p:cNvPr id="6" name="Miller’s Anesthesia, 10ª ed. (2024) · [c"/>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Miller’s Anesthesia, 10ª ed. (2024) · [cap./pág.]</a:t>
            </a:r>
            <a:endParaRPr lang="en-US" sz="12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E"/>
        </a:solidFill>
      </p:bgPr>
    </p:bg>
    <p:spTree>
      <p:nvGrpSpPr>
        <p:cNvPr id="1" name=""/>
        <p:cNvGrpSpPr/>
        <p:nvPr/>
      </p:nvGrpSpPr>
      <p:grpSpPr>
        <a:xfrm>
          <a:off x="0" y="0"/>
          <a:ext cx="0" cy="0"/>
          <a:chOff x="0" y="0"/>
          <a:chExt cx="0" cy="0"/>
        </a:xfrm>
      </p:grpSpPr>
      <p:sp>
        <p:nvSpPr>
          <p:cNvPr id="2" name="02 · CLASSIFICAÇÃO"/>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02 · CLASSIFICAÇÃO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Estrutura: o anel catecol define a duração</a:t>
            </a:r>
            <a:endParaRPr lang="en-US" sz="3200" dirty="0"/>
          </a:p>
        </p:txBody>
      </p:sp>
      <p:sp>
        <p:nvSpPr>
          <p:cNvPr id="4" name="Tirosina"/>
          <p:cNvSpPr/>
          <p:nvPr/>
        </p:nvSpPr>
        <p:spPr>
          <a:xfrm>
            <a:off x="812800" y="1879501"/>
            <a:ext cx="1045865" cy="419100"/>
          </a:xfrm>
          <a:prstGeom prst="roundRect">
            <a:avLst>
              <a:gd name="adj" fmla="val 50000"/>
            </a:avLst>
          </a:prstGeom>
          <a:solidFill>
            <a:srgbClr val="1B2A3A"/>
          </a:solidFill>
          <a:ln/>
        </p:spPr>
        <p:txBody>
          <a:bodyPr wrap="none" lIns="152400" tIns="76200" rIns="152400" bIns="76200" rtlCol="0" anchor="ctr"/>
          <a:lstStyle/>
          <a:p>
            <a:pPr algn="ctr" indent="0" marL="0">
              <a:lnSpc>
                <a:spcPts val="2100"/>
              </a:lnSpc>
              <a:buNone/>
            </a:pPr>
            <a:r>
              <a:rPr lang="pt-BR" altLang="en-US" sz="1500" b="1" dirty="0">
                <a:solidFill>
                  <a:srgbClr val="F5F3EE"/>
                </a:solidFill>
                <a:latin typeface="Arial" pitchFamily="34" charset="0"/>
                <a:ea typeface="Arial" pitchFamily="34" charset="-122"/>
                <a:cs typeface="Arial" pitchFamily="34" charset="-120"/>
              </a:rPr>
              <a:t>Tirosina</a:t>
            </a:r>
            <a:endParaRPr lang="en-US" sz="1500" dirty="0"/>
          </a:p>
        </p:txBody>
      </p:sp>
      <p:sp>
        <p:nvSpPr>
          <p:cNvPr id="5" name="→"/>
          <p:cNvSpPr txBox="1"/>
          <p:nvPr/>
        </p:nvSpPr>
        <p:spPr>
          <a:xfrm>
            <a:off x="1960265" y="1931836"/>
            <a:ext cx="222250" cy="284460"/>
          </a:xfrm>
          <a:prstGeom prst="rect">
            <a:avLst/>
          </a:prstGeom>
          <a:noFill/>
          <a:ln/>
        </p:spPr>
        <p:txBody>
          <a:bodyPr wrap="none" lIns="0" tIns="0" rIns="0" bIns="0" rtlCol="0" anchor="t"/>
          <a:lstStyle/>
          <a:p>
            <a:pPr algn="l" indent="0" marL="0">
              <a:lnSpc>
                <a:spcPts val="2240"/>
              </a:lnSpc>
              <a:buNone/>
            </a:pPr>
            <a:r>
              <a:rPr lang="pt-BR" altLang="en-US" sz="1600" dirty="0">
                <a:solidFill>
                  <a:srgbClr val="B9581A"/>
                </a:solidFill>
                <a:latin typeface="Arial" pitchFamily="34" charset="0"/>
                <a:ea typeface="Arial" pitchFamily="34" charset="-122"/>
                <a:cs typeface="Arial" pitchFamily="34" charset="-120"/>
              </a:rPr>
              <a:t>→</a:t>
            </a:r>
            <a:endParaRPr lang="en-US" sz="1600" dirty="0"/>
          </a:p>
        </p:txBody>
      </p:sp>
      <p:sp>
        <p:nvSpPr>
          <p:cNvPr id="6" name="DOPA"/>
          <p:cNvSpPr/>
          <p:nvPr/>
        </p:nvSpPr>
        <p:spPr>
          <a:xfrm>
            <a:off x="2265065" y="1879501"/>
            <a:ext cx="855266" cy="419100"/>
          </a:xfrm>
          <a:prstGeom prst="roundRect">
            <a:avLst>
              <a:gd name="adj" fmla="val 50000"/>
            </a:avLst>
          </a:prstGeom>
          <a:solidFill>
            <a:srgbClr val="1B2A3A"/>
          </a:solidFill>
          <a:ln/>
        </p:spPr>
        <p:txBody>
          <a:bodyPr wrap="none" lIns="152400" tIns="76200" rIns="152400" bIns="76200" rtlCol="0" anchor="ctr"/>
          <a:lstStyle/>
          <a:p>
            <a:pPr algn="ctr" indent="0" marL="0">
              <a:lnSpc>
                <a:spcPts val="2100"/>
              </a:lnSpc>
              <a:buNone/>
            </a:pPr>
            <a:r>
              <a:rPr lang="pt-BR" altLang="en-US" sz="1500" b="1" dirty="0">
                <a:solidFill>
                  <a:srgbClr val="F5F3EE"/>
                </a:solidFill>
                <a:latin typeface="Arial" pitchFamily="34" charset="0"/>
                <a:ea typeface="Arial" pitchFamily="34" charset="-122"/>
                <a:cs typeface="Arial" pitchFamily="34" charset="-120"/>
              </a:rPr>
              <a:t>DOPA</a:t>
            </a:r>
            <a:endParaRPr lang="en-US" sz="1500" dirty="0"/>
          </a:p>
        </p:txBody>
      </p:sp>
      <p:sp>
        <p:nvSpPr>
          <p:cNvPr id="7" name="→"/>
          <p:cNvSpPr txBox="1"/>
          <p:nvPr/>
        </p:nvSpPr>
        <p:spPr>
          <a:xfrm>
            <a:off x="3221930" y="1931836"/>
            <a:ext cx="222250" cy="284460"/>
          </a:xfrm>
          <a:prstGeom prst="rect">
            <a:avLst/>
          </a:prstGeom>
          <a:noFill/>
          <a:ln/>
        </p:spPr>
        <p:txBody>
          <a:bodyPr wrap="none" lIns="0" tIns="0" rIns="0" bIns="0" rtlCol="0" anchor="t"/>
          <a:lstStyle/>
          <a:p>
            <a:pPr algn="l" indent="0" marL="0">
              <a:lnSpc>
                <a:spcPts val="2240"/>
              </a:lnSpc>
              <a:buNone/>
            </a:pPr>
            <a:r>
              <a:rPr lang="pt-BR" altLang="en-US" sz="1600" dirty="0">
                <a:solidFill>
                  <a:srgbClr val="B9581A"/>
                </a:solidFill>
                <a:latin typeface="Arial" pitchFamily="34" charset="0"/>
                <a:ea typeface="Arial" pitchFamily="34" charset="-122"/>
                <a:cs typeface="Arial" pitchFamily="34" charset="-120"/>
              </a:rPr>
              <a:t>→</a:t>
            </a:r>
            <a:endParaRPr lang="en-US" sz="1600" dirty="0"/>
          </a:p>
        </p:txBody>
      </p:sp>
      <p:sp>
        <p:nvSpPr>
          <p:cNvPr id="8" name="Dopamina"/>
          <p:cNvSpPr/>
          <p:nvPr/>
        </p:nvSpPr>
        <p:spPr>
          <a:xfrm>
            <a:off x="3526730" y="1879501"/>
            <a:ext cx="1225748" cy="419100"/>
          </a:xfrm>
          <a:prstGeom prst="roundRect">
            <a:avLst>
              <a:gd name="adj" fmla="val 50000"/>
            </a:avLst>
          </a:prstGeom>
          <a:solidFill>
            <a:srgbClr val="1B2A3A"/>
          </a:solidFill>
          <a:ln/>
        </p:spPr>
        <p:txBody>
          <a:bodyPr wrap="none" lIns="152400" tIns="76200" rIns="152400" bIns="76200" rtlCol="0" anchor="ctr"/>
          <a:lstStyle/>
          <a:p>
            <a:pPr algn="ctr" indent="0" marL="0">
              <a:lnSpc>
                <a:spcPts val="2100"/>
              </a:lnSpc>
              <a:buNone/>
            </a:pPr>
            <a:r>
              <a:rPr lang="pt-BR" altLang="en-US" sz="1500" b="1" dirty="0">
                <a:solidFill>
                  <a:srgbClr val="F5F3EE"/>
                </a:solidFill>
                <a:latin typeface="Arial" pitchFamily="34" charset="0"/>
                <a:ea typeface="Arial" pitchFamily="34" charset="-122"/>
                <a:cs typeface="Arial" pitchFamily="34" charset="-120"/>
              </a:rPr>
              <a:t>Dopamina</a:t>
            </a:r>
            <a:endParaRPr lang="en-US" sz="1500" dirty="0"/>
          </a:p>
        </p:txBody>
      </p:sp>
      <p:sp>
        <p:nvSpPr>
          <p:cNvPr id="9" name="→"/>
          <p:cNvSpPr txBox="1"/>
          <p:nvPr/>
        </p:nvSpPr>
        <p:spPr>
          <a:xfrm>
            <a:off x="4854079" y="1931836"/>
            <a:ext cx="222250" cy="284460"/>
          </a:xfrm>
          <a:prstGeom prst="rect">
            <a:avLst/>
          </a:prstGeom>
          <a:noFill/>
          <a:ln/>
        </p:spPr>
        <p:txBody>
          <a:bodyPr wrap="none" lIns="0" tIns="0" rIns="0" bIns="0" rtlCol="0" anchor="t"/>
          <a:lstStyle/>
          <a:p>
            <a:pPr algn="l" indent="0" marL="0">
              <a:lnSpc>
                <a:spcPts val="2240"/>
              </a:lnSpc>
              <a:buNone/>
            </a:pPr>
            <a:r>
              <a:rPr lang="pt-BR" altLang="en-US" sz="1600" dirty="0">
                <a:solidFill>
                  <a:srgbClr val="B9581A"/>
                </a:solidFill>
                <a:latin typeface="Arial" pitchFamily="34" charset="0"/>
                <a:ea typeface="Arial" pitchFamily="34" charset="-122"/>
                <a:cs typeface="Arial" pitchFamily="34" charset="-120"/>
              </a:rPr>
              <a:t>→</a:t>
            </a:r>
            <a:endParaRPr lang="en-US" sz="1600" dirty="0"/>
          </a:p>
        </p:txBody>
      </p:sp>
      <p:sp>
        <p:nvSpPr>
          <p:cNvPr id="10" name="Noradrenalina"/>
          <p:cNvSpPr/>
          <p:nvPr/>
        </p:nvSpPr>
        <p:spPr>
          <a:xfrm>
            <a:off x="5158879" y="1879501"/>
            <a:ext cx="1585813" cy="419100"/>
          </a:xfrm>
          <a:prstGeom prst="roundRect">
            <a:avLst>
              <a:gd name="adj" fmla="val 50000"/>
            </a:avLst>
          </a:prstGeom>
          <a:solidFill>
            <a:srgbClr val="1B2A3A"/>
          </a:solidFill>
          <a:ln/>
        </p:spPr>
        <p:txBody>
          <a:bodyPr wrap="none" lIns="152400" tIns="76200" rIns="152400" bIns="76200" rtlCol="0" anchor="ctr"/>
          <a:lstStyle/>
          <a:p>
            <a:pPr algn="ctr" indent="0" marL="0">
              <a:lnSpc>
                <a:spcPts val="2100"/>
              </a:lnSpc>
              <a:buNone/>
            </a:pPr>
            <a:r>
              <a:rPr lang="pt-BR" altLang="en-US" sz="1500" b="1" dirty="0">
                <a:solidFill>
                  <a:srgbClr val="F5F3EE"/>
                </a:solidFill>
                <a:latin typeface="Arial" pitchFamily="34" charset="0"/>
                <a:ea typeface="Arial" pitchFamily="34" charset="-122"/>
                <a:cs typeface="Arial" pitchFamily="34" charset="-120"/>
              </a:rPr>
              <a:t>Noradrenalina</a:t>
            </a:r>
            <a:endParaRPr lang="en-US" sz="1500" dirty="0"/>
          </a:p>
        </p:txBody>
      </p:sp>
      <p:sp>
        <p:nvSpPr>
          <p:cNvPr id="11" name="→"/>
          <p:cNvSpPr txBox="1"/>
          <p:nvPr/>
        </p:nvSpPr>
        <p:spPr>
          <a:xfrm>
            <a:off x="6846292" y="1931836"/>
            <a:ext cx="222250" cy="284460"/>
          </a:xfrm>
          <a:prstGeom prst="rect">
            <a:avLst/>
          </a:prstGeom>
          <a:noFill/>
          <a:ln/>
        </p:spPr>
        <p:txBody>
          <a:bodyPr wrap="none" lIns="0" tIns="0" rIns="0" bIns="0" rtlCol="0" anchor="t"/>
          <a:lstStyle/>
          <a:p>
            <a:pPr algn="l" indent="0" marL="0">
              <a:lnSpc>
                <a:spcPts val="2240"/>
              </a:lnSpc>
              <a:buNone/>
            </a:pPr>
            <a:r>
              <a:rPr lang="pt-BR" altLang="en-US" sz="1600" dirty="0">
                <a:solidFill>
                  <a:srgbClr val="B9581A"/>
                </a:solidFill>
                <a:latin typeface="Arial" pitchFamily="34" charset="0"/>
                <a:ea typeface="Arial" pitchFamily="34" charset="-122"/>
                <a:cs typeface="Arial" pitchFamily="34" charset="-120"/>
              </a:rPr>
              <a:t>→</a:t>
            </a:r>
            <a:endParaRPr lang="en-US" sz="1600" dirty="0"/>
          </a:p>
        </p:txBody>
      </p:sp>
      <p:sp>
        <p:nvSpPr>
          <p:cNvPr id="12" name="Adrenalina"/>
          <p:cNvSpPr/>
          <p:nvPr/>
        </p:nvSpPr>
        <p:spPr>
          <a:xfrm>
            <a:off x="7151092" y="1879501"/>
            <a:ext cx="1289348" cy="419100"/>
          </a:xfrm>
          <a:prstGeom prst="roundRect">
            <a:avLst>
              <a:gd name="adj" fmla="val 50000"/>
            </a:avLst>
          </a:prstGeom>
          <a:solidFill>
            <a:srgbClr val="B9581A"/>
          </a:solidFill>
          <a:ln/>
        </p:spPr>
        <p:txBody>
          <a:bodyPr wrap="none" lIns="152400" tIns="76200" rIns="152400" bIns="76200" rtlCol="0" anchor="ctr"/>
          <a:lstStyle/>
          <a:p>
            <a:pPr algn="ctr" indent="0" marL="0">
              <a:lnSpc>
                <a:spcPts val="2100"/>
              </a:lnSpc>
              <a:buNone/>
            </a:pPr>
            <a:r>
              <a:rPr lang="pt-BR" altLang="en-US" sz="1500" b="1" dirty="0">
                <a:solidFill>
                  <a:srgbClr val="FFFDF8"/>
                </a:solidFill>
                <a:latin typeface="Arial" pitchFamily="34" charset="0"/>
                <a:ea typeface="Arial" pitchFamily="34" charset="-122"/>
                <a:cs typeface="Arial" pitchFamily="34" charset="-120"/>
              </a:rPr>
              <a:t>Adrenalina</a:t>
            </a:r>
            <a:endParaRPr lang="en-US" sz="1500" dirty="0"/>
          </a:p>
        </p:txBody>
      </p:sp>
      <p:sp>
        <p:nvSpPr>
          <p:cNvPr id="13" name="Tirosina hidroxilase (etapa limitante) ·"/>
          <p:cNvSpPr txBox="1"/>
          <p:nvPr/>
        </p:nvSpPr>
        <p:spPr>
          <a:xfrm>
            <a:off x="812800" y="2388999"/>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Tirosina hidroxilase (etapa limitante) · DOPA descarboxilase · dopamina β-hidroxilase · PNMT na medula adrenal, induzida por cortisol</a:t>
            </a:r>
            <a:endParaRPr lang="en-US" sz="1200" dirty="0"/>
          </a:p>
        </p:txBody>
      </p:sp>
      <p:sp>
        <p:nvSpPr>
          <p:cNvPr id="14" name="Cartão"/>
          <p:cNvSpPr/>
          <p:nvPr/>
        </p:nvSpPr>
        <p:spPr>
          <a:xfrm>
            <a:off x="812800" y="2918321"/>
            <a:ext cx="5181600" cy="2155825"/>
          </a:xfrm>
          <a:prstGeom prst="roundRect">
            <a:avLst>
              <a:gd name="adj" fmla="val 3535"/>
            </a:avLst>
          </a:prstGeom>
          <a:solidFill>
            <a:srgbClr val="FFFDF8"/>
          </a:solidFill>
          <a:ln w="6350">
            <a:solidFill>
              <a:srgbClr val="E2DDD2"/>
            </a:solidFill>
            <a:prstDash val="solid"/>
          </a:ln>
        </p:spPr>
      </p:sp>
      <p:sp>
        <p:nvSpPr>
          <p:cNvPr id="15" name="Borda de destaque"/>
          <p:cNvSpPr/>
          <p:nvPr/>
        </p:nvSpPr>
        <p:spPr>
          <a:xfrm>
            <a:off x="823379" y="2918321"/>
            <a:ext cx="5160443" cy="38100"/>
          </a:xfrm>
          <a:custGeom>
            <a:avLst/>
            <a:gdLst/>
            <a:ahLst/>
            <a:cxnLst/>
            <a:rect l="l" t="t" r="r" b="b"/>
            <a:pathLst>
              <a:path w="5160443" h="38100">
                <a:moveTo>
                  <a:pt x="5094821" y="0"/>
                </a:moveTo>
                <a:lnTo>
                  <a:pt x="5109687" y="1464"/>
                </a:lnTo>
                <a:lnTo>
                  <a:pt x="5123982" y="5800"/>
                </a:lnTo>
                <a:lnTo>
                  <a:pt x="5137156" y="12842"/>
                </a:lnTo>
                <a:lnTo>
                  <a:pt x="5148703" y="22318"/>
                </a:lnTo>
                <a:lnTo>
                  <a:pt x="5158179" y="33866"/>
                </a:lnTo>
                <a:lnTo>
                  <a:pt x="5160443"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16" name="Catecolaminas"/>
          <p:cNvSpPr txBox="1"/>
          <p:nvPr/>
        </p:nvSpPr>
        <p:spPr>
          <a:xfrm>
            <a:off x="1073150" y="3207506"/>
            <a:ext cx="46799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Catecolaminas</a:t>
            </a:r>
            <a:endParaRPr lang="en-US" sz="1700" dirty="0"/>
          </a:p>
        </p:txBody>
      </p:sp>
      <p:sp>
        <p:nvSpPr>
          <p:cNvPr id="17" name="Núcleo 3,4-di-hidroxifenil. Endógenas: d"/>
          <p:cNvSpPr txBox="1"/>
          <p:nvPr/>
        </p:nvSpPr>
        <p:spPr>
          <a:xfrm>
            <a:off x="1073150" y="3555908"/>
            <a:ext cx="4679950" cy="1242715"/>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Núcleo 3,4-di-hidroxifenil. Endógenas: dopamina, noradrenalina, adrenalina. Sintéticas: dobutamina, isoproterenol. Recaptação neuronal, MAO e COMT encurtam a meia-vida para minutos: uso em infusão contínua e titulável.</a:t>
            </a:r>
            <a:endParaRPr lang="en-US" sz="1350" dirty="0"/>
          </a:p>
        </p:txBody>
      </p:sp>
      <p:sp>
        <p:nvSpPr>
          <p:cNvPr id="18" name="Cartão"/>
          <p:cNvSpPr/>
          <p:nvPr/>
        </p:nvSpPr>
        <p:spPr>
          <a:xfrm>
            <a:off x="6197600" y="2918321"/>
            <a:ext cx="5181600" cy="2155825"/>
          </a:xfrm>
          <a:prstGeom prst="roundRect">
            <a:avLst>
              <a:gd name="adj" fmla="val 3535"/>
            </a:avLst>
          </a:prstGeom>
          <a:solidFill>
            <a:srgbClr val="FFFDF8"/>
          </a:solidFill>
          <a:ln w="6350">
            <a:solidFill>
              <a:srgbClr val="E2DDD2"/>
            </a:solidFill>
            <a:prstDash val="solid"/>
          </a:ln>
        </p:spPr>
      </p:sp>
      <p:sp>
        <p:nvSpPr>
          <p:cNvPr id="19" name="Borda de destaque"/>
          <p:cNvSpPr/>
          <p:nvPr/>
        </p:nvSpPr>
        <p:spPr>
          <a:xfrm>
            <a:off x="6208179" y="2918321"/>
            <a:ext cx="5160443" cy="38100"/>
          </a:xfrm>
          <a:custGeom>
            <a:avLst/>
            <a:gdLst/>
            <a:ahLst/>
            <a:cxnLst/>
            <a:rect l="l" t="t" r="r" b="b"/>
            <a:pathLst>
              <a:path w="5160443" h="38100">
                <a:moveTo>
                  <a:pt x="5094821" y="0"/>
                </a:moveTo>
                <a:lnTo>
                  <a:pt x="5109687" y="1464"/>
                </a:lnTo>
                <a:lnTo>
                  <a:pt x="5123982" y="5800"/>
                </a:lnTo>
                <a:lnTo>
                  <a:pt x="5137156" y="12842"/>
                </a:lnTo>
                <a:lnTo>
                  <a:pt x="5148703" y="22318"/>
                </a:lnTo>
                <a:lnTo>
                  <a:pt x="5158179" y="33866"/>
                </a:lnTo>
                <a:lnTo>
                  <a:pt x="516044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20" name="Não catecolaminas"/>
          <p:cNvSpPr txBox="1"/>
          <p:nvPr/>
        </p:nvSpPr>
        <p:spPr>
          <a:xfrm>
            <a:off x="6457950" y="3207506"/>
            <a:ext cx="46799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Não catecolaminas</a:t>
            </a:r>
            <a:endParaRPr lang="en-US" sz="1700" dirty="0"/>
          </a:p>
        </p:txBody>
      </p:sp>
      <p:sp>
        <p:nvSpPr>
          <p:cNvPr id="21" name="Sem o anel catecol, escapam da COMT: dur"/>
          <p:cNvSpPr txBox="1"/>
          <p:nvPr/>
        </p:nvSpPr>
        <p:spPr>
          <a:xfrm>
            <a:off x="6457950" y="3555908"/>
            <a:ext cx="4679950"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Sem o anel catecol, escapam da COMT: duram mais e servem para bolus. Fenilefrina: agonista direto α1. Efedrina e metaraminol: ação mista, direta e por liberação de noradrenalina das terminações.</a:t>
            </a:r>
            <a:endParaRPr lang="en-US" sz="1350" dirty="0"/>
          </a:p>
        </p:txBody>
      </p:sp>
      <p:sp>
        <p:nvSpPr>
          <p:cNvPr id="22" name="Miller’s Anesthesia, 10ª ed. (2024) · [c"/>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Miller’s Anesthesia, 10ª ed. (2024) · [cap./pág.]</a:t>
            </a:r>
            <a:endParaRPr lang="en-US" sz="12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E"/>
        </a:solidFill>
      </p:bgPr>
    </p:bg>
    <p:spTree>
      <p:nvGrpSpPr>
        <p:cNvPr id="1" name=""/>
        <p:cNvGrpSpPr/>
        <p:nvPr/>
      </p:nvGrpSpPr>
      <p:grpSpPr>
        <a:xfrm>
          <a:off x="0" y="0"/>
          <a:ext cx="0" cy="0"/>
          <a:chOff x="0" y="0"/>
          <a:chExt cx="0" cy="0"/>
        </a:xfrm>
      </p:grpSpPr>
      <p:sp>
        <p:nvSpPr>
          <p:cNvPr id="2" name="03 · DROGAS · NORADRENALINA"/>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03 · DROGAS · NORADRENALINA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Noradrenalina: o vasopressor de primeira linha</a:t>
            </a:r>
            <a:endParaRPr lang="en-US" sz="3200" dirty="0"/>
          </a:p>
        </p:txBody>
      </p:sp>
      <p:sp>
        <p:nvSpPr>
          <p:cNvPr id="4" name="Cartão"/>
          <p:cNvSpPr/>
          <p:nvPr/>
        </p:nvSpPr>
        <p:spPr>
          <a:xfrm>
            <a:off x="812800" y="1879501"/>
            <a:ext cx="3048000" cy="3194844"/>
          </a:xfrm>
          <a:prstGeom prst="roundRect">
            <a:avLst>
              <a:gd name="adj" fmla="val 2500"/>
            </a:avLst>
          </a:prstGeom>
          <a:solidFill>
            <a:srgbClr val="1B2A3A"/>
          </a:solidFill>
          <a:ln/>
        </p:spPr>
      </p:sp>
      <p:sp>
        <p:nvSpPr>
          <p:cNvPr id="5" name="RECEPTORES"/>
          <p:cNvSpPr txBox="1"/>
          <p:nvPr/>
        </p:nvSpPr>
        <p:spPr>
          <a:xfrm>
            <a:off x="1066800" y="2122299"/>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RECEPTORES</a:t>
            </a:r>
            <a:endParaRPr lang="en-US" sz="1200" dirty="0"/>
          </a:p>
        </p:txBody>
      </p:sp>
      <p:sp>
        <p:nvSpPr>
          <p:cNvPr id="6" name="α1"/>
          <p:cNvSpPr txBox="1"/>
          <p:nvPr/>
        </p:nvSpPr>
        <p:spPr>
          <a:xfrm>
            <a:off x="1066800" y="2461686"/>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α1</a:t>
            </a:r>
            <a:endParaRPr lang="en-US" sz="1300" dirty="0"/>
          </a:p>
        </p:txBody>
      </p:sp>
      <p:sp>
        <p:nvSpPr>
          <p:cNvPr id="7" name="Cartão"/>
          <p:cNvSpPr/>
          <p:nvPr/>
        </p:nvSpPr>
        <p:spPr>
          <a:xfrm>
            <a:off x="1524000" y="2532162"/>
            <a:ext cx="1778000" cy="114300"/>
          </a:xfrm>
          <a:prstGeom prst="roundRect">
            <a:avLst>
              <a:gd name="adj" fmla="val 50000"/>
            </a:avLst>
          </a:prstGeom>
          <a:solidFill>
            <a:srgbClr val="33475E"/>
          </a:solidFill>
          <a:ln/>
        </p:spPr>
      </p:sp>
      <p:sp>
        <p:nvSpPr>
          <p:cNvPr id="8" name="Cartão"/>
          <p:cNvSpPr/>
          <p:nvPr/>
        </p:nvSpPr>
        <p:spPr>
          <a:xfrm>
            <a:off x="1524000" y="2532162"/>
            <a:ext cx="1778000" cy="114300"/>
          </a:xfrm>
          <a:prstGeom prst="roundRect">
            <a:avLst>
              <a:gd name="adj" fmla="val 50000"/>
            </a:avLst>
          </a:prstGeom>
          <a:solidFill>
            <a:srgbClr val="E49A5C"/>
          </a:solidFill>
          <a:ln/>
        </p:spPr>
      </p:sp>
      <p:sp>
        <p:nvSpPr>
          <p:cNvPr id="9" name="β1"/>
          <p:cNvSpPr txBox="1"/>
          <p:nvPr/>
        </p:nvSpPr>
        <p:spPr>
          <a:xfrm>
            <a:off x="1066800" y="2819767"/>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β1</a:t>
            </a:r>
            <a:endParaRPr lang="en-US" sz="1300" dirty="0"/>
          </a:p>
        </p:txBody>
      </p:sp>
      <p:sp>
        <p:nvSpPr>
          <p:cNvPr id="10" name="Cartão"/>
          <p:cNvSpPr/>
          <p:nvPr/>
        </p:nvSpPr>
        <p:spPr>
          <a:xfrm>
            <a:off x="1524000" y="2890242"/>
            <a:ext cx="1778000" cy="114300"/>
          </a:xfrm>
          <a:prstGeom prst="roundRect">
            <a:avLst>
              <a:gd name="adj" fmla="val 50000"/>
            </a:avLst>
          </a:prstGeom>
          <a:solidFill>
            <a:srgbClr val="33475E"/>
          </a:solidFill>
          <a:ln/>
        </p:spPr>
      </p:sp>
      <p:sp>
        <p:nvSpPr>
          <p:cNvPr id="11" name="Cartão"/>
          <p:cNvSpPr/>
          <p:nvPr/>
        </p:nvSpPr>
        <p:spPr>
          <a:xfrm>
            <a:off x="1524000" y="2890242"/>
            <a:ext cx="889000" cy="114300"/>
          </a:xfrm>
          <a:prstGeom prst="roundRect">
            <a:avLst>
              <a:gd name="adj" fmla="val 50000"/>
            </a:avLst>
          </a:prstGeom>
          <a:solidFill>
            <a:srgbClr val="E49A5C"/>
          </a:solidFill>
          <a:ln/>
        </p:spPr>
      </p:sp>
      <p:sp>
        <p:nvSpPr>
          <p:cNvPr id="12" name="β2"/>
          <p:cNvSpPr txBox="1"/>
          <p:nvPr/>
        </p:nvSpPr>
        <p:spPr>
          <a:xfrm>
            <a:off x="1066800" y="3177847"/>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β2</a:t>
            </a:r>
            <a:endParaRPr lang="en-US" sz="1300" dirty="0"/>
          </a:p>
        </p:txBody>
      </p:sp>
      <p:sp>
        <p:nvSpPr>
          <p:cNvPr id="13" name="Cartão"/>
          <p:cNvSpPr/>
          <p:nvPr/>
        </p:nvSpPr>
        <p:spPr>
          <a:xfrm>
            <a:off x="1524000" y="3248323"/>
            <a:ext cx="1778000" cy="114300"/>
          </a:xfrm>
          <a:prstGeom prst="roundRect">
            <a:avLst>
              <a:gd name="adj" fmla="val 50000"/>
            </a:avLst>
          </a:prstGeom>
          <a:solidFill>
            <a:srgbClr val="33475E"/>
          </a:solidFill>
          <a:ln/>
        </p:spPr>
      </p:sp>
      <p:sp>
        <p:nvSpPr>
          <p:cNvPr id="14" name="D1"/>
          <p:cNvSpPr txBox="1"/>
          <p:nvPr/>
        </p:nvSpPr>
        <p:spPr>
          <a:xfrm>
            <a:off x="1066800" y="3535928"/>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D1</a:t>
            </a:r>
            <a:endParaRPr lang="en-US" sz="1300" dirty="0"/>
          </a:p>
        </p:txBody>
      </p:sp>
      <p:sp>
        <p:nvSpPr>
          <p:cNvPr id="15" name="Cartão"/>
          <p:cNvSpPr/>
          <p:nvPr/>
        </p:nvSpPr>
        <p:spPr>
          <a:xfrm>
            <a:off x="1524000" y="3606403"/>
            <a:ext cx="1778000" cy="114300"/>
          </a:xfrm>
          <a:prstGeom prst="roundRect">
            <a:avLst>
              <a:gd name="adj" fmla="val 50000"/>
            </a:avLst>
          </a:prstGeom>
          <a:solidFill>
            <a:srgbClr val="33475E"/>
          </a:solidFill>
          <a:ln/>
        </p:spPr>
      </p:sp>
      <p:sp>
        <p:nvSpPr>
          <p:cNvPr id="16" name="EFEITO HEMODINÂMICO"/>
          <p:cNvSpPr txBox="1"/>
          <p:nvPr/>
        </p:nvSpPr>
        <p:spPr>
          <a:xfrm>
            <a:off x="1066800" y="3894942"/>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EFEITO HEMODINÂMICO</a:t>
            </a:r>
            <a:endParaRPr lang="en-US" sz="1200" dirty="0"/>
          </a:p>
        </p:txBody>
      </p:sp>
      <p:sp>
        <p:nvSpPr>
          <p:cNvPr id="17" name="PAM ↑↑"/>
          <p:cNvSpPr txBox="1"/>
          <p:nvPr/>
        </p:nvSpPr>
        <p:spPr>
          <a:xfrm>
            <a:off x="1066800" y="4233395"/>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PAM</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18" name="RVS ↑↑"/>
          <p:cNvSpPr txBox="1"/>
          <p:nvPr/>
        </p:nvSpPr>
        <p:spPr>
          <a:xfrm>
            <a:off x="2413000" y="4233395"/>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RVS</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19" name="DC ↔/↑"/>
          <p:cNvSpPr txBox="1"/>
          <p:nvPr/>
        </p:nvSpPr>
        <p:spPr>
          <a:xfrm>
            <a:off x="1066800" y="455843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DC</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0" name="FC ↔/↓"/>
          <p:cNvSpPr txBox="1"/>
          <p:nvPr/>
        </p:nvSpPr>
        <p:spPr>
          <a:xfrm>
            <a:off x="2413000" y="455843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FC</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1" name="Cartão"/>
          <p:cNvSpPr/>
          <p:nvPr/>
        </p:nvSpPr>
        <p:spPr>
          <a:xfrm>
            <a:off x="4064000" y="1879501"/>
            <a:ext cx="3556000" cy="3194844"/>
          </a:xfrm>
          <a:prstGeom prst="roundRect">
            <a:avLst>
              <a:gd name="adj" fmla="val 2385"/>
            </a:avLst>
          </a:prstGeom>
          <a:solidFill>
            <a:srgbClr val="FFFDF8"/>
          </a:solidFill>
          <a:ln w="6350">
            <a:solidFill>
              <a:srgbClr val="E2DDD2"/>
            </a:solidFill>
            <a:prstDash val="solid"/>
          </a:ln>
        </p:spPr>
      </p:sp>
      <p:sp>
        <p:nvSpPr>
          <p:cNvPr id="22" name="Borda de destaque"/>
          <p:cNvSpPr/>
          <p:nvPr/>
        </p:nvSpPr>
        <p:spPr>
          <a:xfrm>
            <a:off x="4074579" y="1879501"/>
            <a:ext cx="3534843" cy="38100"/>
          </a:xfrm>
          <a:custGeom>
            <a:avLst/>
            <a:gdLst/>
            <a:ahLst/>
            <a:cxnLst/>
            <a:rect l="l" t="t" r="r" b="b"/>
            <a:pathLst>
              <a:path w="3534843" h="38100">
                <a:moveTo>
                  <a:pt x="3469221" y="0"/>
                </a:moveTo>
                <a:lnTo>
                  <a:pt x="3484087" y="1464"/>
                </a:lnTo>
                <a:lnTo>
                  <a:pt x="3498382" y="5800"/>
                </a:lnTo>
                <a:lnTo>
                  <a:pt x="3511556" y="12842"/>
                </a:lnTo>
                <a:lnTo>
                  <a:pt x="3523103" y="22318"/>
                </a:lnTo>
                <a:lnTo>
                  <a:pt x="3532579" y="33866"/>
                </a:lnTo>
                <a:lnTo>
                  <a:pt x="3534843"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23" name="Dose e uso"/>
          <p:cNvSpPr txBox="1"/>
          <p:nvPr/>
        </p:nvSpPr>
        <p:spPr>
          <a:xfrm>
            <a:off x="4324350" y="2168686"/>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Dose e uso</a:t>
            </a:r>
            <a:endParaRPr lang="en-US" sz="1700" dirty="0"/>
          </a:p>
        </p:txBody>
      </p:sp>
      <p:sp>
        <p:nvSpPr>
          <p:cNvPr id="24" name="Infusão de 0,01 a 0,5 mcg/kg/min na maio"/>
          <p:cNvSpPr txBox="1"/>
          <p:nvPr/>
        </p:nvSpPr>
        <p:spPr>
          <a:xfrm>
            <a:off x="4324350" y="2517088"/>
            <a:ext cx="3054350"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Infusão de 0,01 a 0,5 mcg/kg/min na maioria dos casos; doses maiores no choque refratário, sem teto fixo. No centro cirúrgico, bolus diluído de 5–10 mcg. Pode começar em veia periférica calibrosa enquanto se obtém o acesso central.</a:t>
            </a:r>
            <a:endParaRPr lang="en-US" sz="1350" dirty="0"/>
          </a:p>
        </p:txBody>
      </p:sp>
      <p:sp>
        <p:nvSpPr>
          <p:cNvPr id="25" name="Cartão"/>
          <p:cNvSpPr/>
          <p:nvPr/>
        </p:nvSpPr>
        <p:spPr>
          <a:xfrm>
            <a:off x="7823200" y="1879501"/>
            <a:ext cx="3556000" cy="3194844"/>
          </a:xfrm>
          <a:prstGeom prst="roundRect">
            <a:avLst>
              <a:gd name="adj" fmla="val 2385"/>
            </a:avLst>
          </a:prstGeom>
          <a:solidFill>
            <a:srgbClr val="FFFDF8"/>
          </a:solidFill>
          <a:ln w="6350">
            <a:solidFill>
              <a:srgbClr val="E2DDD2"/>
            </a:solidFill>
            <a:prstDash val="solid"/>
          </a:ln>
        </p:spPr>
      </p:sp>
      <p:sp>
        <p:nvSpPr>
          <p:cNvPr id="26" name="Borda de destaque"/>
          <p:cNvSpPr/>
          <p:nvPr/>
        </p:nvSpPr>
        <p:spPr>
          <a:xfrm>
            <a:off x="7833779" y="1879501"/>
            <a:ext cx="3534843" cy="38100"/>
          </a:xfrm>
          <a:custGeom>
            <a:avLst/>
            <a:gdLst/>
            <a:ahLst/>
            <a:cxnLst/>
            <a:rect l="l" t="t" r="r" b="b"/>
            <a:pathLst>
              <a:path w="3534843" h="38100">
                <a:moveTo>
                  <a:pt x="3469221" y="0"/>
                </a:moveTo>
                <a:lnTo>
                  <a:pt x="3484087" y="1464"/>
                </a:lnTo>
                <a:lnTo>
                  <a:pt x="3498382" y="5800"/>
                </a:lnTo>
                <a:lnTo>
                  <a:pt x="3511556" y="12842"/>
                </a:lnTo>
                <a:lnTo>
                  <a:pt x="3523103" y="22318"/>
                </a:lnTo>
                <a:lnTo>
                  <a:pt x="3532579" y="33866"/>
                </a:lnTo>
                <a:lnTo>
                  <a:pt x="353484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27" name="Evidência e cuidados"/>
          <p:cNvSpPr txBox="1"/>
          <p:nvPr/>
        </p:nvSpPr>
        <p:spPr>
          <a:xfrm>
            <a:off x="8083550" y="2168686"/>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Evidência e cuidados</a:t>
            </a:r>
            <a:endParaRPr lang="en-US" sz="1700" dirty="0"/>
          </a:p>
        </p:txBody>
      </p:sp>
      <p:sp>
        <p:nvSpPr>
          <p:cNvPr id="28" name="SOAP II: mesma mortalidade da dopamina, "/>
          <p:cNvSpPr txBox="1"/>
          <p:nvPr/>
        </p:nvSpPr>
        <p:spPr>
          <a:xfrm>
            <a:off x="8083550" y="2517088"/>
            <a:ext cx="3054350"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SOAP II: mesma mortalidade da dopamina, com metade das arritmias (12,4% vs. 24,1%). CENSER: 0,05 mcg/kg/min precoce elevou o controle do choque em 6 h (76% vs. 48%). Riscos: isquemia digital e esplâncnica, extravasamento.</a:t>
            </a:r>
            <a:endParaRPr lang="en-US" sz="1350" dirty="0"/>
          </a:p>
        </p:txBody>
      </p:sp>
      <p:sp>
        <p:nvSpPr>
          <p:cNvPr id="29" name="De Backer, N Engl J Med 2010 (SOAP II) ·"/>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De Backer, N Engl J Med 2010 (SOAP II) · Permpikul, AJRCCM 2019 (CENSER) · SSC 2026 · barras: escala qualitativa</a:t>
            </a:r>
            <a:endParaRPr lang="en-US" sz="12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EE"/>
        </a:solidFill>
      </p:bgPr>
    </p:bg>
    <p:spTree>
      <p:nvGrpSpPr>
        <p:cNvPr id="1" name=""/>
        <p:cNvGrpSpPr/>
        <p:nvPr/>
      </p:nvGrpSpPr>
      <p:grpSpPr>
        <a:xfrm>
          <a:off x="0" y="0"/>
          <a:ext cx="0" cy="0"/>
          <a:chOff x="0" y="0"/>
          <a:chExt cx="0" cy="0"/>
        </a:xfrm>
      </p:grpSpPr>
      <p:sp>
        <p:nvSpPr>
          <p:cNvPr id="2" name="03 · DROGAS · ADRENALINA"/>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03 · DROGAS · ADRENALINA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Adrenalina: β e α1, com custo metabólico</a:t>
            </a:r>
            <a:endParaRPr lang="en-US" sz="3200" dirty="0"/>
          </a:p>
        </p:txBody>
      </p:sp>
      <p:sp>
        <p:nvSpPr>
          <p:cNvPr id="4" name="Cartão"/>
          <p:cNvSpPr/>
          <p:nvPr/>
        </p:nvSpPr>
        <p:spPr>
          <a:xfrm>
            <a:off x="812800" y="1879501"/>
            <a:ext cx="3048000" cy="3194844"/>
          </a:xfrm>
          <a:prstGeom prst="roundRect">
            <a:avLst>
              <a:gd name="adj" fmla="val 2500"/>
            </a:avLst>
          </a:prstGeom>
          <a:solidFill>
            <a:srgbClr val="1B2A3A"/>
          </a:solidFill>
          <a:ln/>
        </p:spPr>
      </p:sp>
      <p:sp>
        <p:nvSpPr>
          <p:cNvPr id="5" name="RECEPTORES"/>
          <p:cNvSpPr txBox="1"/>
          <p:nvPr/>
        </p:nvSpPr>
        <p:spPr>
          <a:xfrm>
            <a:off x="1066800" y="2122299"/>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RECEPTORES</a:t>
            </a:r>
            <a:endParaRPr lang="en-US" sz="1200" dirty="0"/>
          </a:p>
        </p:txBody>
      </p:sp>
      <p:sp>
        <p:nvSpPr>
          <p:cNvPr id="6" name="α1"/>
          <p:cNvSpPr txBox="1"/>
          <p:nvPr/>
        </p:nvSpPr>
        <p:spPr>
          <a:xfrm>
            <a:off x="1066800" y="2461686"/>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α1</a:t>
            </a:r>
            <a:endParaRPr lang="en-US" sz="1300" dirty="0"/>
          </a:p>
        </p:txBody>
      </p:sp>
      <p:sp>
        <p:nvSpPr>
          <p:cNvPr id="7" name="Cartão"/>
          <p:cNvSpPr/>
          <p:nvPr/>
        </p:nvSpPr>
        <p:spPr>
          <a:xfrm>
            <a:off x="1524000" y="2532162"/>
            <a:ext cx="1778000" cy="114300"/>
          </a:xfrm>
          <a:prstGeom prst="roundRect">
            <a:avLst>
              <a:gd name="adj" fmla="val 50000"/>
            </a:avLst>
          </a:prstGeom>
          <a:solidFill>
            <a:srgbClr val="33475E"/>
          </a:solidFill>
          <a:ln/>
        </p:spPr>
      </p:sp>
      <p:sp>
        <p:nvSpPr>
          <p:cNvPr id="8" name="Cartão"/>
          <p:cNvSpPr/>
          <p:nvPr/>
        </p:nvSpPr>
        <p:spPr>
          <a:xfrm>
            <a:off x="1524000" y="2532162"/>
            <a:ext cx="1333500" cy="114300"/>
          </a:xfrm>
          <a:prstGeom prst="roundRect">
            <a:avLst>
              <a:gd name="adj" fmla="val 50000"/>
            </a:avLst>
          </a:prstGeom>
          <a:solidFill>
            <a:srgbClr val="E49A5C"/>
          </a:solidFill>
          <a:ln/>
        </p:spPr>
      </p:sp>
      <p:sp>
        <p:nvSpPr>
          <p:cNvPr id="9" name="β1"/>
          <p:cNvSpPr txBox="1"/>
          <p:nvPr/>
        </p:nvSpPr>
        <p:spPr>
          <a:xfrm>
            <a:off x="1066800" y="2819767"/>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β1</a:t>
            </a:r>
            <a:endParaRPr lang="en-US" sz="1300" dirty="0"/>
          </a:p>
        </p:txBody>
      </p:sp>
      <p:sp>
        <p:nvSpPr>
          <p:cNvPr id="10" name="Cartão"/>
          <p:cNvSpPr/>
          <p:nvPr/>
        </p:nvSpPr>
        <p:spPr>
          <a:xfrm>
            <a:off x="1524000" y="2890242"/>
            <a:ext cx="1778000" cy="114300"/>
          </a:xfrm>
          <a:prstGeom prst="roundRect">
            <a:avLst>
              <a:gd name="adj" fmla="val 50000"/>
            </a:avLst>
          </a:prstGeom>
          <a:solidFill>
            <a:srgbClr val="33475E"/>
          </a:solidFill>
          <a:ln/>
        </p:spPr>
      </p:sp>
      <p:sp>
        <p:nvSpPr>
          <p:cNvPr id="11" name="Cartão"/>
          <p:cNvSpPr/>
          <p:nvPr/>
        </p:nvSpPr>
        <p:spPr>
          <a:xfrm>
            <a:off x="1524000" y="2890242"/>
            <a:ext cx="1778000" cy="114300"/>
          </a:xfrm>
          <a:prstGeom prst="roundRect">
            <a:avLst>
              <a:gd name="adj" fmla="val 50000"/>
            </a:avLst>
          </a:prstGeom>
          <a:solidFill>
            <a:srgbClr val="E49A5C"/>
          </a:solidFill>
          <a:ln/>
        </p:spPr>
      </p:sp>
      <p:sp>
        <p:nvSpPr>
          <p:cNvPr id="12" name="β2"/>
          <p:cNvSpPr txBox="1"/>
          <p:nvPr/>
        </p:nvSpPr>
        <p:spPr>
          <a:xfrm>
            <a:off x="1066800" y="3177847"/>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β2</a:t>
            </a:r>
            <a:endParaRPr lang="en-US" sz="1300" dirty="0"/>
          </a:p>
        </p:txBody>
      </p:sp>
      <p:sp>
        <p:nvSpPr>
          <p:cNvPr id="13" name="Cartão"/>
          <p:cNvSpPr/>
          <p:nvPr/>
        </p:nvSpPr>
        <p:spPr>
          <a:xfrm>
            <a:off x="1524000" y="3248323"/>
            <a:ext cx="1778000" cy="114300"/>
          </a:xfrm>
          <a:prstGeom prst="roundRect">
            <a:avLst>
              <a:gd name="adj" fmla="val 50000"/>
            </a:avLst>
          </a:prstGeom>
          <a:solidFill>
            <a:srgbClr val="33475E"/>
          </a:solidFill>
          <a:ln/>
        </p:spPr>
      </p:sp>
      <p:sp>
        <p:nvSpPr>
          <p:cNvPr id="14" name="Cartão"/>
          <p:cNvSpPr/>
          <p:nvPr/>
        </p:nvSpPr>
        <p:spPr>
          <a:xfrm>
            <a:off x="1524000" y="3248323"/>
            <a:ext cx="1333500" cy="114300"/>
          </a:xfrm>
          <a:prstGeom prst="roundRect">
            <a:avLst>
              <a:gd name="adj" fmla="val 50000"/>
            </a:avLst>
          </a:prstGeom>
          <a:solidFill>
            <a:srgbClr val="E49A5C"/>
          </a:solidFill>
          <a:ln/>
        </p:spPr>
      </p:sp>
      <p:sp>
        <p:nvSpPr>
          <p:cNvPr id="15" name="D1"/>
          <p:cNvSpPr txBox="1"/>
          <p:nvPr/>
        </p:nvSpPr>
        <p:spPr>
          <a:xfrm>
            <a:off x="1066800" y="3535928"/>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D1</a:t>
            </a:r>
            <a:endParaRPr lang="en-US" sz="1300" dirty="0"/>
          </a:p>
        </p:txBody>
      </p:sp>
      <p:sp>
        <p:nvSpPr>
          <p:cNvPr id="16" name="Cartão"/>
          <p:cNvSpPr/>
          <p:nvPr/>
        </p:nvSpPr>
        <p:spPr>
          <a:xfrm>
            <a:off x="1524000" y="3606403"/>
            <a:ext cx="1778000" cy="114300"/>
          </a:xfrm>
          <a:prstGeom prst="roundRect">
            <a:avLst>
              <a:gd name="adj" fmla="val 50000"/>
            </a:avLst>
          </a:prstGeom>
          <a:solidFill>
            <a:srgbClr val="33475E"/>
          </a:solidFill>
          <a:ln/>
        </p:spPr>
      </p:sp>
      <p:sp>
        <p:nvSpPr>
          <p:cNvPr id="17" name="EFEITO HEMODINÂMICO"/>
          <p:cNvSpPr txBox="1"/>
          <p:nvPr/>
        </p:nvSpPr>
        <p:spPr>
          <a:xfrm>
            <a:off x="1066800" y="3894942"/>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EFEITO HEMODINÂMICO</a:t>
            </a:r>
            <a:endParaRPr lang="en-US" sz="1200" dirty="0"/>
          </a:p>
        </p:txBody>
      </p:sp>
      <p:sp>
        <p:nvSpPr>
          <p:cNvPr id="18" name="PAM ↑↑"/>
          <p:cNvSpPr txBox="1"/>
          <p:nvPr/>
        </p:nvSpPr>
        <p:spPr>
          <a:xfrm>
            <a:off x="1066800" y="4233395"/>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PAM</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19" name="DC ↑↑"/>
          <p:cNvSpPr txBox="1"/>
          <p:nvPr/>
        </p:nvSpPr>
        <p:spPr>
          <a:xfrm>
            <a:off x="2413000" y="4233395"/>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DC</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0" name="FC ↑↑"/>
          <p:cNvSpPr txBox="1"/>
          <p:nvPr/>
        </p:nvSpPr>
        <p:spPr>
          <a:xfrm>
            <a:off x="1066800" y="455843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FC</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1" name="RVS ↓ ou ↑"/>
          <p:cNvSpPr txBox="1"/>
          <p:nvPr/>
        </p:nvSpPr>
        <p:spPr>
          <a:xfrm>
            <a:off x="2413000" y="455843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RVS</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 ou ↑</a:t>
            </a:r>
            <a:endParaRPr lang="en-US" sz="1400" dirty="0"/>
          </a:p>
        </p:txBody>
      </p:sp>
      <p:sp>
        <p:nvSpPr>
          <p:cNvPr id="22" name="Cartão"/>
          <p:cNvSpPr/>
          <p:nvPr/>
        </p:nvSpPr>
        <p:spPr>
          <a:xfrm>
            <a:off x="4064000" y="1879501"/>
            <a:ext cx="3556000" cy="3194844"/>
          </a:xfrm>
          <a:prstGeom prst="roundRect">
            <a:avLst>
              <a:gd name="adj" fmla="val 2385"/>
            </a:avLst>
          </a:prstGeom>
          <a:solidFill>
            <a:srgbClr val="FFFDF8"/>
          </a:solidFill>
          <a:ln w="6350">
            <a:solidFill>
              <a:srgbClr val="E2DDD2"/>
            </a:solidFill>
            <a:prstDash val="solid"/>
          </a:ln>
        </p:spPr>
      </p:sp>
      <p:sp>
        <p:nvSpPr>
          <p:cNvPr id="23" name="Borda de destaque"/>
          <p:cNvSpPr/>
          <p:nvPr/>
        </p:nvSpPr>
        <p:spPr>
          <a:xfrm>
            <a:off x="4074579" y="1879501"/>
            <a:ext cx="3534843" cy="38100"/>
          </a:xfrm>
          <a:custGeom>
            <a:avLst/>
            <a:gdLst/>
            <a:ahLst/>
            <a:cxnLst/>
            <a:rect l="l" t="t" r="r" b="b"/>
            <a:pathLst>
              <a:path w="3534843" h="38100">
                <a:moveTo>
                  <a:pt x="3469221" y="0"/>
                </a:moveTo>
                <a:lnTo>
                  <a:pt x="3484087" y="1464"/>
                </a:lnTo>
                <a:lnTo>
                  <a:pt x="3498382" y="5800"/>
                </a:lnTo>
                <a:lnTo>
                  <a:pt x="3511556" y="12842"/>
                </a:lnTo>
                <a:lnTo>
                  <a:pt x="3523103" y="22318"/>
                </a:lnTo>
                <a:lnTo>
                  <a:pt x="3532579" y="33866"/>
                </a:lnTo>
                <a:lnTo>
                  <a:pt x="3534843"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24" name="Dose e uso"/>
          <p:cNvSpPr txBox="1"/>
          <p:nvPr/>
        </p:nvSpPr>
        <p:spPr>
          <a:xfrm>
            <a:off x="4324350" y="2168686"/>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Dose e uso</a:t>
            </a:r>
            <a:endParaRPr lang="en-US" sz="1700" dirty="0"/>
          </a:p>
        </p:txBody>
      </p:sp>
      <p:sp>
        <p:nvSpPr>
          <p:cNvPr id="25" name="Infusão de 0,01 a 0,1 mcg/kg/min, mais n"/>
          <p:cNvSpPr txBox="1"/>
          <p:nvPr/>
        </p:nvSpPr>
        <p:spPr>
          <a:xfrm>
            <a:off x="4324350" y="2517088"/>
            <a:ext cx="3054350"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Infusão de 0,01 a 0,1 mcg/kg/min, mais no choque refratário. Dose baixa: predomínio β (↑DC); dose alta: α1. Anafilaxia na anestesia, monitorizado, diluída e titulada: 10–20 mcg EV no grau 2, 50–100 mcg no grau 3.</a:t>
            </a:r>
            <a:endParaRPr lang="en-US" sz="1350" dirty="0"/>
          </a:p>
        </p:txBody>
      </p:sp>
      <p:sp>
        <p:nvSpPr>
          <p:cNvPr id="26" name="Cartão"/>
          <p:cNvSpPr/>
          <p:nvPr/>
        </p:nvSpPr>
        <p:spPr>
          <a:xfrm>
            <a:off x="7823200" y="1879501"/>
            <a:ext cx="3556000" cy="3194844"/>
          </a:xfrm>
          <a:prstGeom prst="roundRect">
            <a:avLst>
              <a:gd name="adj" fmla="val 2385"/>
            </a:avLst>
          </a:prstGeom>
          <a:solidFill>
            <a:srgbClr val="FFFDF8"/>
          </a:solidFill>
          <a:ln w="6350">
            <a:solidFill>
              <a:srgbClr val="E2DDD2"/>
            </a:solidFill>
            <a:prstDash val="solid"/>
          </a:ln>
        </p:spPr>
      </p:sp>
      <p:sp>
        <p:nvSpPr>
          <p:cNvPr id="27" name="Borda de destaque"/>
          <p:cNvSpPr/>
          <p:nvPr/>
        </p:nvSpPr>
        <p:spPr>
          <a:xfrm>
            <a:off x="7833779" y="1879501"/>
            <a:ext cx="3534843" cy="38100"/>
          </a:xfrm>
          <a:custGeom>
            <a:avLst/>
            <a:gdLst/>
            <a:ahLst/>
            <a:cxnLst/>
            <a:rect l="l" t="t" r="r" b="b"/>
            <a:pathLst>
              <a:path w="3534843" h="38100">
                <a:moveTo>
                  <a:pt x="3469221" y="0"/>
                </a:moveTo>
                <a:lnTo>
                  <a:pt x="3484087" y="1464"/>
                </a:lnTo>
                <a:lnTo>
                  <a:pt x="3498382" y="5800"/>
                </a:lnTo>
                <a:lnTo>
                  <a:pt x="3511556" y="12842"/>
                </a:lnTo>
                <a:lnTo>
                  <a:pt x="3523103" y="22318"/>
                </a:lnTo>
                <a:lnTo>
                  <a:pt x="3532579" y="33866"/>
                </a:lnTo>
                <a:lnTo>
                  <a:pt x="353484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28" name="Evidência e cuidados"/>
          <p:cNvSpPr txBox="1"/>
          <p:nvPr/>
        </p:nvSpPr>
        <p:spPr>
          <a:xfrm>
            <a:off x="8083550" y="2168686"/>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Evidência e cuidados</a:t>
            </a:r>
            <a:endParaRPr lang="en-US" sz="1700" dirty="0"/>
          </a:p>
        </p:txBody>
      </p:sp>
      <p:sp>
        <p:nvSpPr>
          <p:cNvPr id="29" name="Lactato pode subir por efeito β2 (glicól"/>
          <p:cNvSpPr txBox="1"/>
          <p:nvPr/>
        </p:nvSpPr>
        <p:spPr>
          <a:xfrm>
            <a:off x="8083550" y="2517088"/>
            <a:ext cx="3054350"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Lactato pode subir por efeito β2 (glicólise aeróbica), mas isso não exclui hipoperfusão. CATS: mortalidade semelhante a NA + dobutamina (40% vs. 34%, NS), com mais acidose. OptimaCC (n = 57, pós-IAM): mais choque refratário (37% vs. 7%).</a:t>
            </a:r>
            <a:endParaRPr lang="en-US" sz="1350" dirty="0"/>
          </a:p>
        </p:txBody>
      </p:sp>
      <p:sp>
        <p:nvSpPr>
          <p:cNvPr id="30" name="Annane, Lancet 2007 (CATS) · Levy, JACC "/>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Annane, Lancet 2007 (CATS) · Levy, JACC 2018 (OptimaCC) · ANZCA/ANZAAG 2022 · SSC 2026 · barras: escala qualitativa</a:t>
            </a:r>
            <a:endParaRPr lang="en-US" sz="12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E"/>
        </a:solidFill>
      </p:bgPr>
    </p:bg>
    <p:spTree>
      <p:nvGrpSpPr>
        <p:cNvPr id="1" name=""/>
        <p:cNvGrpSpPr/>
        <p:nvPr/>
      </p:nvGrpSpPr>
      <p:grpSpPr>
        <a:xfrm>
          <a:off x="0" y="0"/>
          <a:ext cx="0" cy="0"/>
          <a:chOff x="0" y="0"/>
          <a:chExt cx="0" cy="0"/>
        </a:xfrm>
      </p:grpSpPr>
      <p:sp>
        <p:nvSpPr>
          <p:cNvPr id="2" name="03 · DROGAS · DOPAMINA E DOBUTAMINA"/>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03 · DROGAS · DOPAMINA E DOBUTAMINA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Dopamina e dobutamina: β1 com custos diferentes</a:t>
            </a:r>
            <a:endParaRPr lang="en-US" sz="3200" dirty="0"/>
          </a:p>
        </p:txBody>
      </p:sp>
      <p:sp>
        <p:nvSpPr>
          <p:cNvPr id="4" name="Cartão"/>
          <p:cNvSpPr/>
          <p:nvPr/>
        </p:nvSpPr>
        <p:spPr>
          <a:xfrm>
            <a:off x="812800" y="1879501"/>
            <a:ext cx="5181600" cy="1210171"/>
          </a:xfrm>
          <a:prstGeom prst="roundRect">
            <a:avLst>
              <a:gd name="adj" fmla="val 6297"/>
            </a:avLst>
          </a:prstGeom>
          <a:solidFill>
            <a:srgbClr val="1B2A3A"/>
          </a:solidFill>
          <a:ln/>
        </p:spPr>
      </p:sp>
      <p:sp>
        <p:nvSpPr>
          <p:cNvPr id="5" name="Dopamina"/>
          <p:cNvSpPr txBox="1"/>
          <p:nvPr/>
        </p:nvSpPr>
        <p:spPr>
          <a:xfrm>
            <a:off x="1066800" y="2054386"/>
            <a:ext cx="1062732"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F5F3EE"/>
                </a:solidFill>
                <a:latin typeface="Arial" pitchFamily="34" charset="0"/>
                <a:ea typeface="Arial" pitchFamily="34" charset="-122"/>
                <a:cs typeface="Arial" pitchFamily="34" charset="-120"/>
              </a:rPr>
              <a:t>Dopamina</a:t>
            </a:r>
            <a:endParaRPr lang="en-US" sz="1700" dirty="0"/>
          </a:p>
        </p:txBody>
      </p:sp>
      <p:sp>
        <p:nvSpPr>
          <p:cNvPr id="6" name="PAM ↑ · DC ↑ · FC ↑↑"/>
          <p:cNvSpPr txBox="1"/>
          <p:nvPr/>
        </p:nvSpPr>
        <p:spPr>
          <a:xfrm>
            <a:off x="4153694" y="2076916"/>
            <a:ext cx="1605756"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E49A5C"/>
                </a:solidFill>
                <a:latin typeface="Arial" pitchFamily="34" charset="0"/>
                <a:ea typeface="Arial" pitchFamily="34" charset="-122"/>
                <a:cs typeface="Arial" pitchFamily="34" charset="-120"/>
              </a:rPr>
              <a:t>PAM ↑ · DC ↑ · FC ↑↑</a:t>
            </a:r>
            <a:endParaRPr lang="en-US" sz="1300" dirty="0"/>
          </a:p>
        </p:txBody>
      </p:sp>
      <p:sp>
        <p:nvSpPr>
          <p:cNvPr id="7" name="α1"/>
          <p:cNvSpPr txBox="1"/>
          <p:nvPr/>
        </p:nvSpPr>
        <p:spPr>
          <a:xfrm>
            <a:off x="1066800" y="241053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α1</a:t>
            </a:r>
            <a:endParaRPr lang="en-US" sz="1200" dirty="0"/>
          </a:p>
        </p:txBody>
      </p:sp>
      <p:sp>
        <p:nvSpPr>
          <p:cNvPr id="8" name="Cartão"/>
          <p:cNvSpPr/>
          <p:nvPr/>
        </p:nvSpPr>
        <p:spPr>
          <a:xfrm>
            <a:off x="1473200" y="2477591"/>
            <a:ext cx="1524000" cy="101600"/>
          </a:xfrm>
          <a:prstGeom prst="roundRect">
            <a:avLst>
              <a:gd name="adj" fmla="val 50000"/>
            </a:avLst>
          </a:prstGeom>
          <a:solidFill>
            <a:srgbClr val="33475E"/>
          </a:solidFill>
          <a:ln/>
        </p:spPr>
      </p:sp>
      <p:sp>
        <p:nvSpPr>
          <p:cNvPr id="9" name="Cartão"/>
          <p:cNvSpPr/>
          <p:nvPr/>
        </p:nvSpPr>
        <p:spPr>
          <a:xfrm>
            <a:off x="1473200" y="2477591"/>
            <a:ext cx="1143000" cy="101600"/>
          </a:xfrm>
          <a:prstGeom prst="roundRect">
            <a:avLst>
              <a:gd name="adj" fmla="val 50000"/>
            </a:avLst>
          </a:prstGeom>
          <a:solidFill>
            <a:srgbClr val="E49A5C"/>
          </a:solidFill>
          <a:ln/>
        </p:spPr>
      </p:sp>
      <p:sp>
        <p:nvSpPr>
          <p:cNvPr id="10" name="β1"/>
          <p:cNvSpPr txBox="1"/>
          <p:nvPr/>
        </p:nvSpPr>
        <p:spPr>
          <a:xfrm>
            <a:off x="3530600" y="241053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β1</a:t>
            </a:r>
            <a:endParaRPr lang="en-US" sz="1200" dirty="0"/>
          </a:p>
        </p:txBody>
      </p:sp>
      <p:sp>
        <p:nvSpPr>
          <p:cNvPr id="11" name="Cartão"/>
          <p:cNvSpPr/>
          <p:nvPr/>
        </p:nvSpPr>
        <p:spPr>
          <a:xfrm>
            <a:off x="3937000" y="2477591"/>
            <a:ext cx="1524000" cy="101600"/>
          </a:xfrm>
          <a:prstGeom prst="roundRect">
            <a:avLst>
              <a:gd name="adj" fmla="val 50000"/>
            </a:avLst>
          </a:prstGeom>
          <a:solidFill>
            <a:srgbClr val="33475E"/>
          </a:solidFill>
          <a:ln/>
        </p:spPr>
      </p:sp>
      <p:sp>
        <p:nvSpPr>
          <p:cNvPr id="12" name="Cartão"/>
          <p:cNvSpPr/>
          <p:nvPr/>
        </p:nvSpPr>
        <p:spPr>
          <a:xfrm>
            <a:off x="3937000" y="2477591"/>
            <a:ext cx="1143000" cy="101600"/>
          </a:xfrm>
          <a:prstGeom prst="roundRect">
            <a:avLst>
              <a:gd name="adj" fmla="val 50000"/>
            </a:avLst>
          </a:prstGeom>
          <a:solidFill>
            <a:srgbClr val="E49A5C"/>
          </a:solidFill>
          <a:ln/>
        </p:spPr>
      </p:sp>
      <p:sp>
        <p:nvSpPr>
          <p:cNvPr id="13" name="β2"/>
          <p:cNvSpPr txBox="1"/>
          <p:nvPr/>
        </p:nvSpPr>
        <p:spPr>
          <a:xfrm>
            <a:off x="1066800" y="268735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β2</a:t>
            </a:r>
            <a:endParaRPr lang="en-US" sz="1200" dirty="0"/>
          </a:p>
        </p:txBody>
      </p:sp>
      <p:sp>
        <p:nvSpPr>
          <p:cNvPr id="14" name="Cartão"/>
          <p:cNvSpPr/>
          <p:nvPr/>
        </p:nvSpPr>
        <p:spPr>
          <a:xfrm>
            <a:off x="1473200" y="2754412"/>
            <a:ext cx="1524000" cy="101600"/>
          </a:xfrm>
          <a:prstGeom prst="roundRect">
            <a:avLst>
              <a:gd name="adj" fmla="val 50000"/>
            </a:avLst>
          </a:prstGeom>
          <a:solidFill>
            <a:srgbClr val="33475E"/>
          </a:solidFill>
          <a:ln/>
        </p:spPr>
      </p:sp>
      <p:sp>
        <p:nvSpPr>
          <p:cNvPr id="15" name="Cartão"/>
          <p:cNvSpPr/>
          <p:nvPr/>
        </p:nvSpPr>
        <p:spPr>
          <a:xfrm>
            <a:off x="1473200" y="2754412"/>
            <a:ext cx="381000" cy="101600"/>
          </a:xfrm>
          <a:prstGeom prst="roundRect">
            <a:avLst>
              <a:gd name="adj" fmla="val 50000"/>
            </a:avLst>
          </a:prstGeom>
          <a:solidFill>
            <a:srgbClr val="E49A5C"/>
          </a:solidFill>
          <a:ln/>
        </p:spPr>
      </p:sp>
      <p:sp>
        <p:nvSpPr>
          <p:cNvPr id="16" name="D1"/>
          <p:cNvSpPr txBox="1"/>
          <p:nvPr/>
        </p:nvSpPr>
        <p:spPr>
          <a:xfrm>
            <a:off x="3530600" y="268735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D1</a:t>
            </a:r>
            <a:endParaRPr lang="en-US" sz="1200" dirty="0"/>
          </a:p>
        </p:txBody>
      </p:sp>
      <p:sp>
        <p:nvSpPr>
          <p:cNvPr id="17" name="Cartão"/>
          <p:cNvSpPr/>
          <p:nvPr/>
        </p:nvSpPr>
        <p:spPr>
          <a:xfrm>
            <a:off x="3937000" y="2754412"/>
            <a:ext cx="1524000" cy="101600"/>
          </a:xfrm>
          <a:prstGeom prst="roundRect">
            <a:avLst>
              <a:gd name="adj" fmla="val 50000"/>
            </a:avLst>
          </a:prstGeom>
          <a:solidFill>
            <a:srgbClr val="33475E"/>
          </a:solidFill>
          <a:ln/>
        </p:spPr>
      </p:sp>
      <p:sp>
        <p:nvSpPr>
          <p:cNvPr id="18" name="Cartão"/>
          <p:cNvSpPr/>
          <p:nvPr/>
        </p:nvSpPr>
        <p:spPr>
          <a:xfrm>
            <a:off x="3937000" y="2754412"/>
            <a:ext cx="1524000" cy="101600"/>
          </a:xfrm>
          <a:prstGeom prst="roundRect">
            <a:avLst>
              <a:gd name="adj" fmla="val 50000"/>
            </a:avLst>
          </a:prstGeom>
          <a:solidFill>
            <a:srgbClr val="E49A5C"/>
          </a:solidFill>
          <a:ln/>
        </p:spPr>
      </p:sp>
      <p:sp>
        <p:nvSpPr>
          <p:cNvPr id="19" name="Cartão"/>
          <p:cNvSpPr/>
          <p:nvPr/>
        </p:nvSpPr>
        <p:spPr>
          <a:xfrm>
            <a:off x="812800" y="3165872"/>
            <a:ext cx="5181600" cy="1445022"/>
          </a:xfrm>
          <a:prstGeom prst="roundRect">
            <a:avLst>
              <a:gd name="adj" fmla="val 5273"/>
            </a:avLst>
          </a:prstGeom>
          <a:solidFill>
            <a:srgbClr val="FFFDF8"/>
          </a:solidFill>
          <a:ln w="6350">
            <a:solidFill>
              <a:srgbClr val="E2DDD2"/>
            </a:solidFill>
            <a:prstDash val="solid"/>
          </a:ln>
        </p:spPr>
      </p:sp>
      <p:sp>
        <p:nvSpPr>
          <p:cNvPr id="20" name="Borda de destaque"/>
          <p:cNvSpPr/>
          <p:nvPr/>
        </p:nvSpPr>
        <p:spPr>
          <a:xfrm>
            <a:off x="823379" y="3165872"/>
            <a:ext cx="5160443" cy="38100"/>
          </a:xfrm>
          <a:custGeom>
            <a:avLst/>
            <a:gdLst/>
            <a:ahLst/>
            <a:cxnLst/>
            <a:rect l="l" t="t" r="r" b="b"/>
            <a:pathLst>
              <a:path w="5160443" h="38100">
                <a:moveTo>
                  <a:pt x="5094821" y="0"/>
                </a:moveTo>
                <a:lnTo>
                  <a:pt x="5109687" y="1464"/>
                </a:lnTo>
                <a:lnTo>
                  <a:pt x="5123982" y="5800"/>
                </a:lnTo>
                <a:lnTo>
                  <a:pt x="5137156" y="12842"/>
                </a:lnTo>
                <a:lnTo>
                  <a:pt x="5148703" y="22318"/>
                </a:lnTo>
                <a:lnTo>
                  <a:pt x="5158179" y="33866"/>
                </a:lnTo>
                <a:lnTo>
                  <a:pt x="5160443"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21" name="Efeito dose-dependente e imprevisível: D"/>
          <p:cNvSpPr txBox="1"/>
          <p:nvPr/>
        </p:nvSpPr>
        <p:spPr>
          <a:xfrm>
            <a:off x="1073150" y="3391999"/>
            <a:ext cx="4679950"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Efeito dose-dependente e imprevisível: D1, depois β1 e, em doses altas, α1. Dose “renal” não protege o rim. SOAP II: o dobro de arritmias (24,1% vs. 12,4%). SSC 2026: contra como primeira linha.</a:t>
            </a:r>
            <a:endParaRPr lang="en-US" sz="1350" dirty="0"/>
          </a:p>
        </p:txBody>
      </p:sp>
      <p:sp>
        <p:nvSpPr>
          <p:cNvPr id="22" name="Cartão"/>
          <p:cNvSpPr/>
          <p:nvPr/>
        </p:nvSpPr>
        <p:spPr>
          <a:xfrm>
            <a:off x="6197600" y="1879501"/>
            <a:ext cx="5181600" cy="1210171"/>
          </a:xfrm>
          <a:prstGeom prst="roundRect">
            <a:avLst>
              <a:gd name="adj" fmla="val 6297"/>
            </a:avLst>
          </a:prstGeom>
          <a:solidFill>
            <a:srgbClr val="1B2A3A"/>
          </a:solidFill>
          <a:ln/>
        </p:spPr>
      </p:sp>
      <p:sp>
        <p:nvSpPr>
          <p:cNvPr id="23" name="Dobutamina"/>
          <p:cNvSpPr txBox="1"/>
          <p:nvPr/>
        </p:nvSpPr>
        <p:spPr>
          <a:xfrm>
            <a:off x="6451600" y="2054386"/>
            <a:ext cx="1266527"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F5F3EE"/>
                </a:solidFill>
                <a:latin typeface="Arial" pitchFamily="34" charset="0"/>
                <a:ea typeface="Arial" pitchFamily="34" charset="-122"/>
                <a:cs typeface="Arial" pitchFamily="34" charset="-120"/>
              </a:rPr>
              <a:t>Dobutamina</a:t>
            </a:r>
            <a:endParaRPr lang="en-US" sz="1700" dirty="0"/>
          </a:p>
        </p:txBody>
      </p:sp>
      <p:sp>
        <p:nvSpPr>
          <p:cNvPr id="24" name="DC ↑↑ · FC ↑ · RVS ↓"/>
          <p:cNvSpPr txBox="1"/>
          <p:nvPr/>
        </p:nvSpPr>
        <p:spPr>
          <a:xfrm>
            <a:off x="9565878" y="2076916"/>
            <a:ext cx="1578372"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E49A5C"/>
                </a:solidFill>
                <a:latin typeface="Arial" pitchFamily="34" charset="0"/>
                <a:ea typeface="Arial" pitchFamily="34" charset="-122"/>
                <a:cs typeface="Arial" pitchFamily="34" charset="-120"/>
              </a:rPr>
              <a:t>DC ↑↑ · FC ↑ · RVS ↓</a:t>
            </a:r>
            <a:endParaRPr lang="en-US" sz="1300" dirty="0"/>
          </a:p>
        </p:txBody>
      </p:sp>
      <p:sp>
        <p:nvSpPr>
          <p:cNvPr id="25" name="α1"/>
          <p:cNvSpPr txBox="1"/>
          <p:nvPr/>
        </p:nvSpPr>
        <p:spPr>
          <a:xfrm>
            <a:off x="6451600" y="241053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α1</a:t>
            </a:r>
            <a:endParaRPr lang="en-US" sz="1200" dirty="0"/>
          </a:p>
        </p:txBody>
      </p:sp>
      <p:sp>
        <p:nvSpPr>
          <p:cNvPr id="26" name="Cartão"/>
          <p:cNvSpPr/>
          <p:nvPr/>
        </p:nvSpPr>
        <p:spPr>
          <a:xfrm>
            <a:off x="6858000" y="2477591"/>
            <a:ext cx="1524000" cy="101600"/>
          </a:xfrm>
          <a:prstGeom prst="roundRect">
            <a:avLst>
              <a:gd name="adj" fmla="val 50000"/>
            </a:avLst>
          </a:prstGeom>
          <a:solidFill>
            <a:srgbClr val="33475E"/>
          </a:solidFill>
          <a:ln/>
        </p:spPr>
      </p:sp>
      <p:sp>
        <p:nvSpPr>
          <p:cNvPr id="27" name="Cartão"/>
          <p:cNvSpPr/>
          <p:nvPr/>
        </p:nvSpPr>
        <p:spPr>
          <a:xfrm>
            <a:off x="6858000" y="2477591"/>
            <a:ext cx="381000" cy="101600"/>
          </a:xfrm>
          <a:prstGeom prst="roundRect">
            <a:avLst>
              <a:gd name="adj" fmla="val 50000"/>
            </a:avLst>
          </a:prstGeom>
          <a:solidFill>
            <a:srgbClr val="E49A5C"/>
          </a:solidFill>
          <a:ln/>
        </p:spPr>
      </p:sp>
      <p:sp>
        <p:nvSpPr>
          <p:cNvPr id="28" name="β1"/>
          <p:cNvSpPr txBox="1"/>
          <p:nvPr/>
        </p:nvSpPr>
        <p:spPr>
          <a:xfrm>
            <a:off x="8915400" y="241053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β1</a:t>
            </a:r>
            <a:endParaRPr lang="en-US" sz="1200" dirty="0"/>
          </a:p>
        </p:txBody>
      </p:sp>
      <p:sp>
        <p:nvSpPr>
          <p:cNvPr id="29" name="Cartão"/>
          <p:cNvSpPr/>
          <p:nvPr/>
        </p:nvSpPr>
        <p:spPr>
          <a:xfrm>
            <a:off x="9321800" y="2477591"/>
            <a:ext cx="1524000" cy="101600"/>
          </a:xfrm>
          <a:prstGeom prst="roundRect">
            <a:avLst>
              <a:gd name="adj" fmla="val 50000"/>
            </a:avLst>
          </a:prstGeom>
          <a:solidFill>
            <a:srgbClr val="33475E"/>
          </a:solidFill>
          <a:ln/>
        </p:spPr>
      </p:sp>
      <p:sp>
        <p:nvSpPr>
          <p:cNvPr id="30" name="Cartão"/>
          <p:cNvSpPr/>
          <p:nvPr/>
        </p:nvSpPr>
        <p:spPr>
          <a:xfrm>
            <a:off x="9321800" y="2477591"/>
            <a:ext cx="1524000" cy="101600"/>
          </a:xfrm>
          <a:prstGeom prst="roundRect">
            <a:avLst>
              <a:gd name="adj" fmla="val 50000"/>
            </a:avLst>
          </a:prstGeom>
          <a:solidFill>
            <a:srgbClr val="E49A5C"/>
          </a:solidFill>
          <a:ln/>
        </p:spPr>
      </p:sp>
      <p:sp>
        <p:nvSpPr>
          <p:cNvPr id="31" name="β2"/>
          <p:cNvSpPr txBox="1"/>
          <p:nvPr/>
        </p:nvSpPr>
        <p:spPr>
          <a:xfrm>
            <a:off x="6451600" y="268735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β2</a:t>
            </a:r>
            <a:endParaRPr lang="en-US" sz="1200" dirty="0"/>
          </a:p>
        </p:txBody>
      </p:sp>
      <p:sp>
        <p:nvSpPr>
          <p:cNvPr id="32" name="Cartão"/>
          <p:cNvSpPr/>
          <p:nvPr/>
        </p:nvSpPr>
        <p:spPr>
          <a:xfrm>
            <a:off x="6858000" y="2754412"/>
            <a:ext cx="1524000" cy="101600"/>
          </a:xfrm>
          <a:prstGeom prst="roundRect">
            <a:avLst>
              <a:gd name="adj" fmla="val 50000"/>
            </a:avLst>
          </a:prstGeom>
          <a:solidFill>
            <a:srgbClr val="33475E"/>
          </a:solidFill>
          <a:ln/>
        </p:spPr>
      </p:sp>
      <p:sp>
        <p:nvSpPr>
          <p:cNvPr id="33" name="Cartão"/>
          <p:cNvSpPr/>
          <p:nvPr/>
        </p:nvSpPr>
        <p:spPr>
          <a:xfrm>
            <a:off x="6858000" y="2754412"/>
            <a:ext cx="762000" cy="101600"/>
          </a:xfrm>
          <a:prstGeom prst="roundRect">
            <a:avLst>
              <a:gd name="adj" fmla="val 50000"/>
            </a:avLst>
          </a:prstGeom>
          <a:solidFill>
            <a:srgbClr val="E49A5C"/>
          </a:solidFill>
          <a:ln/>
        </p:spPr>
      </p:sp>
      <p:sp>
        <p:nvSpPr>
          <p:cNvPr id="34" name="D1"/>
          <p:cNvSpPr txBox="1"/>
          <p:nvPr/>
        </p:nvSpPr>
        <p:spPr>
          <a:xfrm>
            <a:off x="8915400" y="268735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D1</a:t>
            </a:r>
            <a:endParaRPr lang="en-US" sz="1200" dirty="0"/>
          </a:p>
        </p:txBody>
      </p:sp>
      <p:sp>
        <p:nvSpPr>
          <p:cNvPr id="35" name="Cartão"/>
          <p:cNvSpPr/>
          <p:nvPr/>
        </p:nvSpPr>
        <p:spPr>
          <a:xfrm>
            <a:off x="9321800" y="2754412"/>
            <a:ext cx="1524000" cy="101600"/>
          </a:xfrm>
          <a:prstGeom prst="roundRect">
            <a:avLst>
              <a:gd name="adj" fmla="val 50000"/>
            </a:avLst>
          </a:prstGeom>
          <a:solidFill>
            <a:srgbClr val="33475E"/>
          </a:solidFill>
          <a:ln/>
        </p:spPr>
      </p:sp>
      <p:sp>
        <p:nvSpPr>
          <p:cNvPr id="36" name="Cartão"/>
          <p:cNvSpPr/>
          <p:nvPr/>
        </p:nvSpPr>
        <p:spPr>
          <a:xfrm>
            <a:off x="6197600" y="3165872"/>
            <a:ext cx="5181600" cy="1445022"/>
          </a:xfrm>
          <a:prstGeom prst="roundRect">
            <a:avLst>
              <a:gd name="adj" fmla="val 5273"/>
            </a:avLst>
          </a:prstGeom>
          <a:solidFill>
            <a:srgbClr val="FFFDF8"/>
          </a:solidFill>
          <a:ln w="6350">
            <a:solidFill>
              <a:srgbClr val="E2DDD2"/>
            </a:solidFill>
            <a:prstDash val="solid"/>
          </a:ln>
        </p:spPr>
      </p:sp>
      <p:sp>
        <p:nvSpPr>
          <p:cNvPr id="37" name="Borda de destaque"/>
          <p:cNvSpPr/>
          <p:nvPr/>
        </p:nvSpPr>
        <p:spPr>
          <a:xfrm>
            <a:off x="6208179" y="3165872"/>
            <a:ext cx="5160443" cy="38100"/>
          </a:xfrm>
          <a:custGeom>
            <a:avLst/>
            <a:gdLst/>
            <a:ahLst/>
            <a:cxnLst/>
            <a:rect l="l" t="t" r="r" b="b"/>
            <a:pathLst>
              <a:path w="5160443" h="38100">
                <a:moveTo>
                  <a:pt x="5094821" y="0"/>
                </a:moveTo>
                <a:lnTo>
                  <a:pt x="5109687" y="1464"/>
                </a:lnTo>
                <a:lnTo>
                  <a:pt x="5123982" y="5800"/>
                </a:lnTo>
                <a:lnTo>
                  <a:pt x="5137156" y="12842"/>
                </a:lnTo>
                <a:lnTo>
                  <a:pt x="5148703" y="22318"/>
                </a:lnTo>
                <a:lnTo>
                  <a:pt x="5158179" y="33866"/>
                </a:lnTo>
                <a:lnTo>
                  <a:pt x="516044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38" name="Inotrópico com vasodilatação β2: pode ba"/>
          <p:cNvSpPr txBox="1"/>
          <p:nvPr/>
        </p:nvSpPr>
        <p:spPr>
          <a:xfrm>
            <a:off x="6457950" y="3391999"/>
            <a:ext cx="4679950"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Inotrópico com vasodilatação β2: pode baixar a PAM e entra com o vasopressor, nunca no lugar dele. SSC 2026: com disfunção cardíaca e hipoperfusão, associar à NA ou usar adrenalina. DOREMI: semelhante à milrinona.</a:t>
            </a:r>
            <a:endParaRPr lang="en-US" sz="1350" dirty="0"/>
          </a:p>
        </p:txBody>
      </p:sp>
      <p:sp>
        <p:nvSpPr>
          <p:cNvPr id="39" name="Bellomo, Lancet 2000 · De Backer, N Engl"/>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Bellomo, Lancet 2000 · De Backer, N Engl J Med 2010 (SOAP II) · Mathew, N Engl J Med 2021 (DOREMI) · SSC 2026 · barras: escala qualitativa</a:t>
            </a:r>
            <a:endParaRPr lang="en-US" sz="12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E"/>
        </a:solidFill>
      </p:bgPr>
    </p:bg>
    <p:spTree>
      <p:nvGrpSpPr>
        <p:cNvPr id="1" name=""/>
        <p:cNvGrpSpPr/>
        <p:nvPr/>
      </p:nvGrpSpPr>
      <p:grpSpPr>
        <a:xfrm>
          <a:off x="0" y="0"/>
          <a:ext cx="0" cy="0"/>
          <a:chOff x="0" y="0"/>
          <a:chExt cx="0" cy="0"/>
        </a:xfrm>
      </p:grpSpPr>
      <p:sp>
        <p:nvSpPr>
          <p:cNvPr id="2" name="03 · DROGAS · FENILEFRINA E EFEDRINA"/>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03 · DROGAS · FENILEFRINA E EFEDRINA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Fenilefrina e efedrina: as drogas de bolus</a:t>
            </a:r>
            <a:endParaRPr lang="en-US" sz="3200" dirty="0"/>
          </a:p>
        </p:txBody>
      </p:sp>
      <p:sp>
        <p:nvSpPr>
          <p:cNvPr id="4" name="Cartão"/>
          <p:cNvSpPr/>
          <p:nvPr/>
        </p:nvSpPr>
        <p:spPr>
          <a:xfrm>
            <a:off x="812800" y="1879501"/>
            <a:ext cx="5181600" cy="1210171"/>
          </a:xfrm>
          <a:prstGeom prst="roundRect">
            <a:avLst>
              <a:gd name="adj" fmla="val 6297"/>
            </a:avLst>
          </a:prstGeom>
          <a:solidFill>
            <a:srgbClr val="1B2A3A"/>
          </a:solidFill>
          <a:ln/>
        </p:spPr>
      </p:sp>
      <p:sp>
        <p:nvSpPr>
          <p:cNvPr id="5" name="Fenilefrina"/>
          <p:cNvSpPr txBox="1"/>
          <p:nvPr/>
        </p:nvSpPr>
        <p:spPr>
          <a:xfrm>
            <a:off x="1066800" y="2054386"/>
            <a:ext cx="1110853"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F5F3EE"/>
                </a:solidFill>
                <a:latin typeface="Arial" pitchFamily="34" charset="0"/>
                <a:ea typeface="Arial" pitchFamily="34" charset="-122"/>
                <a:cs typeface="Arial" pitchFamily="34" charset="-120"/>
              </a:rPr>
              <a:t>Fenilefrina</a:t>
            </a:r>
            <a:endParaRPr lang="en-US" sz="1700" dirty="0"/>
          </a:p>
        </p:txBody>
      </p:sp>
      <p:sp>
        <p:nvSpPr>
          <p:cNvPr id="6" name="RVS ↑↑ · FC ↓ · DC ↔/↓"/>
          <p:cNvSpPr txBox="1"/>
          <p:nvPr/>
        </p:nvSpPr>
        <p:spPr>
          <a:xfrm>
            <a:off x="3970139" y="2076916"/>
            <a:ext cx="1789311"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E49A5C"/>
                </a:solidFill>
                <a:latin typeface="Arial" pitchFamily="34" charset="0"/>
                <a:ea typeface="Arial" pitchFamily="34" charset="-122"/>
                <a:cs typeface="Arial" pitchFamily="34" charset="-120"/>
              </a:rPr>
              <a:t>RVS ↑↑ · FC ↓ · DC ↔/↓</a:t>
            </a:r>
            <a:endParaRPr lang="en-US" sz="1300" dirty="0"/>
          </a:p>
        </p:txBody>
      </p:sp>
      <p:sp>
        <p:nvSpPr>
          <p:cNvPr id="7" name="α1"/>
          <p:cNvSpPr txBox="1"/>
          <p:nvPr/>
        </p:nvSpPr>
        <p:spPr>
          <a:xfrm>
            <a:off x="1066800" y="241053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α1</a:t>
            </a:r>
            <a:endParaRPr lang="en-US" sz="1200" dirty="0"/>
          </a:p>
        </p:txBody>
      </p:sp>
      <p:sp>
        <p:nvSpPr>
          <p:cNvPr id="8" name="Cartão"/>
          <p:cNvSpPr/>
          <p:nvPr/>
        </p:nvSpPr>
        <p:spPr>
          <a:xfrm>
            <a:off x="1473200" y="2477591"/>
            <a:ext cx="1524000" cy="101600"/>
          </a:xfrm>
          <a:prstGeom prst="roundRect">
            <a:avLst>
              <a:gd name="adj" fmla="val 50000"/>
            </a:avLst>
          </a:prstGeom>
          <a:solidFill>
            <a:srgbClr val="33475E"/>
          </a:solidFill>
          <a:ln/>
        </p:spPr>
      </p:sp>
      <p:sp>
        <p:nvSpPr>
          <p:cNvPr id="9" name="Cartão"/>
          <p:cNvSpPr/>
          <p:nvPr/>
        </p:nvSpPr>
        <p:spPr>
          <a:xfrm>
            <a:off x="1473200" y="2477591"/>
            <a:ext cx="1524000" cy="101600"/>
          </a:xfrm>
          <a:prstGeom prst="roundRect">
            <a:avLst>
              <a:gd name="adj" fmla="val 50000"/>
            </a:avLst>
          </a:prstGeom>
          <a:solidFill>
            <a:srgbClr val="E49A5C"/>
          </a:solidFill>
          <a:ln/>
        </p:spPr>
      </p:sp>
      <p:sp>
        <p:nvSpPr>
          <p:cNvPr id="10" name="β1"/>
          <p:cNvSpPr txBox="1"/>
          <p:nvPr/>
        </p:nvSpPr>
        <p:spPr>
          <a:xfrm>
            <a:off x="3530600" y="241053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β1</a:t>
            </a:r>
            <a:endParaRPr lang="en-US" sz="1200" dirty="0"/>
          </a:p>
        </p:txBody>
      </p:sp>
      <p:sp>
        <p:nvSpPr>
          <p:cNvPr id="11" name="Cartão"/>
          <p:cNvSpPr/>
          <p:nvPr/>
        </p:nvSpPr>
        <p:spPr>
          <a:xfrm>
            <a:off x="3937000" y="2477591"/>
            <a:ext cx="1524000" cy="101600"/>
          </a:xfrm>
          <a:prstGeom prst="roundRect">
            <a:avLst>
              <a:gd name="adj" fmla="val 50000"/>
            </a:avLst>
          </a:prstGeom>
          <a:solidFill>
            <a:srgbClr val="33475E"/>
          </a:solidFill>
          <a:ln/>
        </p:spPr>
      </p:sp>
      <p:sp>
        <p:nvSpPr>
          <p:cNvPr id="12" name="β2"/>
          <p:cNvSpPr txBox="1"/>
          <p:nvPr/>
        </p:nvSpPr>
        <p:spPr>
          <a:xfrm>
            <a:off x="1066800" y="268735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β2</a:t>
            </a:r>
            <a:endParaRPr lang="en-US" sz="1200" dirty="0"/>
          </a:p>
        </p:txBody>
      </p:sp>
      <p:sp>
        <p:nvSpPr>
          <p:cNvPr id="13" name="Cartão"/>
          <p:cNvSpPr/>
          <p:nvPr/>
        </p:nvSpPr>
        <p:spPr>
          <a:xfrm>
            <a:off x="1473200" y="2754412"/>
            <a:ext cx="1524000" cy="101600"/>
          </a:xfrm>
          <a:prstGeom prst="roundRect">
            <a:avLst>
              <a:gd name="adj" fmla="val 50000"/>
            </a:avLst>
          </a:prstGeom>
          <a:solidFill>
            <a:srgbClr val="33475E"/>
          </a:solidFill>
          <a:ln/>
        </p:spPr>
      </p:sp>
      <p:sp>
        <p:nvSpPr>
          <p:cNvPr id="14" name="D1"/>
          <p:cNvSpPr txBox="1"/>
          <p:nvPr/>
        </p:nvSpPr>
        <p:spPr>
          <a:xfrm>
            <a:off x="3530600" y="268735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D1</a:t>
            </a:r>
            <a:endParaRPr lang="en-US" sz="1200" dirty="0"/>
          </a:p>
        </p:txBody>
      </p:sp>
      <p:sp>
        <p:nvSpPr>
          <p:cNvPr id="15" name="Cartão"/>
          <p:cNvSpPr/>
          <p:nvPr/>
        </p:nvSpPr>
        <p:spPr>
          <a:xfrm>
            <a:off x="3937000" y="2754412"/>
            <a:ext cx="1524000" cy="101600"/>
          </a:xfrm>
          <a:prstGeom prst="roundRect">
            <a:avLst>
              <a:gd name="adj" fmla="val 50000"/>
            </a:avLst>
          </a:prstGeom>
          <a:solidFill>
            <a:srgbClr val="33475E"/>
          </a:solidFill>
          <a:ln/>
        </p:spPr>
      </p:sp>
      <p:sp>
        <p:nvSpPr>
          <p:cNvPr id="16" name="Cartão"/>
          <p:cNvSpPr/>
          <p:nvPr/>
        </p:nvSpPr>
        <p:spPr>
          <a:xfrm>
            <a:off x="812800" y="3165872"/>
            <a:ext cx="5181600" cy="1445022"/>
          </a:xfrm>
          <a:prstGeom prst="roundRect">
            <a:avLst>
              <a:gd name="adj" fmla="val 5273"/>
            </a:avLst>
          </a:prstGeom>
          <a:solidFill>
            <a:srgbClr val="FFFDF8"/>
          </a:solidFill>
          <a:ln w="6350">
            <a:solidFill>
              <a:srgbClr val="E2DDD2"/>
            </a:solidFill>
            <a:prstDash val="solid"/>
          </a:ln>
        </p:spPr>
      </p:sp>
      <p:sp>
        <p:nvSpPr>
          <p:cNvPr id="17" name="Borda de destaque"/>
          <p:cNvSpPr/>
          <p:nvPr/>
        </p:nvSpPr>
        <p:spPr>
          <a:xfrm>
            <a:off x="823379" y="3165872"/>
            <a:ext cx="5160443" cy="38100"/>
          </a:xfrm>
          <a:custGeom>
            <a:avLst/>
            <a:gdLst/>
            <a:ahLst/>
            <a:cxnLst/>
            <a:rect l="l" t="t" r="r" b="b"/>
            <a:pathLst>
              <a:path w="5160443" h="38100">
                <a:moveTo>
                  <a:pt x="5094821" y="0"/>
                </a:moveTo>
                <a:lnTo>
                  <a:pt x="5109687" y="1464"/>
                </a:lnTo>
                <a:lnTo>
                  <a:pt x="5123982" y="5800"/>
                </a:lnTo>
                <a:lnTo>
                  <a:pt x="5137156" y="12842"/>
                </a:lnTo>
                <a:lnTo>
                  <a:pt x="5148703" y="22318"/>
                </a:lnTo>
                <a:lnTo>
                  <a:pt x="5158179" y="33866"/>
                </a:lnTo>
                <a:lnTo>
                  <a:pt x="5160443"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18" name="Agonista α1 direto, em bolus de 50–100 m"/>
          <p:cNvSpPr txBox="1"/>
          <p:nvPr/>
        </p:nvSpPr>
        <p:spPr>
          <a:xfrm>
            <a:off x="1073150" y="3391999"/>
            <a:ext cx="4679950"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Agonista α1 direto, em bolus de 50–100 mcg. A bradicardia reflexa pode reduzir o DC; ajuda quando a taquicardia é o problema (por exemplo, na estenose aórtica, conforme o contexto). Cesárea: infusão profilática de 25–50 mcg/min.</a:t>
            </a:r>
            <a:endParaRPr lang="en-US" sz="1350" dirty="0"/>
          </a:p>
        </p:txBody>
      </p:sp>
      <p:sp>
        <p:nvSpPr>
          <p:cNvPr id="19" name="Cartão"/>
          <p:cNvSpPr/>
          <p:nvPr/>
        </p:nvSpPr>
        <p:spPr>
          <a:xfrm>
            <a:off x="6197600" y="1879501"/>
            <a:ext cx="5181600" cy="1210171"/>
          </a:xfrm>
          <a:prstGeom prst="roundRect">
            <a:avLst>
              <a:gd name="adj" fmla="val 6297"/>
            </a:avLst>
          </a:prstGeom>
          <a:solidFill>
            <a:srgbClr val="1B2A3A"/>
          </a:solidFill>
          <a:ln/>
        </p:spPr>
      </p:sp>
      <p:sp>
        <p:nvSpPr>
          <p:cNvPr id="20" name="Efedrina"/>
          <p:cNvSpPr txBox="1"/>
          <p:nvPr/>
        </p:nvSpPr>
        <p:spPr>
          <a:xfrm>
            <a:off x="6451600" y="2054386"/>
            <a:ext cx="882948"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F5F3EE"/>
                </a:solidFill>
                <a:latin typeface="Arial" pitchFamily="34" charset="0"/>
                <a:ea typeface="Arial" pitchFamily="34" charset="-122"/>
                <a:cs typeface="Arial" pitchFamily="34" charset="-120"/>
              </a:rPr>
              <a:t>Efedrina</a:t>
            </a:r>
            <a:endParaRPr lang="en-US" sz="1700" dirty="0"/>
          </a:p>
        </p:txBody>
      </p:sp>
      <p:sp>
        <p:nvSpPr>
          <p:cNvPr id="21" name="PAM ↑ · FC ↑ · DC ↑"/>
          <p:cNvSpPr txBox="1"/>
          <p:nvPr/>
        </p:nvSpPr>
        <p:spPr>
          <a:xfrm>
            <a:off x="9621044" y="2076916"/>
            <a:ext cx="1523206"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E49A5C"/>
                </a:solidFill>
                <a:latin typeface="Arial" pitchFamily="34" charset="0"/>
                <a:ea typeface="Arial" pitchFamily="34" charset="-122"/>
                <a:cs typeface="Arial" pitchFamily="34" charset="-120"/>
              </a:rPr>
              <a:t>PAM ↑ · FC ↑ · DC ↑</a:t>
            </a:r>
            <a:endParaRPr lang="en-US" sz="1300" dirty="0"/>
          </a:p>
        </p:txBody>
      </p:sp>
      <p:sp>
        <p:nvSpPr>
          <p:cNvPr id="22" name="α1"/>
          <p:cNvSpPr txBox="1"/>
          <p:nvPr/>
        </p:nvSpPr>
        <p:spPr>
          <a:xfrm>
            <a:off x="6451600" y="241053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α1</a:t>
            </a:r>
            <a:endParaRPr lang="en-US" sz="1200" dirty="0"/>
          </a:p>
        </p:txBody>
      </p:sp>
      <p:sp>
        <p:nvSpPr>
          <p:cNvPr id="23" name="Cartão"/>
          <p:cNvSpPr/>
          <p:nvPr/>
        </p:nvSpPr>
        <p:spPr>
          <a:xfrm>
            <a:off x="6858000" y="2477591"/>
            <a:ext cx="1524000" cy="101600"/>
          </a:xfrm>
          <a:prstGeom prst="roundRect">
            <a:avLst>
              <a:gd name="adj" fmla="val 50000"/>
            </a:avLst>
          </a:prstGeom>
          <a:solidFill>
            <a:srgbClr val="33475E"/>
          </a:solidFill>
          <a:ln/>
        </p:spPr>
      </p:sp>
      <p:sp>
        <p:nvSpPr>
          <p:cNvPr id="24" name="Cartão"/>
          <p:cNvSpPr/>
          <p:nvPr/>
        </p:nvSpPr>
        <p:spPr>
          <a:xfrm>
            <a:off x="6858000" y="2477591"/>
            <a:ext cx="762000" cy="101600"/>
          </a:xfrm>
          <a:prstGeom prst="roundRect">
            <a:avLst>
              <a:gd name="adj" fmla="val 50000"/>
            </a:avLst>
          </a:prstGeom>
          <a:solidFill>
            <a:srgbClr val="E49A5C"/>
          </a:solidFill>
          <a:ln/>
        </p:spPr>
      </p:sp>
      <p:sp>
        <p:nvSpPr>
          <p:cNvPr id="25" name="β1"/>
          <p:cNvSpPr txBox="1"/>
          <p:nvPr/>
        </p:nvSpPr>
        <p:spPr>
          <a:xfrm>
            <a:off x="8915400" y="241053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β1</a:t>
            </a:r>
            <a:endParaRPr lang="en-US" sz="1200" dirty="0"/>
          </a:p>
        </p:txBody>
      </p:sp>
      <p:sp>
        <p:nvSpPr>
          <p:cNvPr id="26" name="Cartão"/>
          <p:cNvSpPr/>
          <p:nvPr/>
        </p:nvSpPr>
        <p:spPr>
          <a:xfrm>
            <a:off x="9321800" y="2477591"/>
            <a:ext cx="1524000" cy="101600"/>
          </a:xfrm>
          <a:prstGeom prst="roundRect">
            <a:avLst>
              <a:gd name="adj" fmla="val 50000"/>
            </a:avLst>
          </a:prstGeom>
          <a:solidFill>
            <a:srgbClr val="33475E"/>
          </a:solidFill>
          <a:ln/>
        </p:spPr>
      </p:sp>
      <p:sp>
        <p:nvSpPr>
          <p:cNvPr id="27" name="Cartão"/>
          <p:cNvSpPr/>
          <p:nvPr/>
        </p:nvSpPr>
        <p:spPr>
          <a:xfrm>
            <a:off x="9321800" y="2477591"/>
            <a:ext cx="762000" cy="101600"/>
          </a:xfrm>
          <a:prstGeom prst="roundRect">
            <a:avLst>
              <a:gd name="adj" fmla="val 50000"/>
            </a:avLst>
          </a:prstGeom>
          <a:solidFill>
            <a:srgbClr val="E49A5C"/>
          </a:solidFill>
          <a:ln/>
        </p:spPr>
      </p:sp>
      <p:sp>
        <p:nvSpPr>
          <p:cNvPr id="28" name="β2"/>
          <p:cNvSpPr txBox="1"/>
          <p:nvPr/>
        </p:nvSpPr>
        <p:spPr>
          <a:xfrm>
            <a:off x="6451600" y="268735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β2</a:t>
            </a:r>
            <a:endParaRPr lang="en-US" sz="1200" dirty="0"/>
          </a:p>
        </p:txBody>
      </p:sp>
      <p:sp>
        <p:nvSpPr>
          <p:cNvPr id="29" name="Cartão"/>
          <p:cNvSpPr/>
          <p:nvPr/>
        </p:nvSpPr>
        <p:spPr>
          <a:xfrm>
            <a:off x="6858000" y="2754412"/>
            <a:ext cx="1524000" cy="101600"/>
          </a:xfrm>
          <a:prstGeom prst="roundRect">
            <a:avLst>
              <a:gd name="adj" fmla="val 50000"/>
            </a:avLst>
          </a:prstGeom>
          <a:solidFill>
            <a:srgbClr val="33475E"/>
          </a:solidFill>
          <a:ln/>
        </p:spPr>
      </p:sp>
      <p:sp>
        <p:nvSpPr>
          <p:cNvPr id="30" name="Cartão"/>
          <p:cNvSpPr/>
          <p:nvPr/>
        </p:nvSpPr>
        <p:spPr>
          <a:xfrm>
            <a:off x="6858000" y="2754412"/>
            <a:ext cx="381000" cy="101600"/>
          </a:xfrm>
          <a:prstGeom prst="roundRect">
            <a:avLst>
              <a:gd name="adj" fmla="val 50000"/>
            </a:avLst>
          </a:prstGeom>
          <a:solidFill>
            <a:srgbClr val="E49A5C"/>
          </a:solidFill>
          <a:ln/>
        </p:spPr>
      </p:sp>
      <p:sp>
        <p:nvSpPr>
          <p:cNvPr id="31" name="D1"/>
          <p:cNvSpPr txBox="1"/>
          <p:nvPr/>
        </p:nvSpPr>
        <p:spPr>
          <a:xfrm>
            <a:off x="8915400" y="2687350"/>
            <a:ext cx="323850" cy="213320"/>
          </a:xfrm>
          <a:prstGeom prst="rect">
            <a:avLst/>
          </a:prstGeom>
          <a:noFill/>
          <a:ln/>
        </p:spPr>
        <p:txBody>
          <a:bodyPr wrap="none" lIns="0" tIns="0" rIns="0" bIns="0" rtlCol="0" anchor="t"/>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D1</a:t>
            </a:r>
            <a:endParaRPr lang="en-US" sz="1200" dirty="0"/>
          </a:p>
        </p:txBody>
      </p:sp>
      <p:sp>
        <p:nvSpPr>
          <p:cNvPr id="32" name="Cartão"/>
          <p:cNvSpPr/>
          <p:nvPr/>
        </p:nvSpPr>
        <p:spPr>
          <a:xfrm>
            <a:off x="9321800" y="2754412"/>
            <a:ext cx="1524000" cy="101600"/>
          </a:xfrm>
          <a:prstGeom prst="roundRect">
            <a:avLst>
              <a:gd name="adj" fmla="val 50000"/>
            </a:avLst>
          </a:prstGeom>
          <a:solidFill>
            <a:srgbClr val="33475E"/>
          </a:solidFill>
          <a:ln/>
        </p:spPr>
      </p:sp>
      <p:sp>
        <p:nvSpPr>
          <p:cNvPr id="33" name="Cartão"/>
          <p:cNvSpPr/>
          <p:nvPr/>
        </p:nvSpPr>
        <p:spPr>
          <a:xfrm>
            <a:off x="6197600" y="3165872"/>
            <a:ext cx="5181600" cy="1445022"/>
          </a:xfrm>
          <a:prstGeom prst="roundRect">
            <a:avLst>
              <a:gd name="adj" fmla="val 5273"/>
            </a:avLst>
          </a:prstGeom>
          <a:solidFill>
            <a:srgbClr val="FFFDF8"/>
          </a:solidFill>
          <a:ln w="6350">
            <a:solidFill>
              <a:srgbClr val="E2DDD2"/>
            </a:solidFill>
            <a:prstDash val="solid"/>
          </a:ln>
        </p:spPr>
      </p:sp>
      <p:sp>
        <p:nvSpPr>
          <p:cNvPr id="34" name="Borda de destaque"/>
          <p:cNvSpPr/>
          <p:nvPr/>
        </p:nvSpPr>
        <p:spPr>
          <a:xfrm>
            <a:off x="6208179" y="3165872"/>
            <a:ext cx="5160443" cy="38100"/>
          </a:xfrm>
          <a:custGeom>
            <a:avLst/>
            <a:gdLst/>
            <a:ahLst/>
            <a:cxnLst/>
            <a:rect l="l" t="t" r="r" b="b"/>
            <a:pathLst>
              <a:path w="5160443" h="38100">
                <a:moveTo>
                  <a:pt x="5094821" y="0"/>
                </a:moveTo>
                <a:lnTo>
                  <a:pt x="5109687" y="1464"/>
                </a:lnTo>
                <a:lnTo>
                  <a:pt x="5123982" y="5800"/>
                </a:lnTo>
                <a:lnTo>
                  <a:pt x="5137156" y="12842"/>
                </a:lnTo>
                <a:lnTo>
                  <a:pt x="5148703" y="22318"/>
                </a:lnTo>
                <a:lnTo>
                  <a:pt x="5158179" y="33866"/>
                </a:lnTo>
                <a:lnTo>
                  <a:pt x="516044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35" name="Ação mista: direta em α e β e indireta, "/>
          <p:cNvSpPr txBox="1"/>
          <p:nvPr/>
        </p:nvSpPr>
        <p:spPr>
          <a:xfrm>
            <a:off x="6457950" y="3391999"/>
            <a:ext cx="4679950"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Ação mista: direta em α e β e indireta, liberando noradrenalina. Bolus de 5–10 mg, boa na hipotensão com bradicardia. Taquifilaxia com doses repetidas; na cesárea, mais acidose fetal que a fenilefrina.</a:t>
            </a:r>
            <a:endParaRPr lang="en-US" sz="1350" dirty="0"/>
          </a:p>
        </p:txBody>
      </p:sp>
      <p:sp>
        <p:nvSpPr>
          <p:cNvPr id="36" name="Kinsella, Anaesthesia 2018 · Park &amp; Choi"/>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Kinsella, Anaesthesia 2018 · Park &amp; Choi, Anesth Pain Med 2024 · Miller’s Anesthesia, 10ª ed. · [cap./pág.] · barras: escala qualitativa</a:t>
            </a:r>
            <a:endParaRPr lang="en-US" sz="12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E"/>
        </a:solidFill>
      </p:bgPr>
    </p:bg>
    <p:spTree>
      <p:nvGrpSpPr>
        <p:cNvPr id="1" name=""/>
        <p:cNvGrpSpPr/>
        <p:nvPr/>
      </p:nvGrpSpPr>
      <p:grpSpPr>
        <a:xfrm>
          <a:off x="0" y="0"/>
          <a:ext cx="0" cy="0"/>
          <a:chOff x="0" y="0"/>
          <a:chExt cx="0" cy="0"/>
        </a:xfrm>
      </p:grpSpPr>
      <p:sp>
        <p:nvSpPr>
          <p:cNvPr id="2" name="04 · ALÉM DAS AMINAS"/>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04 · ALÉM DAS AMINAS</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Vasopressina e adjuvantes: somar mecanismos</a:t>
            </a:r>
            <a:endParaRPr lang="en-US" sz="3200" dirty="0"/>
          </a:p>
        </p:txBody>
      </p:sp>
      <p:sp>
        <p:nvSpPr>
          <p:cNvPr id="4" name="Cartão"/>
          <p:cNvSpPr/>
          <p:nvPr/>
        </p:nvSpPr>
        <p:spPr>
          <a:xfrm>
            <a:off x="812800" y="1879501"/>
            <a:ext cx="4064000" cy="3380383"/>
          </a:xfrm>
          <a:prstGeom prst="roundRect">
            <a:avLst>
              <a:gd name="adj" fmla="val 2254"/>
            </a:avLst>
          </a:prstGeom>
          <a:solidFill>
            <a:srgbClr val="1B2A3A"/>
          </a:solidFill>
          <a:ln/>
        </p:spPr>
      </p:sp>
      <p:sp>
        <p:nvSpPr>
          <p:cNvPr id="5" name="VASOPRESSINA · RECEPTOR V1"/>
          <p:cNvSpPr txBox="1"/>
          <p:nvPr/>
        </p:nvSpPr>
        <p:spPr>
          <a:xfrm>
            <a:off x="1066800" y="2122299"/>
            <a:ext cx="3575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VASOPRESSINA · RECEPTOR V1</a:t>
            </a:r>
            <a:endParaRPr lang="en-US" sz="1200" dirty="0"/>
          </a:p>
        </p:txBody>
      </p:sp>
      <p:sp>
        <p:nvSpPr>
          <p:cNvPr id="6" name="0,03 U/min"/>
          <p:cNvSpPr txBox="1"/>
          <p:nvPr/>
        </p:nvSpPr>
        <p:spPr>
          <a:xfrm>
            <a:off x="1066800" y="2457108"/>
            <a:ext cx="3575050" cy="502841"/>
          </a:xfrm>
          <a:prstGeom prst="rect">
            <a:avLst/>
          </a:prstGeom>
          <a:noFill/>
          <a:ln/>
        </p:spPr>
        <p:txBody>
          <a:bodyPr wrap="none" lIns="0" tIns="0" rIns="0" bIns="0" rtlCol="0" anchor="t"/>
          <a:lstStyle/>
          <a:p>
            <a:pPr algn="l" indent="0" marL="0">
              <a:lnSpc>
                <a:spcPts val="3960"/>
              </a:lnSpc>
              <a:buNone/>
            </a:pPr>
            <a:r>
              <a:rPr lang="pt-BR" altLang="en-US" sz="3600" dirty="0">
                <a:solidFill>
                  <a:srgbClr val="F5F3EE"/>
                </a:solidFill>
                <a:latin typeface="Georgia" pitchFamily="34" charset="0"/>
                <a:ea typeface="Georgia" pitchFamily="34" charset="-122"/>
                <a:cs typeface="Georgia" pitchFamily="34" charset="-120"/>
              </a:rPr>
              <a:t>0,03 U/min</a:t>
            </a:r>
            <a:endParaRPr lang="en-US" sz="3600" dirty="0"/>
          </a:p>
        </p:txBody>
      </p:sp>
      <p:sp>
        <p:nvSpPr>
          <p:cNvPr id="7" name="Dose fixa (até 0,04), sem titular; age m"/>
          <p:cNvSpPr txBox="1"/>
          <p:nvPr/>
        </p:nvSpPr>
        <p:spPr>
          <a:xfrm>
            <a:off x="1066800" y="3037688"/>
            <a:ext cx="3575050" cy="497086"/>
          </a:xfrm>
          <a:prstGeom prst="rect">
            <a:avLst/>
          </a:prstGeom>
          <a:noFill/>
          <a:ln/>
        </p:spPr>
        <p:txBody>
          <a:bodyPr wrap="square" lIns="0" tIns="0" rIns="0" bIns="0" rtlCol="0" anchor="t"/>
          <a:lstStyle/>
          <a:p>
            <a:pPr algn="l" indent="0" marL="0">
              <a:lnSpc>
                <a:spcPts val="1957"/>
              </a:lnSpc>
              <a:buNone/>
            </a:pPr>
            <a:r>
              <a:rPr lang="pt-BR" altLang="en-US" sz="1350" dirty="0">
                <a:solidFill>
                  <a:srgbClr val="DFE3E8"/>
                </a:solidFill>
                <a:latin typeface="Arial" pitchFamily="34" charset="0"/>
                <a:ea typeface="Arial" pitchFamily="34" charset="-122"/>
                <a:cs typeface="Arial" pitchFamily="34" charset="-120"/>
              </a:rPr>
              <a:t>Dose fixa (até 0,04), sem titular; age mesmo com acidose e dessensibilização adrenérgica.</a:t>
            </a:r>
            <a:endParaRPr lang="en-US" sz="1350" dirty="0"/>
          </a:p>
        </p:txBody>
      </p:sp>
      <p:sp>
        <p:nvSpPr>
          <p:cNvPr id="8" name="SSC 2026: associar quando a NA está em e"/>
          <p:cNvSpPr txBox="1"/>
          <p:nvPr/>
        </p:nvSpPr>
        <p:spPr>
          <a:xfrm>
            <a:off x="1066800" y="3636374"/>
            <a:ext cx="357505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DFE3E8"/>
                </a:solidFill>
                <a:latin typeface="Arial" pitchFamily="34" charset="0"/>
                <a:ea typeface="Arial" pitchFamily="34" charset="-122"/>
                <a:cs typeface="Arial" pitchFamily="34" charset="-120"/>
              </a:rPr>
              <a:t>SSC 2026: associar quando a NA está em escalada (condicional, moderada). VASST: mortalidade semelhante (35,4% vs. 39,3%).</a:t>
            </a:r>
            <a:endParaRPr lang="en-US" sz="1350" dirty="0"/>
          </a:p>
        </p:txBody>
      </p:sp>
      <p:sp>
        <p:nvSpPr>
          <p:cNvPr id="9" name="Cartão"/>
          <p:cNvSpPr/>
          <p:nvPr/>
        </p:nvSpPr>
        <p:spPr>
          <a:xfrm>
            <a:off x="5080000" y="1879501"/>
            <a:ext cx="6299200" cy="1059061"/>
          </a:xfrm>
          <a:prstGeom prst="roundRect">
            <a:avLst>
              <a:gd name="adj" fmla="val 7195"/>
            </a:avLst>
          </a:prstGeom>
          <a:solidFill>
            <a:srgbClr val="FFFDF8"/>
          </a:solidFill>
          <a:ln w="6350">
            <a:solidFill>
              <a:srgbClr val="E2DDD2"/>
            </a:solidFill>
            <a:prstDash val="solid"/>
          </a:ln>
        </p:spPr>
      </p:sp>
      <p:sp>
        <p:nvSpPr>
          <p:cNvPr id="10" name="Borda de destaque"/>
          <p:cNvSpPr/>
          <p:nvPr/>
        </p:nvSpPr>
        <p:spPr>
          <a:xfrm>
            <a:off x="5080000" y="1890079"/>
            <a:ext cx="38100" cy="1037904"/>
          </a:xfrm>
          <a:custGeom>
            <a:avLst/>
            <a:gdLst/>
            <a:ahLst/>
            <a:cxnLst/>
            <a:rect l="l" t="t" r="r" b="b"/>
            <a:pathLst>
              <a:path w="38100" h="1037904">
                <a:moveTo>
                  <a:pt x="38100" y="1037904"/>
                </a:moveTo>
                <a:lnTo>
                  <a:pt x="33866" y="1035640"/>
                </a:lnTo>
                <a:lnTo>
                  <a:pt x="22318" y="1026164"/>
                </a:lnTo>
                <a:lnTo>
                  <a:pt x="12842" y="1014617"/>
                </a:lnTo>
                <a:lnTo>
                  <a:pt x="5800" y="1001443"/>
                </a:lnTo>
                <a:lnTo>
                  <a:pt x="1464" y="987148"/>
                </a:lnTo>
                <a:lnTo>
                  <a:pt x="0" y="972282"/>
                </a:lnTo>
                <a:lnTo>
                  <a:pt x="0" y="65621"/>
                </a:lnTo>
                <a:lnTo>
                  <a:pt x="1464" y="50755"/>
                </a:lnTo>
                <a:lnTo>
                  <a:pt x="5800" y="36461"/>
                </a:lnTo>
                <a:lnTo>
                  <a:pt x="12842" y="23287"/>
                </a:lnTo>
                <a:lnTo>
                  <a:pt x="22318" y="11740"/>
                </a:lnTo>
                <a:lnTo>
                  <a:pt x="33866" y="2263"/>
                </a:lnTo>
                <a:lnTo>
                  <a:pt x="38100" y="0"/>
                </a:lnTo>
                <a:close/>
              </a:path>
            </a:pathLst>
          </a:custGeom>
          <a:solidFill>
            <a:srgbClr val="B9581A"/>
          </a:solidFill>
          <a:ln/>
        </p:spPr>
      </p:sp>
      <p:sp>
        <p:nvSpPr>
          <p:cNvPr id="11" name="Hidrocortisona"/>
          <p:cNvSpPr txBox="1"/>
          <p:nvPr/>
        </p:nvSpPr>
        <p:spPr>
          <a:xfrm>
            <a:off x="5321300" y="2035679"/>
            <a:ext cx="586740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Arial" pitchFamily="34" charset="0"/>
                <a:ea typeface="Arial" pitchFamily="34" charset="-122"/>
                <a:cs typeface="Arial" pitchFamily="34" charset="-120"/>
              </a:rPr>
              <a:t>Hidrocortisona</a:t>
            </a:r>
            <a:endParaRPr lang="en-US" sz="1500" dirty="0"/>
          </a:p>
        </p:txBody>
      </p:sp>
      <p:sp>
        <p:nvSpPr>
          <p:cNvPr id="12" name="SSC 2026: corticoide EV sugerido (condic"/>
          <p:cNvSpPr txBox="1"/>
          <p:nvPr/>
        </p:nvSpPr>
        <p:spPr>
          <a:xfrm>
            <a:off x="5321300" y="2305516"/>
            <a:ext cx="586740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Arial" pitchFamily="34" charset="0"/>
                <a:ea typeface="Arial" pitchFamily="34" charset="-122"/>
                <a:cs typeface="Arial" pitchFamily="34" charset="-120"/>
              </a:rPr>
              <a:t>SSC 2026: corticoide EV sugerido (condicional, certeza baixa). ADRENAL: choque revertido antes; APROCCHSS: menor mortalidade.</a:t>
            </a:r>
            <a:endParaRPr lang="en-US" sz="1300" dirty="0"/>
          </a:p>
        </p:txBody>
      </p:sp>
      <p:sp>
        <p:nvSpPr>
          <p:cNvPr id="13" name="Cartão"/>
          <p:cNvSpPr/>
          <p:nvPr/>
        </p:nvSpPr>
        <p:spPr>
          <a:xfrm>
            <a:off x="5080000" y="3040162"/>
            <a:ext cx="6299200" cy="1059061"/>
          </a:xfrm>
          <a:prstGeom prst="roundRect">
            <a:avLst>
              <a:gd name="adj" fmla="val 7195"/>
            </a:avLst>
          </a:prstGeom>
          <a:solidFill>
            <a:srgbClr val="FFFDF8"/>
          </a:solidFill>
          <a:ln w="6350">
            <a:solidFill>
              <a:srgbClr val="E2DDD2"/>
            </a:solidFill>
            <a:prstDash val="solid"/>
          </a:ln>
        </p:spPr>
      </p:sp>
      <p:sp>
        <p:nvSpPr>
          <p:cNvPr id="14" name="Borda de destaque"/>
          <p:cNvSpPr/>
          <p:nvPr/>
        </p:nvSpPr>
        <p:spPr>
          <a:xfrm>
            <a:off x="5080000" y="3050740"/>
            <a:ext cx="38100" cy="1037904"/>
          </a:xfrm>
          <a:custGeom>
            <a:avLst/>
            <a:gdLst/>
            <a:ahLst/>
            <a:cxnLst/>
            <a:rect l="l" t="t" r="r" b="b"/>
            <a:pathLst>
              <a:path w="38100" h="1037904">
                <a:moveTo>
                  <a:pt x="38100" y="1037904"/>
                </a:moveTo>
                <a:lnTo>
                  <a:pt x="33866" y="1035640"/>
                </a:lnTo>
                <a:lnTo>
                  <a:pt x="22318" y="1026164"/>
                </a:lnTo>
                <a:lnTo>
                  <a:pt x="12842" y="1014617"/>
                </a:lnTo>
                <a:lnTo>
                  <a:pt x="5800" y="1001443"/>
                </a:lnTo>
                <a:lnTo>
                  <a:pt x="1464" y="987148"/>
                </a:lnTo>
                <a:lnTo>
                  <a:pt x="0" y="972282"/>
                </a:lnTo>
                <a:lnTo>
                  <a:pt x="0" y="65621"/>
                </a:lnTo>
                <a:lnTo>
                  <a:pt x="1464" y="50755"/>
                </a:lnTo>
                <a:lnTo>
                  <a:pt x="5800" y="36461"/>
                </a:lnTo>
                <a:lnTo>
                  <a:pt x="12842" y="23287"/>
                </a:lnTo>
                <a:lnTo>
                  <a:pt x="22318" y="11740"/>
                </a:lnTo>
                <a:lnTo>
                  <a:pt x="33866" y="2263"/>
                </a:lnTo>
                <a:lnTo>
                  <a:pt x="38100" y="0"/>
                </a:lnTo>
                <a:close/>
              </a:path>
            </a:pathLst>
          </a:custGeom>
          <a:solidFill>
            <a:srgbClr val="2E5E8C"/>
          </a:solidFill>
          <a:ln/>
        </p:spPr>
      </p:sp>
      <p:sp>
        <p:nvSpPr>
          <p:cNvPr id="15" name="Angiotensina II"/>
          <p:cNvSpPr txBox="1"/>
          <p:nvPr/>
        </p:nvSpPr>
        <p:spPr>
          <a:xfrm>
            <a:off x="5321300" y="3196340"/>
            <a:ext cx="586740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Arial" pitchFamily="34" charset="0"/>
                <a:ea typeface="Arial" pitchFamily="34" charset="-122"/>
                <a:cs typeface="Arial" pitchFamily="34" charset="-120"/>
              </a:rPr>
              <a:t>Angiotensina II</a:t>
            </a:r>
            <a:endParaRPr lang="en-US" sz="1500" dirty="0"/>
          </a:p>
        </p:txBody>
      </p:sp>
      <p:sp>
        <p:nvSpPr>
          <p:cNvPr id="16" name="ATHOS-3: PAM-alvo em 3 h em 69,9% vs. 23"/>
          <p:cNvSpPr txBox="1"/>
          <p:nvPr/>
        </p:nvSpPr>
        <p:spPr>
          <a:xfrm>
            <a:off x="5321300" y="3466177"/>
            <a:ext cx="586740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Arial" pitchFamily="34" charset="0"/>
                <a:ea typeface="Arial" pitchFamily="34" charset="-122"/>
                <a:cs typeface="Arial" pitchFamily="34" charset="-120"/>
              </a:rPr>
              <a:t>ATHOS-3: PAM-alvo em 3 h em 69,9% vs. 23,4%, sem diferença de mortalidade. SSC 2026: NA preferida como primeira linha.</a:t>
            </a:r>
            <a:endParaRPr lang="en-US" sz="1300" dirty="0"/>
          </a:p>
        </p:txBody>
      </p:sp>
      <p:sp>
        <p:nvSpPr>
          <p:cNvPr id="17" name="Cartão"/>
          <p:cNvSpPr/>
          <p:nvPr/>
        </p:nvSpPr>
        <p:spPr>
          <a:xfrm>
            <a:off x="5080000" y="4200823"/>
            <a:ext cx="6299200" cy="1059061"/>
          </a:xfrm>
          <a:prstGeom prst="roundRect">
            <a:avLst>
              <a:gd name="adj" fmla="val 7195"/>
            </a:avLst>
          </a:prstGeom>
          <a:solidFill>
            <a:srgbClr val="FFFDF8"/>
          </a:solidFill>
          <a:ln w="6350">
            <a:solidFill>
              <a:srgbClr val="E2DDD2"/>
            </a:solidFill>
            <a:prstDash val="solid"/>
          </a:ln>
        </p:spPr>
      </p:sp>
      <p:sp>
        <p:nvSpPr>
          <p:cNvPr id="18" name="Borda de destaque"/>
          <p:cNvSpPr/>
          <p:nvPr/>
        </p:nvSpPr>
        <p:spPr>
          <a:xfrm>
            <a:off x="5080000" y="4211401"/>
            <a:ext cx="38100" cy="1037904"/>
          </a:xfrm>
          <a:custGeom>
            <a:avLst/>
            <a:gdLst/>
            <a:ahLst/>
            <a:cxnLst/>
            <a:rect l="l" t="t" r="r" b="b"/>
            <a:pathLst>
              <a:path w="38100" h="1037904">
                <a:moveTo>
                  <a:pt x="38100" y="1037904"/>
                </a:moveTo>
                <a:lnTo>
                  <a:pt x="33866" y="1035640"/>
                </a:lnTo>
                <a:lnTo>
                  <a:pt x="22318" y="1026164"/>
                </a:lnTo>
                <a:lnTo>
                  <a:pt x="12842" y="1014617"/>
                </a:lnTo>
                <a:lnTo>
                  <a:pt x="5800" y="1001443"/>
                </a:lnTo>
                <a:lnTo>
                  <a:pt x="1464" y="987148"/>
                </a:lnTo>
                <a:lnTo>
                  <a:pt x="0" y="972282"/>
                </a:lnTo>
                <a:lnTo>
                  <a:pt x="0" y="65621"/>
                </a:lnTo>
                <a:lnTo>
                  <a:pt x="1464" y="50755"/>
                </a:lnTo>
                <a:lnTo>
                  <a:pt x="5800" y="36461"/>
                </a:lnTo>
                <a:lnTo>
                  <a:pt x="12842" y="23287"/>
                </a:lnTo>
                <a:lnTo>
                  <a:pt x="22318" y="11740"/>
                </a:lnTo>
                <a:lnTo>
                  <a:pt x="33866" y="2263"/>
                </a:lnTo>
                <a:lnTo>
                  <a:pt x="38100" y="0"/>
                </a:lnTo>
                <a:close/>
              </a:path>
            </a:pathLst>
          </a:custGeom>
          <a:solidFill>
            <a:srgbClr val="56606B"/>
          </a:solidFill>
          <a:ln/>
        </p:spPr>
      </p:sp>
      <p:sp>
        <p:nvSpPr>
          <p:cNvPr id="19" name="Azul de metileno"/>
          <p:cNvSpPr txBox="1"/>
          <p:nvPr/>
        </p:nvSpPr>
        <p:spPr>
          <a:xfrm>
            <a:off x="5321300" y="4357001"/>
            <a:ext cx="586740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Arial" pitchFamily="34" charset="0"/>
                <a:ea typeface="Arial" pitchFamily="34" charset="-122"/>
                <a:cs typeface="Arial" pitchFamily="34" charset="-120"/>
              </a:rPr>
              <a:t>Azul de metileno</a:t>
            </a:r>
            <a:endParaRPr lang="en-US" sz="1500" dirty="0"/>
          </a:p>
        </p:txBody>
      </p:sp>
      <p:sp>
        <p:nvSpPr>
          <p:cNvPr id="20" name="SSC 2026: evidência insuficiente para re"/>
          <p:cNvSpPr txBox="1"/>
          <p:nvPr/>
        </p:nvSpPr>
        <p:spPr>
          <a:xfrm>
            <a:off x="5321300" y="4626838"/>
            <a:ext cx="586740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Arial" pitchFamily="34" charset="0"/>
                <a:ea typeface="Arial" pitchFamily="34" charset="-122"/>
                <a:cs typeface="Arial" pitchFamily="34" charset="-120"/>
              </a:rPr>
              <a:t>SSC 2026: evidência insuficiente para recomendar; provavelmente encurta o uso de vasopressor (certeza moderada).</a:t>
            </a:r>
            <a:endParaRPr lang="en-US" sz="1300" dirty="0"/>
          </a:p>
        </p:txBody>
      </p:sp>
      <p:sp>
        <p:nvSpPr>
          <p:cNvPr id="21" name="Russell, N Engl J Med 2008 (VASST) · Ven"/>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Russell, N Engl J Med 2008 (VASST) · Venkatesh e Annane, N Engl J Med 2018 · Khanna, N Engl J Med 2017 · SSC 2026</a:t>
            </a:r>
            <a:endParaRPr lang="en-US" sz="12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E"/>
        </a:solidFill>
      </p:bgPr>
    </p:bg>
    <p:spTree>
      <p:nvGrpSpPr>
        <p:cNvPr id="1" name=""/>
        <p:cNvGrpSpPr/>
        <p:nvPr/>
      </p:nvGrpSpPr>
      <p:grpSpPr>
        <a:xfrm>
          <a:off x="0" y="0"/>
          <a:ext cx="0" cy="0"/>
          <a:chOff x="0" y="0"/>
          <a:chExt cx="0" cy="0"/>
        </a:xfrm>
      </p:grpSpPr>
      <p:sp>
        <p:nvSpPr>
          <p:cNvPr id="2" name="05 · CHOQUE SÉPTICO"/>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05 · CHOQUE SÉPTICO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SSC 2026: sequência, alvo de PAM e VASSPR</a:t>
            </a:r>
            <a:endParaRPr lang="en-US" sz="3200" dirty="0"/>
          </a:p>
        </p:txBody>
      </p:sp>
      <p:sp>
        <p:nvSpPr>
          <p:cNvPr id="4" name="Cartão"/>
          <p:cNvSpPr/>
          <p:nvPr/>
        </p:nvSpPr>
        <p:spPr>
          <a:xfrm>
            <a:off x="812800" y="1879501"/>
            <a:ext cx="3081834" cy="1457722"/>
          </a:xfrm>
          <a:prstGeom prst="roundRect">
            <a:avLst>
              <a:gd name="adj" fmla="val 5227"/>
            </a:avLst>
          </a:prstGeom>
          <a:solidFill>
            <a:srgbClr val="1B2A3A"/>
          </a:solidFill>
          <a:ln/>
        </p:spPr>
      </p:sp>
      <p:sp>
        <p:nvSpPr>
          <p:cNvPr id="5" name="PASSO 1"/>
          <p:cNvSpPr txBox="1"/>
          <p:nvPr/>
        </p:nvSpPr>
        <p:spPr>
          <a:xfrm>
            <a:off x="1016000" y="2071499"/>
            <a:ext cx="26944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PASSO 1</a:t>
            </a:r>
            <a:endParaRPr lang="en-US" sz="1200" dirty="0"/>
          </a:p>
        </p:txBody>
      </p:sp>
      <p:sp>
        <p:nvSpPr>
          <p:cNvPr id="6" name="Noradrenalina"/>
          <p:cNvSpPr txBox="1"/>
          <p:nvPr/>
        </p:nvSpPr>
        <p:spPr>
          <a:xfrm>
            <a:off x="1016000" y="2343735"/>
            <a:ext cx="2694484" cy="274241"/>
          </a:xfrm>
          <a:prstGeom prst="rect">
            <a:avLst/>
          </a:prstGeom>
          <a:noFill/>
          <a:ln/>
        </p:spPr>
        <p:txBody>
          <a:bodyPr wrap="none" lIns="0" tIns="0" rIns="0" bIns="0" rtlCol="0" anchor="t"/>
          <a:lstStyle/>
          <a:p>
            <a:pPr algn="l" indent="0" marL="0">
              <a:lnSpc>
                <a:spcPts val="2160"/>
              </a:lnSpc>
              <a:buNone/>
            </a:pPr>
            <a:r>
              <a:rPr lang="pt-BR" altLang="en-US" sz="1800" b="1" dirty="0">
                <a:solidFill>
                  <a:srgbClr val="F5F3EE"/>
                </a:solidFill>
                <a:latin typeface="Arial" pitchFamily="34" charset="0"/>
                <a:ea typeface="Arial" pitchFamily="34" charset="-122"/>
                <a:cs typeface="Arial" pitchFamily="34" charset="-120"/>
              </a:rPr>
              <a:t>Noradrenalina</a:t>
            </a:r>
            <a:endParaRPr lang="en-US" sz="1800" dirty="0"/>
          </a:p>
        </p:txBody>
      </p:sp>
      <p:sp>
        <p:nvSpPr>
          <p:cNvPr id="7" name="1ª linha, cedo; pode começar em veia per"/>
          <p:cNvSpPr txBox="1"/>
          <p:nvPr/>
        </p:nvSpPr>
        <p:spPr>
          <a:xfrm>
            <a:off x="1016000" y="2659727"/>
            <a:ext cx="2694484"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C9CFD6"/>
                </a:solidFill>
                <a:latin typeface="Arial" pitchFamily="34" charset="0"/>
                <a:ea typeface="Arial" pitchFamily="34" charset="-122"/>
                <a:cs typeface="Arial" pitchFamily="34" charset="-120"/>
              </a:rPr>
              <a:t>1ª linha, cedo; pode começar em veia periférica.</a:t>
            </a:r>
            <a:endParaRPr lang="en-US" sz="1300" dirty="0"/>
          </a:p>
        </p:txBody>
      </p:sp>
      <p:sp>
        <p:nvSpPr>
          <p:cNvPr id="8" name="Seta"/>
          <p:cNvSpPr/>
          <p:nvPr/>
        </p:nvSpPr>
        <p:spPr>
          <a:xfrm>
            <a:off x="4021634" y="2494062"/>
            <a:ext cx="406400" cy="228600"/>
          </a:xfrm>
          <a:prstGeom prst="rightArrow">
            <a:avLst/>
          </a:prstGeom>
          <a:solidFill>
            <a:srgbClr val="B9581A"/>
          </a:solidFill>
          <a:ln/>
        </p:spPr>
      </p:sp>
      <p:sp>
        <p:nvSpPr>
          <p:cNvPr id="9" name="Cartão"/>
          <p:cNvSpPr/>
          <p:nvPr/>
        </p:nvSpPr>
        <p:spPr>
          <a:xfrm>
            <a:off x="4555034" y="1879501"/>
            <a:ext cx="3081834" cy="1457722"/>
          </a:xfrm>
          <a:prstGeom prst="roundRect">
            <a:avLst>
              <a:gd name="adj" fmla="val 5227"/>
            </a:avLst>
          </a:prstGeom>
          <a:solidFill>
            <a:srgbClr val="1B2A3A"/>
          </a:solidFill>
          <a:ln/>
        </p:spPr>
      </p:sp>
      <p:sp>
        <p:nvSpPr>
          <p:cNvPr id="10" name="PASSO 2"/>
          <p:cNvSpPr txBox="1"/>
          <p:nvPr/>
        </p:nvSpPr>
        <p:spPr>
          <a:xfrm>
            <a:off x="4758234" y="2071499"/>
            <a:ext cx="26944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PASSO 2</a:t>
            </a:r>
            <a:endParaRPr lang="en-US" sz="1200" dirty="0"/>
          </a:p>
        </p:txBody>
      </p:sp>
      <p:sp>
        <p:nvSpPr>
          <p:cNvPr id="11" name="+ Vasopressina"/>
          <p:cNvSpPr txBox="1"/>
          <p:nvPr/>
        </p:nvSpPr>
        <p:spPr>
          <a:xfrm>
            <a:off x="4758234" y="2343735"/>
            <a:ext cx="2694484" cy="274241"/>
          </a:xfrm>
          <a:prstGeom prst="rect">
            <a:avLst/>
          </a:prstGeom>
          <a:noFill/>
          <a:ln/>
        </p:spPr>
        <p:txBody>
          <a:bodyPr wrap="none" lIns="0" tIns="0" rIns="0" bIns="0" rtlCol="0" anchor="t"/>
          <a:lstStyle/>
          <a:p>
            <a:pPr algn="l" indent="0" marL="0">
              <a:lnSpc>
                <a:spcPts val="2160"/>
              </a:lnSpc>
              <a:buNone/>
            </a:pPr>
            <a:r>
              <a:rPr lang="pt-BR" altLang="en-US" sz="1800" b="1" dirty="0">
                <a:solidFill>
                  <a:srgbClr val="F5F3EE"/>
                </a:solidFill>
                <a:latin typeface="Arial" pitchFamily="34" charset="0"/>
                <a:ea typeface="Arial" pitchFamily="34" charset="-122"/>
                <a:cs typeface="Arial" pitchFamily="34" charset="-120"/>
              </a:rPr>
              <a:t>+ Vasopressina</a:t>
            </a:r>
            <a:endParaRPr lang="en-US" sz="1800" dirty="0"/>
          </a:p>
        </p:txBody>
      </p:sp>
      <p:sp>
        <p:nvSpPr>
          <p:cNvPr id="12" name="NA em escalada (condicional, certeza mod"/>
          <p:cNvSpPr txBox="1"/>
          <p:nvPr/>
        </p:nvSpPr>
        <p:spPr>
          <a:xfrm>
            <a:off x="4758234" y="2659727"/>
            <a:ext cx="2694484"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C9CFD6"/>
                </a:solidFill>
                <a:latin typeface="Arial" pitchFamily="34" charset="0"/>
                <a:ea typeface="Arial" pitchFamily="34" charset="-122"/>
                <a:cs typeface="Arial" pitchFamily="34" charset="-120"/>
              </a:rPr>
              <a:t>NA em escalada (condicional, certeza moderada).</a:t>
            </a:r>
            <a:endParaRPr lang="en-US" sz="1300" dirty="0"/>
          </a:p>
        </p:txBody>
      </p:sp>
      <p:sp>
        <p:nvSpPr>
          <p:cNvPr id="13" name="Seta"/>
          <p:cNvSpPr/>
          <p:nvPr/>
        </p:nvSpPr>
        <p:spPr>
          <a:xfrm>
            <a:off x="7763867" y="2494062"/>
            <a:ext cx="406400" cy="228600"/>
          </a:xfrm>
          <a:prstGeom prst="rightArrow">
            <a:avLst/>
          </a:prstGeom>
          <a:solidFill>
            <a:srgbClr val="B9581A"/>
          </a:solidFill>
          <a:ln/>
        </p:spPr>
      </p:sp>
      <p:sp>
        <p:nvSpPr>
          <p:cNvPr id="14" name="Cartão"/>
          <p:cNvSpPr/>
          <p:nvPr/>
        </p:nvSpPr>
        <p:spPr>
          <a:xfrm>
            <a:off x="8297267" y="1879501"/>
            <a:ext cx="3081834" cy="1457722"/>
          </a:xfrm>
          <a:prstGeom prst="roundRect">
            <a:avLst>
              <a:gd name="adj" fmla="val 5227"/>
            </a:avLst>
          </a:prstGeom>
          <a:solidFill>
            <a:srgbClr val="1B2A3A"/>
          </a:solidFill>
          <a:ln/>
        </p:spPr>
      </p:sp>
      <p:sp>
        <p:nvSpPr>
          <p:cNvPr id="15" name="PASSO 3"/>
          <p:cNvSpPr txBox="1"/>
          <p:nvPr/>
        </p:nvSpPr>
        <p:spPr>
          <a:xfrm>
            <a:off x="8500467" y="2071499"/>
            <a:ext cx="26944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PASSO 3</a:t>
            </a:r>
            <a:endParaRPr lang="en-US" sz="1200" dirty="0"/>
          </a:p>
        </p:txBody>
      </p:sp>
      <p:sp>
        <p:nvSpPr>
          <p:cNvPr id="16" name="+ Adrenalina"/>
          <p:cNvSpPr txBox="1"/>
          <p:nvPr/>
        </p:nvSpPr>
        <p:spPr>
          <a:xfrm>
            <a:off x="8500467" y="2343735"/>
            <a:ext cx="2694484" cy="274241"/>
          </a:xfrm>
          <a:prstGeom prst="rect">
            <a:avLst/>
          </a:prstGeom>
          <a:noFill/>
          <a:ln/>
        </p:spPr>
        <p:txBody>
          <a:bodyPr wrap="none" lIns="0" tIns="0" rIns="0" bIns="0" rtlCol="0" anchor="t"/>
          <a:lstStyle/>
          <a:p>
            <a:pPr algn="l" indent="0" marL="0">
              <a:lnSpc>
                <a:spcPts val="2160"/>
              </a:lnSpc>
              <a:buNone/>
            </a:pPr>
            <a:r>
              <a:rPr lang="pt-BR" altLang="en-US" sz="1800" b="1" dirty="0">
                <a:solidFill>
                  <a:srgbClr val="F5F3EE"/>
                </a:solidFill>
                <a:latin typeface="Arial" pitchFamily="34" charset="0"/>
                <a:ea typeface="Arial" pitchFamily="34" charset="-122"/>
                <a:cs typeface="Arial" pitchFamily="34" charset="-120"/>
              </a:rPr>
              <a:t>+ Adrenalina</a:t>
            </a:r>
            <a:endParaRPr lang="en-US" sz="1800" dirty="0"/>
          </a:p>
        </p:txBody>
      </p:sp>
      <p:sp>
        <p:nvSpPr>
          <p:cNvPr id="17" name="PAM ainda inadequada (condicional, muito"/>
          <p:cNvSpPr txBox="1"/>
          <p:nvPr/>
        </p:nvSpPr>
        <p:spPr>
          <a:xfrm>
            <a:off x="8500467" y="2659727"/>
            <a:ext cx="2694484"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C9CFD6"/>
                </a:solidFill>
                <a:latin typeface="Arial" pitchFamily="34" charset="0"/>
                <a:ea typeface="Arial" pitchFamily="34" charset="-122"/>
                <a:cs typeface="Arial" pitchFamily="34" charset="-120"/>
              </a:rPr>
              <a:t>PAM ainda inadequada (condicional, muito baixa).</a:t>
            </a:r>
            <a:endParaRPr lang="en-US" sz="1300" dirty="0"/>
          </a:p>
        </p:txBody>
      </p:sp>
      <p:sp>
        <p:nvSpPr>
          <p:cNvPr id="18" name="Cartão"/>
          <p:cNvSpPr/>
          <p:nvPr/>
        </p:nvSpPr>
        <p:spPr>
          <a:xfrm>
            <a:off x="812800" y="3540423"/>
            <a:ext cx="5181600" cy="1658739"/>
          </a:xfrm>
          <a:prstGeom prst="roundRect">
            <a:avLst>
              <a:gd name="adj" fmla="val 4594"/>
            </a:avLst>
          </a:prstGeom>
          <a:solidFill>
            <a:srgbClr val="FFFDF8"/>
          </a:solidFill>
          <a:ln w="6350">
            <a:solidFill>
              <a:srgbClr val="E2DDD2"/>
            </a:solidFill>
            <a:prstDash val="solid"/>
          </a:ln>
        </p:spPr>
      </p:sp>
      <p:sp>
        <p:nvSpPr>
          <p:cNvPr id="19" name="Borda de destaque"/>
          <p:cNvSpPr/>
          <p:nvPr/>
        </p:nvSpPr>
        <p:spPr>
          <a:xfrm>
            <a:off x="823379" y="3540423"/>
            <a:ext cx="5160443" cy="38100"/>
          </a:xfrm>
          <a:custGeom>
            <a:avLst/>
            <a:gdLst/>
            <a:ahLst/>
            <a:cxnLst/>
            <a:rect l="l" t="t" r="r" b="b"/>
            <a:pathLst>
              <a:path w="5160443" h="38100">
                <a:moveTo>
                  <a:pt x="5094821" y="0"/>
                </a:moveTo>
                <a:lnTo>
                  <a:pt x="5109687" y="1464"/>
                </a:lnTo>
                <a:lnTo>
                  <a:pt x="5123982" y="5800"/>
                </a:lnTo>
                <a:lnTo>
                  <a:pt x="5137156" y="12842"/>
                </a:lnTo>
                <a:lnTo>
                  <a:pt x="5148703" y="22318"/>
                </a:lnTo>
                <a:lnTo>
                  <a:pt x="5158179" y="33866"/>
                </a:lnTo>
                <a:lnTo>
                  <a:pt x="5160443"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20" name="Alvo de PAM"/>
          <p:cNvSpPr txBox="1"/>
          <p:nvPr/>
        </p:nvSpPr>
        <p:spPr>
          <a:xfrm>
            <a:off x="1073150" y="3829608"/>
            <a:ext cx="46799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Alvo de PAM</a:t>
            </a:r>
            <a:endParaRPr lang="en-US" sz="1700" dirty="0"/>
          </a:p>
        </p:txBody>
      </p:sp>
      <p:sp>
        <p:nvSpPr>
          <p:cNvPr id="21" name="65 mmHg para começar (forte); 60–65 a pa"/>
          <p:cNvSpPr txBox="1"/>
          <p:nvPr/>
        </p:nvSpPr>
        <p:spPr>
          <a:xfrm>
            <a:off x="1073150" y="4178009"/>
            <a:ext cx="467995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65 mmHg para começar (forte); 60–65 a partir dos 65 anos (condicional). OPTPRESS: em idosos, alvo de 80–85 aumentou a mortalidade (39,3% vs. 28,6%).</a:t>
            </a:r>
            <a:endParaRPr lang="en-US" sz="1350" dirty="0"/>
          </a:p>
        </p:txBody>
      </p:sp>
      <p:sp>
        <p:nvSpPr>
          <p:cNvPr id="22" name="Cartão"/>
          <p:cNvSpPr/>
          <p:nvPr/>
        </p:nvSpPr>
        <p:spPr>
          <a:xfrm>
            <a:off x="6197600" y="3540423"/>
            <a:ext cx="5181600" cy="1658739"/>
          </a:xfrm>
          <a:prstGeom prst="roundRect">
            <a:avLst>
              <a:gd name="adj" fmla="val 4594"/>
            </a:avLst>
          </a:prstGeom>
          <a:solidFill>
            <a:srgbClr val="FFFDF8"/>
          </a:solidFill>
          <a:ln w="6350">
            <a:solidFill>
              <a:srgbClr val="E2DDD2"/>
            </a:solidFill>
            <a:prstDash val="solid"/>
          </a:ln>
        </p:spPr>
      </p:sp>
      <p:sp>
        <p:nvSpPr>
          <p:cNvPr id="23" name="Borda de destaque"/>
          <p:cNvSpPr/>
          <p:nvPr/>
        </p:nvSpPr>
        <p:spPr>
          <a:xfrm>
            <a:off x="6208179" y="3540423"/>
            <a:ext cx="5160443" cy="38100"/>
          </a:xfrm>
          <a:custGeom>
            <a:avLst/>
            <a:gdLst/>
            <a:ahLst/>
            <a:cxnLst/>
            <a:rect l="l" t="t" r="r" b="b"/>
            <a:pathLst>
              <a:path w="5160443" h="38100">
                <a:moveTo>
                  <a:pt x="5094821" y="0"/>
                </a:moveTo>
                <a:lnTo>
                  <a:pt x="5109687" y="1464"/>
                </a:lnTo>
                <a:lnTo>
                  <a:pt x="5123982" y="5800"/>
                </a:lnTo>
                <a:lnTo>
                  <a:pt x="5137156" y="12842"/>
                </a:lnTo>
                <a:lnTo>
                  <a:pt x="5148703" y="22318"/>
                </a:lnTo>
                <a:lnTo>
                  <a:pt x="5158179" y="33866"/>
                </a:lnTo>
                <a:lnTo>
                  <a:pt x="516044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24" name="VASSPR: quando iniciar vasopressina?"/>
          <p:cNvSpPr txBox="1"/>
          <p:nvPr/>
        </p:nvSpPr>
        <p:spPr>
          <a:xfrm>
            <a:off x="6457950" y="3829608"/>
            <a:ext cx="46799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VASSPR: quando iniciar vasopressina?</a:t>
            </a:r>
            <a:endParaRPr lang="en-US" sz="1700" dirty="0"/>
          </a:p>
        </p:txBody>
      </p:sp>
      <p:sp>
        <p:nvSpPr>
          <p:cNvPr id="25" name="Comparou políticas por hospital: iniciar"/>
          <p:cNvSpPr txBox="1"/>
          <p:nvPr/>
        </p:nvSpPr>
        <p:spPr>
          <a:xfrm>
            <a:off x="6457950" y="4178009"/>
            <a:ext cx="467995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Comparou políticas por hospital: iniciar com NA 0,1 vs. 0,4 mcg/kg/min. Vasopressina usada em 52,4% vs. 32,9%. Mortalidade 31,8% vs. 33,0%.</a:t>
            </a:r>
            <a:endParaRPr lang="en-US" sz="1350" dirty="0"/>
          </a:p>
        </p:txBody>
      </p:sp>
      <p:sp>
        <p:nvSpPr>
          <p:cNvPr id="26" name="Prescott, Crit Care Med 2026 (SSC) · Pel"/>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Prescott, Crit Care Med 2026 (SSC) · Peltan, JAMA 2026 (VASSPR) · Endo, Intensive Care Med 2025 (OPTPRESS)</a:t>
            </a:r>
            <a:endParaRPr lang="en-US" sz="12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E"/>
        </a:solidFill>
      </p:bgPr>
    </p:bg>
    <p:spTree>
      <p:nvGrpSpPr>
        <p:cNvPr id="1" name=""/>
        <p:cNvGrpSpPr/>
        <p:nvPr/>
      </p:nvGrpSpPr>
      <p:grpSpPr>
        <a:xfrm>
          <a:off x="0" y="0"/>
          <a:ext cx="0" cy="0"/>
          <a:chOff x="0" y="0"/>
          <a:chExt cx="0" cy="0"/>
        </a:xfrm>
      </p:grpSpPr>
      <p:sp>
        <p:nvSpPr>
          <p:cNvPr id="2" name="06 · PERIOPERATÓRIO"/>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06 · PERIOPERATÓRIO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Intraoperatório: a droga segue o mecanismo</a:t>
            </a:r>
            <a:endParaRPr lang="en-US" sz="3200" dirty="0"/>
          </a:p>
        </p:txBody>
      </p:sp>
      <p:graphicFrame>
        <p:nvGraphicFramePr>
          <p:cNvPr id="12" name="Tabela"/>
          <p:cNvGraphicFramePr>
            <a:graphicFrameLocks noGrp="1"/>
          </p:cNvGraphicFramePr>
          <p:nvPr>
            <p:extLst>
              <p:ext uri="{D42A27DB-BD31-4B8C-83A1-F6EECF244321}">
                <p14:modId xmlns:p14="http://schemas.microsoft.com/office/powerpoint/2010/main" val="1579011935"/>
              </p:ext>
            </p:extLst>
          </p:nvPr>
        </p:nvGraphicFramePr>
        <p:xfrm>
          <a:off x="812800" y="1879501"/>
          <a:ext cx="10566400" cy="914400"/>
        </p:xfrm>
        <a:graphic>
          <a:graphicData uri="http://schemas.openxmlformats.org/drawingml/2006/table">
            <a:tbl>
              <a:tblPr/>
              <a:tblGrid>
                <a:gridCol w="3381177"/>
                <a:gridCol w="4015184"/>
                <a:gridCol w="3170039"/>
              </a:tblGrid>
              <a:tr h="391120">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Cenário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Primeira escolha</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Racional</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r>
              <a:tr h="607616">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Vasodilatação após indução, FC normal ou alta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Fenilefrina 50–100 mcg ou NA 5–10 mcg em bolus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Corrige o tônus sem taquicardia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Hipotensão com bradicardia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Efedrina 5–10 mg</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Soma efeito β1 e cronotrópico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Vasoplegia persistente</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NA em infusão, inclusive periférica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Titulável; evita bolus repetidos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610791">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Raquianestesia na cesárea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Fenilefrina profilática 25–50 mcg/min; NA como alternativa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PAS ≥90% da basal; NA com menos bradicardia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610791">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Anafilaxia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Adrenalina EV diluída e titulada, com monitorização: 10–20 mcg (grau 2), 50–100 mcg (grau 3)</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α1, β1 e β2; estabiliza mastócitos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bl>
          </a:graphicData>
        </a:graphic>
      </p:graphicFrame>
      <p:sp>
        <p:nvSpPr>
          <p:cNvPr id="5" name="Kinsella, Anaesthesia 2018 · ANZCA/ANZAA"/>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Kinsella, Anaesthesia 2018 · ANZCA/ANZAAG 2022 · Miller’s Anesthesia, 10ª ed. · [cap./pág.]</a:t>
            </a:r>
            <a:endParaRPr lang="en-US" sz="12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E"/>
        </a:solidFill>
      </p:bgPr>
    </p:bg>
    <p:spTree>
      <p:nvGrpSpPr>
        <p:cNvPr id="1" name=""/>
        <p:cNvGrpSpPr/>
        <p:nvPr/>
      </p:nvGrpSpPr>
      <p:grpSpPr>
        <a:xfrm>
          <a:off x="0" y="0"/>
          <a:ext cx="0" cy="0"/>
          <a:chOff x="0" y="0"/>
          <a:chExt cx="0" cy="0"/>
        </a:xfrm>
      </p:grpSpPr>
      <p:sp>
        <p:nvSpPr>
          <p:cNvPr id="2" name="06 · PERIOPERATÓRIO · ALVO DE PA"/>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06 · PERIOPERATÓRIO · ALVO DE PA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Alvo intraoperatório: HISTAP vs. IMPROVE-multi</a:t>
            </a:r>
            <a:endParaRPr lang="en-US" sz="3200" dirty="0"/>
          </a:p>
        </p:txBody>
      </p:sp>
      <p:sp>
        <p:nvSpPr>
          <p:cNvPr id="4" name="Cartão"/>
          <p:cNvSpPr/>
          <p:nvPr/>
        </p:nvSpPr>
        <p:spPr>
          <a:xfrm>
            <a:off x="812800" y="1879501"/>
            <a:ext cx="5175250" cy="2222599"/>
          </a:xfrm>
          <a:prstGeom prst="roundRect">
            <a:avLst>
              <a:gd name="adj" fmla="val 3428"/>
            </a:avLst>
          </a:prstGeom>
          <a:solidFill>
            <a:srgbClr val="1B2A3A"/>
          </a:solidFill>
          <a:ln/>
        </p:spPr>
      </p:sp>
      <p:sp>
        <p:nvSpPr>
          <p:cNvPr id="5" name="HISTAP · 2026"/>
          <p:cNvSpPr txBox="1"/>
          <p:nvPr/>
        </p:nvSpPr>
        <p:spPr>
          <a:xfrm>
            <a:off x="1066800" y="2122299"/>
            <a:ext cx="468630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HISTAP · 2026</a:t>
            </a:r>
            <a:endParaRPr lang="en-US" sz="1200" dirty="0"/>
          </a:p>
        </p:txBody>
      </p:sp>
      <p:sp>
        <p:nvSpPr>
          <p:cNvPr id="6" name="RR 0,78"/>
          <p:cNvSpPr txBox="1"/>
          <p:nvPr/>
        </p:nvSpPr>
        <p:spPr>
          <a:xfrm>
            <a:off x="1066800" y="2432673"/>
            <a:ext cx="4686300" cy="558800"/>
          </a:xfrm>
          <a:prstGeom prst="rect">
            <a:avLst/>
          </a:prstGeom>
          <a:noFill/>
          <a:ln/>
        </p:spPr>
        <p:txBody>
          <a:bodyPr wrap="none" lIns="0" tIns="0" rIns="0" bIns="0" rtlCol="0" anchor="t"/>
          <a:lstStyle/>
          <a:p>
            <a:pPr algn="l" indent="0" marL="0">
              <a:lnSpc>
                <a:spcPts val="4400"/>
              </a:lnSpc>
              <a:buNone/>
            </a:pPr>
            <a:r>
              <a:rPr lang="pt-BR" altLang="en-US" sz="4000" dirty="0">
                <a:solidFill>
                  <a:srgbClr val="F5F3EE"/>
                </a:solidFill>
                <a:latin typeface="Georgia" pitchFamily="34" charset="0"/>
                <a:ea typeface="Georgia" pitchFamily="34" charset="-122"/>
                <a:cs typeface="Georgia" pitchFamily="34" charset="-120"/>
              </a:rPr>
              <a:t>RR 0,78</a:t>
            </a:r>
            <a:endParaRPr lang="en-US" sz="4000" dirty="0"/>
          </a:p>
        </p:txBody>
      </p:sp>
      <p:sp>
        <p:nvSpPr>
          <p:cNvPr id="7" name="PAM ≥80 vs. ≥65 em hipertensos de alto r"/>
          <p:cNvSpPr txBox="1"/>
          <p:nvPr/>
        </p:nvSpPr>
        <p:spPr>
          <a:xfrm>
            <a:off x="1066800" y="3042848"/>
            <a:ext cx="468630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DFE3E8"/>
                </a:solidFill>
                <a:latin typeface="Arial" pitchFamily="34" charset="0"/>
                <a:ea typeface="Arial" pitchFamily="34" charset="-122"/>
                <a:cs typeface="Arial" pitchFamily="34" charset="-120"/>
              </a:rPr>
              <a:t>PAM ≥80 vs. ≥65 em hipertensos de alto risco (n = 630): menos morte ou disfunção orgânica (38,1% vs. 48,9%), sobretudo renal. PAM alcançada: 88 vs. 77 mmHg.</a:t>
            </a:r>
            <a:endParaRPr lang="en-US" sz="1350" dirty="0"/>
          </a:p>
        </p:txBody>
      </p:sp>
      <p:sp>
        <p:nvSpPr>
          <p:cNvPr id="8" name="Cartão"/>
          <p:cNvSpPr/>
          <p:nvPr/>
        </p:nvSpPr>
        <p:spPr>
          <a:xfrm>
            <a:off x="6191250" y="1879501"/>
            <a:ext cx="5187950" cy="2222599"/>
          </a:xfrm>
          <a:prstGeom prst="roundRect">
            <a:avLst>
              <a:gd name="adj" fmla="val 3428"/>
            </a:avLst>
          </a:prstGeom>
          <a:solidFill>
            <a:srgbClr val="FFFDF8"/>
          </a:solidFill>
          <a:ln w="6350">
            <a:solidFill>
              <a:srgbClr val="E2DDD2"/>
            </a:solidFill>
            <a:prstDash val="solid"/>
          </a:ln>
        </p:spPr>
      </p:sp>
      <p:sp>
        <p:nvSpPr>
          <p:cNvPr id="9" name="Borda de destaque"/>
          <p:cNvSpPr/>
          <p:nvPr/>
        </p:nvSpPr>
        <p:spPr>
          <a:xfrm>
            <a:off x="6201829" y="1879501"/>
            <a:ext cx="5166793" cy="38100"/>
          </a:xfrm>
          <a:custGeom>
            <a:avLst/>
            <a:gdLst/>
            <a:ahLst/>
            <a:cxnLst/>
            <a:rect l="l" t="t" r="r" b="b"/>
            <a:pathLst>
              <a:path w="5166793" h="38100">
                <a:moveTo>
                  <a:pt x="5101171" y="0"/>
                </a:moveTo>
                <a:lnTo>
                  <a:pt x="5116037" y="1464"/>
                </a:lnTo>
                <a:lnTo>
                  <a:pt x="5130332" y="5800"/>
                </a:lnTo>
                <a:lnTo>
                  <a:pt x="5143506" y="12842"/>
                </a:lnTo>
                <a:lnTo>
                  <a:pt x="5155053" y="22318"/>
                </a:lnTo>
                <a:lnTo>
                  <a:pt x="5164529" y="33866"/>
                </a:lnTo>
                <a:lnTo>
                  <a:pt x="516679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10" name="IMPROVE-MULTI · 2025"/>
          <p:cNvSpPr txBox="1"/>
          <p:nvPr/>
        </p:nvSpPr>
        <p:spPr>
          <a:xfrm>
            <a:off x="6451600" y="2160399"/>
            <a:ext cx="468630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2E5E8C"/>
                </a:solidFill>
                <a:latin typeface="Arial" pitchFamily="34" charset="0"/>
                <a:ea typeface="Arial" pitchFamily="34" charset="-122"/>
                <a:cs typeface="Arial" pitchFamily="34" charset="-120"/>
              </a:rPr>
              <a:t>IMPROVE-MULTI · 2025</a:t>
            </a:r>
            <a:endParaRPr lang="en-US" sz="1200" dirty="0"/>
          </a:p>
        </p:txBody>
      </p:sp>
      <p:sp>
        <p:nvSpPr>
          <p:cNvPr id="11" name="RR 1,10"/>
          <p:cNvSpPr txBox="1"/>
          <p:nvPr/>
        </p:nvSpPr>
        <p:spPr>
          <a:xfrm>
            <a:off x="6451600" y="2470773"/>
            <a:ext cx="4686300" cy="558800"/>
          </a:xfrm>
          <a:prstGeom prst="rect">
            <a:avLst/>
          </a:prstGeom>
          <a:noFill/>
          <a:ln/>
        </p:spPr>
        <p:txBody>
          <a:bodyPr wrap="none" lIns="0" tIns="0" rIns="0" bIns="0" rtlCol="0" anchor="t"/>
          <a:lstStyle/>
          <a:p>
            <a:pPr algn="l" indent="0" marL="0">
              <a:lnSpc>
                <a:spcPts val="4400"/>
              </a:lnSpc>
              <a:buNone/>
            </a:pPr>
            <a:r>
              <a:rPr lang="pt-BR" altLang="en-US" sz="4000" dirty="0">
                <a:solidFill>
                  <a:srgbClr val="1B2A3A"/>
                </a:solidFill>
                <a:latin typeface="Georgia" pitchFamily="34" charset="0"/>
                <a:ea typeface="Georgia" pitchFamily="34" charset="-122"/>
                <a:cs typeface="Georgia" pitchFamily="34" charset="-120"/>
              </a:rPr>
              <a:t>RR 1,10</a:t>
            </a:r>
            <a:endParaRPr lang="en-US" sz="4000" dirty="0"/>
          </a:p>
        </p:txBody>
      </p:sp>
      <p:sp>
        <p:nvSpPr>
          <p:cNvPr id="12" name="PAM individualizada pela pressão noturna"/>
          <p:cNvSpPr txBox="1"/>
          <p:nvPr/>
        </p:nvSpPr>
        <p:spPr>
          <a:xfrm>
            <a:off x="6451600" y="3080948"/>
            <a:ext cx="468630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PAM individualizada pela pressão noturna vs. ≥65 (n = 1.134): composto em 7 dias de 33,5% vs. 30,5%, sem diferença.</a:t>
            </a:r>
            <a:endParaRPr lang="en-US" sz="1350" dirty="0"/>
          </a:p>
        </p:txBody>
      </p:sp>
      <p:sp>
        <p:nvSpPr>
          <p:cNvPr id="13" name="Cartão"/>
          <p:cNvSpPr/>
          <p:nvPr/>
        </p:nvSpPr>
        <p:spPr>
          <a:xfrm>
            <a:off x="812800" y="4305300"/>
            <a:ext cx="10566400" cy="988020"/>
          </a:xfrm>
          <a:prstGeom prst="roundRect">
            <a:avLst>
              <a:gd name="adj" fmla="val 7712"/>
            </a:avLst>
          </a:prstGeom>
          <a:solidFill>
            <a:srgbClr val="FFFDF8"/>
          </a:solidFill>
          <a:ln w="6350">
            <a:solidFill>
              <a:srgbClr val="E2DDD2"/>
            </a:solidFill>
            <a:prstDash val="solid"/>
          </a:ln>
        </p:spPr>
      </p:sp>
      <p:sp>
        <p:nvSpPr>
          <p:cNvPr id="14" name="Piso"/>
          <p:cNvSpPr txBox="1"/>
          <p:nvPr/>
        </p:nvSpPr>
        <p:spPr>
          <a:xfrm>
            <a:off x="1073150" y="4485996"/>
            <a:ext cx="780653" cy="568920"/>
          </a:xfrm>
          <a:prstGeom prst="rect">
            <a:avLst/>
          </a:prstGeom>
          <a:noFill/>
          <a:ln/>
        </p:spPr>
        <p:txBody>
          <a:bodyPr wrap="none" lIns="0" tIns="0" rIns="0" bIns="0" rtlCol="0" anchor="t"/>
          <a:lstStyle/>
          <a:p>
            <a:pPr algn="l" indent="0" marL="0">
              <a:lnSpc>
                <a:spcPts val="4480"/>
              </a:lnSpc>
              <a:buNone/>
            </a:pPr>
            <a:r>
              <a:rPr lang="pt-BR" altLang="en-US" sz="3200" dirty="0">
                <a:solidFill>
                  <a:srgbClr val="B9581A"/>
                </a:solidFill>
                <a:latin typeface="Georgia" pitchFamily="34" charset="0"/>
                <a:ea typeface="Georgia" pitchFamily="34" charset="-122"/>
                <a:cs typeface="Georgia" pitchFamily="34" charset="-120"/>
              </a:rPr>
              <a:t>Piso</a:t>
            </a:r>
            <a:endParaRPr lang="en-US" sz="3200" dirty="0"/>
          </a:p>
        </p:txBody>
      </p:sp>
      <p:sp>
        <p:nvSpPr>
          <p:cNvPr id="15" name="POQI 2024: PAM ≥60 mmHg em pacientes de "/>
          <p:cNvSpPr txBox="1"/>
          <p:nvPr/>
        </p:nvSpPr>
        <p:spPr>
          <a:xfrm>
            <a:off x="2037953" y="4518608"/>
            <a:ext cx="9099947" cy="533400"/>
          </a:xfrm>
          <a:prstGeom prst="rect">
            <a:avLst/>
          </a:prstGeom>
          <a:noFill/>
          <a:ln/>
        </p:spPr>
        <p:txBody>
          <a:bodyPr wrap="square" lIns="0" tIns="0" rIns="0" bIns="0" rtlCol="0" anchor="t"/>
          <a:lstStyle/>
          <a:p>
            <a:pPr algn="l" indent="0" marL="0">
              <a:lnSpc>
                <a:spcPts val="2100"/>
              </a:lnSpc>
              <a:buNone/>
            </a:pPr>
            <a:r>
              <a:rPr lang="pt-BR" altLang="en-US" sz="1500" dirty="0">
                <a:solidFill>
                  <a:srgbClr val="1B2A3A"/>
                </a:solidFill>
                <a:latin typeface="Arial" pitchFamily="34" charset="0"/>
                <a:ea typeface="Arial" pitchFamily="34" charset="-122"/>
                <a:cs typeface="Arial" pitchFamily="34" charset="-120"/>
              </a:rPr>
              <a:t>POQI 2024: PAM ≥60 mmHg em pacientes de risco. Os estudos não se contradizem: populações e estratégias diferentes; alvo alto só em selecionados.</a:t>
            </a:r>
            <a:endParaRPr lang="en-US" sz="1500" dirty="0"/>
          </a:p>
        </p:txBody>
      </p:sp>
      <p:sp>
        <p:nvSpPr>
          <p:cNvPr id="16" name="HISTAP, Intensive Care Med 2026 · Saugel"/>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HISTAP, Intensive Care Med 2026 · Saugel, JAMA 2025 (IMPROVE-multi) · Saugel, Br J Anaesth 2024 (POQI)</a:t>
            </a:r>
            <a:endParaRPr lang="en-US" sz="12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3EE"/>
        </a:solidFill>
      </p:bgPr>
    </p:bg>
    <p:spTree>
      <p:nvGrpSpPr>
        <p:cNvPr id="1" name=""/>
        <p:cNvGrpSpPr/>
        <p:nvPr/>
      </p:nvGrpSpPr>
      <p:grpSpPr>
        <a:xfrm>
          <a:off x="0" y="0"/>
          <a:ext cx="0" cy="0"/>
          <a:chOff x="0" y="0"/>
          <a:chExt cx="0" cy="0"/>
        </a:xfrm>
      </p:grpSpPr>
      <p:sp>
        <p:nvSpPr>
          <p:cNvPr id="2" name="07 · SÍNTESE"/>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07 · SÍNTESE</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Consenso e controvérsias</a:t>
            </a:r>
            <a:endParaRPr lang="en-US" sz="3200" dirty="0"/>
          </a:p>
        </p:txBody>
      </p:sp>
      <p:sp>
        <p:nvSpPr>
          <p:cNvPr id="4" name="Cartão"/>
          <p:cNvSpPr/>
          <p:nvPr/>
        </p:nvSpPr>
        <p:spPr>
          <a:xfrm>
            <a:off x="812800" y="1879501"/>
            <a:ext cx="5130800" cy="2570460"/>
          </a:xfrm>
          <a:prstGeom prst="roundRect">
            <a:avLst>
              <a:gd name="adj" fmla="val 2964"/>
            </a:avLst>
          </a:prstGeom>
          <a:solidFill>
            <a:srgbClr val="FFFDF8"/>
          </a:solidFill>
          <a:ln w="6350">
            <a:solidFill>
              <a:srgbClr val="E2DDD2"/>
            </a:solidFill>
            <a:prstDash val="solid"/>
          </a:ln>
        </p:spPr>
      </p:sp>
      <p:sp>
        <p:nvSpPr>
          <p:cNvPr id="5" name="Borda de destaque"/>
          <p:cNvSpPr/>
          <p:nvPr/>
        </p:nvSpPr>
        <p:spPr>
          <a:xfrm>
            <a:off x="823379" y="1879501"/>
            <a:ext cx="5109643" cy="38100"/>
          </a:xfrm>
          <a:custGeom>
            <a:avLst/>
            <a:gdLst/>
            <a:ahLst/>
            <a:cxnLst/>
            <a:rect l="l" t="t" r="r" b="b"/>
            <a:pathLst>
              <a:path w="5109643" h="38100">
                <a:moveTo>
                  <a:pt x="5044021" y="0"/>
                </a:moveTo>
                <a:lnTo>
                  <a:pt x="5058887" y="1464"/>
                </a:lnTo>
                <a:lnTo>
                  <a:pt x="5073182" y="5800"/>
                </a:lnTo>
                <a:lnTo>
                  <a:pt x="5086356" y="12842"/>
                </a:lnTo>
                <a:lnTo>
                  <a:pt x="5097903" y="22318"/>
                </a:lnTo>
                <a:lnTo>
                  <a:pt x="5107379" y="33866"/>
                </a:lnTo>
                <a:lnTo>
                  <a:pt x="510964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6" name="Consenso"/>
          <p:cNvSpPr txBox="1"/>
          <p:nvPr/>
        </p:nvSpPr>
        <p:spPr>
          <a:xfrm>
            <a:off x="1073150" y="2168686"/>
            <a:ext cx="46291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Consenso</a:t>
            </a:r>
            <a:endParaRPr lang="en-US" sz="1700" dirty="0"/>
          </a:p>
        </p:txBody>
      </p:sp>
      <p:sp>
        <p:nvSpPr>
          <p:cNvPr id="7" name="Reconhecer o mecanismo antes da droga · "/>
          <p:cNvSpPr txBox="1"/>
          <p:nvPr/>
        </p:nvSpPr>
        <p:spPr>
          <a:xfrm>
            <a:off x="1073150" y="2515402"/>
            <a:ext cx="4629150" cy="1657350"/>
          </a:xfrm>
          <a:prstGeom prst="rect">
            <a:avLst/>
          </a:prstGeom>
          <a:noFill/>
          <a:ln/>
        </p:spPr>
        <p:txBody>
          <a:bodyPr wrap="square" lIns="0" tIns="0" rIns="0" bIns="0" rtlCol="0" anchor="t"/>
          <a:lstStyle/>
          <a:p>
            <a:pPr algn="l" indent="0" marL="0">
              <a:lnSpc>
                <a:spcPts val="2175"/>
              </a:lnSpc>
              <a:buNone/>
            </a:pPr>
            <a:r>
              <a:rPr lang="pt-BR" altLang="en-US" sz="1500" dirty="0">
                <a:solidFill>
                  <a:srgbClr val="2C3A48"/>
                </a:solidFill>
                <a:latin typeface="Arial" pitchFamily="34" charset="0"/>
                <a:ea typeface="Arial" pitchFamily="34" charset="-122"/>
                <a:cs typeface="Arial" pitchFamily="34" charset="-120"/>
              </a:rPr>
              <a:t>Reconhecer o mecanismo antes da droga · NA como primeira linha, cedo, até por veia periférica · PAM 65 para começar (60–65 em idosos) · dopamina fora da primeira linha · vasopressina para poupar catecolamina · intraoperatório: PAM ≥60–65 como piso</a:t>
            </a:r>
            <a:endParaRPr lang="en-US" sz="1500" dirty="0"/>
          </a:p>
        </p:txBody>
      </p:sp>
      <p:sp>
        <p:nvSpPr>
          <p:cNvPr id="8" name="Cartão"/>
          <p:cNvSpPr/>
          <p:nvPr/>
        </p:nvSpPr>
        <p:spPr>
          <a:xfrm>
            <a:off x="6248400" y="1879501"/>
            <a:ext cx="5130800" cy="2570460"/>
          </a:xfrm>
          <a:prstGeom prst="roundRect">
            <a:avLst>
              <a:gd name="adj" fmla="val 2964"/>
            </a:avLst>
          </a:prstGeom>
          <a:solidFill>
            <a:srgbClr val="FFFDF8"/>
          </a:solidFill>
          <a:ln w="6350">
            <a:solidFill>
              <a:srgbClr val="E2DDD2"/>
            </a:solidFill>
            <a:prstDash val="solid"/>
          </a:ln>
        </p:spPr>
      </p:sp>
      <p:sp>
        <p:nvSpPr>
          <p:cNvPr id="9" name="Borda de destaque"/>
          <p:cNvSpPr/>
          <p:nvPr/>
        </p:nvSpPr>
        <p:spPr>
          <a:xfrm>
            <a:off x="6258979" y="1879501"/>
            <a:ext cx="5109643" cy="38100"/>
          </a:xfrm>
          <a:custGeom>
            <a:avLst/>
            <a:gdLst/>
            <a:ahLst/>
            <a:cxnLst/>
            <a:rect l="l" t="t" r="r" b="b"/>
            <a:pathLst>
              <a:path w="5109643" h="38100">
                <a:moveTo>
                  <a:pt x="5044021" y="0"/>
                </a:moveTo>
                <a:lnTo>
                  <a:pt x="5058887" y="1464"/>
                </a:lnTo>
                <a:lnTo>
                  <a:pt x="5073182" y="5800"/>
                </a:lnTo>
                <a:lnTo>
                  <a:pt x="5086356" y="12842"/>
                </a:lnTo>
                <a:lnTo>
                  <a:pt x="5097903" y="22318"/>
                </a:lnTo>
                <a:lnTo>
                  <a:pt x="5107379" y="33866"/>
                </a:lnTo>
                <a:lnTo>
                  <a:pt x="5109643"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10" name="Em aberto"/>
          <p:cNvSpPr txBox="1"/>
          <p:nvPr/>
        </p:nvSpPr>
        <p:spPr>
          <a:xfrm>
            <a:off x="6508750" y="2168686"/>
            <a:ext cx="46291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Em aberto</a:t>
            </a:r>
            <a:endParaRPr lang="en-US" sz="1700" dirty="0"/>
          </a:p>
        </p:txBody>
      </p:sp>
      <p:sp>
        <p:nvSpPr>
          <p:cNvPr id="11" name="Quando iniciar a vasopressina em cada pa"/>
          <p:cNvSpPr txBox="1"/>
          <p:nvPr/>
        </p:nvSpPr>
        <p:spPr>
          <a:xfrm>
            <a:off x="6508750" y="2515402"/>
            <a:ext cx="4629150" cy="1381125"/>
          </a:xfrm>
          <a:prstGeom prst="rect">
            <a:avLst/>
          </a:prstGeom>
          <a:noFill/>
          <a:ln/>
        </p:spPr>
        <p:txBody>
          <a:bodyPr wrap="square" lIns="0" tIns="0" rIns="0" bIns="0" rtlCol="0" anchor="t"/>
          <a:lstStyle/>
          <a:p>
            <a:pPr algn="l" indent="0" marL="0">
              <a:lnSpc>
                <a:spcPts val="2175"/>
              </a:lnSpc>
              <a:buNone/>
            </a:pPr>
            <a:r>
              <a:rPr lang="pt-BR" altLang="en-US" sz="1500" dirty="0">
                <a:solidFill>
                  <a:srgbClr val="2C3A48"/>
                </a:solidFill>
                <a:latin typeface="Arial" pitchFamily="34" charset="0"/>
                <a:ea typeface="Arial" pitchFamily="34" charset="-122"/>
                <a:cs typeface="Arial" pitchFamily="34" charset="-120"/>
              </a:rPr>
              <a:t>Quando iniciar a vasopressina em cada paciente (o VASSPR testou uma política) · quem se beneficia de alvo intraoperatório acima do piso · adrenalina no choque cardiogênico · azul de metileno e angiotensina II · dose de NA padronizada em base</a:t>
            </a:r>
            <a:endParaRPr lang="en-US" sz="1500" dirty="0"/>
          </a:p>
        </p:txBody>
      </p:sp>
      <p:sp>
        <p:nvSpPr>
          <p:cNvPr id="12" name="Para discutir: nosso protocolo especific"/>
          <p:cNvSpPr txBox="1"/>
          <p:nvPr/>
        </p:nvSpPr>
        <p:spPr>
          <a:xfrm>
            <a:off x="812800" y="4741693"/>
            <a:ext cx="10585450" cy="248841"/>
          </a:xfrm>
          <a:prstGeom prst="rect">
            <a:avLst/>
          </a:prstGeom>
          <a:noFill/>
          <a:ln/>
        </p:spPr>
        <p:txBody>
          <a:bodyPr wrap="none" lIns="0" tIns="0" rIns="0" bIns="0" rtlCol="0" anchor="t"/>
          <a:lstStyle/>
          <a:p>
            <a:pPr algn="l" indent="0" marL="0">
              <a:lnSpc>
                <a:spcPts val="1960"/>
              </a:lnSpc>
              <a:buNone/>
            </a:pPr>
            <a:r>
              <a:rPr lang="pt-BR" altLang="en-US" sz="1400" dirty="0">
                <a:solidFill>
                  <a:srgbClr val="56606B"/>
                </a:solidFill>
                <a:latin typeface="Arial" pitchFamily="34" charset="0"/>
                <a:ea typeface="Arial" pitchFamily="34" charset="-122"/>
                <a:cs typeface="Arial" pitchFamily="34" charset="-120"/>
              </a:rPr>
              <a:t>Para discutir: nosso protocolo especifica a forma da noradrenalina e o limiar para associar vasopressina?</a:t>
            </a:r>
            <a:endParaRPr lang="en-US" sz="1400" dirty="0"/>
          </a:p>
        </p:txBody>
      </p:sp>
      <p:sp>
        <p:nvSpPr>
          <p:cNvPr id="13" name="Surviving Sepsis Campaign 2026 · ESICM 2"/>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Surviving Sepsis Campaign 2026 · ESICM 2025 · Peltan, JAMA 2026 · Saugel, Br J Anaesth 2024 (POQI)</a:t>
            </a:r>
            <a:endParaRPr lang="en-US" sz="12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A3A"/>
        </a:solidFill>
      </p:bgPr>
    </p:bg>
    <p:spTree>
      <p:nvGrpSpPr>
        <p:cNvPr id="1" name=""/>
        <p:cNvGrpSpPr/>
        <p:nvPr/>
      </p:nvGrpSpPr>
      <p:grpSpPr>
        <a:xfrm>
          <a:off x="0" y="0"/>
          <a:ext cx="0" cy="0"/>
          <a:chOff x="0" y="0"/>
          <a:chExt cx="0" cy="0"/>
        </a:xfrm>
      </p:grpSpPr>
      <p:sp>
        <p:nvSpPr>
          <p:cNvPr id="2" name="Text 0"/>
          <p:cNvSpPr/>
          <p:nvPr>
            <p:ph type="title"/>
          </p:nvPr>
        </p:nvSpPr>
        <p:spPr>
          <a:xfrm>
            <a:off x="812800" y="1307930"/>
            <a:ext cx="10718800" cy="497840"/>
          </a:xfrm>
          <a:prstGeom prst="rect">
            <a:avLst/>
          </a:prstGeom>
          <a:noFill/>
          <a:ln/>
        </p:spPr>
        <p:txBody>
          <a:bodyPr wrap="square" lIns="0" tIns="0" rIns="0" bIns="0" rtlCol="0" anchor="t"/>
          <a:lstStyle/>
          <a:p>
            <a:pPr algn="l" indent="0" marL="0">
              <a:lnSpc>
                <a:spcPts val="1960"/>
              </a:lnSpc>
              <a:buNone/>
            </a:pPr>
            <a:r>
              <a:rPr lang="pt-BR" altLang="en-US" sz="1400" b="1" spc="100" kern="0" dirty="0">
                <a:solidFill>
                  <a:srgbClr val="E49A5C"/>
                </a:solidFill>
                <a:latin typeface="Arial" pitchFamily="34" charset="0"/>
                <a:ea typeface="Arial" pitchFamily="34" charset="-122"/>
                <a:cs typeface="Arial" pitchFamily="34" charset="-120"/>
              </a:rPr>
              <a:t>RESERVA</a:t>
            </a:r>
            <a:endParaRPr lang="en-US" sz="1400" dirty="0"/>
          </a:p>
        </p:txBody>
      </p:sp>
      <p:sp>
        <p:nvSpPr>
          <p:cNvPr id="3" name="Slides de reserva: detalhes, tabelas e r"/>
          <p:cNvSpPr txBox="1"/>
          <p:nvPr/>
        </p:nvSpPr>
        <p:spPr>
          <a:xfrm>
            <a:off x="812800" y="1869330"/>
            <a:ext cx="10179050" cy="1158081"/>
          </a:xfrm>
          <a:prstGeom prst="rect">
            <a:avLst/>
          </a:prstGeom>
          <a:noFill/>
          <a:ln/>
        </p:spPr>
        <p:txBody>
          <a:bodyPr wrap="square" lIns="0" tIns="0" rIns="0" bIns="0" rtlCol="0" anchor="t"/>
          <a:lstStyle/>
          <a:p>
            <a:pPr algn="l" indent="0" marL="0">
              <a:lnSpc>
                <a:spcPts val="4560"/>
              </a:lnSpc>
              <a:buNone/>
            </a:pPr>
            <a:r>
              <a:rPr lang="pt-BR" altLang="en-US" sz="3800" dirty="0">
                <a:solidFill>
                  <a:srgbClr val="F5F3EE"/>
                </a:solidFill>
                <a:latin typeface="Georgia" pitchFamily="34" charset="0"/>
                <a:ea typeface="Georgia" pitchFamily="34" charset="-122"/>
                <a:cs typeface="Georgia" pitchFamily="34" charset="-120"/>
              </a:rPr>
              <a:t>Slides de reserva: detalhes, tabelas e referências para as perguntas.</a:t>
            </a:r>
            <a:endParaRPr lang="en-US" sz="3800" dirty="0"/>
          </a:p>
        </p:txBody>
      </p:sp>
      <p:sp>
        <p:nvSpPr>
          <p:cNvPr id="4" name="Não entram nos 15 minutos. Use para resp"/>
          <p:cNvSpPr txBox="1"/>
          <p:nvPr/>
        </p:nvSpPr>
        <p:spPr>
          <a:xfrm>
            <a:off x="812800" y="3322585"/>
            <a:ext cx="9544050" cy="284460"/>
          </a:xfrm>
          <a:prstGeom prst="rect">
            <a:avLst/>
          </a:prstGeom>
          <a:noFill/>
          <a:ln/>
        </p:spPr>
        <p:txBody>
          <a:bodyPr wrap="none" lIns="0" tIns="0" rIns="0" bIns="0" rtlCol="0" anchor="t"/>
          <a:lstStyle/>
          <a:p>
            <a:pPr algn="l" indent="0" marL="0">
              <a:lnSpc>
                <a:spcPts val="2240"/>
              </a:lnSpc>
              <a:buNone/>
            </a:pPr>
            <a:r>
              <a:rPr lang="pt-BR" altLang="en-US" sz="1600" dirty="0">
                <a:solidFill>
                  <a:srgbClr val="C9CFD6"/>
                </a:solidFill>
                <a:latin typeface="Arial" pitchFamily="34" charset="0"/>
                <a:ea typeface="Arial" pitchFamily="34" charset="-122"/>
                <a:cs typeface="Arial" pitchFamily="34" charset="-120"/>
              </a:rPr>
              <a:t>Não entram nos 15 minutos. Use para responder a perguntas ou se sobrar tempo.</a:t>
            </a:r>
            <a:endParaRPr lang="en-US" sz="1600" dirty="0"/>
          </a:p>
        </p:txBody>
      </p:sp>
      <p:sp>
        <p:nvSpPr>
          <p:cNvPr id="5" name="Síntese das drogas"/>
          <p:cNvSpPr/>
          <p:nvPr/>
        </p:nvSpPr>
        <p:spPr>
          <a:xfrm>
            <a:off x="812800" y="3926780"/>
            <a:ext cx="1986062"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Síntese das drogas</a:t>
            </a:r>
            <a:endParaRPr lang="en-US" sz="1400" dirty="0"/>
          </a:p>
        </p:txBody>
      </p:sp>
      <p:sp>
        <p:nvSpPr>
          <p:cNvPr id="6" name="Dopamina"/>
          <p:cNvSpPr/>
          <p:nvPr/>
        </p:nvSpPr>
        <p:spPr>
          <a:xfrm>
            <a:off x="2900462" y="3926780"/>
            <a:ext cx="1215132"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Dopamina</a:t>
            </a:r>
            <a:endParaRPr lang="en-US" sz="1400" dirty="0"/>
          </a:p>
        </p:txBody>
      </p:sp>
      <p:sp>
        <p:nvSpPr>
          <p:cNvPr id="7" name="Dobutamina"/>
          <p:cNvSpPr/>
          <p:nvPr/>
        </p:nvSpPr>
        <p:spPr>
          <a:xfrm>
            <a:off x="4217194" y="3926780"/>
            <a:ext cx="1382911"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Dobutamina</a:t>
            </a:r>
            <a:endParaRPr lang="en-US" sz="1400" dirty="0"/>
          </a:p>
        </p:txBody>
      </p:sp>
      <p:sp>
        <p:nvSpPr>
          <p:cNvPr id="8" name="Fenilefrina"/>
          <p:cNvSpPr/>
          <p:nvPr/>
        </p:nvSpPr>
        <p:spPr>
          <a:xfrm>
            <a:off x="5701705" y="3926780"/>
            <a:ext cx="1254720"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Fenilefrina</a:t>
            </a:r>
            <a:endParaRPr lang="en-US" sz="1400" dirty="0"/>
          </a:p>
        </p:txBody>
      </p:sp>
      <p:sp>
        <p:nvSpPr>
          <p:cNvPr id="9" name="Efedrina"/>
          <p:cNvSpPr/>
          <p:nvPr/>
        </p:nvSpPr>
        <p:spPr>
          <a:xfrm>
            <a:off x="7058025" y="3926780"/>
            <a:ext cx="1066998"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Efedrina</a:t>
            </a:r>
            <a:endParaRPr lang="en-US" sz="1400" dirty="0"/>
          </a:p>
        </p:txBody>
      </p:sp>
      <p:sp>
        <p:nvSpPr>
          <p:cNvPr id="10" name="Vasopressina"/>
          <p:cNvSpPr/>
          <p:nvPr/>
        </p:nvSpPr>
        <p:spPr>
          <a:xfrm>
            <a:off x="8226623" y="3926780"/>
            <a:ext cx="1511995"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Vasopressina</a:t>
            </a:r>
            <a:endParaRPr lang="en-US" sz="1400" dirty="0"/>
          </a:p>
        </p:txBody>
      </p:sp>
      <p:sp>
        <p:nvSpPr>
          <p:cNvPr id="11" name="Choque refratário"/>
          <p:cNvSpPr/>
          <p:nvPr/>
        </p:nvSpPr>
        <p:spPr>
          <a:xfrm>
            <a:off x="812800" y="4429621"/>
            <a:ext cx="1847453"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Choque refratário</a:t>
            </a:r>
            <a:endParaRPr lang="en-US" sz="1400" dirty="0"/>
          </a:p>
        </p:txBody>
      </p:sp>
      <p:sp>
        <p:nvSpPr>
          <p:cNvPr id="12" name="Sequência SSC"/>
          <p:cNvSpPr/>
          <p:nvPr/>
        </p:nvSpPr>
        <p:spPr>
          <a:xfrm>
            <a:off x="2761853" y="4429621"/>
            <a:ext cx="1659930"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Sequência SSC</a:t>
            </a:r>
            <a:endParaRPr lang="en-US" sz="1400" dirty="0"/>
          </a:p>
        </p:txBody>
      </p:sp>
      <p:sp>
        <p:nvSpPr>
          <p:cNvPr id="13" name="Alvo de PAM"/>
          <p:cNvSpPr/>
          <p:nvPr/>
        </p:nvSpPr>
        <p:spPr>
          <a:xfrm>
            <a:off x="4523383" y="4429621"/>
            <a:ext cx="1442343"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Alvo de PAM</a:t>
            </a:r>
            <a:endParaRPr lang="en-US" sz="1400" dirty="0"/>
          </a:p>
        </p:txBody>
      </p:sp>
      <p:sp>
        <p:nvSpPr>
          <p:cNvPr id="14" name="Timing e via"/>
          <p:cNvSpPr/>
          <p:nvPr/>
        </p:nvSpPr>
        <p:spPr>
          <a:xfrm>
            <a:off x="6067326" y="4429621"/>
            <a:ext cx="1383209"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Timing e via</a:t>
            </a:r>
            <a:endParaRPr lang="en-US" sz="1400" dirty="0"/>
          </a:p>
        </p:txBody>
      </p:sp>
      <p:sp>
        <p:nvSpPr>
          <p:cNvPr id="15" name="Prescrição de NA"/>
          <p:cNvSpPr/>
          <p:nvPr/>
        </p:nvSpPr>
        <p:spPr>
          <a:xfrm>
            <a:off x="7552134" y="4429621"/>
            <a:ext cx="1828105"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Prescrição de NA</a:t>
            </a:r>
            <a:endParaRPr lang="en-US" sz="1400" dirty="0"/>
          </a:p>
        </p:txBody>
      </p:sp>
      <p:sp>
        <p:nvSpPr>
          <p:cNvPr id="16" name="Alvo intraoperatório"/>
          <p:cNvSpPr/>
          <p:nvPr/>
        </p:nvSpPr>
        <p:spPr>
          <a:xfrm>
            <a:off x="812800" y="4932462"/>
            <a:ext cx="2054820"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Alvo intraoperatório</a:t>
            </a:r>
            <a:endParaRPr lang="en-US" sz="1400" dirty="0"/>
          </a:p>
        </p:txBody>
      </p:sp>
      <p:sp>
        <p:nvSpPr>
          <p:cNvPr id="17" name="Roteiro"/>
          <p:cNvSpPr/>
          <p:nvPr/>
        </p:nvSpPr>
        <p:spPr>
          <a:xfrm>
            <a:off x="2969220" y="4932462"/>
            <a:ext cx="977900"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Roteiro</a:t>
            </a:r>
            <a:endParaRPr lang="en-US" sz="1400" dirty="0"/>
          </a:p>
        </p:txBody>
      </p:sp>
      <p:sp>
        <p:nvSpPr>
          <p:cNvPr id="18" name="Referências"/>
          <p:cNvSpPr/>
          <p:nvPr/>
        </p:nvSpPr>
        <p:spPr>
          <a:xfrm>
            <a:off x="4048720" y="4932462"/>
            <a:ext cx="1363762" cy="401241"/>
          </a:xfrm>
          <a:prstGeom prst="roundRect">
            <a:avLst>
              <a:gd name="adj" fmla="val 50000"/>
            </a:avLst>
          </a:prstGeom>
          <a:solidFill>
            <a:srgbClr val="2A3D52"/>
          </a:solidFill>
          <a:ln/>
        </p:spPr>
        <p:txBody>
          <a:bodyPr wrap="none" lIns="177800" tIns="76200" rIns="177800" bIns="76200" rtlCol="0" anchor="ctr"/>
          <a:lstStyle/>
          <a:p>
            <a:pPr algn="ctr"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Referências</a:t>
            </a:r>
            <a:endParaRPr lang="en-US" sz="14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E"/>
        </a:solidFill>
      </p:bgPr>
    </p:bg>
    <p:spTree>
      <p:nvGrpSpPr>
        <p:cNvPr id="1" name=""/>
        <p:cNvGrpSpPr/>
        <p:nvPr/>
      </p:nvGrpSpPr>
      <p:grpSpPr>
        <a:xfrm>
          <a:off x="0" y="0"/>
          <a:ext cx="0" cy="0"/>
          <a:chOff x="0" y="0"/>
          <a:chExt cx="0" cy="0"/>
        </a:xfrm>
      </p:grpSpPr>
      <p:sp>
        <p:nvSpPr>
          <p:cNvPr id="2" name="RESERVA · SÍNTESE DAS DROGAS"/>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SÍNTESE DAS DROGAS</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Síntese: as drogas lado a lado</a:t>
            </a:r>
            <a:endParaRPr lang="en-US" sz="3200" dirty="0"/>
          </a:p>
        </p:txBody>
      </p:sp>
      <p:graphicFrame>
        <p:nvGraphicFramePr>
          <p:cNvPr id="16" name="Tabela"/>
          <p:cNvGraphicFramePr>
            <a:graphicFrameLocks noGrp="1"/>
          </p:cNvGraphicFramePr>
          <p:nvPr>
            <p:extLst>
              <p:ext uri="{D42A27DB-BD31-4B8C-83A1-F6EECF244321}">
                <p14:modId xmlns:p14="http://schemas.microsoft.com/office/powerpoint/2010/main" val="1579011935"/>
              </p:ext>
            </p:extLst>
          </p:nvPr>
        </p:nvGraphicFramePr>
        <p:xfrm>
          <a:off x="812800" y="1879501"/>
          <a:ext cx="10566400" cy="914400"/>
        </p:xfrm>
        <a:graphic>
          <a:graphicData uri="http://schemas.openxmlformats.org/drawingml/2006/table">
            <a:tbl>
              <a:tblPr/>
              <a:tblGrid>
                <a:gridCol w="1796256"/>
                <a:gridCol w="845245"/>
                <a:gridCol w="845245"/>
                <a:gridCol w="845245"/>
                <a:gridCol w="845245"/>
                <a:gridCol w="2324596"/>
                <a:gridCol w="3064570"/>
              </a:tblGrid>
              <a:tr h="391120">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Droga</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α1</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β1</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β2</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D1</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Dose usual (adulto)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Papel principal</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r>
              <a:tr h="394295">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Noradrenalina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0</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0</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0,01–0,5 mcg/kg/min</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1ª linha no choque vasoplégico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Adrenalina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0</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0,01–0,1 mcg/kg/min</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Refratário; anafilaxia; PCR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Dopamina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2–20 mcg/kg/min</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Bradicardia sem alternativa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Dobutamina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0</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2,5–20 mcg/kg/min</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Baixo débito com PAM sustentada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Fenilefrina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0</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0</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0</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Bolus 50–100 mcg</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Vasodilatação com FC alta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Efedrina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0</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Bolus 5–10 mg</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Hipotensão com bradicardia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Isoproterenol</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0</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0</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2–10 mcg/min</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Bradicardia refratária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bl>
          </a:graphicData>
        </a:graphic>
      </p:graphicFrame>
      <p:sp>
        <p:nvSpPr>
          <p:cNvPr id="5" name="Escala qualitativa (0 a ++++), não afini"/>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Escala qualitativa (0 a ++++), não afinidade medida · faixas usuais, titular pelo efeito · Overgaard &amp; Džavík, Circulation 2008</a:t>
            </a:r>
            <a:endParaRPr lang="en-US" sz="12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E"/>
        </a:solidFill>
      </p:bgPr>
    </p:bg>
    <p:spTree>
      <p:nvGrpSpPr>
        <p:cNvPr id="1" name=""/>
        <p:cNvGrpSpPr/>
        <p:nvPr/>
      </p:nvGrpSpPr>
      <p:grpSpPr>
        <a:xfrm>
          <a:off x="0" y="0"/>
          <a:ext cx="0" cy="0"/>
          <a:chOff x="0" y="0"/>
          <a:chExt cx="0" cy="0"/>
        </a:xfrm>
      </p:grpSpPr>
      <p:sp>
        <p:nvSpPr>
          <p:cNvPr id="2" name="RESERVA · DOPAMINA"/>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DOPAMINA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Dopamina: efeito dose-dependente e mais arritmia</a:t>
            </a:r>
            <a:endParaRPr lang="en-US" sz="3200" dirty="0"/>
          </a:p>
        </p:txBody>
      </p:sp>
      <p:sp>
        <p:nvSpPr>
          <p:cNvPr id="4" name="Cartão"/>
          <p:cNvSpPr/>
          <p:nvPr/>
        </p:nvSpPr>
        <p:spPr>
          <a:xfrm>
            <a:off x="812800" y="1879501"/>
            <a:ext cx="3048000" cy="3194844"/>
          </a:xfrm>
          <a:prstGeom prst="roundRect">
            <a:avLst>
              <a:gd name="adj" fmla="val 2500"/>
            </a:avLst>
          </a:prstGeom>
          <a:solidFill>
            <a:srgbClr val="1B2A3A"/>
          </a:solidFill>
          <a:ln/>
        </p:spPr>
      </p:sp>
      <p:sp>
        <p:nvSpPr>
          <p:cNvPr id="5" name="RECEPTORES"/>
          <p:cNvSpPr txBox="1"/>
          <p:nvPr/>
        </p:nvSpPr>
        <p:spPr>
          <a:xfrm>
            <a:off x="1066800" y="2122299"/>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RECEPTORES</a:t>
            </a:r>
            <a:endParaRPr lang="en-US" sz="1200" dirty="0"/>
          </a:p>
        </p:txBody>
      </p:sp>
      <p:sp>
        <p:nvSpPr>
          <p:cNvPr id="6" name="α1"/>
          <p:cNvSpPr txBox="1"/>
          <p:nvPr/>
        </p:nvSpPr>
        <p:spPr>
          <a:xfrm>
            <a:off x="1066800" y="2461686"/>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α1</a:t>
            </a:r>
            <a:endParaRPr lang="en-US" sz="1300" dirty="0"/>
          </a:p>
        </p:txBody>
      </p:sp>
      <p:sp>
        <p:nvSpPr>
          <p:cNvPr id="7" name="Cartão"/>
          <p:cNvSpPr/>
          <p:nvPr/>
        </p:nvSpPr>
        <p:spPr>
          <a:xfrm>
            <a:off x="1524000" y="2532162"/>
            <a:ext cx="1778000" cy="114300"/>
          </a:xfrm>
          <a:prstGeom prst="roundRect">
            <a:avLst>
              <a:gd name="adj" fmla="val 50000"/>
            </a:avLst>
          </a:prstGeom>
          <a:solidFill>
            <a:srgbClr val="33475E"/>
          </a:solidFill>
          <a:ln/>
        </p:spPr>
      </p:sp>
      <p:sp>
        <p:nvSpPr>
          <p:cNvPr id="8" name="Cartão"/>
          <p:cNvSpPr/>
          <p:nvPr/>
        </p:nvSpPr>
        <p:spPr>
          <a:xfrm>
            <a:off x="1524000" y="2532162"/>
            <a:ext cx="1333500" cy="114300"/>
          </a:xfrm>
          <a:prstGeom prst="roundRect">
            <a:avLst>
              <a:gd name="adj" fmla="val 50000"/>
            </a:avLst>
          </a:prstGeom>
          <a:solidFill>
            <a:srgbClr val="E49A5C"/>
          </a:solidFill>
          <a:ln/>
        </p:spPr>
      </p:sp>
      <p:sp>
        <p:nvSpPr>
          <p:cNvPr id="9" name="β1"/>
          <p:cNvSpPr txBox="1"/>
          <p:nvPr/>
        </p:nvSpPr>
        <p:spPr>
          <a:xfrm>
            <a:off x="1066800" y="2819767"/>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β1</a:t>
            </a:r>
            <a:endParaRPr lang="en-US" sz="1300" dirty="0"/>
          </a:p>
        </p:txBody>
      </p:sp>
      <p:sp>
        <p:nvSpPr>
          <p:cNvPr id="10" name="Cartão"/>
          <p:cNvSpPr/>
          <p:nvPr/>
        </p:nvSpPr>
        <p:spPr>
          <a:xfrm>
            <a:off x="1524000" y="2890242"/>
            <a:ext cx="1778000" cy="114300"/>
          </a:xfrm>
          <a:prstGeom prst="roundRect">
            <a:avLst>
              <a:gd name="adj" fmla="val 50000"/>
            </a:avLst>
          </a:prstGeom>
          <a:solidFill>
            <a:srgbClr val="33475E"/>
          </a:solidFill>
          <a:ln/>
        </p:spPr>
      </p:sp>
      <p:sp>
        <p:nvSpPr>
          <p:cNvPr id="11" name="Cartão"/>
          <p:cNvSpPr/>
          <p:nvPr/>
        </p:nvSpPr>
        <p:spPr>
          <a:xfrm>
            <a:off x="1524000" y="2890242"/>
            <a:ext cx="1333500" cy="114300"/>
          </a:xfrm>
          <a:prstGeom prst="roundRect">
            <a:avLst>
              <a:gd name="adj" fmla="val 50000"/>
            </a:avLst>
          </a:prstGeom>
          <a:solidFill>
            <a:srgbClr val="E49A5C"/>
          </a:solidFill>
          <a:ln/>
        </p:spPr>
      </p:sp>
      <p:sp>
        <p:nvSpPr>
          <p:cNvPr id="12" name="β2"/>
          <p:cNvSpPr txBox="1"/>
          <p:nvPr/>
        </p:nvSpPr>
        <p:spPr>
          <a:xfrm>
            <a:off x="1066800" y="3177847"/>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β2</a:t>
            </a:r>
            <a:endParaRPr lang="en-US" sz="1300" dirty="0"/>
          </a:p>
        </p:txBody>
      </p:sp>
      <p:sp>
        <p:nvSpPr>
          <p:cNvPr id="13" name="Cartão"/>
          <p:cNvSpPr/>
          <p:nvPr/>
        </p:nvSpPr>
        <p:spPr>
          <a:xfrm>
            <a:off x="1524000" y="3248323"/>
            <a:ext cx="1778000" cy="114300"/>
          </a:xfrm>
          <a:prstGeom prst="roundRect">
            <a:avLst>
              <a:gd name="adj" fmla="val 50000"/>
            </a:avLst>
          </a:prstGeom>
          <a:solidFill>
            <a:srgbClr val="33475E"/>
          </a:solidFill>
          <a:ln/>
        </p:spPr>
      </p:sp>
      <p:sp>
        <p:nvSpPr>
          <p:cNvPr id="14" name="Cartão"/>
          <p:cNvSpPr/>
          <p:nvPr/>
        </p:nvSpPr>
        <p:spPr>
          <a:xfrm>
            <a:off x="1524000" y="3248323"/>
            <a:ext cx="444500" cy="114300"/>
          </a:xfrm>
          <a:prstGeom prst="roundRect">
            <a:avLst>
              <a:gd name="adj" fmla="val 50000"/>
            </a:avLst>
          </a:prstGeom>
          <a:solidFill>
            <a:srgbClr val="E49A5C"/>
          </a:solidFill>
          <a:ln/>
        </p:spPr>
      </p:sp>
      <p:sp>
        <p:nvSpPr>
          <p:cNvPr id="15" name="D1"/>
          <p:cNvSpPr txBox="1"/>
          <p:nvPr/>
        </p:nvSpPr>
        <p:spPr>
          <a:xfrm>
            <a:off x="1066800" y="3535928"/>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D1</a:t>
            </a:r>
            <a:endParaRPr lang="en-US" sz="1300" dirty="0"/>
          </a:p>
        </p:txBody>
      </p:sp>
      <p:sp>
        <p:nvSpPr>
          <p:cNvPr id="16" name="Cartão"/>
          <p:cNvSpPr/>
          <p:nvPr/>
        </p:nvSpPr>
        <p:spPr>
          <a:xfrm>
            <a:off x="1524000" y="3606403"/>
            <a:ext cx="1778000" cy="114300"/>
          </a:xfrm>
          <a:prstGeom prst="roundRect">
            <a:avLst>
              <a:gd name="adj" fmla="val 50000"/>
            </a:avLst>
          </a:prstGeom>
          <a:solidFill>
            <a:srgbClr val="33475E"/>
          </a:solidFill>
          <a:ln/>
        </p:spPr>
      </p:sp>
      <p:sp>
        <p:nvSpPr>
          <p:cNvPr id="17" name="Cartão"/>
          <p:cNvSpPr/>
          <p:nvPr/>
        </p:nvSpPr>
        <p:spPr>
          <a:xfrm>
            <a:off x="1524000" y="3606403"/>
            <a:ext cx="1778000" cy="114300"/>
          </a:xfrm>
          <a:prstGeom prst="roundRect">
            <a:avLst>
              <a:gd name="adj" fmla="val 50000"/>
            </a:avLst>
          </a:prstGeom>
          <a:solidFill>
            <a:srgbClr val="E49A5C"/>
          </a:solidFill>
          <a:ln/>
        </p:spPr>
      </p:sp>
      <p:sp>
        <p:nvSpPr>
          <p:cNvPr id="18" name="EFEITO HEMODINÂMICO"/>
          <p:cNvSpPr txBox="1"/>
          <p:nvPr/>
        </p:nvSpPr>
        <p:spPr>
          <a:xfrm>
            <a:off x="1066800" y="3894942"/>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EFEITO HEMODINÂMICO</a:t>
            </a:r>
            <a:endParaRPr lang="en-US" sz="1200" dirty="0"/>
          </a:p>
        </p:txBody>
      </p:sp>
      <p:sp>
        <p:nvSpPr>
          <p:cNvPr id="19" name="PAM ↑"/>
          <p:cNvSpPr txBox="1"/>
          <p:nvPr/>
        </p:nvSpPr>
        <p:spPr>
          <a:xfrm>
            <a:off x="1066800" y="4233395"/>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PAM</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0" name="DC ↑"/>
          <p:cNvSpPr txBox="1"/>
          <p:nvPr/>
        </p:nvSpPr>
        <p:spPr>
          <a:xfrm>
            <a:off x="2413000" y="4233395"/>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DC</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1" name="FC ↑↑"/>
          <p:cNvSpPr txBox="1"/>
          <p:nvPr/>
        </p:nvSpPr>
        <p:spPr>
          <a:xfrm>
            <a:off x="1066800" y="455843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FC</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2" name="RVS ↔/↑"/>
          <p:cNvSpPr txBox="1"/>
          <p:nvPr/>
        </p:nvSpPr>
        <p:spPr>
          <a:xfrm>
            <a:off x="2413000" y="455843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RVS</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3" name="Cartão"/>
          <p:cNvSpPr/>
          <p:nvPr/>
        </p:nvSpPr>
        <p:spPr>
          <a:xfrm>
            <a:off x="4064000" y="1879501"/>
            <a:ext cx="3556000" cy="3194844"/>
          </a:xfrm>
          <a:prstGeom prst="roundRect">
            <a:avLst>
              <a:gd name="adj" fmla="val 2385"/>
            </a:avLst>
          </a:prstGeom>
          <a:solidFill>
            <a:srgbClr val="FFFDF8"/>
          </a:solidFill>
          <a:ln w="6350">
            <a:solidFill>
              <a:srgbClr val="E2DDD2"/>
            </a:solidFill>
            <a:prstDash val="solid"/>
          </a:ln>
        </p:spPr>
      </p:sp>
      <p:sp>
        <p:nvSpPr>
          <p:cNvPr id="24" name="Borda de destaque"/>
          <p:cNvSpPr/>
          <p:nvPr/>
        </p:nvSpPr>
        <p:spPr>
          <a:xfrm>
            <a:off x="4074579" y="1879501"/>
            <a:ext cx="3534843" cy="38100"/>
          </a:xfrm>
          <a:custGeom>
            <a:avLst/>
            <a:gdLst/>
            <a:ahLst/>
            <a:cxnLst/>
            <a:rect l="l" t="t" r="r" b="b"/>
            <a:pathLst>
              <a:path w="3534843" h="38100">
                <a:moveTo>
                  <a:pt x="3469221" y="0"/>
                </a:moveTo>
                <a:lnTo>
                  <a:pt x="3484087" y="1464"/>
                </a:lnTo>
                <a:lnTo>
                  <a:pt x="3498382" y="5800"/>
                </a:lnTo>
                <a:lnTo>
                  <a:pt x="3511556" y="12842"/>
                </a:lnTo>
                <a:lnTo>
                  <a:pt x="3523103" y="22318"/>
                </a:lnTo>
                <a:lnTo>
                  <a:pt x="3532579" y="33866"/>
                </a:lnTo>
                <a:lnTo>
                  <a:pt x="3534843"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25" name="Dose e uso"/>
          <p:cNvSpPr txBox="1"/>
          <p:nvPr/>
        </p:nvSpPr>
        <p:spPr>
          <a:xfrm>
            <a:off x="4324350" y="2168686"/>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Dose e uso</a:t>
            </a:r>
            <a:endParaRPr lang="en-US" sz="1700" dirty="0"/>
          </a:p>
        </p:txBody>
      </p:sp>
      <p:sp>
        <p:nvSpPr>
          <p:cNvPr id="26" name="Faixa de 2 a 20 mcg/kg/min. Até ~3: D1 ("/>
          <p:cNvSpPr txBox="1"/>
          <p:nvPr/>
        </p:nvSpPr>
        <p:spPr>
          <a:xfrm>
            <a:off x="4324350" y="2517088"/>
            <a:ext cx="3054350" cy="1242715"/>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Faixa de 2 a 20 mcg/kg/min. Até ~3: D1 (vasodilatação renal e mesentérica). De 3 a 10: β1, em parte por liberação de noradrenalina. Acima de 10: α1. Os limiares variam muito entre pacientes.</a:t>
            </a:r>
            <a:endParaRPr lang="en-US" sz="1350" dirty="0"/>
          </a:p>
        </p:txBody>
      </p:sp>
      <p:sp>
        <p:nvSpPr>
          <p:cNvPr id="27" name="Cartão"/>
          <p:cNvSpPr/>
          <p:nvPr/>
        </p:nvSpPr>
        <p:spPr>
          <a:xfrm>
            <a:off x="7823200" y="1879501"/>
            <a:ext cx="3556000" cy="3194844"/>
          </a:xfrm>
          <a:prstGeom prst="roundRect">
            <a:avLst>
              <a:gd name="adj" fmla="val 2385"/>
            </a:avLst>
          </a:prstGeom>
          <a:solidFill>
            <a:srgbClr val="FFFDF8"/>
          </a:solidFill>
          <a:ln w="6350">
            <a:solidFill>
              <a:srgbClr val="E2DDD2"/>
            </a:solidFill>
            <a:prstDash val="solid"/>
          </a:ln>
        </p:spPr>
      </p:sp>
      <p:sp>
        <p:nvSpPr>
          <p:cNvPr id="28" name="Borda de destaque"/>
          <p:cNvSpPr/>
          <p:nvPr/>
        </p:nvSpPr>
        <p:spPr>
          <a:xfrm>
            <a:off x="7833779" y="1879501"/>
            <a:ext cx="3534843" cy="38100"/>
          </a:xfrm>
          <a:custGeom>
            <a:avLst/>
            <a:gdLst/>
            <a:ahLst/>
            <a:cxnLst/>
            <a:rect l="l" t="t" r="r" b="b"/>
            <a:pathLst>
              <a:path w="3534843" h="38100">
                <a:moveTo>
                  <a:pt x="3469221" y="0"/>
                </a:moveTo>
                <a:lnTo>
                  <a:pt x="3484087" y="1464"/>
                </a:lnTo>
                <a:lnTo>
                  <a:pt x="3498382" y="5800"/>
                </a:lnTo>
                <a:lnTo>
                  <a:pt x="3511556" y="12842"/>
                </a:lnTo>
                <a:lnTo>
                  <a:pt x="3523103" y="22318"/>
                </a:lnTo>
                <a:lnTo>
                  <a:pt x="3532579" y="33866"/>
                </a:lnTo>
                <a:lnTo>
                  <a:pt x="353484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29" name="Evidência e cuidados"/>
          <p:cNvSpPr txBox="1"/>
          <p:nvPr/>
        </p:nvSpPr>
        <p:spPr>
          <a:xfrm>
            <a:off x="8083550" y="2168686"/>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Evidência e cuidados</a:t>
            </a:r>
            <a:endParaRPr lang="en-US" sz="1700" dirty="0"/>
          </a:p>
        </p:txBody>
      </p:sp>
      <p:sp>
        <p:nvSpPr>
          <p:cNvPr id="30" name="Dose renal não protege o rim (ANZICS, La"/>
          <p:cNvSpPr txBox="1"/>
          <p:nvPr/>
        </p:nvSpPr>
        <p:spPr>
          <a:xfrm>
            <a:off x="8083550" y="2517088"/>
            <a:ext cx="3054350"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Dose renal não protege o rim (ANZICS, Lancet 2000). SOAP II: arritmias 24,1% vs. 12,4% e maior mortalidade no subgrupo cardiogênico. SSC 2026: recomendação forte contra como primeira linha (certeza alta).</a:t>
            </a:r>
            <a:endParaRPr lang="en-US" sz="1350" dirty="0"/>
          </a:p>
        </p:txBody>
      </p:sp>
      <p:sp>
        <p:nvSpPr>
          <p:cNvPr id="31" name="Bellomo, Lancet 2000 · De Backer, N Engl"/>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Bellomo, Lancet 2000 · De Backer, N Engl J Med 2010 (SOAP II) · SSC 2026 · barras: escala qualitativa</a:t>
            </a:r>
            <a:endParaRPr lang="en-US" sz="12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E"/>
        </a:solidFill>
      </p:bgPr>
    </p:bg>
    <p:spTree>
      <p:nvGrpSpPr>
        <p:cNvPr id="1" name=""/>
        <p:cNvGrpSpPr/>
        <p:nvPr/>
      </p:nvGrpSpPr>
      <p:grpSpPr>
        <a:xfrm>
          <a:off x="0" y="0"/>
          <a:ext cx="0" cy="0"/>
          <a:chOff x="0" y="0"/>
          <a:chExt cx="0" cy="0"/>
        </a:xfrm>
      </p:grpSpPr>
      <p:sp>
        <p:nvSpPr>
          <p:cNvPr id="2" name="RESERVA · DOBUTAMINA"/>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DOBUTAMINA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Dobutamina: inotrópico que pode baixar a PAM</a:t>
            </a:r>
            <a:endParaRPr lang="en-US" sz="3200" dirty="0"/>
          </a:p>
        </p:txBody>
      </p:sp>
      <p:sp>
        <p:nvSpPr>
          <p:cNvPr id="4" name="Cartão"/>
          <p:cNvSpPr/>
          <p:nvPr/>
        </p:nvSpPr>
        <p:spPr>
          <a:xfrm>
            <a:off x="812800" y="1879501"/>
            <a:ext cx="3048000" cy="3194844"/>
          </a:xfrm>
          <a:prstGeom prst="roundRect">
            <a:avLst>
              <a:gd name="adj" fmla="val 2500"/>
            </a:avLst>
          </a:prstGeom>
          <a:solidFill>
            <a:srgbClr val="1B2A3A"/>
          </a:solidFill>
          <a:ln/>
        </p:spPr>
      </p:sp>
      <p:sp>
        <p:nvSpPr>
          <p:cNvPr id="5" name="RECEPTORES"/>
          <p:cNvSpPr txBox="1"/>
          <p:nvPr/>
        </p:nvSpPr>
        <p:spPr>
          <a:xfrm>
            <a:off x="1066800" y="2122299"/>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RECEPTORES</a:t>
            </a:r>
            <a:endParaRPr lang="en-US" sz="1200" dirty="0"/>
          </a:p>
        </p:txBody>
      </p:sp>
      <p:sp>
        <p:nvSpPr>
          <p:cNvPr id="6" name="α1"/>
          <p:cNvSpPr txBox="1"/>
          <p:nvPr/>
        </p:nvSpPr>
        <p:spPr>
          <a:xfrm>
            <a:off x="1066800" y="2461686"/>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α1</a:t>
            </a:r>
            <a:endParaRPr lang="en-US" sz="1300" dirty="0"/>
          </a:p>
        </p:txBody>
      </p:sp>
      <p:sp>
        <p:nvSpPr>
          <p:cNvPr id="7" name="Cartão"/>
          <p:cNvSpPr/>
          <p:nvPr/>
        </p:nvSpPr>
        <p:spPr>
          <a:xfrm>
            <a:off x="1524000" y="2532162"/>
            <a:ext cx="1778000" cy="114300"/>
          </a:xfrm>
          <a:prstGeom prst="roundRect">
            <a:avLst>
              <a:gd name="adj" fmla="val 50000"/>
            </a:avLst>
          </a:prstGeom>
          <a:solidFill>
            <a:srgbClr val="33475E"/>
          </a:solidFill>
          <a:ln/>
        </p:spPr>
      </p:sp>
      <p:sp>
        <p:nvSpPr>
          <p:cNvPr id="8" name="Cartão"/>
          <p:cNvSpPr/>
          <p:nvPr/>
        </p:nvSpPr>
        <p:spPr>
          <a:xfrm>
            <a:off x="1524000" y="2532162"/>
            <a:ext cx="444500" cy="114300"/>
          </a:xfrm>
          <a:prstGeom prst="roundRect">
            <a:avLst>
              <a:gd name="adj" fmla="val 50000"/>
            </a:avLst>
          </a:prstGeom>
          <a:solidFill>
            <a:srgbClr val="E49A5C"/>
          </a:solidFill>
          <a:ln/>
        </p:spPr>
      </p:sp>
      <p:sp>
        <p:nvSpPr>
          <p:cNvPr id="9" name="β1"/>
          <p:cNvSpPr txBox="1"/>
          <p:nvPr/>
        </p:nvSpPr>
        <p:spPr>
          <a:xfrm>
            <a:off x="1066800" y="2819767"/>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β1</a:t>
            </a:r>
            <a:endParaRPr lang="en-US" sz="1300" dirty="0"/>
          </a:p>
        </p:txBody>
      </p:sp>
      <p:sp>
        <p:nvSpPr>
          <p:cNvPr id="10" name="Cartão"/>
          <p:cNvSpPr/>
          <p:nvPr/>
        </p:nvSpPr>
        <p:spPr>
          <a:xfrm>
            <a:off x="1524000" y="2890242"/>
            <a:ext cx="1778000" cy="114300"/>
          </a:xfrm>
          <a:prstGeom prst="roundRect">
            <a:avLst>
              <a:gd name="adj" fmla="val 50000"/>
            </a:avLst>
          </a:prstGeom>
          <a:solidFill>
            <a:srgbClr val="33475E"/>
          </a:solidFill>
          <a:ln/>
        </p:spPr>
      </p:sp>
      <p:sp>
        <p:nvSpPr>
          <p:cNvPr id="11" name="Cartão"/>
          <p:cNvSpPr/>
          <p:nvPr/>
        </p:nvSpPr>
        <p:spPr>
          <a:xfrm>
            <a:off x="1524000" y="2890242"/>
            <a:ext cx="1778000" cy="114300"/>
          </a:xfrm>
          <a:prstGeom prst="roundRect">
            <a:avLst>
              <a:gd name="adj" fmla="val 50000"/>
            </a:avLst>
          </a:prstGeom>
          <a:solidFill>
            <a:srgbClr val="E49A5C"/>
          </a:solidFill>
          <a:ln/>
        </p:spPr>
      </p:sp>
      <p:sp>
        <p:nvSpPr>
          <p:cNvPr id="12" name="β2"/>
          <p:cNvSpPr txBox="1"/>
          <p:nvPr/>
        </p:nvSpPr>
        <p:spPr>
          <a:xfrm>
            <a:off x="1066800" y="3177847"/>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β2</a:t>
            </a:r>
            <a:endParaRPr lang="en-US" sz="1300" dirty="0"/>
          </a:p>
        </p:txBody>
      </p:sp>
      <p:sp>
        <p:nvSpPr>
          <p:cNvPr id="13" name="Cartão"/>
          <p:cNvSpPr/>
          <p:nvPr/>
        </p:nvSpPr>
        <p:spPr>
          <a:xfrm>
            <a:off x="1524000" y="3248323"/>
            <a:ext cx="1778000" cy="114300"/>
          </a:xfrm>
          <a:prstGeom prst="roundRect">
            <a:avLst>
              <a:gd name="adj" fmla="val 50000"/>
            </a:avLst>
          </a:prstGeom>
          <a:solidFill>
            <a:srgbClr val="33475E"/>
          </a:solidFill>
          <a:ln/>
        </p:spPr>
      </p:sp>
      <p:sp>
        <p:nvSpPr>
          <p:cNvPr id="14" name="Cartão"/>
          <p:cNvSpPr/>
          <p:nvPr/>
        </p:nvSpPr>
        <p:spPr>
          <a:xfrm>
            <a:off x="1524000" y="3248323"/>
            <a:ext cx="889000" cy="114300"/>
          </a:xfrm>
          <a:prstGeom prst="roundRect">
            <a:avLst>
              <a:gd name="adj" fmla="val 50000"/>
            </a:avLst>
          </a:prstGeom>
          <a:solidFill>
            <a:srgbClr val="E49A5C"/>
          </a:solidFill>
          <a:ln/>
        </p:spPr>
      </p:sp>
      <p:sp>
        <p:nvSpPr>
          <p:cNvPr id="15" name="D1"/>
          <p:cNvSpPr txBox="1"/>
          <p:nvPr/>
        </p:nvSpPr>
        <p:spPr>
          <a:xfrm>
            <a:off x="1066800" y="3535928"/>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D1</a:t>
            </a:r>
            <a:endParaRPr lang="en-US" sz="1300" dirty="0"/>
          </a:p>
        </p:txBody>
      </p:sp>
      <p:sp>
        <p:nvSpPr>
          <p:cNvPr id="16" name="Cartão"/>
          <p:cNvSpPr/>
          <p:nvPr/>
        </p:nvSpPr>
        <p:spPr>
          <a:xfrm>
            <a:off x="1524000" y="3606403"/>
            <a:ext cx="1778000" cy="114300"/>
          </a:xfrm>
          <a:prstGeom prst="roundRect">
            <a:avLst>
              <a:gd name="adj" fmla="val 50000"/>
            </a:avLst>
          </a:prstGeom>
          <a:solidFill>
            <a:srgbClr val="33475E"/>
          </a:solidFill>
          <a:ln/>
        </p:spPr>
      </p:sp>
      <p:sp>
        <p:nvSpPr>
          <p:cNvPr id="17" name="EFEITO HEMODINÂMICO"/>
          <p:cNvSpPr txBox="1"/>
          <p:nvPr/>
        </p:nvSpPr>
        <p:spPr>
          <a:xfrm>
            <a:off x="1066800" y="3894942"/>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EFEITO HEMODINÂMICO</a:t>
            </a:r>
            <a:endParaRPr lang="en-US" sz="1200" dirty="0"/>
          </a:p>
        </p:txBody>
      </p:sp>
      <p:sp>
        <p:nvSpPr>
          <p:cNvPr id="18" name="DC ↑↑"/>
          <p:cNvSpPr txBox="1"/>
          <p:nvPr/>
        </p:nvSpPr>
        <p:spPr>
          <a:xfrm>
            <a:off x="1066800" y="4233395"/>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DC</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19" name="FC ↑"/>
          <p:cNvSpPr txBox="1"/>
          <p:nvPr/>
        </p:nvSpPr>
        <p:spPr>
          <a:xfrm>
            <a:off x="2413000" y="4233395"/>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FC</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0" name="RVS ↓"/>
          <p:cNvSpPr txBox="1"/>
          <p:nvPr/>
        </p:nvSpPr>
        <p:spPr>
          <a:xfrm>
            <a:off x="1066800" y="455843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RVS</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1" name="PAM ↔/↓"/>
          <p:cNvSpPr txBox="1"/>
          <p:nvPr/>
        </p:nvSpPr>
        <p:spPr>
          <a:xfrm>
            <a:off x="2413000" y="455843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PAM</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2" name="Cartão"/>
          <p:cNvSpPr/>
          <p:nvPr/>
        </p:nvSpPr>
        <p:spPr>
          <a:xfrm>
            <a:off x="4064000" y="1879501"/>
            <a:ext cx="3556000" cy="3194844"/>
          </a:xfrm>
          <a:prstGeom prst="roundRect">
            <a:avLst>
              <a:gd name="adj" fmla="val 2385"/>
            </a:avLst>
          </a:prstGeom>
          <a:solidFill>
            <a:srgbClr val="FFFDF8"/>
          </a:solidFill>
          <a:ln w="6350">
            <a:solidFill>
              <a:srgbClr val="E2DDD2"/>
            </a:solidFill>
            <a:prstDash val="solid"/>
          </a:ln>
        </p:spPr>
      </p:sp>
      <p:sp>
        <p:nvSpPr>
          <p:cNvPr id="23" name="Borda de destaque"/>
          <p:cNvSpPr/>
          <p:nvPr/>
        </p:nvSpPr>
        <p:spPr>
          <a:xfrm>
            <a:off x="4074579" y="1879501"/>
            <a:ext cx="3534843" cy="38100"/>
          </a:xfrm>
          <a:custGeom>
            <a:avLst/>
            <a:gdLst/>
            <a:ahLst/>
            <a:cxnLst/>
            <a:rect l="l" t="t" r="r" b="b"/>
            <a:pathLst>
              <a:path w="3534843" h="38100">
                <a:moveTo>
                  <a:pt x="3469221" y="0"/>
                </a:moveTo>
                <a:lnTo>
                  <a:pt x="3484087" y="1464"/>
                </a:lnTo>
                <a:lnTo>
                  <a:pt x="3498382" y="5800"/>
                </a:lnTo>
                <a:lnTo>
                  <a:pt x="3511556" y="12842"/>
                </a:lnTo>
                <a:lnTo>
                  <a:pt x="3523103" y="22318"/>
                </a:lnTo>
                <a:lnTo>
                  <a:pt x="3532579" y="33866"/>
                </a:lnTo>
                <a:lnTo>
                  <a:pt x="3534843"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24" name="Dose e uso"/>
          <p:cNvSpPr txBox="1"/>
          <p:nvPr/>
        </p:nvSpPr>
        <p:spPr>
          <a:xfrm>
            <a:off x="4324350" y="2168686"/>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Dose e uso</a:t>
            </a:r>
            <a:endParaRPr lang="en-US" sz="1700" dirty="0"/>
          </a:p>
        </p:txBody>
      </p:sp>
      <p:sp>
        <p:nvSpPr>
          <p:cNvPr id="25" name="Infusão de 2,5 a 20 mcg/kg/min. Mistura "/>
          <p:cNvSpPr txBox="1"/>
          <p:nvPr/>
        </p:nvSpPr>
        <p:spPr>
          <a:xfrm>
            <a:off x="4324350" y="2517088"/>
            <a:ext cx="3054350"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Infusão de 2,5 a 20 mcg/kg/min. Mistura racêmica cujos efeitos α1 se anulam: efeito líquido β1, com vasodilatação β2. SSC 2026: com disfunção cardíaca e hipoperfusão persistente, associar à NA ou usar adrenalina isolada.</a:t>
            </a:r>
            <a:endParaRPr lang="en-US" sz="1350" dirty="0"/>
          </a:p>
        </p:txBody>
      </p:sp>
      <p:sp>
        <p:nvSpPr>
          <p:cNvPr id="26" name="Cartão"/>
          <p:cNvSpPr/>
          <p:nvPr/>
        </p:nvSpPr>
        <p:spPr>
          <a:xfrm>
            <a:off x="7823200" y="1879501"/>
            <a:ext cx="3556000" cy="3194844"/>
          </a:xfrm>
          <a:prstGeom prst="roundRect">
            <a:avLst>
              <a:gd name="adj" fmla="val 2385"/>
            </a:avLst>
          </a:prstGeom>
          <a:solidFill>
            <a:srgbClr val="FFFDF8"/>
          </a:solidFill>
          <a:ln w="6350">
            <a:solidFill>
              <a:srgbClr val="E2DDD2"/>
            </a:solidFill>
            <a:prstDash val="solid"/>
          </a:ln>
        </p:spPr>
      </p:sp>
      <p:sp>
        <p:nvSpPr>
          <p:cNvPr id="27" name="Borda de destaque"/>
          <p:cNvSpPr/>
          <p:nvPr/>
        </p:nvSpPr>
        <p:spPr>
          <a:xfrm>
            <a:off x="7833779" y="1879501"/>
            <a:ext cx="3534843" cy="38100"/>
          </a:xfrm>
          <a:custGeom>
            <a:avLst/>
            <a:gdLst/>
            <a:ahLst/>
            <a:cxnLst/>
            <a:rect l="l" t="t" r="r" b="b"/>
            <a:pathLst>
              <a:path w="3534843" h="38100">
                <a:moveTo>
                  <a:pt x="3469221" y="0"/>
                </a:moveTo>
                <a:lnTo>
                  <a:pt x="3484087" y="1464"/>
                </a:lnTo>
                <a:lnTo>
                  <a:pt x="3498382" y="5800"/>
                </a:lnTo>
                <a:lnTo>
                  <a:pt x="3511556" y="12842"/>
                </a:lnTo>
                <a:lnTo>
                  <a:pt x="3523103" y="22318"/>
                </a:lnTo>
                <a:lnTo>
                  <a:pt x="3532579" y="33866"/>
                </a:lnTo>
                <a:lnTo>
                  <a:pt x="353484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28" name="Evidência e cuidados"/>
          <p:cNvSpPr txBox="1"/>
          <p:nvPr/>
        </p:nvSpPr>
        <p:spPr>
          <a:xfrm>
            <a:off x="8083550" y="2168686"/>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Evidência e cuidados</a:t>
            </a:r>
            <a:endParaRPr lang="en-US" sz="1700" dirty="0"/>
          </a:p>
        </p:txBody>
      </p:sp>
      <p:sp>
        <p:nvSpPr>
          <p:cNvPr id="29" name="Taquicardia, arritmia e maior consumo de"/>
          <p:cNvSpPr txBox="1"/>
          <p:nvPr/>
        </p:nvSpPr>
        <p:spPr>
          <a:xfrm>
            <a:off x="8083550" y="2517088"/>
            <a:ext cx="3054350"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Taquicardia, arritmia e maior consumo de O</a:t>
            </a:r>
            <a:pPr algn="l" indent="0" marL="0">
              <a:lnSpc>
                <a:spcPts val="1957"/>
              </a:lnSpc>
              <a:buNone/>
            </a:pPr>
            <a:r>
              <a:rPr lang="pt-BR" altLang="en-US" sz="1350" baseline="-40000" dirty="0">
                <a:solidFill>
                  <a:srgbClr val="2C3A48"/>
                </a:solidFill>
                <a:latin typeface="Arial" pitchFamily="34" charset="0"/>
                <a:ea typeface="Arial" pitchFamily="34" charset="-122"/>
                <a:cs typeface="Arial" pitchFamily="34" charset="-120"/>
              </a:rPr>
              <a:t>2</a:t>
            </a:r>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 miocárdico; tolerância após uso prolongado. Hipotensão se hipovolêmico ou vasoplégico. DOREMI (choque cardiogênico): desfecho composto semelhante à milrinona (54% vs. 49%, NS).</a:t>
            </a:r>
            <a:endParaRPr lang="en-US" sz="1350" dirty="0"/>
          </a:p>
        </p:txBody>
      </p:sp>
      <p:sp>
        <p:nvSpPr>
          <p:cNvPr id="30" name="Mathew, N Engl J Med 2021 (DOREMI) · SSC"/>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Mathew, N Engl J Med 2021 (DOREMI) · SSC 2026 · barras: escala qualitativa</a:t>
            </a:r>
            <a:endParaRPr lang="en-US" sz="12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E"/>
        </a:solidFill>
      </p:bgPr>
    </p:bg>
    <p:spTree>
      <p:nvGrpSpPr>
        <p:cNvPr id="1" name=""/>
        <p:cNvGrpSpPr/>
        <p:nvPr/>
      </p:nvGrpSpPr>
      <p:grpSpPr>
        <a:xfrm>
          <a:off x="0" y="0"/>
          <a:ext cx="0" cy="0"/>
          <a:chOff x="0" y="0"/>
          <a:chExt cx="0" cy="0"/>
        </a:xfrm>
      </p:grpSpPr>
      <p:sp>
        <p:nvSpPr>
          <p:cNvPr id="2" name="RESERVA · FENILEFRINA"/>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FENILEFRINA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Fenilefrina: α1 puro e bradicardia reflexa</a:t>
            </a:r>
            <a:endParaRPr lang="en-US" sz="3200" dirty="0"/>
          </a:p>
        </p:txBody>
      </p:sp>
      <p:sp>
        <p:nvSpPr>
          <p:cNvPr id="4" name="Cartão"/>
          <p:cNvSpPr/>
          <p:nvPr/>
        </p:nvSpPr>
        <p:spPr>
          <a:xfrm>
            <a:off x="812800" y="1879501"/>
            <a:ext cx="3048000" cy="3194844"/>
          </a:xfrm>
          <a:prstGeom prst="roundRect">
            <a:avLst>
              <a:gd name="adj" fmla="val 2500"/>
            </a:avLst>
          </a:prstGeom>
          <a:solidFill>
            <a:srgbClr val="1B2A3A"/>
          </a:solidFill>
          <a:ln/>
        </p:spPr>
      </p:sp>
      <p:sp>
        <p:nvSpPr>
          <p:cNvPr id="5" name="RECEPTORES"/>
          <p:cNvSpPr txBox="1"/>
          <p:nvPr/>
        </p:nvSpPr>
        <p:spPr>
          <a:xfrm>
            <a:off x="1066800" y="2122299"/>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RECEPTORES</a:t>
            </a:r>
            <a:endParaRPr lang="en-US" sz="1200" dirty="0"/>
          </a:p>
        </p:txBody>
      </p:sp>
      <p:sp>
        <p:nvSpPr>
          <p:cNvPr id="6" name="α1"/>
          <p:cNvSpPr txBox="1"/>
          <p:nvPr/>
        </p:nvSpPr>
        <p:spPr>
          <a:xfrm>
            <a:off x="1066800" y="2461686"/>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α1</a:t>
            </a:r>
            <a:endParaRPr lang="en-US" sz="1300" dirty="0"/>
          </a:p>
        </p:txBody>
      </p:sp>
      <p:sp>
        <p:nvSpPr>
          <p:cNvPr id="7" name="Cartão"/>
          <p:cNvSpPr/>
          <p:nvPr/>
        </p:nvSpPr>
        <p:spPr>
          <a:xfrm>
            <a:off x="1524000" y="2532162"/>
            <a:ext cx="1778000" cy="114300"/>
          </a:xfrm>
          <a:prstGeom prst="roundRect">
            <a:avLst>
              <a:gd name="adj" fmla="val 50000"/>
            </a:avLst>
          </a:prstGeom>
          <a:solidFill>
            <a:srgbClr val="33475E"/>
          </a:solidFill>
          <a:ln/>
        </p:spPr>
      </p:sp>
      <p:sp>
        <p:nvSpPr>
          <p:cNvPr id="8" name="Cartão"/>
          <p:cNvSpPr/>
          <p:nvPr/>
        </p:nvSpPr>
        <p:spPr>
          <a:xfrm>
            <a:off x="1524000" y="2532162"/>
            <a:ext cx="1778000" cy="114300"/>
          </a:xfrm>
          <a:prstGeom prst="roundRect">
            <a:avLst>
              <a:gd name="adj" fmla="val 50000"/>
            </a:avLst>
          </a:prstGeom>
          <a:solidFill>
            <a:srgbClr val="E49A5C"/>
          </a:solidFill>
          <a:ln/>
        </p:spPr>
      </p:sp>
      <p:sp>
        <p:nvSpPr>
          <p:cNvPr id="9" name="β1"/>
          <p:cNvSpPr txBox="1"/>
          <p:nvPr/>
        </p:nvSpPr>
        <p:spPr>
          <a:xfrm>
            <a:off x="1066800" y="2819767"/>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β1</a:t>
            </a:r>
            <a:endParaRPr lang="en-US" sz="1300" dirty="0"/>
          </a:p>
        </p:txBody>
      </p:sp>
      <p:sp>
        <p:nvSpPr>
          <p:cNvPr id="10" name="Cartão"/>
          <p:cNvSpPr/>
          <p:nvPr/>
        </p:nvSpPr>
        <p:spPr>
          <a:xfrm>
            <a:off x="1524000" y="2890242"/>
            <a:ext cx="1778000" cy="114300"/>
          </a:xfrm>
          <a:prstGeom prst="roundRect">
            <a:avLst>
              <a:gd name="adj" fmla="val 50000"/>
            </a:avLst>
          </a:prstGeom>
          <a:solidFill>
            <a:srgbClr val="33475E"/>
          </a:solidFill>
          <a:ln/>
        </p:spPr>
      </p:sp>
      <p:sp>
        <p:nvSpPr>
          <p:cNvPr id="11" name="β2"/>
          <p:cNvSpPr txBox="1"/>
          <p:nvPr/>
        </p:nvSpPr>
        <p:spPr>
          <a:xfrm>
            <a:off x="1066800" y="3177847"/>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β2</a:t>
            </a:r>
            <a:endParaRPr lang="en-US" sz="1300" dirty="0"/>
          </a:p>
        </p:txBody>
      </p:sp>
      <p:sp>
        <p:nvSpPr>
          <p:cNvPr id="12" name="Cartão"/>
          <p:cNvSpPr/>
          <p:nvPr/>
        </p:nvSpPr>
        <p:spPr>
          <a:xfrm>
            <a:off x="1524000" y="3248323"/>
            <a:ext cx="1778000" cy="114300"/>
          </a:xfrm>
          <a:prstGeom prst="roundRect">
            <a:avLst>
              <a:gd name="adj" fmla="val 50000"/>
            </a:avLst>
          </a:prstGeom>
          <a:solidFill>
            <a:srgbClr val="33475E"/>
          </a:solidFill>
          <a:ln/>
        </p:spPr>
      </p:sp>
      <p:sp>
        <p:nvSpPr>
          <p:cNvPr id="13" name="D1"/>
          <p:cNvSpPr txBox="1"/>
          <p:nvPr/>
        </p:nvSpPr>
        <p:spPr>
          <a:xfrm>
            <a:off x="1066800" y="3535928"/>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D1</a:t>
            </a:r>
            <a:endParaRPr lang="en-US" sz="1300" dirty="0"/>
          </a:p>
        </p:txBody>
      </p:sp>
      <p:sp>
        <p:nvSpPr>
          <p:cNvPr id="14" name="Cartão"/>
          <p:cNvSpPr/>
          <p:nvPr/>
        </p:nvSpPr>
        <p:spPr>
          <a:xfrm>
            <a:off x="1524000" y="3606403"/>
            <a:ext cx="1778000" cy="114300"/>
          </a:xfrm>
          <a:prstGeom prst="roundRect">
            <a:avLst>
              <a:gd name="adj" fmla="val 50000"/>
            </a:avLst>
          </a:prstGeom>
          <a:solidFill>
            <a:srgbClr val="33475E"/>
          </a:solidFill>
          <a:ln/>
        </p:spPr>
      </p:sp>
      <p:sp>
        <p:nvSpPr>
          <p:cNvPr id="15" name="EFEITO HEMODINÂMICO"/>
          <p:cNvSpPr txBox="1"/>
          <p:nvPr/>
        </p:nvSpPr>
        <p:spPr>
          <a:xfrm>
            <a:off x="1066800" y="3894942"/>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EFEITO HEMODINÂMICO</a:t>
            </a:r>
            <a:endParaRPr lang="en-US" sz="1200" dirty="0"/>
          </a:p>
        </p:txBody>
      </p:sp>
      <p:sp>
        <p:nvSpPr>
          <p:cNvPr id="16" name="PAM ↑"/>
          <p:cNvSpPr txBox="1"/>
          <p:nvPr/>
        </p:nvSpPr>
        <p:spPr>
          <a:xfrm>
            <a:off x="1066800" y="4233395"/>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PAM</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17" name="RVS ↑↑"/>
          <p:cNvSpPr txBox="1"/>
          <p:nvPr/>
        </p:nvSpPr>
        <p:spPr>
          <a:xfrm>
            <a:off x="2413000" y="4233395"/>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RVS</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18" name="FC ↓"/>
          <p:cNvSpPr txBox="1"/>
          <p:nvPr/>
        </p:nvSpPr>
        <p:spPr>
          <a:xfrm>
            <a:off x="1066800" y="455843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FC</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19" name="DC ↔/↓"/>
          <p:cNvSpPr txBox="1"/>
          <p:nvPr/>
        </p:nvSpPr>
        <p:spPr>
          <a:xfrm>
            <a:off x="2413000" y="455843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DC</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0" name="Cartão"/>
          <p:cNvSpPr/>
          <p:nvPr/>
        </p:nvSpPr>
        <p:spPr>
          <a:xfrm>
            <a:off x="4064000" y="1879501"/>
            <a:ext cx="3556000" cy="3194844"/>
          </a:xfrm>
          <a:prstGeom prst="roundRect">
            <a:avLst>
              <a:gd name="adj" fmla="val 2385"/>
            </a:avLst>
          </a:prstGeom>
          <a:solidFill>
            <a:srgbClr val="FFFDF8"/>
          </a:solidFill>
          <a:ln w="6350">
            <a:solidFill>
              <a:srgbClr val="E2DDD2"/>
            </a:solidFill>
            <a:prstDash val="solid"/>
          </a:ln>
        </p:spPr>
      </p:sp>
      <p:sp>
        <p:nvSpPr>
          <p:cNvPr id="21" name="Borda de destaque"/>
          <p:cNvSpPr/>
          <p:nvPr/>
        </p:nvSpPr>
        <p:spPr>
          <a:xfrm>
            <a:off x="4074579" y="1879501"/>
            <a:ext cx="3534843" cy="38100"/>
          </a:xfrm>
          <a:custGeom>
            <a:avLst/>
            <a:gdLst/>
            <a:ahLst/>
            <a:cxnLst/>
            <a:rect l="l" t="t" r="r" b="b"/>
            <a:pathLst>
              <a:path w="3534843" h="38100">
                <a:moveTo>
                  <a:pt x="3469221" y="0"/>
                </a:moveTo>
                <a:lnTo>
                  <a:pt x="3484087" y="1464"/>
                </a:lnTo>
                <a:lnTo>
                  <a:pt x="3498382" y="5800"/>
                </a:lnTo>
                <a:lnTo>
                  <a:pt x="3511556" y="12842"/>
                </a:lnTo>
                <a:lnTo>
                  <a:pt x="3523103" y="22318"/>
                </a:lnTo>
                <a:lnTo>
                  <a:pt x="3532579" y="33866"/>
                </a:lnTo>
                <a:lnTo>
                  <a:pt x="3534843"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22" name="Dose e uso"/>
          <p:cNvSpPr txBox="1"/>
          <p:nvPr/>
        </p:nvSpPr>
        <p:spPr>
          <a:xfrm>
            <a:off x="4324350" y="2168686"/>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Dose e uso</a:t>
            </a:r>
            <a:endParaRPr lang="en-US" sz="1700" dirty="0"/>
          </a:p>
        </p:txBody>
      </p:sp>
      <p:sp>
        <p:nvSpPr>
          <p:cNvPr id="23" name="Bolus de 50–100 mcg, início imediato e e"/>
          <p:cNvSpPr txBox="1"/>
          <p:nvPr/>
        </p:nvSpPr>
        <p:spPr>
          <a:xfrm>
            <a:off x="4324350" y="2517088"/>
            <a:ext cx="3054350" cy="1988344"/>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Bolus de 50–100 mcg, início imediato e efeito curto. Na cesárea sob raqui, infusão profilática de 25–50 mcg/min, mantendo a PAS ≥90% da basal. Útil na vasodilatação com FC normal ou alta e, conforme o contexto, na estenose aórtica ou na obstrução dinâmica da via de saída do VE.</a:t>
            </a:r>
            <a:endParaRPr lang="en-US" sz="1350" dirty="0"/>
          </a:p>
        </p:txBody>
      </p:sp>
      <p:sp>
        <p:nvSpPr>
          <p:cNvPr id="24" name="Cartão"/>
          <p:cNvSpPr/>
          <p:nvPr/>
        </p:nvSpPr>
        <p:spPr>
          <a:xfrm>
            <a:off x="7823200" y="1879501"/>
            <a:ext cx="3556000" cy="3194844"/>
          </a:xfrm>
          <a:prstGeom prst="roundRect">
            <a:avLst>
              <a:gd name="adj" fmla="val 2385"/>
            </a:avLst>
          </a:prstGeom>
          <a:solidFill>
            <a:srgbClr val="FFFDF8"/>
          </a:solidFill>
          <a:ln w="6350">
            <a:solidFill>
              <a:srgbClr val="E2DDD2"/>
            </a:solidFill>
            <a:prstDash val="solid"/>
          </a:ln>
        </p:spPr>
      </p:sp>
      <p:sp>
        <p:nvSpPr>
          <p:cNvPr id="25" name="Borda de destaque"/>
          <p:cNvSpPr/>
          <p:nvPr/>
        </p:nvSpPr>
        <p:spPr>
          <a:xfrm>
            <a:off x="7833779" y="1879501"/>
            <a:ext cx="3534843" cy="38100"/>
          </a:xfrm>
          <a:custGeom>
            <a:avLst/>
            <a:gdLst/>
            <a:ahLst/>
            <a:cxnLst/>
            <a:rect l="l" t="t" r="r" b="b"/>
            <a:pathLst>
              <a:path w="3534843" h="38100">
                <a:moveTo>
                  <a:pt x="3469221" y="0"/>
                </a:moveTo>
                <a:lnTo>
                  <a:pt x="3484087" y="1464"/>
                </a:lnTo>
                <a:lnTo>
                  <a:pt x="3498382" y="5800"/>
                </a:lnTo>
                <a:lnTo>
                  <a:pt x="3511556" y="12842"/>
                </a:lnTo>
                <a:lnTo>
                  <a:pt x="3523103" y="22318"/>
                </a:lnTo>
                <a:lnTo>
                  <a:pt x="3532579" y="33866"/>
                </a:lnTo>
                <a:lnTo>
                  <a:pt x="353484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26" name="Evidência e cuidados"/>
          <p:cNvSpPr txBox="1"/>
          <p:nvPr/>
        </p:nvSpPr>
        <p:spPr>
          <a:xfrm>
            <a:off x="8083550" y="2168686"/>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Evidência e cuidados</a:t>
            </a:r>
            <a:endParaRPr lang="en-US" sz="1700" dirty="0"/>
          </a:p>
        </p:txBody>
      </p:sp>
      <p:sp>
        <p:nvSpPr>
          <p:cNvPr id="27" name="O barorreflexo reduz a FC e pode reduzir"/>
          <p:cNvSpPr txBox="1"/>
          <p:nvPr/>
        </p:nvSpPr>
        <p:spPr>
          <a:xfrm>
            <a:off x="8083550" y="2517088"/>
            <a:ext cx="3054350"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O barorreflexo reduz a FC e pode reduzir o DC, sobretudo com disfunção de VE. Na cesárea, NA 6 mcg em bolus causou menos bradicardia que fenilefrina 100 mcg (10,7% vs. 37,5%). No choque séptico, sem evidência para uso como primeira linha.</a:t>
            </a:r>
            <a:endParaRPr lang="en-US" sz="1350" dirty="0"/>
          </a:p>
        </p:txBody>
      </p:sp>
      <p:sp>
        <p:nvSpPr>
          <p:cNvPr id="28" name="Kinsella, Anaesthesia 2018 · Park &amp; Choi"/>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Kinsella, Anaesthesia 2018 · Park &amp; Choi, Anesth Pain Med 2024 (Sharkey et al.) · barras: escala qualitativa</a:t>
            </a:r>
            <a:endParaRPr lang="en-US" sz="12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E"/>
        </a:solidFill>
      </p:bgPr>
    </p:bg>
    <p:spTree>
      <p:nvGrpSpPr>
        <p:cNvPr id="1" name=""/>
        <p:cNvGrpSpPr/>
        <p:nvPr/>
      </p:nvGrpSpPr>
      <p:grpSpPr>
        <a:xfrm>
          <a:off x="0" y="0"/>
          <a:ext cx="0" cy="0"/>
          <a:chOff x="0" y="0"/>
          <a:chExt cx="0" cy="0"/>
        </a:xfrm>
      </p:grpSpPr>
      <p:sp>
        <p:nvSpPr>
          <p:cNvPr id="2" name="RESERVA · EFEDRINA"/>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EFEDRINA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Efedrina: ação mista e taquifilaxia</a:t>
            </a:r>
            <a:endParaRPr lang="en-US" sz="3200" dirty="0"/>
          </a:p>
        </p:txBody>
      </p:sp>
      <p:sp>
        <p:nvSpPr>
          <p:cNvPr id="4" name="Cartão"/>
          <p:cNvSpPr/>
          <p:nvPr/>
        </p:nvSpPr>
        <p:spPr>
          <a:xfrm>
            <a:off x="812800" y="1879501"/>
            <a:ext cx="3048000" cy="3194844"/>
          </a:xfrm>
          <a:prstGeom prst="roundRect">
            <a:avLst>
              <a:gd name="adj" fmla="val 2500"/>
            </a:avLst>
          </a:prstGeom>
          <a:solidFill>
            <a:srgbClr val="1B2A3A"/>
          </a:solidFill>
          <a:ln/>
        </p:spPr>
      </p:sp>
      <p:sp>
        <p:nvSpPr>
          <p:cNvPr id="5" name="RECEPTORES"/>
          <p:cNvSpPr txBox="1"/>
          <p:nvPr/>
        </p:nvSpPr>
        <p:spPr>
          <a:xfrm>
            <a:off x="1066800" y="2122299"/>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RECEPTORES</a:t>
            </a:r>
            <a:endParaRPr lang="en-US" sz="1200" dirty="0"/>
          </a:p>
        </p:txBody>
      </p:sp>
      <p:sp>
        <p:nvSpPr>
          <p:cNvPr id="6" name="α1"/>
          <p:cNvSpPr txBox="1"/>
          <p:nvPr/>
        </p:nvSpPr>
        <p:spPr>
          <a:xfrm>
            <a:off x="1066800" y="2461686"/>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α1</a:t>
            </a:r>
            <a:endParaRPr lang="en-US" sz="1300" dirty="0"/>
          </a:p>
        </p:txBody>
      </p:sp>
      <p:sp>
        <p:nvSpPr>
          <p:cNvPr id="7" name="Cartão"/>
          <p:cNvSpPr/>
          <p:nvPr/>
        </p:nvSpPr>
        <p:spPr>
          <a:xfrm>
            <a:off x="1524000" y="2532162"/>
            <a:ext cx="1778000" cy="114300"/>
          </a:xfrm>
          <a:prstGeom prst="roundRect">
            <a:avLst>
              <a:gd name="adj" fmla="val 50000"/>
            </a:avLst>
          </a:prstGeom>
          <a:solidFill>
            <a:srgbClr val="33475E"/>
          </a:solidFill>
          <a:ln/>
        </p:spPr>
      </p:sp>
      <p:sp>
        <p:nvSpPr>
          <p:cNvPr id="8" name="Cartão"/>
          <p:cNvSpPr/>
          <p:nvPr/>
        </p:nvSpPr>
        <p:spPr>
          <a:xfrm>
            <a:off x="1524000" y="2532162"/>
            <a:ext cx="889000" cy="114300"/>
          </a:xfrm>
          <a:prstGeom prst="roundRect">
            <a:avLst>
              <a:gd name="adj" fmla="val 50000"/>
            </a:avLst>
          </a:prstGeom>
          <a:solidFill>
            <a:srgbClr val="E49A5C"/>
          </a:solidFill>
          <a:ln/>
        </p:spPr>
      </p:sp>
      <p:sp>
        <p:nvSpPr>
          <p:cNvPr id="9" name="β1"/>
          <p:cNvSpPr txBox="1"/>
          <p:nvPr/>
        </p:nvSpPr>
        <p:spPr>
          <a:xfrm>
            <a:off x="1066800" y="2819767"/>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β1</a:t>
            </a:r>
            <a:endParaRPr lang="en-US" sz="1300" dirty="0"/>
          </a:p>
        </p:txBody>
      </p:sp>
      <p:sp>
        <p:nvSpPr>
          <p:cNvPr id="10" name="Cartão"/>
          <p:cNvSpPr/>
          <p:nvPr/>
        </p:nvSpPr>
        <p:spPr>
          <a:xfrm>
            <a:off x="1524000" y="2890242"/>
            <a:ext cx="1778000" cy="114300"/>
          </a:xfrm>
          <a:prstGeom prst="roundRect">
            <a:avLst>
              <a:gd name="adj" fmla="val 50000"/>
            </a:avLst>
          </a:prstGeom>
          <a:solidFill>
            <a:srgbClr val="33475E"/>
          </a:solidFill>
          <a:ln/>
        </p:spPr>
      </p:sp>
      <p:sp>
        <p:nvSpPr>
          <p:cNvPr id="11" name="Cartão"/>
          <p:cNvSpPr/>
          <p:nvPr/>
        </p:nvSpPr>
        <p:spPr>
          <a:xfrm>
            <a:off x="1524000" y="2890242"/>
            <a:ext cx="889000" cy="114300"/>
          </a:xfrm>
          <a:prstGeom prst="roundRect">
            <a:avLst>
              <a:gd name="adj" fmla="val 50000"/>
            </a:avLst>
          </a:prstGeom>
          <a:solidFill>
            <a:srgbClr val="E49A5C"/>
          </a:solidFill>
          <a:ln/>
        </p:spPr>
      </p:sp>
      <p:sp>
        <p:nvSpPr>
          <p:cNvPr id="12" name="β2"/>
          <p:cNvSpPr txBox="1"/>
          <p:nvPr/>
        </p:nvSpPr>
        <p:spPr>
          <a:xfrm>
            <a:off x="1066800" y="3177847"/>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β2</a:t>
            </a:r>
            <a:endParaRPr lang="en-US" sz="1300" dirty="0"/>
          </a:p>
        </p:txBody>
      </p:sp>
      <p:sp>
        <p:nvSpPr>
          <p:cNvPr id="13" name="Cartão"/>
          <p:cNvSpPr/>
          <p:nvPr/>
        </p:nvSpPr>
        <p:spPr>
          <a:xfrm>
            <a:off x="1524000" y="3248323"/>
            <a:ext cx="1778000" cy="114300"/>
          </a:xfrm>
          <a:prstGeom prst="roundRect">
            <a:avLst>
              <a:gd name="adj" fmla="val 50000"/>
            </a:avLst>
          </a:prstGeom>
          <a:solidFill>
            <a:srgbClr val="33475E"/>
          </a:solidFill>
          <a:ln/>
        </p:spPr>
      </p:sp>
      <p:sp>
        <p:nvSpPr>
          <p:cNvPr id="14" name="Cartão"/>
          <p:cNvSpPr/>
          <p:nvPr/>
        </p:nvSpPr>
        <p:spPr>
          <a:xfrm>
            <a:off x="1524000" y="3248323"/>
            <a:ext cx="444500" cy="114300"/>
          </a:xfrm>
          <a:prstGeom prst="roundRect">
            <a:avLst>
              <a:gd name="adj" fmla="val 50000"/>
            </a:avLst>
          </a:prstGeom>
          <a:solidFill>
            <a:srgbClr val="E49A5C"/>
          </a:solidFill>
          <a:ln/>
        </p:spPr>
      </p:sp>
      <p:sp>
        <p:nvSpPr>
          <p:cNvPr id="15" name="D1"/>
          <p:cNvSpPr txBox="1"/>
          <p:nvPr/>
        </p:nvSpPr>
        <p:spPr>
          <a:xfrm>
            <a:off x="1066800" y="3535928"/>
            <a:ext cx="374650" cy="231080"/>
          </a:xfrm>
          <a:prstGeom prst="rect">
            <a:avLst/>
          </a:prstGeom>
          <a:noFill/>
          <a:ln/>
        </p:spPr>
        <p:txBody>
          <a:bodyPr wrap="none" lIns="0" tIns="0" rIns="0" bIns="0" rtlCol="0" anchor="t"/>
          <a:lstStyle/>
          <a:p>
            <a:pPr algn="l" indent="0" marL="0">
              <a:lnSpc>
                <a:spcPts val="1820"/>
              </a:lnSpc>
              <a:buNone/>
            </a:pPr>
            <a:r>
              <a:rPr lang="pt-BR" altLang="en-US" sz="1300" b="1" dirty="0">
                <a:solidFill>
                  <a:srgbClr val="F5F3EE"/>
                </a:solidFill>
                <a:latin typeface="Arial" pitchFamily="34" charset="0"/>
                <a:ea typeface="Arial" pitchFamily="34" charset="-122"/>
                <a:cs typeface="Arial" pitchFamily="34" charset="-120"/>
              </a:rPr>
              <a:t>D1</a:t>
            </a:r>
            <a:endParaRPr lang="en-US" sz="1300" dirty="0"/>
          </a:p>
        </p:txBody>
      </p:sp>
      <p:sp>
        <p:nvSpPr>
          <p:cNvPr id="16" name="Cartão"/>
          <p:cNvSpPr/>
          <p:nvPr/>
        </p:nvSpPr>
        <p:spPr>
          <a:xfrm>
            <a:off x="1524000" y="3606403"/>
            <a:ext cx="1778000" cy="114300"/>
          </a:xfrm>
          <a:prstGeom prst="roundRect">
            <a:avLst>
              <a:gd name="adj" fmla="val 50000"/>
            </a:avLst>
          </a:prstGeom>
          <a:solidFill>
            <a:srgbClr val="33475E"/>
          </a:solidFill>
          <a:ln/>
        </p:spPr>
      </p:sp>
      <p:sp>
        <p:nvSpPr>
          <p:cNvPr id="17" name="EFEITO HEMODINÂMICO"/>
          <p:cNvSpPr txBox="1"/>
          <p:nvPr/>
        </p:nvSpPr>
        <p:spPr>
          <a:xfrm>
            <a:off x="1066800" y="3894942"/>
            <a:ext cx="25590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EFEITO HEMODINÂMICO</a:t>
            </a:r>
            <a:endParaRPr lang="en-US" sz="1200" dirty="0"/>
          </a:p>
        </p:txBody>
      </p:sp>
      <p:sp>
        <p:nvSpPr>
          <p:cNvPr id="18" name="PAM ↑"/>
          <p:cNvSpPr txBox="1"/>
          <p:nvPr/>
        </p:nvSpPr>
        <p:spPr>
          <a:xfrm>
            <a:off x="1066800" y="4233395"/>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PAM</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19" name="FC ↑"/>
          <p:cNvSpPr txBox="1"/>
          <p:nvPr/>
        </p:nvSpPr>
        <p:spPr>
          <a:xfrm>
            <a:off x="2413000" y="4233395"/>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FC</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0" name="DC ↑"/>
          <p:cNvSpPr txBox="1"/>
          <p:nvPr/>
        </p:nvSpPr>
        <p:spPr>
          <a:xfrm>
            <a:off x="1066800" y="455843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DC</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1" name="RVS ↔/↑"/>
          <p:cNvSpPr txBox="1"/>
          <p:nvPr/>
        </p:nvSpPr>
        <p:spPr>
          <a:xfrm>
            <a:off x="2413000" y="4558436"/>
            <a:ext cx="12128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F5F3EE"/>
                </a:solidFill>
                <a:latin typeface="Arial" pitchFamily="34" charset="0"/>
                <a:ea typeface="Arial" pitchFamily="34" charset="-122"/>
                <a:cs typeface="Arial" pitchFamily="34" charset="-120"/>
              </a:rPr>
              <a:t>RVS</a:t>
            </a:r>
            <a:pPr algn="l" indent="0" marL="0">
              <a:lnSpc>
                <a:spcPts val="1960"/>
              </a:lnSpc>
              <a:buNone/>
            </a:pPr>
            <a:r>
              <a:rPr lang="pt-BR" altLang="en-US" sz="1400" dirty="0">
                <a:solidFill>
                  <a:srgbClr val="F5F3EE"/>
                </a:solidFill>
                <a:latin typeface="Arial" pitchFamily="34" charset="0"/>
                <a:ea typeface="Arial" pitchFamily="34" charset="-122"/>
                <a:cs typeface="Arial" pitchFamily="34" charset="-120"/>
              </a:rPr>
              <a:t> ↔/↑</a:t>
            </a:r>
            <a:endParaRPr lang="en-US" sz="1400" dirty="0"/>
          </a:p>
        </p:txBody>
      </p:sp>
      <p:sp>
        <p:nvSpPr>
          <p:cNvPr id="22" name="Cartão"/>
          <p:cNvSpPr/>
          <p:nvPr/>
        </p:nvSpPr>
        <p:spPr>
          <a:xfrm>
            <a:off x="4064000" y="1879501"/>
            <a:ext cx="3556000" cy="3194844"/>
          </a:xfrm>
          <a:prstGeom prst="roundRect">
            <a:avLst>
              <a:gd name="adj" fmla="val 2385"/>
            </a:avLst>
          </a:prstGeom>
          <a:solidFill>
            <a:srgbClr val="FFFDF8"/>
          </a:solidFill>
          <a:ln w="6350">
            <a:solidFill>
              <a:srgbClr val="E2DDD2"/>
            </a:solidFill>
            <a:prstDash val="solid"/>
          </a:ln>
        </p:spPr>
      </p:sp>
      <p:sp>
        <p:nvSpPr>
          <p:cNvPr id="23" name="Borda de destaque"/>
          <p:cNvSpPr/>
          <p:nvPr/>
        </p:nvSpPr>
        <p:spPr>
          <a:xfrm>
            <a:off x="4074579" y="1879501"/>
            <a:ext cx="3534843" cy="38100"/>
          </a:xfrm>
          <a:custGeom>
            <a:avLst/>
            <a:gdLst/>
            <a:ahLst/>
            <a:cxnLst/>
            <a:rect l="l" t="t" r="r" b="b"/>
            <a:pathLst>
              <a:path w="3534843" h="38100">
                <a:moveTo>
                  <a:pt x="3469221" y="0"/>
                </a:moveTo>
                <a:lnTo>
                  <a:pt x="3484087" y="1464"/>
                </a:lnTo>
                <a:lnTo>
                  <a:pt x="3498382" y="5800"/>
                </a:lnTo>
                <a:lnTo>
                  <a:pt x="3511556" y="12842"/>
                </a:lnTo>
                <a:lnTo>
                  <a:pt x="3523103" y="22318"/>
                </a:lnTo>
                <a:lnTo>
                  <a:pt x="3532579" y="33866"/>
                </a:lnTo>
                <a:lnTo>
                  <a:pt x="3534843"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24" name="Dose e uso"/>
          <p:cNvSpPr txBox="1"/>
          <p:nvPr/>
        </p:nvSpPr>
        <p:spPr>
          <a:xfrm>
            <a:off x="4324350" y="2168686"/>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Dose e uso</a:t>
            </a:r>
            <a:endParaRPr lang="en-US" sz="1700" dirty="0"/>
          </a:p>
        </p:txBody>
      </p:sp>
      <p:sp>
        <p:nvSpPr>
          <p:cNvPr id="25" name="Bolus de 5–10 mg EV, repetível. Agonista"/>
          <p:cNvSpPr txBox="1"/>
          <p:nvPr/>
        </p:nvSpPr>
        <p:spPr>
          <a:xfrm>
            <a:off x="4324350" y="2517088"/>
            <a:ext cx="3054350" cy="1988344"/>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Bolus de 5–10 mg EV, repetível. Agonista direto α e β e indireto, liberando noradrenalina das terminações. Sem catecol, resiste a MAO e COMT e dura mais que as catecolaminas. Boa opção na hipotensão com bradicardia após indução ou raqui.</a:t>
            </a:r>
            <a:endParaRPr lang="en-US" sz="1350" dirty="0"/>
          </a:p>
        </p:txBody>
      </p:sp>
      <p:sp>
        <p:nvSpPr>
          <p:cNvPr id="26" name="Cartão"/>
          <p:cNvSpPr/>
          <p:nvPr/>
        </p:nvSpPr>
        <p:spPr>
          <a:xfrm>
            <a:off x="7823200" y="1879501"/>
            <a:ext cx="3556000" cy="3194844"/>
          </a:xfrm>
          <a:prstGeom prst="roundRect">
            <a:avLst>
              <a:gd name="adj" fmla="val 2385"/>
            </a:avLst>
          </a:prstGeom>
          <a:solidFill>
            <a:srgbClr val="FFFDF8"/>
          </a:solidFill>
          <a:ln w="6350">
            <a:solidFill>
              <a:srgbClr val="E2DDD2"/>
            </a:solidFill>
            <a:prstDash val="solid"/>
          </a:ln>
        </p:spPr>
      </p:sp>
      <p:sp>
        <p:nvSpPr>
          <p:cNvPr id="27" name="Borda de destaque"/>
          <p:cNvSpPr/>
          <p:nvPr/>
        </p:nvSpPr>
        <p:spPr>
          <a:xfrm>
            <a:off x="7833779" y="1879501"/>
            <a:ext cx="3534843" cy="38100"/>
          </a:xfrm>
          <a:custGeom>
            <a:avLst/>
            <a:gdLst/>
            <a:ahLst/>
            <a:cxnLst/>
            <a:rect l="l" t="t" r="r" b="b"/>
            <a:pathLst>
              <a:path w="3534843" h="38100">
                <a:moveTo>
                  <a:pt x="3469221" y="0"/>
                </a:moveTo>
                <a:lnTo>
                  <a:pt x="3484087" y="1464"/>
                </a:lnTo>
                <a:lnTo>
                  <a:pt x="3498382" y="5800"/>
                </a:lnTo>
                <a:lnTo>
                  <a:pt x="3511556" y="12842"/>
                </a:lnTo>
                <a:lnTo>
                  <a:pt x="3523103" y="22318"/>
                </a:lnTo>
                <a:lnTo>
                  <a:pt x="3532579" y="33866"/>
                </a:lnTo>
                <a:lnTo>
                  <a:pt x="353484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28" name="Evidência e cuidados"/>
          <p:cNvSpPr txBox="1"/>
          <p:nvPr/>
        </p:nvSpPr>
        <p:spPr>
          <a:xfrm>
            <a:off x="8083550" y="2168686"/>
            <a:ext cx="30543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Evidência e cuidados</a:t>
            </a:r>
            <a:endParaRPr lang="en-US" sz="1700" dirty="0"/>
          </a:p>
        </p:txBody>
      </p:sp>
      <p:sp>
        <p:nvSpPr>
          <p:cNvPr id="29" name="Taquifilaxia por depleção dos estoques d"/>
          <p:cNvSpPr txBox="1"/>
          <p:nvPr/>
        </p:nvSpPr>
        <p:spPr>
          <a:xfrm>
            <a:off x="8083550" y="2517088"/>
            <a:ext cx="3054350"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Taquifilaxia por depleção dos estoques de noradrenalina: doses repetidas perdem efeito. Interação grave com IMAO. Na cesárea, atravessa a placenta e se associa a mais acidose fetal que a fenilefrina; fica como resgate.</a:t>
            </a:r>
            <a:endParaRPr lang="en-US" sz="1350" dirty="0"/>
          </a:p>
        </p:txBody>
      </p:sp>
      <p:sp>
        <p:nvSpPr>
          <p:cNvPr id="30" name="Kinsella, Anaesthesia 2018 · Park &amp; Choi"/>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Kinsella, Anaesthesia 2018 · Park &amp; Choi, Anesth Pain Med 2024 · Miller’s Anesthesia, 10ª ed. · [cap./pág.] · barras: escala qualitativa</a:t>
            </a:r>
            <a:endParaRPr lang="en-US" sz="12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3EE"/>
        </a:solidFill>
      </p:bgPr>
    </p:bg>
    <p:spTree>
      <p:nvGrpSpPr>
        <p:cNvPr id="1" name=""/>
        <p:cNvGrpSpPr/>
        <p:nvPr/>
      </p:nvGrpSpPr>
      <p:grpSpPr>
        <a:xfrm>
          <a:off x="0" y="0"/>
          <a:ext cx="0" cy="0"/>
          <a:chOff x="0" y="0"/>
          <a:chExt cx="0" cy="0"/>
        </a:xfrm>
      </p:grpSpPr>
      <p:sp>
        <p:nvSpPr>
          <p:cNvPr id="2" name="RESERVA · VASOPRESSINA"/>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VASOPRESSINA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Vasopressina: adjuvante que poupa catecolamina</a:t>
            </a:r>
            <a:endParaRPr lang="en-US" sz="3200" dirty="0"/>
          </a:p>
        </p:txBody>
      </p:sp>
      <p:sp>
        <p:nvSpPr>
          <p:cNvPr id="4" name="Cartão"/>
          <p:cNvSpPr/>
          <p:nvPr/>
        </p:nvSpPr>
        <p:spPr>
          <a:xfrm>
            <a:off x="812800" y="1879501"/>
            <a:ext cx="3386634" cy="2652911"/>
          </a:xfrm>
          <a:prstGeom prst="roundRect">
            <a:avLst>
              <a:gd name="adj" fmla="val 2872"/>
            </a:avLst>
          </a:prstGeom>
          <a:solidFill>
            <a:srgbClr val="FFFDF8"/>
          </a:solidFill>
          <a:ln w="6350">
            <a:solidFill>
              <a:srgbClr val="E2DDD2"/>
            </a:solidFill>
            <a:prstDash val="solid"/>
          </a:ln>
        </p:spPr>
      </p:sp>
      <p:sp>
        <p:nvSpPr>
          <p:cNvPr id="5" name="Borda de destaque"/>
          <p:cNvSpPr/>
          <p:nvPr/>
        </p:nvSpPr>
        <p:spPr>
          <a:xfrm>
            <a:off x="823379" y="1879501"/>
            <a:ext cx="3365476" cy="38100"/>
          </a:xfrm>
          <a:custGeom>
            <a:avLst/>
            <a:gdLst/>
            <a:ahLst/>
            <a:cxnLst/>
            <a:rect l="l" t="t" r="r" b="b"/>
            <a:pathLst>
              <a:path w="3365476" h="38100">
                <a:moveTo>
                  <a:pt x="3299855" y="0"/>
                </a:moveTo>
                <a:lnTo>
                  <a:pt x="3314721" y="1464"/>
                </a:lnTo>
                <a:lnTo>
                  <a:pt x="3329015" y="5800"/>
                </a:lnTo>
                <a:lnTo>
                  <a:pt x="3342189" y="12842"/>
                </a:lnTo>
                <a:lnTo>
                  <a:pt x="3353736" y="22318"/>
                </a:lnTo>
                <a:lnTo>
                  <a:pt x="3363213" y="33866"/>
                </a:lnTo>
                <a:lnTo>
                  <a:pt x="3365476"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6" name="Mecanismo"/>
          <p:cNvSpPr txBox="1"/>
          <p:nvPr/>
        </p:nvSpPr>
        <p:spPr>
          <a:xfrm>
            <a:off x="1073150" y="2168686"/>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Mecanismo</a:t>
            </a:r>
            <a:endParaRPr lang="en-US" sz="1700" dirty="0"/>
          </a:p>
        </p:txBody>
      </p:sp>
      <p:sp>
        <p:nvSpPr>
          <p:cNvPr id="7" name="Hormônio não adrenérgico: receptor V1 no"/>
          <p:cNvSpPr txBox="1"/>
          <p:nvPr/>
        </p:nvSpPr>
        <p:spPr>
          <a:xfrm>
            <a:off x="1073150" y="2517088"/>
            <a:ext cx="2884984"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Hormônio não adrenérgico: receptor V1 no músculo liso vascular. Mantém efeito em acidose e com adrenoceptores dessensibilizados. No choque séptico há deficiência relativa de vasopressina endógena.</a:t>
            </a:r>
            <a:endParaRPr lang="en-US" sz="1350" dirty="0"/>
          </a:p>
        </p:txBody>
      </p:sp>
      <p:sp>
        <p:nvSpPr>
          <p:cNvPr id="8" name="Cartão"/>
          <p:cNvSpPr/>
          <p:nvPr/>
        </p:nvSpPr>
        <p:spPr>
          <a:xfrm>
            <a:off x="4402634" y="1879501"/>
            <a:ext cx="3386634" cy="2652911"/>
          </a:xfrm>
          <a:prstGeom prst="roundRect">
            <a:avLst>
              <a:gd name="adj" fmla="val 2872"/>
            </a:avLst>
          </a:prstGeom>
          <a:solidFill>
            <a:srgbClr val="FFFDF8"/>
          </a:solidFill>
          <a:ln w="6350">
            <a:solidFill>
              <a:srgbClr val="E2DDD2"/>
            </a:solidFill>
            <a:prstDash val="solid"/>
          </a:ln>
        </p:spPr>
      </p:sp>
      <p:sp>
        <p:nvSpPr>
          <p:cNvPr id="9" name="Borda de destaque"/>
          <p:cNvSpPr/>
          <p:nvPr/>
        </p:nvSpPr>
        <p:spPr>
          <a:xfrm>
            <a:off x="4413212" y="1879501"/>
            <a:ext cx="3365476" cy="38100"/>
          </a:xfrm>
          <a:custGeom>
            <a:avLst/>
            <a:gdLst/>
            <a:ahLst/>
            <a:cxnLst/>
            <a:rect l="l" t="t" r="r" b="b"/>
            <a:pathLst>
              <a:path w="3365476" h="38100">
                <a:moveTo>
                  <a:pt x="3299855" y="0"/>
                </a:moveTo>
                <a:lnTo>
                  <a:pt x="3314721" y="1464"/>
                </a:lnTo>
                <a:lnTo>
                  <a:pt x="3329015" y="5800"/>
                </a:lnTo>
                <a:lnTo>
                  <a:pt x="3342189" y="12842"/>
                </a:lnTo>
                <a:lnTo>
                  <a:pt x="3353736" y="22318"/>
                </a:lnTo>
                <a:lnTo>
                  <a:pt x="3363213" y="33866"/>
                </a:lnTo>
                <a:lnTo>
                  <a:pt x="3365476"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10" name="Uso"/>
          <p:cNvSpPr txBox="1"/>
          <p:nvPr/>
        </p:nvSpPr>
        <p:spPr>
          <a:xfrm>
            <a:off x="4662984" y="2168686"/>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Uso</a:t>
            </a:r>
            <a:endParaRPr lang="en-US" sz="1700" dirty="0"/>
          </a:p>
        </p:txBody>
      </p:sp>
      <p:sp>
        <p:nvSpPr>
          <p:cNvPr id="11" name="Dose fixa de 0,03 U/min (até 0,04), sem "/>
          <p:cNvSpPr txBox="1"/>
          <p:nvPr/>
        </p:nvSpPr>
        <p:spPr>
          <a:xfrm>
            <a:off x="4662984" y="2517088"/>
            <a:ext cx="2884984"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Dose fixa de 0,03 U/min (até 0,04), sem titulação como a NA. SSC 2026: associar quando a NA está em escalada (condicional, certeza moderada); entre os painelistas, o início típico foi com NA ~0,3 mcg/kg/min.</a:t>
            </a:r>
            <a:endParaRPr lang="en-US" sz="1350" dirty="0"/>
          </a:p>
        </p:txBody>
      </p:sp>
      <p:sp>
        <p:nvSpPr>
          <p:cNvPr id="12" name="Cartão"/>
          <p:cNvSpPr/>
          <p:nvPr/>
        </p:nvSpPr>
        <p:spPr>
          <a:xfrm>
            <a:off x="7992467" y="1879501"/>
            <a:ext cx="3386634" cy="2652911"/>
          </a:xfrm>
          <a:prstGeom prst="roundRect">
            <a:avLst>
              <a:gd name="adj" fmla="val 2872"/>
            </a:avLst>
          </a:prstGeom>
          <a:solidFill>
            <a:srgbClr val="FFFDF8"/>
          </a:solidFill>
          <a:ln w="6350">
            <a:solidFill>
              <a:srgbClr val="E2DDD2"/>
            </a:solidFill>
            <a:prstDash val="solid"/>
          </a:ln>
        </p:spPr>
      </p:sp>
      <p:sp>
        <p:nvSpPr>
          <p:cNvPr id="13" name="Borda de destaque"/>
          <p:cNvSpPr/>
          <p:nvPr/>
        </p:nvSpPr>
        <p:spPr>
          <a:xfrm>
            <a:off x="8003046" y="1879501"/>
            <a:ext cx="3365476" cy="38100"/>
          </a:xfrm>
          <a:custGeom>
            <a:avLst/>
            <a:gdLst/>
            <a:ahLst/>
            <a:cxnLst/>
            <a:rect l="l" t="t" r="r" b="b"/>
            <a:pathLst>
              <a:path w="3365476" h="38100">
                <a:moveTo>
                  <a:pt x="3299855" y="0"/>
                </a:moveTo>
                <a:lnTo>
                  <a:pt x="3314721" y="1464"/>
                </a:lnTo>
                <a:lnTo>
                  <a:pt x="3329015" y="5800"/>
                </a:lnTo>
                <a:lnTo>
                  <a:pt x="3342189" y="12842"/>
                </a:lnTo>
                <a:lnTo>
                  <a:pt x="3353736" y="22318"/>
                </a:lnTo>
                <a:lnTo>
                  <a:pt x="3363213" y="33866"/>
                </a:lnTo>
                <a:lnTo>
                  <a:pt x="3365476" y="38100"/>
                </a:lnTo>
                <a:lnTo>
                  <a:pt x="0" y="38100"/>
                </a:lnTo>
                <a:lnTo>
                  <a:pt x="2263" y="33866"/>
                </a:lnTo>
                <a:lnTo>
                  <a:pt x="11740" y="22318"/>
                </a:lnTo>
                <a:lnTo>
                  <a:pt x="23287" y="12842"/>
                </a:lnTo>
                <a:lnTo>
                  <a:pt x="36461" y="5800"/>
                </a:lnTo>
                <a:lnTo>
                  <a:pt x="50755" y="1464"/>
                </a:lnTo>
                <a:lnTo>
                  <a:pt x="65621" y="0"/>
                </a:lnTo>
                <a:close/>
              </a:path>
            </a:pathLst>
          </a:custGeom>
          <a:solidFill>
            <a:srgbClr val="56606B"/>
          </a:solidFill>
          <a:ln/>
        </p:spPr>
      </p:sp>
      <p:sp>
        <p:nvSpPr>
          <p:cNvPr id="14" name="Evidência"/>
          <p:cNvSpPr txBox="1"/>
          <p:nvPr/>
        </p:nvSpPr>
        <p:spPr>
          <a:xfrm>
            <a:off x="8252817" y="2168686"/>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Evidência</a:t>
            </a:r>
            <a:endParaRPr lang="en-US" sz="1700" dirty="0"/>
          </a:p>
        </p:txBody>
      </p:sp>
      <p:sp>
        <p:nvSpPr>
          <p:cNvPr id="15" name="VASST: sem redução de mortalidade em 28 "/>
          <p:cNvSpPr txBox="1"/>
          <p:nvPr/>
        </p:nvSpPr>
        <p:spPr>
          <a:xfrm>
            <a:off x="8252817" y="2517088"/>
            <a:ext cx="2884984"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VASST: sem redução de mortalidade em 28 dias (35,4% vs. 39,3%). VASSPR (JAMA 2026; n = 3.959): políticas por hospital de iniciar com NA 0,1 vs. 0,4 mcg/kg/min não mudaram a mortalidade (31,8% vs. 33,0%).</a:t>
            </a:r>
            <a:endParaRPr lang="en-US" sz="1350" dirty="0"/>
          </a:p>
        </p:txBody>
      </p:sp>
      <p:sp>
        <p:nvSpPr>
          <p:cNvPr id="16" name="Russell, N Engl J Med 2008 (VASST) · Pel"/>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Russell, N Engl J Med 2008 (VASST) · Peltan, JAMA 2026 (VASSPR) · SSC 2026</a:t>
            </a:r>
            <a:endParaRPr lang="en-US" sz="12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3EE"/>
        </a:solidFill>
      </p:bgPr>
    </p:bg>
    <p:spTree>
      <p:nvGrpSpPr>
        <p:cNvPr id="1" name=""/>
        <p:cNvGrpSpPr/>
        <p:nvPr/>
      </p:nvGrpSpPr>
      <p:grpSpPr>
        <a:xfrm>
          <a:off x="0" y="0"/>
          <a:ext cx="0" cy="0"/>
          <a:chOff x="0" y="0"/>
          <a:chExt cx="0" cy="0"/>
        </a:xfrm>
      </p:grpSpPr>
      <p:sp>
        <p:nvSpPr>
          <p:cNvPr id="2" name="RESERVA · CHOQUE REFRATÁRIO"/>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CHOQUE REFRATÁRIO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Choque refratário: adjuvantes além das aminas</a:t>
            </a:r>
            <a:endParaRPr lang="en-US" sz="3200" dirty="0"/>
          </a:p>
        </p:txBody>
      </p:sp>
      <p:graphicFrame>
        <p:nvGraphicFramePr>
          <p:cNvPr id="22" name="Tabela"/>
          <p:cNvGraphicFramePr>
            <a:graphicFrameLocks noGrp="1"/>
          </p:cNvGraphicFramePr>
          <p:nvPr>
            <p:extLst>
              <p:ext uri="{D42A27DB-BD31-4B8C-83A1-F6EECF244321}">
                <p14:modId xmlns:p14="http://schemas.microsoft.com/office/powerpoint/2010/main" val="1579011935"/>
              </p:ext>
            </p:extLst>
          </p:nvPr>
        </p:nvGraphicFramePr>
        <p:xfrm>
          <a:off x="812800" y="1879501"/>
          <a:ext cx="10566400" cy="914400"/>
        </p:xfrm>
        <a:graphic>
          <a:graphicData uri="http://schemas.openxmlformats.org/drawingml/2006/table">
            <a:tbl>
              <a:tblPr/>
              <a:tblGrid>
                <a:gridCol w="1901924"/>
                <a:gridCol w="2747169"/>
                <a:gridCol w="3592513"/>
                <a:gridCol w="2324795"/>
              </a:tblGrid>
              <a:tr h="391120">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Agente</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Mecanismo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Evidência-chave</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SSC 2026</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r>
              <a:tr h="607616">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Hidrocortisona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Restaura a resposta vascular às catecolaminas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ADRENAL: choque resolve mais rápido. APROCCHSS: ↓ mortalidade com fludrocortisona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Sugere usar (condicional, baixa)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610791">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Angiotensina II</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Agonista AT1</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ATHOS-3: resposta da PAM em 3 h 69,9% vs. 23,4%; mortalidade sem diferença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NA preferida como 1ª linha (condicional)</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397470">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Azul de metileno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Inibe a via NO–GMPc</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ECRs pequenos, sem desfecho clínico robusto</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Evidência insuficiente</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610791">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Milrinona, levosimendan</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Inodilatadores não adrenérgicos (PDE3; sensibilização ao Ca</a:t>
                      </a:r>
                      <a:pPr algn="l" indent="0" marL="0">
                        <a:lnSpc>
                          <a:spcPts val="1680"/>
                        </a:lnSpc>
                        <a:buNone/>
                      </a:pPr>
                      <a:r>
                        <a:rPr lang="pt-BR" altLang="en-US" sz="1200" baseline="30000" dirty="0">
                          <a:solidFill>
                            <a:srgbClr val="1B2A3A"/>
                          </a:solidFill>
                          <a:latin typeface="Arial" pitchFamily="34" charset="0"/>
                          <a:ea typeface="Arial" pitchFamily="34" charset="-122"/>
                          <a:cs typeface="Arial" pitchFamily="34" charset="-120"/>
                        </a:rPr>
                        <a:t>2+</a:t>
                      </a:r>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DOREMI: milrinona semelhante à dobutamina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Contra levosimendan (condicional)</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bl>
          </a:graphicData>
        </a:graphic>
      </p:graphicFrame>
      <p:sp>
        <p:nvSpPr>
          <p:cNvPr id="5" name="Venkatesh, NEJM 2018 · Annane, NEJM 2018"/>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Venkatesh, NEJM 2018 · Annane, NEJM 2018 · Khanna, NEJM 2017 · Mathew, NEJM 2021 · SSC 2026</a:t>
            </a:r>
            <a:endParaRPr lang="en-US" sz="12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E"/>
        </a:solidFill>
      </p:bgPr>
    </p:bg>
    <p:spTree>
      <p:nvGrpSpPr>
        <p:cNvPr id="1" name=""/>
        <p:cNvGrpSpPr/>
        <p:nvPr/>
      </p:nvGrpSpPr>
      <p:grpSpPr>
        <a:xfrm>
          <a:off x="0" y="0"/>
          <a:ext cx="0" cy="0"/>
          <a:chOff x="0" y="0"/>
          <a:chExt cx="0" cy="0"/>
        </a:xfrm>
      </p:grpSpPr>
      <p:sp>
        <p:nvSpPr>
          <p:cNvPr id="2" name="RESERVA · SEQUÊNCIA SSC 2026"/>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SEQUÊNCIA SSC 2026</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SSC 2026: a sequência de vasopressores</a:t>
            </a:r>
            <a:endParaRPr lang="en-US" sz="3200" dirty="0"/>
          </a:p>
        </p:txBody>
      </p:sp>
      <p:sp>
        <p:nvSpPr>
          <p:cNvPr id="4" name="Cartão"/>
          <p:cNvSpPr/>
          <p:nvPr/>
        </p:nvSpPr>
        <p:spPr>
          <a:xfrm>
            <a:off x="812800" y="1879501"/>
            <a:ext cx="3081834" cy="1457722"/>
          </a:xfrm>
          <a:prstGeom prst="roundRect">
            <a:avLst>
              <a:gd name="adj" fmla="val 5227"/>
            </a:avLst>
          </a:prstGeom>
          <a:solidFill>
            <a:srgbClr val="1B2A3A"/>
          </a:solidFill>
          <a:ln/>
        </p:spPr>
      </p:sp>
      <p:sp>
        <p:nvSpPr>
          <p:cNvPr id="5" name="PASSO 1"/>
          <p:cNvSpPr txBox="1"/>
          <p:nvPr/>
        </p:nvSpPr>
        <p:spPr>
          <a:xfrm>
            <a:off x="1016000" y="2071499"/>
            <a:ext cx="26944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PASSO 1</a:t>
            </a:r>
            <a:endParaRPr lang="en-US" sz="1200" dirty="0"/>
          </a:p>
        </p:txBody>
      </p:sp>
      <p:sp>
        <p:nvSpPr>
          <p:cNvPr id="6" name="Noradrenalina"/>
          <p:cNvSpPr txBox="1"/>
          <p:nvPr/>
        </p:nvSpPr>
        <p:spPr>
          <a:xfrm>
            <a:off x="1016000" y="2343735"/>
            <a:ext cx="2694484" cy="274241"/>
          </a:xfrm>
          <a:prstGeom prst="rect">
            <a:avLst/>
          </a:prstGeom>
          <a:noFill/>
          <a:ln/>
        </p:spPr>
        <p:txBody>
          <a:bodyPr wrap="none" lIns="0" tIns="0" rIns="0" bIns="0" rtlCol="0" anchor="t"/>
          <a:lstStyle/>
          <a:p>
            <a:pPr algn="l" indent="0" marL="0">
              <a:lnSpc>
                <a:spcPts val="2160"/>
              </a:lnSpc>
              <a:buNone/>
            </a:pPr>
            <a:r>
              <a:rPr lang="pt-BR" altLang="en-US" sz="1800" b="1" dirty="0">
                <a:solidFill>
                  <a:srgbClr val="F5F3EE"/>
                </a:solidFill>
                <a:latin typeface="Arial" pitchFamily="34" charset="0"/>
                <a:ea typeface="Arial" pitchFamily="34" charset="-122"/>
                <a:cs typeface="Arial" pitchFamily="34" charset="-120"/>
              </a:rPr>
              <a:t>Noradrenalina</a:t>
            </a:r>
            <a:endParaRPr lang="en-US" sz="1800" dirty="0"/>
          </a:p>
        </p:txBody>
      </p:sp>
      <p:sp>
        <p:nvSpPr>
          <p:cNvPr id="7" name="1ª linha (forte); iniciar cedo, até por "/>
          <p:cNvSpPr txBox="1"/>
          <p:nvPr/>
        </p:nvSpPr>
        <p:spPr>
          <a:xfrm>
            <a:off x="1016000" y="2659727"/>
            <a:ext cx="2694484"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C9CFD6"/>
                </a:solidFill>
                <a:latin typeface="Arial" pitchFamily="34" charset="0"/>
                <a:ea typeface="Arial" pitchFamily="34" charset="-122"/>
                <a:cs typeface="Arial" pitchFamily="34" charset="-120"/>
              </a:rPr>
              <a:t>1ª linha (forte); iniciar cedo, até por veia periférica.</a:t>
            </a:r>
            <a:endParaRPr lang="en-US" sz="1300" dirty="0"/>
          </a:p>
        </p:txBody>
      </p:sp>
      <p:sp>
        <p:nvSpPr>
          <p:cNvPr id="8" name="Seta"/>
          <p:cNvSpPr/>
          <p:nvPr/>
        </p:nvSpPr>
        <p:spPr>
          <a:xfrm>
            <a:off x="4021634" y="2494062"/>
            <a:ext cx="406400" cy="228600"/>
          </a:xfrm>
          <a:prstGeom prst="rightArrow">
            <a:avLst/>
          </a:prstGeom>
          <a:solidFill>
            <a:srgbClr val="B9581A"/>
          </a:solidFill>
          <a:ln/>
        </p:spPr>
      </p:sp>
      <p:sp>
        <p:nvSpPr>
          <p:cNvPr id="9" name="Cartão"/>
          <p:cNvSpPr/>
          <p:nvPr/>
        </p:nvSpPr>
        <p:spPr>
          <a:xfrm>
            <a:off x="4555034" y="1879501"/>
            <a:ext cx="3081834" cy="1457722"/>
          </a:xfrm>
          <a:prstGeom prst="roundRect">
            <a:avLst>
              <a:gd name="adj" fmla="val 5227"/>
            </a:avLst>
          </a:prstGeom>
          <a:solidFill>
            <a:srgbClr val="1B2A3A"/>
          </a:solidFill>
          <a:ln/>
        </p:spPr>
      </p:sp>
      <p:sp>
        <p:nvSpPr>
          <p:cNvPr id="10" name="PASSO 2"/>
          <p:cNvSpPr txBox="1"/>
          <p:nvPr/>
        </p:nvSpPr>
        <p:spPr>
          <a:xfrm>
            <a:off x="4758234" y="2071499"/>
            <a:ext cx="26944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PASSO 2</a:t>
            </a:r>
            <a:endParaRPr lang="en-US" sz="1200" dirty="0"/>
          </a:p>
        </p:txBody>
      </p:sp>
      <p:sp>
        <p:nvSpPr>
          <p:cNvPr id="11" name="+ Vasopressina"/>
          <p:cNvSpPr txBox="1"/>
          <p:nvPr/>
        </p:nvSpPr>
        <p:spPr>
          <a:xfrm>
            <a:off x="4758234" y="2343735"/>
            <a:ext cx="2694484" cy="274241"/>
          </a:xfrm>
          <a:prstGeom prst="rect">
            <a:avLst/>
          </a:prstGeom>
          <a:noFill/>
          <a:ln/>
        </p:spPr>
        <p:txBody>
          <a:bodyPr wrap="none" lIns="0" tIns="0" rIns="0" bIns="0" rtlCol="0" anchor="t"/>
          <a:lstStyle/>
          <a:p>
            <a:pPr algn="l" indent="0" marL="0">
              <a:lnSpc>
                <a:spcPts val="2160"/>
              </a:lnSpc>
              <a:buNone/>
            </a:pPr>
            <a:r>
              <a:rPr lang="pt-BR" altLang="en-US" sz="1800" b="1" dirty="0">
                <a:solidFill>
                  <a:srgbClr val="F5F3EE"/>
                </a:solidFill>
                <a:latin typeface="Arial" pitchFamily="34" charset="0"/>
                <a:ea typeface="Arial" pitchFamily="34" charset="-122"/>
                <a:cs typeface="Arial" pitchFamily="34" charset="-120"/>
              </a:rPr>
              <a:t>+ Vasopressina</a:t>
            </a:r>
            <a:endParaRPr lang="en-US" sz="1800" dirty="0"/>
          </a:p>
        </p:txBody>
      </p:sp>
      <p:sp>
        <p:nvSpPr>
          <p:cNvPr id="12" name="NA em escalada (condicional, certeza mod"/>
          <p:cNvSpPr txBox="1"/>
          <p:nvPr/>
        </p:nvSpPr>
        <p:spPr>
          <a:xfrm>
            <a:off x="4758234" y="2659727"/>
            <a:ext cx="2694484"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C9CFD6"/>
                </a:solidFill>
                <a:latin typeface="Arial" pitchFamily="34" charset="0"/>
                <a:ea typeface="Arial" pitchFamily="34" charset="-122"/>
                <a:cs typeface="Arial" pitchFamily="34" charset="-120"/>
              </a:rPr>
              <a:t>NA em escalada (condicional, certeza moderada).</a:t>
            </a:r>
            <a:endParaRPr lang="en-US" sz="1300" dirty="0"/>
          </a:p>
        </p:txBody>
      </p:sp>
      <p:sp>
        <p:nvSpPr>
          <p:cNvPr id="13" name="Seta"/>
          <p:cNvSpPr/>
          <p:nvPr/>
        </p:nvSpPr>
        <p:spPr>
          <a:xfrm>
            <a:off x="7763867" y="2494062"/>
            <a:ext cx="406400" cy="228600"/>
          </a:xfrm>
          <a:prstGeom prst="rightArrow">
            <a:avLst/>
          </a:prstGeom>
          <a:solidFill>
            <a:srgbClr val="B9581A"/>
          </a:solidFill>
          <a:ln/>
        </p:spPr>
      </p:sp>
      <p:sp>
        <p:nvSpPr>
          <p:cNvPr id="14" name="Cartão"/>
          <p:cNvSpPr/>
          <p:nvPr/>
        </p:nvSpPr>
        <p:spPr>
          <a:xfrm>
            <a:off x="8297267" y="1879501"/>
            <a:ext cx="3081834" cy="1457722"/>
          </a:xfrm>
          <a:prstGeom prst="roundRect">
            <a:avLst>
              <a:gd name="adj" fmla="val 5227"/>
            </a:avLst>
          </a:prstGeom>
          <a:solidFill>
            <a:srgbClr val="1B2A3A"/>
          </a:solidFill>
          <a:ln/>
        </p:spPr>
      </p:sp>
      <p:sp>
        <p:nvSpPr>
          <p:cNvPr id="15" name="PASSO 3"/>
          <p:cNvSpPr txBox="1"/>
          <p:nvPr/>
        </p:nvSpPr>
        <p:spPr>
          <a:xfrm>
            <a:off x="8500467" y="2071499"/>
            <a:ext cx="26944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E49A5C"/>
                </a:solidFill>
                <a:latin typeface="Arial" pitchFamily="34" charset="0"/>
                <a:ea typeface="Arial" pitchFamily="34" charset="-122"/>
                <a:cs typeface="Arial" pitchFamily="34" charset="-120"/>
              </a:rPr>
              <a:t>PASSO 3</a:t>
            </a:r>
            <a:endParaRPr lang="en-US" sz="1200" dirty="0"/>
          </a:p>
        </p:txBody>
      </p:sp>
      <p:sp>
        <p:nvSpPr>
          <p:cNvPr id="16" name="+ Adrenalina"/>
          <p:cNvSpPr txBox="1"/>
          <p:nvPr/>
        </p:nvSpPr>
        <p:spPr>
          <a:xfrm>
            <a:off x="8500467" y="2343735"/>
            <a:ext cx="2694484" cy="274241"/>
          </a:xfrm>
          <a:prstGeom prst="rect">
            <a:avLst/>
          </a:prstGeom>
          <a:noFill/>
          <a:ln/>
        </p:spPr>
        <p:txBody>
          <a:bodyPr wrap="none" lIns="0" tIns="0" rIns="0" bIns="0" rtlCol="0" anchor="t"/>
          <a:lstStyle/>
          <a:p>
            <a:pPr algn="l" indent="0" marL="0">
              <a:lnSpc>
                <a:spcPts val="2160"/>
              </a:lnSpc>
              <a:buNone/>
            </a:pPr>
            <a:r>
              <a:rPr lang="pt-BR" altLang="en-US" sz="1800" b="1" dirty="0">
                <a:solidFill>
                  <a:srgbClr val="F5F3EE"/>
                </a:solidFill>
                <a:latin typeface="Arial" pitchFamily="34" charset="0"/>
                <a:ea typeface="Arial" pitchFamily="34" charset="-122"/>
                <a:cs typeface="Arial" pitchFamily="34" charset="-120"/>
              </a:rPr>
              <a:t>+ Adrenalina</a:t>
            </a:r>
            <a:endParaRPr lang="en-US" sz="1800" dirty="0"/>
          </a:p>
        </p:txBody>
      </p:sp>
      <p:sp>
        <p:nvSpPr>
          <p:cNvPr id="17" name="PAM ainda inadequada (condicional, muito"/>
          <p:cNvSpPr txBox="1"/>
          <p:nvPr/>
        </p:nvSpPr>
        <p:spPr>
          <a:xfrm>
            <a:off x="8500467" y="2659727"/>
            <a:ext cx="2694484"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C9CFD6"/>
                </a:solidFill>
                <a:latin typeface="Arial" pitchFamily="34" charset="0"/>
                <a:ea typeface="Arial" pitchFamily="34" charset="-122"/>
                <a:cs typeface="Arial" pitchFamily="34" charset="-120"/>
              </a:rPr>
              <a:t>PAM ainda inadequada (condicional, muito baixa).</a:t>
            </a:r>
            <a:endParaRPr lang="en-US" sz="1300" dirty="0"/>
          </a:p>
        </p:txBody>
      </p:sp>
      <p:sp>
        <p:nvSpPr>
          <p:cNvPr id="18" name="Cartão"/>
          <p:cNvSpPr/>
          <p:nvPr/>
        </p:nvSpPr>
        <p:spPr>
          <a:xfrm>
            <a:off x="812800" y="3540423"/>
            <a:ext cx="5181600" cy="1907282"/>
          </a:xfrm>
          <a:prstGeom prst="roundRect">
            <a:avLst>
              <a:gd name="adj" fmla="val 3995"/>
            </a:avLst>
          </a:prstGeom>
          <a:solidFill>
            <a:srgbClr val="FFFDF8"/>
          </a:solidFill>
          <a:ln w="6350">
            <a:solidFill>
              <a:srgbClr val="E2DDD2"/>
            </a:solidFill>
            <a:prstDash val="solid"/>
          </a:ln>
        </p:spPr>
      </p:sp>
      <p:sp>
        <p:nvSpPr>
          <p:cNvPr id="19" name="Borda de destaque"/>
          <p:cNvSpPr/>
          <p:nvPr/>
        </p:nvSpPr>
        <p:spPr>
          <a:xfrm>
            <a:off x="823379" y="3540423"/>
            <a:ext cx="5160443" cy="38100"/>
          </a:xfrm>
          <a:custGeom>
            <a:avLst/>
            <a:gdLst/>
            <a:ahLst/>
            <a:cxnLst/>
            <a:rect l="l" t="t" r="r" b="b"/>
            <a:pathLst>
              <a:path w="5160443" h="38100">
                <a:moveTo>
                  <a:pt x="5094821" y="0"/>
                </a:moveTo>
                <a:lnTo>
                  <a:pt x="5109687" y="1464"/>
                </a:lnTo>
                <a:lnTo>
                  <a:pt x="5123982" y="5800"/>
                </a:lnTo>
                <a:lnTo>
                  <a:pt x="5137156" y="12842"/>
                </a:lnTo>
                <a:lnTo>
                  <a:pt x="5148703" y="22318"/>
                </a:lnTo>
                <a:lnTo>
                  <a:pt x="5158179" y="33866"/>
                </a:lnTo>
                <a:lnTo>
                  <a:pt x="5160443"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20" name="Disfunção cardíaca"/>
          <p:cNvSpPr txBox="1"/>
          <p:nvPr/>
        </p:nvSpPr>
        <p:spPr>
          <a:xfrm>
            <a:off x="1073150" y="3829608"/>
            <a:ext cx="46799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Disfunção cardíaca</a:t>
            </a:r>
            <a:endParaRPr lang="en-US" sz="1700" dirty="0"/>
          </a:p>
        </p:txBody>
      </p:sp>
      <p:sp>
        <p:nvSpPr>
          <p:cNvPr id="21" name="Hipoperfusão apesar de volume e PAM adeq"/>
          <p:cNvSpPr txBox="1"/>
          <p:nvPr/>
        </p:nvSpPr>
        <p:spPr>
          <a:xfrm>
            <a:off x="1073150" y="4178009"/>
            <a:ext cx="4679950"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Hipoperfusão apesar de volume e PAM adequados: dobutamina + NA, ou adrenalina isolada. Na escolha inicial, NA se taquiarritmia, adrenalina se bradiarritmia. Levosimendan: contra.</a:t>
            </a:r>
            <a:endParaRPr lang="en-US" sz="1350" dirty="0"/>
          </a:p>
        </p:txBody>
      </p:sp>
      <p:sp>
        <p:nvSpPr>
          <p:cNvPr id="22" name="Cartão"/>
          <p:cNvSpPr/>
          <p:nvPr/>
        </p:nvSpPr>
        <p:spPr>
          <a:xfrm>
            <a:off x="6197600" y="3540423"/>
            <a:ext cx="5181600" cy="1907282"/>
          </a:xfrm>
          <a:prstGeom prst="roundRect">
            <a:avLst>
              <a:gd name="adj" fmla="val 3995"/>
            </a:avLst>
          </a:prstGeom>
          <a:solidFill>
            <a:srgbClr val="FFFDF8"/>
          </a:solidFill>
          <a:ln w="6350">
            <a:solidFill>
              <a:srgbClr val="E2DDD2"/>
            </a:solidFill>
            <a:prstDash val="solid"/>
          </a:ln>
        </p:spPr>
      </p:sp>
      <p:sp>
        <p:nvSpPr>
          <p:cNvPr id="23" name="Borda de destaque"/>
          <p:cNvSpPr/>
          <p:nvPr/>
        </p:nvSpPr>
        <p:spPr>
          <a:xfrm>
            <a:off x="6208179" y="3540423"/>
            <a:ext cx="5160443" cy="38100"/>
          </a:xfrm>
          <a:custGeom>
            <a:avLst/>
            <a:gdLst/>
            <a:ahLst/>
            <a:cxnLst/>
            <a:rect l="l" t="t" r="r" b="b"/>
            <a:pathLst>
              <a:path w="5160443" h="38100">
                <a:moveTo>
                  <a:pt x="5094821" y="0"/>
                </a:moveTo>
                <a:lnTo>
                  <a:pt x="5109687" y="1464"/>
                </a:lnTo>
                <a:lnTo>
                  <a:pt x="5123982" y="5800"/>
                </a:lnTo>
                <a:lnTo>
                  <a:pt x="5137156" y="12842"/>
                </a:lnTo>
                <a:lnTo>
                  <a:pt x="5148703" y="22318"/>
                </a:lnTo>
                <a:lnTo>
                  <a:pt x="5158179" y="33866"/>
                </a:lnTo>
                <a:lnTo>
                  <a:pt x="5160443" y="38100"/>
                </a:lnTo>
                <a:lnTo>
                  <a:pt x="0" y="38100"/>
                </a:lnTo>
                <a:lnTo>
                  <a:pt x="2263" y="33866"/>
                </a:lnTo>
                <a:lnTo>
                  <a:pt x="11740" y="22318"/>
                </a:lnTo>
                <a:lnTo>
                  <a:pt x="23287" y="12842"/>
                </a:lnTo>
                <a:lnTo>
                  <a:pt x="36461" y="5800"/>
                </a:lnTo>
                <a:lnTo>
                  <a:pt x="50755" y="1464"/>
                </a:lnTo>
                <a:lnTo>
                  <a:pt x="65621" y="0"/>
                </a:lnTo>
                <a:close/>
              </a:path>
            </a:pathLst>
          </a:custGeom>
          <a:solidFill>
            <a:srgbClr val="56606B"/>
          </a:solidFill>
          <a:ln/>
        </p:spPr>
      </p:sp>
      <p:sp>
        <p:nvSpPr>
          <p:cNvPr id="24" name="Adjuvantes e o que evitar"/>
          <p:cNvSpPr txBox="1"/>
          <p:nvPr/>
        </p:nvSpPr>
        <p:spPr>
          <a:xfrm>
            <a:off x="6457950" y="3829608"/>
            <a:ext cx="4679950"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Adjuvantes e o que evitar</a:t>
            </a:r>
            <a:endParaRPr lang="en-US" sz="1700" dirty="0"/>
          </a:p>
        </p:txBody>
      </p:sp>
      <p:sp>
        <p:nvSpPr>
          <p:cNvPr id="25" name="Hidrocortisona EV sugerida (condicional,"/>
          <p:cNvSpPr txBox="1"/>
          <p:nvPr/>
        </p:nvSpPr>
        <p:spPr>
          <a:xfrm>
            <a:off x="6457950" y="4178009"/>
            <a:ext cx="4679950"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Hidrocortisona EV sugerida (condicional, baixa). Dopamina como primeira linha: contra (forte). Terlipressina: contra. Azul de metileno: evidência insuficiente.</a:t>
            </a:r>
            <a:endParaRPr lang="en-US" sz="1350" dirty="0"/>
          </a:p>
        </p:txBody>
      </p:sp>
      <p:sp>
        <p:nvSpPr>
          <p:cNvPr id="26" name="Prescott, Antonelli et al., Crit Care Me"/>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Prescott, Antonelli et al., Crit Care Med 2026;54(4):725–812 (Surviving Sepsis Campaign 2026)</a:t>
            </a:r>
            <a:endParaRPr lang="en-US" sz="12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E"/>
        </a:solidFill>
      </p:bgPr>
    </p:bg>
    <p:spTree>
      <p:nvGrpSpPr>
        <p:cNvPr id="1" name=""/>
        <p:cNvGrpSpPr/>
        <p:nvPr/>
      </p:nvGrpSpPr>
      <p:grpSpPr>
        <a:xfrm>
          <a:off x="0" y="0"/>
          <a:ext cx="0" cy="0"/>
          <a:chOff x="0" y="0"/>
          <a:chExt cx="0" cy="0"/>
        </a:xfrm>
      </p:grpSpPr>
      <p:sp>
        <p:nvSpPr>
          <p:cNvPr id="2" name="RESERVA · ALVO DE PAM"/>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ALVO DE PAM</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Alvo de PAM: começar em 65 mmHg</a:t>
            </a:r>
            <a:endParaRPr lang="en-US" sz="3200" dirty="0"/>
          </a:p>
        </p:txBody>
      </p:sp>
      <p:sp>
        <p:nvSpPr>
          <p:cNvPr id="4" name="Cartão"/>
          <p:cNvSpPr/>
          <p:nvPr/>
        </p:nvSpPr>
        <p:spPr>
          <a:xfrm>
            <a:off x="812800" y="1879501"/>
            <a:ext cx="3556000" cy="3468092"/>
          </a:xfrm>
          <a:prstGeom prst="roundRect">
            <a:avLst>
              <a:gd name="adj" fmla="val 2197"/>
            </a:avLst>
          </a:prstGeom>
          <a:solidFill>
            <a:srgbClr val="1B2A3A"/>
          </a:solidFill>
          <a:ln/>
        </p:spPr>
      </p:sp>
      <p:sp>
        <p:nvSpPr>
          <p:cNvPr id="5" name="SSC 2026"/>
          <p:cNvSpPr txBox="1"/>
          <p:nvPr/>
        </p:nvSpPr>
        <p:spPr>
          <a:xfrm>
            <a:off x="1117600" y="2171232"/>
            <a:ext cx="2965450" cy="248841"/>
          </a:xfrm>
          <a:prstGeom prst="rect">
            <a:avLst/>
          </a:prstGeom>
          <a:noFill/>
          <a:ln/>
        </p:spPr>
        <p:txBody>
          <a:bodyPr wrap="none" lIns="0" tIns="0" rIns="0" bIns="0" rtlCol="0" anchor="t"/>
          <a:lstStyle/>
          <a:p>
            <a:pPr algn="l" indent="0" marL="0">
              <a:lnSpc>
                <a:spcPts val="1960"/>
              </a:lnSpc>
              <a:buNone/>
            </a:pPr>
            <a:r>
              <a:rPr lang="pt-BR" altLang="en-US" sz="1400" b="1" dirty="0">
                <a:solidFill>
                  <a:srgbClr val="E49A5C"/>
                </a:solidFill>
                <a:latin typeface="Arial" pitchFamily="34" charset="0"/>
                <a:ea typeface="Arial" pitchFamily="34" charset="-122"/>
                <a:cs typeface="Arial" pitchFamily="34" charset="-120"/>
              </a:rPr>
              <a:t>SSC 2026</a:t>
            </a:r>
            <a:endParaRPr lang="en-US" sz="1400" dirty="0"/>
          </a:p>
        </p:txBody>
      </p:sp>
      <p:sp>
        <p:nvSpPr>
          <p:cNvPr id="6" name="65"/>
          <p:cNvSpPr txBox="1"/>
          <p:nvPr/>
        </p:nvSpPr>
        <p:spPr>
          <a:xfrm>
            <a:off x="1117600" y="2635325"/>
            <a:ext cx="2965450" cy="1016000"/>
          </a:xfrm>
          <a:prstGeom prst="rect">
            <a:avLst/>
          </a:prstGeom>
          <a:noFill/>
          <a:ln/>
        </p:spPr>
        <p:txBody>
          <a:bodyPr wrap="none" lIns="0" tIns="0" rIns="0" bIns="0" rtlCol="0" anchor="t"/>
          <a:lstStyle/>
          <a:p>
            <a:pPr algn="l" indent="0" marL="0">
              <a:lnSpc>
                <a:spcPts val="8000"/>
              </a:lnSpc>
              <a:buNone/>
            </a:pPr>
            <a:r>
              <a:rPr lang="pt-BR" altLang="en-US" sz="8000" dirty="0">
                <a:solidFill>
                  <a:srgbClr val="F5F3EE"/>
                </a:solidFill>
                <a:latin typeface="Georgia" pitchFamily="34" charset="0"/>
                <a:ea typeface="Georgia" pitchFamily="34" charset="-122"/>
                <a:cs typeface="Georgia" pitchFamily="34" charset="-120"/>
              </a:rPr>
              <a:t>65</a:t>
            </a:r>
            <a:endParaRPr lang="en-US" sz="8000" dirty="0"/>
          </a:p>
        </p:txBody>
      </p:sp>
      <p:sp>
        <p:nvSpPr>
          <p:cNvPr id="7" name="mmHg como alvo inicial no choque séptico"/>
          <p:cNvSpPr txBox="1"/>
          <p:nvPr/>
        </p:nvSpPr>
        <p:spPr>
          <a:xfrm>
            <a:off x="1117600" y="3738206"/>
            <a:ext cx="2965450" cy="1288852"/>
          </a:xfrm>
          <a:prstGeom prst="rect">
            <a:avLst/>
          </a:prstGeom>
          <a:noFill/>
          <a:ln/>
        </p:spPr>
        <p:txBody>
          <a:bodyPr wrap="square" lIns="0" tIns="0" rIns="0" bIns="0" rtlCol="0" anchor="t"/>
          <a:lstStyle/>
          <a:p>
            <a:pPr algn="l" indent="0" marL="0">
              <a:lnSpc>
                <a:spcPts val="2030"/>
              </a:lnSpc>
              <a:buNone/>
            </a:pPr>
            <a:r>
              <a:rPr lang="pt-BR" altLang="en-US" sz="1400" dirty="0">
                <a:solidFill>
                  <a:srgbClr val="DFE3E8"/>
                </a:solidFill>
                <a:latin typeface="Arial" pitchFamily="34" charset="0"/>
                <a:ea typeface="Arial" pitchFamily="34" charset="-122"/>
                <a:cs typeface="Arial" pitchFamily="34" charset="-120"/>
              </a:rPr>
              <a:t>mmHg como alvo inicial no choque séptico (forte, certeza moderada), titulando dentro de ~5 mmHg. Em ≥65 anos: 60–65 mmHg (condicional, baixa).</a:t>
            </a:r>
            <a:endParaRPr lang="en-US" sz="1400" dirty="0"/>
          </a:p>
        </p:txBody>
      </p:sp>
      <p:sp>
        <p:nvSpPr>
          <p:cNvPr id="8" name="Cartão"/>
          <p:cNvSpPr/>
          <p:nvPr/>
        </p:nvSpPr>
        <p:spPr>
          <a:xfrm>
            <a:off x="4572000" y="1879501"/>
            <a:ext cx="6807200" cy="1059061"/>
          </a:xfrm>
          <a:prstGeom prst="roundRect">
            <a:avLst>
              <a:gd name="adj" fmla="val 7195"/>
            </a:avLst>
          </a:prstGeom>
          <a:solidFill>
            <a:srgbClr val="FFFDF8"/>
          </a:solidFill>
          <a:ln w="6350">
            <a:solidFill>
              <a:srgbClr val="E2DDD2"/>
            </a:solidFill>
            <a:prstDash val="solid"/>
          </a:ln>
        </p:spPr>
      </p:sp>
      <p:sp>
        <p:nvSpPr>
          <p:cNvPr id="9" name="Borda de destaque"/>
          <p:cNvSpPr/>
          <p:nvPr/>
        </p:nvSpPr>
        <p:spPr>
          <a:xfrm>
            <a:off x="4572000" y="1890079"/>
            <a:ext cx="38100" cy="1037904"/>
          </a:xfrm>
          <a:custGeom>
            <a:avLst/>
            <a:gdLst/>
            <a:ahLst/>
            <a:cxnLst/>
            <a:rect l="l" t="t" r="r" b="b"/>
            <a:pathLst>
              <a:path w="38100" h="1037904">
                <a:moveTo>
                  <a:pt x="38100" y="1037904"/>
                </a:moveTo>
                <a:lnTo>
                  <a:pt x="33866" y="1035640"/>
                </a:lnTo>
                <a:lnTo>
                  <a:pt x="22318" y="1026164"/>
                </a:lnTo>
                <a:lnTo>
                  <a:pt x="12842" y="1014617"/>
                </a:lnTo>
                <a:lnTo>
                  <a:pt x="5800" y="1001443"/>
                </a:lnTo>
                <a:lnTo>
                  <a:pt x="1464" y="987148"/>
                </a:lnTo>
                <a:lnTo>
                  <a:pt x="0" y="972282"/>
                </a:lnTo>
                <a:lnTo>
                  <a:pt x="0" y="65621"/>
                </a:lnTo>
                <a:lnTo>
                  <a:pt x="1464" y="50755"/>
                </a:lnTo>
                <a:lnTo>
                  <a:pt x="5800" y="36461"/>
                </a:lnTo>
                <a:lnTo>
                  <a:pt x="12842" y="23287"/>
                </a:lnTo>
                <a:lnTo>
                  <a:pt x="22318" y="11740"/>
                </a:lnTo>
                <a:lnTo>
                  <a:pt x="33866" y="2263"/>
                </a:lnTo>
                <a:lnTo>
                  <a:pt x="38100" y="0"/>
                </a:lnTo>
                <a:close/>
              </a:path>
            </a:pathLst>
          </a:custGeom>
          <a:solidFill>
            <a:srgbClr val="2E5E8C"/>
          </a:solidFill>
          <a:ln/>
        </p:spPr>
      </p:sp>
      <p:sp>
        <p:nvSpPr>
          <p:cNvPr id="10" name="65 trial · JAMA 2020"/>
          <p:cNvSpPr txBox="1"/>
          <p:nvPr/>
        </p:nvSpPr>
        <p:spPr>
          <a:xfrm>
            <a:off x="4813300" y="2035679"/>
            <a:ext cx="637540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Arial" pitchFamily="34" charset="0"/>
                <a:ea typeface="Arial" pitchFamily="34" charset="-122"/>
                <a:cs typeface="Arial" pitchFamily="34" charset="-120"/>
              </a:rPr>
              <a:t>65 trial · JAMA 2020</a:t>
            </a:r>
            <a:endParaRPr lang="en-US" sz="1500" dirty="0"/>
          </a:p>
        </p:txBody>
      </p:sp>
      <p:sp>
        <p:nvSpPr>
          <p:cNvPr id="11" name="≥65 anos, PAM 60–65 vs. cuidado usual: m"/>
          <p:cNvSpPr txBox="1"/>
          <p:nvPr/>
        </p:nvSpPr>
        <p:spPr>
          <a:xfrm>
            <a:off x="4813300" y="2305516"/>
            <a:ext cx="637540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Arial" pitchFamily="34" charset="0"/>
                <a:ea typeface="Arial" pitchFamily="34" charset="-122"/>
                <a:cs typeface="Arial" pitchFamily="34" charset="-120"/>
              </a:rPr>
              <a:t>≥65 anos, PAM 60–65 vs. cuidado usual: mortalidade em 90 dias 41,0% vs. 43,8% (NS), com menos noradrenalina e menor duração.</a:t>
            </a:r>
            <a:endParaRPr lang="en-US" sz="1300" dirty="0"/>
          </a:p>
        </p:txBody>
      </p:sp>
      <p:sp>
        <p:nvSpPr>
          <p:cNvPr id="12" name="Cartão"/>
          <p:cNvSpPr/>
          <p:nvPr/>
        </p:nvSpPr>
        <p:spPr>
          <a:xfrm>
            <a:off x="4572000" y="3040162"/>
            <a:ext cx="6807200" cy="1059061"/>
          </a:xfrm>
          <a:prstGeom prst="roundRect">
            <a:avLst>
              <a:gd name="adj" fmla="val 7195"/>
            </a:avLst>
          </a:prstGeom>
          <a:solidFill>
            <a:srgbClr val="FFFDF8"/>
          </a:solidFill>
          <a:ln w="6350">
            <a:solidFill>
              <a:srgbClr val="E2DDD2"/>
            </a:solidFill>
            <a:prstDash val="solid"/>
          </a:ln>
        </p:spPr>
      </p:sp>
      <p:sp>
        <p:nvSpPr>
          <p:cNvPr id="13" name="Borda de destaque"/>
          <p:cNvSpPr/>
          <p:nvPr/>
        </p:nvSpPr>
        <p:spPr>
          <a:xfrm>
            <a:off x="4572000" y="3050740"/>
            <a:ext cx="38100" cy="1037904"/>
          </a:xfrm>
          <a:custGeom>
            <a:avLst/>
            <a:gdLst/>
            <a:ahLst/>
            <a:cxnLst/>
            <a:rect l="l" t="t" r="r" b="b"/>
            <a:pathLst>
              <a:path w="38100" h="1037904">
                <a:moveTo>
                  <a:pt x="38100" y="1037904"/>
                </a:moveTo>
                <a:lnTo>
                  <a:pt x="33866" y="1035640"/>
                </a:lnTo>
                <a:lnTo>
                  <a:pt x="22318" y="1026164"/>
                </a:lnTo>
                <a:lnTo>
                  <a:pt x="12842" y="1014617"/>
                </a:lnTo>
                <a:lnTo>
                  <a:pt x="5800" y="1001443"/>
                </a:lnTo>
                <a:lnTo>
                  <a:pt x="1464" y="987148"/>
                </a:lnTo>
                <a:lnTo>
                  <a:pt x="0" y="972282"/>
                </a:lnTo>
                <a:lnTo>
                  <a:pt x="0" y="65621"/>
                </a:lnTo>
                <a:lnTo>
                  <a:pt x="1464" y="50755"/>
                </a:lnTo>
                <a:lnTo>
                  <a:pt x="5800" y="36461"/>
                </a:lnTo>
                <a:lnTo>
                  <a:pt x="12842" y="23287"/>
                </a:lnTo>
                <a:lnTo>
                  <a:pt x="22318" y="11740"/>
                </a:lnTo>
                <a:lnTo>
                  <a:pt x="33866" y="2263"/>
                </a:lnTo>
                <a:lnTo>
                  <a:pt x="38100" y="0"/>
                </a:lnTo>
                <a:close/>
              </a:path>
            </a:pathLst>
          </a:custGeom>
          <a:solidFill>
            <a:srgbClr val="B9581A"/>
          </a:solidFill>
          <a:ln/>
        </p:spPr>
      </p:sp>
      <p:sp>
        <p:nvSpPr>
          <p:cNvPr id="14" name="OPTPRESS · 2025"/>
          <p:cNvSpPr txBox="1"/>
          <p:nvPr/>
        </p:nvSpPr>
        <p:spPr>
          <a:xfrm>
            <a:off x="4813300" y="3196340"/>
            <a:ext cx="637540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Arial" pitchFamily="34" charset="0"/>
                <a:ea typeface="Arial" pitchFamily="34" charset="-122"/>
                <a:cs typeface="Arial" pitchFamily="34" charset="-120"/>
              </a:rPr>
              <a:t>OPTPRESS · 2025</a:t>
            </a:r>
            <a:endParaRPr lang="en-US" sz="1500" dirty="0"/>
          </a:p>
        </p:txBody>
      </p:sp>
      <p:sp>
        <p:nvSpPr>
          <p:cNvPr id="15" name="≥65 anos com choque séptico, alvo 80–85 "/>
          <p:cNvSpPr txBox="1"/>
          <p:nvPr/>
        </p:nvSpPr>
        <p:spPr>
          <a:xfrm>
            <a:off x="4813300" y="3466177"/>
            <a:ext cx="637540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Arial" pitchFamily="34" charset="0"/>
                <a:ea typeface="Arial" pitchFamily="34" charset="-122"/>
                <a:cs typeface="Arial" pitchFamily="34" charset="-120"/>
              </a:rPr>
              <a:t>≥65 anos com choque séptico, alvo 80–85 vs. 65–70 mmHg: interrompido por dano (mortalidade em 90 dias 39,3% vs. 28,6%; n = 518).</a:t>
            </a:r>
            <a:endParaRPr lang="en-US" sz="1300" dirty="0"/>
          </a:p>
        </p:txBody>
      </p:sp>
      <p:sp>
        <p:nvSpPr>
          <p:cNvPr id="16" name="Cartão"/>
          <p:cNvSpPr/>
          <p:nvPr/>
        </p:nvSpPr>
        <p:spPr>
          <a:xfrm>
            <a:off x="4572000" y="4200823"/>
            <a:ext cx="6807200" cy="1059061"/>
          </a:xfrm>
          <a:prstGeom prst="roundRect">
            <a:avLst>
              <a:gd name="adj" fmla="val 7195"/>
            </a:avLst>
          </a:prstGeom>
          <a:solidFill>
            <a:srgbClr val="FFFDF8"/>
          </a:solidFill>
          <a:ln w="6350">
            <a:solidFill>
              <a:srgbClr val="E2DDD2"/>
            </a:solidFill>
            <a:prstDash val="solid"/>
          </a:ln>
        </p:spPr>
      </p:sp>
      <p:sp>
        <p:nvSpPr>
          <p:cNvPr id="17" name="Borda de destaque"/>
          <p:cNvSpPr/>
          <p:nvPr/>
        </p:nvSpPr>
        <p:spPr>
          <a:xfrm>
            <a:off x="4572000" y="4211401"/>
            <a:ext cx="38100" cy="1037904"/>
          </a:xfrm>
          <a:custGeom>
            <a:avLst/>
            <a:gdLst/>
            <a:ahLst/>
            <a:cxnLst/>
            <a:rect l="l" t="t" r="r" b="b"/>
            <a:pathLst>
              <a:path w="38100" h="1037904">
                <a:moveTo>
                  <a:pt x="38100" y="1037904"/>
                </a:moveTo>
                <a:lnTo>
                  <a:pt x="33866" y="1035640"/>
                </a:lnTo>
                <a:lnTo>
                  <a:pt x="22318" y="1026164"/>
                </a:lnTo>
                <a:lnTo>
                  <a:pt x="12842" y="1014617"/>
                </a:lnTo>
                <a:lnTo>
                  <a:pt x="5800" y="1001443"/>
                </a:lnTo>
                <a:lnTo>
                  <a:pt x="1464" y="987148"/>
                </a:lnTo>
                <a:lnTo>
                  <a:pt x="0" y="972282"/>
                </a:lnTo>
                <a:lnTo>
                  <a:pt x="0" y="65621"/>
                </a:lnTo>
                <a:lnTo>
                  <a:pt x="1464" y="50755"/>
                </a:lnTo>
                <a:lnTo>
                  <a:pt x="5800" y="36461"/>
                </a:lnTo>
                <a:lnTo>
                  <a:pt x="12842" y="23287"/>
                </a:lnTo>
                <a:lnTo>
                  <a:pt x="22318" y="11740"/>
                </a:lnTo>
                <a:lnTo>
                  <a:pt x="33866" y="2263"/>
                </a:lnTo>
                <a:lnTo>
                  <a:pt x="38100" y="0"/>
                </a:lnTo>
                <a:close/>
              </a:path>
            </a:pathLst>
          </a:custGeom>
          <a:solidFill>
            <a:srgbClr val="56606B"/>
          </a:solidFill>
          <a:ln/>
        </p:spPr>
      </p:sp>
      <p:sp>
        <p:nvSpPr>
          <p:cNvPr id="18" name="ESICM 2025"/>
          <p:cNvSpPr txBox="1"/>
          <p:nvPr/>
        </p:nvSpPr>
        <p:spPr>
          <a:xfrm>
            <a:off x="4813300" y="4357001"/>
            <a:ext cx="6375400" cy="228600"/>
          </a:xfrm>
          <a:prstGeom prst="rect">
            <a:avLst/>
          </a:prstGeom>
          <a:noFill/>
          <a:ln/>
        </p:spPr>
        <p:txBody>
          <a:bodyPr wrap="none" lIns="0" tIns="0" rIns="0" bIns="0" rtlCol="0" anchor="t"/>
          <a:lstStyle/>
          <a:p>
            <a:pPr algn="l" indent="0" marL="0">
              <a:lnSpc>
                <a:spcPts val="1800"/>
              </a:lnSpc>
              <a:buNone/>
            </a:pPr>
            <a:r>
              <a:rPr lang="pt-BR" altLang="en-US" sz="1500" b="1" dirty="0">
                <a:solidFill>
                  <a:srgbClr val="1B2A3A"/>
                </a:solidFill>
                <a:latin typeface="Arial" pitchFamily="34" charset="0"/>
                <a:ea typeface="Arial" pitchFamily="34" charset="-122"/>
                <a:cs typeface="Arial" pitchFamily="34" charset="-120"/>
              </a:rPr>
              <a:t>ESICM 2025</a:t>
            </a:r>
            <a:endParaRPr lang="en-US" sz="1500" dirty="0"/>
          </a:p>
        </p:txBody>
      </p:sp>
      <p:sp>
        <p:nvSpPr>
          <p:cNvPr id="19" name="Individualizar: considerar alvo maior em"/>
          <p:cNvSpPr txBox="1"/>
          <p:nvPr/>
        </p:nvSpPr>
        <p:spPr>
          <a:xfrm>
            <a:off x="4813300" y="4626838"/>
            <a:ext cx="6375400" cy="462161"/>
          </a:xfrm>
          <a:prstGeom prst="rect">
            <a:avLst/>
          </a:prstGeom>
          <a:noFill/>
          <a:ln/>
        </p:spPr>
        <p:txBody>
          <a:bodyPr wrap="square" lIns="0" tIns="0" rIns="0" bIns="0" rtlCol="0" anchor="t"/>
          <a:lstStyle/>
          <a:p>
            <a:pPr algn="l" indent="0" marL="0">
              <a:lnSpc>
                <a:spcPts val="1820"/>
              </a:lnSpc>
              <a:buNone/>
            </a:pPr>
            <a:r>
              <a:rPr lang="pt-BR" altLang="en-US" sz="1300" dirty="0">
                <a:solidFill>
                  <a:srgbClr val="2C3A48"/>
                </a:solidFill>
                <a:latin typeface="Arial" pitchFamily="34" charset="0"/>
                <a:ea typeface="Arial" pitchFamily="34" charset="-122"/>
                <a:cs typeface="Arial" pitchFamily="34" charset="-120"/>
              </a:rPr>
              <a:t>Individualizar: considerar alvo maior em hipertensão crônica ou PVC alta, se houver melhora clínica com PA mais alta.</a:t>
            </a:r>
            <a:endParaRPr lang="en-US" sz="1300" dirty="0"/>
          </a:p>
        </p:txBody>
      </p:sp>
      <p:sp>
        <p:nvSpPr>
          <p:cNvPr id="20" name="Lamontagne, JAMA 2020 · Endo, Intensive "/>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Lamontagne, JAMA 2020 · Endo, Intensive Care Med 2025 (OPTPRESS) · Monnet, Intensive Care Med 2025 (ESICM) · SSC 2026</a:t>
            </a:r>
            <a:endParaRPr lang="en-US" sz="12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E"/>
        </a:solidFill>
      </p:bgPr>
    </p:bg>
    <p:spTree>
      <p:nvGrpSpPr>
        <p:cNvPr id="1" name=""/>
        <p:cNvGrpSpPr/>
        <p:nvPr/>
      </p:nvGrpSpPr>
      <p:grpSpPr>
        <a:xfrm>
          <a:off x="0" y="0"/>
          <a:ext cx="0" cy="0"/>
          <a:chOff x="0" y="0"/>
          <a:chExt cx="0" cy="0"/>
        </a:xfrm>
      </p:grpSpPr>
      <p:sp>
        <p:nvSpPr>
          <p:cNvPr id="2" name="RESERVA · TIMING E VIA"/>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TIMING E VIA</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Timing e via: começar cedo, mesmo periférico</a:t>
            </a:r>
            <a:endParaRPr lang="en-US" sz="3200" dirty="0"/>
          </a:p>
        </p:txBody>
      </p:sp>
      <p:sp>
        <p:nvSpPr>
          <p:cNvPr id="4" name="Cartão"/>
          <p:cNvSpPr/>
          <p:nvPr/>
        </p:nvSpPr>
        <p:spPr>
          <a:xfrm>
            <a:off x="812800" y="1879501"/>
            <a:ext cx="3386634" cy="2652911"/>
          </a:xfrm>
          <a:prstGeom prst="roundRect">
            <a:avLst>
              <a:gd name="adj" fmla="val 2872"/>
            </a:avLst>
          </a:prstGeom>
          <a:solidFill>
            <a:srgbClr val="FFFDF8"/>
          </a:solidFill>
          <a:ln w="6350">
            <a:solidFill>
              <a:srgbClr val="E2DDD2"/>
            </a:solidFill>
            <a:prstDash val="solid"/>
          </a:ln>
        </p:spPr>
      </p:sp>
      <p:sp>
        <p:nvSpPr>
          <p:cNvPr id="5" name="Borda de destaque"/>
          <p:cNvSpPr/>
          <p:nvPr/>
        </p:nvSpPr>
        <p:spPr>
          <a:xfrm>
            <a:off x="823379" y="1879501"/>
            <a:ext cx="3365476" cy="38100"/>
          </a:xfrm>
          <a:custGeom>
            <a:avLst/>
            <a:gdLst/>
            <a:ahLst/>
            <a:cxnLst/>
            <a:rect l="l" t="t" r="r" b="b"/>
            <a:pathLst>
              <a:path w="3365476" h="38100">
                <a:moveTo>
                  <a:pt x="3299855" y="0"/>
                </a:moveTo>
                <a:lnTo>
                  <a:pt x="3314721" y="1464"/>
                </a:lnTo>
                <a:lnTo>
                  <a:pt x="3329015" y="5800"/>
                </a:lnTo>
                <a:lnTo>
                  <a:pt x="3342189" y="12842"/>
                </a:lnTo>
                <a:lnTo>
                  <a:pt x="3353736" y="22318"/>
                </a:lnTo>
                <a:lnTo>
                  <a:pt x="3363213" y="33866"/>
                </a:lnTo>
                <a:lnTo>
                  <a:pt x="3365476"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6" name="Precoce"/>
          <p:cNvSpPr txBox="1"/>
          <p:nvPr/>
        </p:nvSpPr>
        <p:spPr>
          <a:xfrm>
            <a:off x="1073150" y="2168686"/>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Precoce</a:t>
            </a:r>
            <a:endParaRPr lang="en-US" sz="1700" dirty="0"/>
          </a:p>
        </p:txBody>
      </p:sp>
      <p:sp>
        <p:nvSpPr>
          <p:cNvPr id="7" name="CENSER: NA 0,05 mcg/kg/min desde a admis"/>
          <p:cNvSpPr txBox="1"/>
          <p:nvPr/>
        </p:nvSpPr>
        <p:spPr>
          <a:xfrm>
            <a:off x="1073150" y="2517088"/>
            <a:ext cx="2884984"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CENSER: NA 0,05 mcg/kg/min desde a admissão elevou o controle do choque em 6 h (76,1% vs. 48,4%), com menos edema pulmonar (14,4% vs. 27,7%) e arritmia. Mortalidade sem diferença.</a:t>
            </a:r>
            <a:endParaRPr lang="en-US" sz="1350" dirty="0"/>
          </a:p>
        </p:txBody>
      </p:sp>
      <p:sp>
        <p:nvSpPr>
          <p:cNvPr id="8" name="Cartão"/>
          <p:cNvSpPr/>
          <p:nvPr/>
        </p:nvSpPr>
        <p:spPr>
          <a:xfrm>
            <a:off x="4402634" y="1879501"/>
            <a:ext cx="3386634" cy="2652911"/>
          </a:xfrm>
          <a:prstGeom prst="roundRect">
            <a:avLst>
              <a:gd name="adj" fmla="val 2872"/>
            </a:avLst>
          </a:prstGeom>
          <a:solidFill>
            <a:srgbClr val="FFFDF8"/>
          </a:solidFill>
          <a:ln w="6350">
            <a:solidFill>
              <a:srgbClr val="E2DDD2"/>
            </a:solidFill>
            <a:prstDash val="solid"/>
          </a:ln>
        </p:spPr>
      </p:sp>
      <p:sp>
        <p:nvSpPr>
          <p:cNvPr id="9" name="Borda de destaque"/>
          <p:cNvSpPr/>
          <p:nvPr/>
        </p:nvSpPr>
        <p:spPr>
          <a:xfrm>
            <a:off x="4413212" y="1879501"/>
            <a:ext cx="3365476" cy="38100"/>
          </a:xfrm>
          <a:custGeom>
            <a:avLst/>
            <a:gdLst/>
            <a:ahLst/>
            <a:cxnLst/>
            <a:rect l="l" t="t" r="r" b="b"/>
            <a:pathLst>
              <a:path w="3365476" h="38100">
                <a:moveTo>
                  <a:pt x="3299855" y="0"/>
                </a:moveTo>
                <a:lnTo>
                  <a:pt x="3314721" y="1464"/>
                </a:lnTo>
                <a:lnTo>
                  <a:pt x="3329015" y="5800"/>
                </a:lnTo>
                <a:lnTo>
                  <a:pt x="3342189" y="12842"/>
                </a:lnTo>
                <a:lnTo>
                  <a:pt x="3353736" y="22318"/>
                </a:lnTo>
                <a:lnTo>
                  <a:pt x="3363213" y="33866"/>
                </a:lnTo>
                <a:lnTo>
                  <a:pt x="3365476"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10" name="Periférico"/>
          <p:cNvSpPr txBox="1"/>
          <p:nvPr/>
        </p:nvSpPr>
        <p:spPr>
          <a:xfrm>
            <a:off x="4662984" y="2168686"/>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Periférico</a:t>
            </a:r>
            <a:endParaRPr lang="en-US" sz="1700" dirty="0"/>
          </a:p>
        </p:txBody>
      </p:sp>
      <p:sp>
        <p:nvSpPr>
          <p:cNvPr id="11" name="Metanálise de Tran (n = 1.835): complica"/>
          <p:cNvSpPr txBox="1"/>
          <p:nvPr/>
        </p:nvSpPr>
        <p:spPr>
          <a:xfrm>
            <a:off x="4662984" y="2517088"/>
            <a:ext cx="2884984" cy="1491258"/>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Metanálise de Tran (n = 1.835): complicações em 7% (combinada 8,6%), 96% leves; menos com protocolo de segurança (2,9% vs. 12%). SSC 2026: iniciar periférico em vez de esperar o acesso central.</a:t>
            </a:r>
            <a:endParaRPr lang="en-US" sz="1350" dirty="0"/>
          </a:p>
        </p:txBody>
      </p:sp>
      <p:sp>
        <p:nvSpPr>
          <p:cNvPr id="12" name="Cartão"/>
          <p:cNvSpPr/>
          <p:nvPr/>
        </p:nvSpPr>
        <p:spPr>
          <a:xfrm>
            <a:off x="7992467" y="1879501"/>
            <a:ext cx="3386634" cy="2652911"/>
          </a:xfrm>
          <a:prstGeom prst="roundRect">
            <a:avLst>
              <a:gd name="adj" fmla="val 2872"/>
            </a:avLst>
          </a:prstGeom>
          <a:solidFill>
            <a:srgbClr val="FFFDF8"/>
          </a:solidFill>
          <a:ln w="6350">
            <a:solidFill>
              <a:srgbClr val="E2DDD2"/>
            </a:solidFill>
            <a:prstDash val="solid"/>
          </a:ln>
        </p:spPr>
      </p:sp>
      <p:sp>
        <p:nvSpPr>
          <p:cNvPr id="13" name="Borda de destaque"/>
          <p:cNvSpPr/>
          <p:nvPr/>
        </p:nvSpPr>
        <p:spPr>
          <a:xfrm>
            <a:off x="8003046" y="1879501"/>
            <a:ext cx="3365476" cy="38100"/>
          </a:xfrm>
          <a:custGeom>
            <a:avLst/>
            <a:gdLst/>
            <a:ahLst/>
            <a:cxnLst/>
            <a:rect l="l" t="t" r="r" b="b"/>
            <a:pathLst>
              <a:path w="3365476" h="38100">
                <a:moveTo>
                  <a:pt x="3299855" y="0"/>
                </a:moveTo>
                <a:lnTo>
                  <a:pt x="3314721" y="1464"/>
                </a:lnTo>
                <a:lnTo>
                  <a:pt x="3329015" y="5800"/>
                </a:lnTo>
                <a:lnTo>
                  <a:pt x="3342189" y="12842"/>
                </a:lnTo>
                <a:lnTo>
                  <a:pt x="3353736" y="22318"/>
                </a:lnTo>
                <a:lnTo>
                  <a:pt x="3363213" y="33866"/>
                </a:lnTo>
                <a:lnTo>
                  <a:pt x="3365476" y="38100"/>
                </a:lnTo>
                <a:lnTo>
                  <a:pt x="0" y="38100"/>
                </a:lnTo>
                <a:lnTo>
                  <a:pt x="2263" y="33866"/>
                </a:lnTo>
                <a:lnTo>
                  <a:pt x="11740" y="22318"/>
                </a:lnTo>
                <a:lnTo>
                  <a:pt x="23287" y="12842"/>
                </a:lnTo>
                <a:lnTo>
                  <a:pt x="36461" y="5800"/>
                </a:lnTo>
                <a:lnTo>
                  <a:pt x="50755" y="1464"/>
                </a:lnTo>
                <a:lnTo>
                  <a:pt x="65621" y="0"/>
                </a:lnTo>
                <a:close/>
              </a:path>
            </a:pathLst>
          </a:custGeom>
          <a:solidFill>
            <a:srgbClr val="56606B"/>
          </a:solidFill>
          <a:ln/>
        </p:spPr>
      </p:sp>
      <p:sp>
        <p:nvSpPr>
          <p:cNvPr id="14" name="Prescrição"/>
          <p:cNvSpPr txBox="1"/>
          <p:nvPr/>
        </p:nvSpPr>
        <p:spPr>
          <a:xfrm>
            <a:off x="8252817" y="2168686"/>
            <a:ext cx="2884984" cy="259060"/>
          </a:xfrm>
          <a:prstGeom prst="rect">
            <a:avLst/>
          </a:prstGeom>
          <a:noFill/>
          <a:ln/>
        </p:spPr>
        <p:txBody>
          <a:bodyPr wrap="none" lIns="0" tIns="0" rIns="0" bIns="0" rtlCol="0" anchor="t"/>
          <a:lstStyle/>
          <a:p>
            <a:pPr algn="l" indent="0" marL="0">
              <a:lnSpc>
                <a:spcPts val="2040"/>
              </a:lnSpc>
              <a:buNone/>
            </a:pPr>
            <a:r>
              <a:rPr lang="pt-BR" altLang="en-US" sz="1700" b="1" dirty="0">
                <a:solidFill>
                  <a:srgbClr val="1B2A3A"/>
                </a:solidFill>
                <a:latin typeface="Arial" pitchFamily="34" charset="0"/>
                <a:ea typeface="Arial" pitchFamily="34" charset="-122"/>
                <a:cs typeface="Arial" pitchFamily="34" charset="-120"/>
              </a:rPr>
              <a:t>Prescrição</a:t>
            </a:r>
            <a:endParaRPr lang="en-US" sz="1700" dirty="0"/>
          </a:p>
        </p:txBody>
      </p:sp>
      <p:sp>
        <p:nvSpPr>
          <p:cNvPr id="15" name="No Brasil, a ampola de hemitartarato 2 m"/>
          <p:cNvSpPr txBox="1"/>
          <p:nvPr/>
        </p:nvSpPr>
        <p:spPr>
          <a:xfrm>
            <a:off x="8252817" y="2517088"/>
            <a:ext cx="2884984" cy="1739801"/>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No Brasil, a ampola de hemitartarato 2 mg/mL equivale a 1 mg/mL de noradrenalina base. A mesma infusão expressa em sal tem o dobro do valor em base: especificar a forma na prescrição e ao comparar com estudos.</a:t>
            </a:r>
            <a:endParaRPr lang="en-US" sz="1350" dirty="0"/>
          </a:p>
        </p:txBody>
      </p:sp>
      <p:sp>
        <p:nvSpPr>
          <p:cNvPr id="16" name="Permpikul, AJRCCM 2019 · Tran, Am J Emer"/>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Permpikul, AJRCCM 2019 · Tran, Am J Emerg Med 2020 · Ibarra-Estrada, ICM 2024 · InCor/HC-FMUSP 2020 · SSC 2026</a:t>
            </a:r>
            <a:endParaRPr lang="en-US" sz="12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E"/>
        </a:solidFill>
      </p:bgPr>
    </p:bg>
    <p:spTree>
      <p:nvGrpSpPr>
        <p:cNvPr id="1" name=""/>
        <p:cNvGrpSpPr/>
        <p:nvPr/>
      </p:nvGrpSpPr>
      <p:grpSpPr>
        <a:xfrm>
          <a:off x="0" y="0"/>
          <a:ext cx="0" cy="0"/>
          <a:chOff x="0" y="0"/>
          <a:chExt cx="0" cy="0"/>
        </a:xfrm>
      </p:grpSpPr>
      <p:sp>
        <p:nvSpPr>
          <p:cNvPr id="2" name="RESERVA · PRESCRIÇÃO"/>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PRESCRIÇÃO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Noradrenalina: base ou hemitartarato?</a:t>
            </a:r>
            <a:endParaRPr lang="en-US" sz="3200" dirty="0"/>
          </a:p>
        </p:txBody>
      </p:sp>
      <p:sp>
        <p:nvSpPr>
          <p:cNvPr id="4" name="Cartão"/>
          <p:cNvSpPr/>
          <p:nvPr/>
        </p:nvSpPr>
        <p:spPr>
          <a:xfrm>
            <a:off x="812800" y="1879501"/>
            <a:ext cx="3386634" cy="2292052"/>
          </a:xfrm>
          <a:prstGeom prst="roundRect">
            <a:avLst>
              <a:gd name="adj" fmla="val 3325"/>
            </a:avLst>
          </a:prstGeom>
          <a:solidFill>
            <a:srgbClr val="FFFDF8"/>
          </a:solidFill>
          <a:ln w="6350">
            <a:solidFill>
              <a:srgbClr val="E2DDD2"/>
            </a:solidFill>
            <a:prstDash val="solid"/>
          </a:ln>
        </p:spPr>
      </p:sp>
      <p:sp>
        <p:nvSpPr>
          <p:cNvPr id="5" name="Borda de destaque"/>
          <p:cNvSpPr/>
          <p:nvPr/>
        </p:nvSpPr>
        <p:spPr>
          <a:xfrm>
            <a:off x="823379" y="1879501"/>
            <a:ext cx="3365476" cy="38100"/>
          </a:xfrm>
          <a:custGeom>
            <a:avLst/>
            <a:gdLst/>
            <a:ahLst/>
            <a:cxnLst/>
            <a:rect l="l" t="t" r="r" b="b"/>
            <a:pathLst>
              <a:path w="3365476" h="38100">
                <a:moveTo>
                  <a:pt x="3299855" y="0"/>
                </a:moveTo>
                <a:lnTo>
                  <a:pt x="3314721" y="1464"/>
                </a:lnTo>
                <a:lnTo>
                  <a:pt x="3329015" y="5800"/>
                </a:lnTo>
                <a:lnTo>
                  <a:pt x="3342189" y="12842"/>
                </a:lnTo>
                <a:lnTo>
                  <a:pt x="3353736" y="22318"/>
                </a:lnTo>
                <a:lnTo>
                  <a:pt x="3363213" y="33866"/>
                </a:lnTo>
                <a:lnTo>
                  <a:pt x="3365476" y="38100"/>
                </a:lnTo>
                <a:lnTo>
                  <a:pt x="0" y="38100"/>
                </a:lnTo>
                <a:lnTo>
                  <a:pt x="2263" y="33866"/>
                </a:lnTo>
                <a:lnTo>
                  <a:pt x="11740" y="22318"/>
                </a:lnTo>
                <a:lnTo>
                  <a:pt x="23287" y="12842"/>
                </a:lnTo>
                <a:lnTo>
                  <a:pt x="36461" y="5800"/>
                </a:lnTo>
                <a:lnTo>
                  <a:pt x="50755" y="1464"/>
                </a:lnTo>
                <a:lnTo>
                  <a:pt x="65621" y="0"/>
                </a:lnTo>
                <a:close/>
              </a:path>
            </a:pathLst>
          </a:custGeom>
          <a:solidFill>
            <a:srgbClr val="B9581A"/>
          </a:solidFill>
          <a:ln/>
        </p:spPr>
      </p:sp>
      <p:sp>
        <p:nvSpPr>
          <p:cNvPr id="6" name="1 · AMPOLA"/>
          <p:cNvSpPr txBox="1"/>
          <p:nvPr/>
        </p:nvSpPr>
        <p:spPr>
          <a:xfrm>
            <a:off x="1073150" y="2160399"/>
            <a:ext cx="28849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1 · AMPOLA</a:t>
            </a:r>
            <a:endParaRPr lang="en-US" sz="1200" dirty="0"/>
          </a:p>
        </p:txBody>
      </p:sp>
      <p:sp>
        <p:nvSpPr>
          <p:cNvPr id="7" name="1 mg/mL de base"/>
          <p:cNvSpPr txBox="1"/>
          <p:nvPr/>
        </p:nvSpPr>
        <p:spPr>
          <a:xfrm>
            <a:off x="1073150" y="2462442"/>
            <a:ext cx="2884984" cy="379710"/>
          </a:xfrm>
          <a:prstGeom prst="rect">
            <a:avLst/>
          </a:prstGeom>
          <a:noFill/>
          <a:ln/>
        </p:spPr>
        <p:txBody>
          <a:bodyPr wrap="none" lIns="0" tIns="0" rIns="0" bIns="0" rtlCol="0" anchor="t"/>
          <a:lstStyle/>
          <a:p>
            <a:pPr algn="l" indent="0" marL="0">
              <a:lnSpc>
                <a:spcPts val="2990"/>
              </a:lnSpc>
              <a:buNone/>
            </a:pPr>
            <a:r>
              <a:rPr lang="pt-BR" altLang="en-US" sz="2600" dirty="0">
                <a:solidFill>
                  <a:srgbClr val="1B2A3A"/>
                </a:solidFill>
                <a:latin typeface="Georgia" pitchFamily="34" charset="0"/>
                <a:ea typeface="Georgia" pitchFamily="34" charset="-122"/>
                <a:cs typeface="Georgia" pitchFamily="34" charset="-120"/>
              </a:rPr>
              <a:t>1 mg/mL de base</a:t>
            </a:r>
            <a:endParaRPr lang="en-US" sz="2600" dirty="0"/>
          </a:p>
        </p:txBody>
      </p:sp>
      <p:sp>
        <p:nvSpPr>
          <p:cNvPr id="8" name="Hemitartarato 2 mg/mL equivale a 1 mg/mL"/>
          <p:cNvSpPr txBox="1"/>
          <p:nvPr/>
        </p:nvSpPr>
        <p:spPr>
          <a:xfrm>
            <a:off x="1073150" y="2901858"/>
            <a:ext cx="2884984" cy="994172"/>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Hemitartarato 2 mg/mL equivale a 1 mg/mL de noradrenalina base. Ampola de 4 mL: 8 mg de sal, 4 mg de base.</a:t>
            </a:r>
            <a:endParaRPr lang="en-US" sz="1350" dirty="0"/>
          </a:p>
        </p:txBody>
      </p:sp>
      <p:sp>
        <p:nvSpPr>
          <p:cNvPr id="9" name="Cartão"/>
          <p:cNvSpPr/>
          <p:nvPr/>
        </p:nvSpPr>
        <p:spPr>
          <a:xfrm>
            <a:off x="4402634" y="1879501"/>
            <a:ext cx="3386634" cy="2292052"/>
          </a:xfrm>
          <a:prstGeom prst="roundRect">
            <a:avLst>
              <a:gd name="adj" fmla="val 3325"/>
            </a:avLst>
          </a:prstGeom>
          <a:solidFill>
            <a:srgbClr val="FFFDF8"/>
          </a:solidFill>
          <a:ln w="6350">
            <a:solidFill>
              <a:srgbClr val="E2DDD2"/>
            </a:solidFill>
            <a:prstDash val="solid"/>
          </a:ln>
        </p:spPr>
      </p:sp>
      <p:sp>
        <p:nvSpPr>
          <p:cNvPr id="10" name="Borda de destaque"/>
          <p:cNvSpPr/>
          <p:nvPr/>
        </p:nvSpPr>
        <p:spPr>
          <a:xfrm>
            <a:off x="4413212" y="1879501"/>
            <a:ext cx="3365476" cy="38100"/>
          </a:xfrm>
          <a:custGeom>
            <a:avLst/>
            <a:gdLst/>
            <a:ahLst/>
            <a:cxnLst/>
            <a:rect l="l" t="t" r="r" b="b"/>
            <a:pathLst>
              <a:path w="3365476" h="38100">
                <a:moveTo>
                  <a:pt x="3299855" y="0"/>
                </a:moveTo>
                <a:lnTo>
                  <a:pt x="3314721" y="1464"/>
                </a:lnTo>
                <a:lnTo>
                  <a:pt x="3329015" y="5800"/>
                </a:lnTo>
                <a:lnTo>
                  <a:pt x="3342189" y="12842"/>
                </a:lnTo>
                <a:lnTo>
                  <a:pt x="3353736" y="22318"/>
                </a:lnTo>
                <a:lnTo>
                  <a:pt x="3363213" y="33866"/>
                </a:lnTo>
                <a:lnTo>
                  <a:pt x="3365476" y="38100"/>
                </a:lnTo>
                <a:lnTo>
                  <a:pt x="0" y="38100"/>
                </a:lnTo>
                <a:lnTo>
                  <a:pt x="2263" y="33866"/>
                </a:lnTo>
                <a:lnTo>
                  <a:pt x="11740" y="22318"/>
                </a:lnTo>
                <a:lnTo>
                  <a:pt x="23287" y="12842"/>
                </a:lnTo>
                <a:lnTo>
                  <a:pt x="36461" y="5800"/>
                </a:lnTo>
                <a:lnTo>
                  <a:pt x="50755" y="1464"/>
                </a:lnTo>
                <a:lnTo>
                  <a:pt x="65621" y="0"/>
                </a:lnTo>
                <a:close/>
              </a:path>
            </a:pathLst>
          </a:custGeom>
          <a:solidFill>
            <a:srgbClr val="2E5E8C"/>
          </a:solidFill>
          <a:ln/>
        </p:spPr>
      </p:sp>
      <p:sp>
        <p:nvSpPr>
          <p:cNvPr id="11" name="2 · SOLUÇÃO"/>
          <p:cNvSpPr txBox="1"/>
          <p:nvPr/>
        </p:nvSpPr>
        <p:spPr>
          <a:xfrm>
            <a:off x="4662984" y="2160399"/>
            <a:ext cx="28849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2E5E8C"/>
                </a:solidFill>
                <a:latin typeface="Arial" pitchFamily="34" charset="0"/>
                <a:ea typeface="Arial" pitchFamily="34" charset="-122"/>
                <a:cs typeface="Arial" pitchFamily="34" charset="-120"/>
              </a:rPr>
              <a:t>2 · SOLUÇÃO</a:t>
            </a:r>
            <a:endParaRPr lang="en-US" sz="1200" dirty="0"/>
          </a:p>
        </p:txBody>
      </p:sp>
      <p:sp>
        <p:nvSpPr>
          <p:cNvPr id="12" name="64 mcg/mL"/>
          <p:cNvSpPr txBox="1"/>
          <p:nvPr/>
        </p:nvSpPr>
        <p:spPr>
          <a:xfrm>
            <a:off x="4662984" y="2462442"/>
            <a:ext cx="2884984" cy="379710"/>
          </a:xfrm>
          <a:prstGeom prst="rect">
            <a:avLst/>
          </a:prstGeom>
          <a:noFill/>
          <a:ln/>
        </p:spPr>
        <p:txBody>
          <a:bodyPr wrap="none" lIns="0" tIns="0" rIns="0" bIns="0" rtlCol="0" anchor="t"/>
          <a:lstStyle/>
          <a:p>
            <a:pPr algn="l" indent="0" marL="0">
              <a:lnSpc>
                <a:spcPts val="2990"/>
              </a:lnSpc>
              <a:buNone/>
            </a:pPr>
            <a:r>
              <a:rPr lang="pt-BR" altLang="en-US" sz="2600" dirty="0">
                <a:solidFill>
                  <a:srgbClr val="1B2A3A"/>
                </a:solidFill>
                <a:latin typeface="Georgia" pitchFamily="34" charset="0"/>
                <a:ea typeface="Georgia" pitchFamily="34" charset="-122"/>
                <a:cs typeface="Georgia" pitchFamily="34" charset="-120"/>
              </a:rPr>
              <a:t>64 mcg/mL</a:t>
            </a:r>
            <a:endParaRPr lang="en-US" sz="2600" dirty="0"/>
          </a:p>
        </p:txBody>
      </p:sp>
      <p:sp>
        <p:nvSpPr>
          <p:cNvPr id="13" name="4 ampolas (16 mg de base) em SG 5% até 2"/>
          <p:cNvSpPr txBox="1"/>
          <p:nvPr/>
        </p:nvSpPr>
        <p:spPr>
          <a:xfrm>
            <a:off x="4662984" y="2901858"/>
            <a:ext cx="2884984" cy="745629"/>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4 ampolas (16 mg de base) em SG 5% até 250 mL. Concentração final em base: 64 mcg/mL.</a:t>
            </a:r>
            <a:endParaRPr lang="en-US" sz="1350" dirty="0"/>
          </a:p>
        </p:txBody>
      </p:sp>
      <p:sp>
        <p:nvSpPr>
          <p:cNvPr id="14" name="Cartão"/>
          <p:cNvSpPr/>
          <p:nvPr/>
        </p:nvSpPr>
        <p:spPr>
          <a:xfrm>
            <a:off x="7992467" y="1879501"/>
            <a:ext cx="3386634" cy="2292052"/>
          </a:xfrm>
          <a:prstGeom prst="roundRect">
            <a:avLst>
              <a:gd name="adj" fmla="val 3325"/>
            </a:avLst>
          </a:prstGeom>
          <a:solidFill>
            <a:srgbClr val="FFFDF8"/>
          </a:solidFill>
          <a:ln w="6350">
            <a:solidFill>
              <a:srgbClr val="E2DDD2"/>
            </a:solidFill>
            <a:prstDash val="solid"/>
          </a:ln>
        </p:spPr>
      </p:sp>
      <p:sp>
        <p:nvSpPr>
          <p:cNvPr id="15" name="Borda de destaque"/>
          <p:cNvSpPr/>
          <p:nvPr/>
        </p:nvSpPr>
        <p:spPr>
          <a:xfrm>
            <a:off x="8003046" y="1879501"/>
            <a:ext cx="3365476" cy="38100"/>
          </a:xfrm>
          <a:custGeom>
            <a:avLst/>
            <a:gdLst/>
            <a:ahLst/>
            <a:cxnLst/>
            <a:rect l="l" t="t" r="r" b="b"/>
            <a:pathLst>
              <a:path w="3365476" h="38100">
                <a:moveTo>
                  <a:pt x="3299855" y="0"/>
                </a:moveTo>
                <a:lnTo>
                  <a:pt x="3314721" y="1464"/>
                </a:lnTo>
                <a:lnTo>
                  <a:pt x="3329015" y="5800"/>
                </a:lnTo>
                <a:lnTo>
                  <a:pt x="3342189" y="12842"/>
                </a:lnTo>
                <a:lnTo>
                  <a:pt x="3353736" y="22318"/>
                </a:lnTo>
                <a:lnTo>
                  <a:pt x="3363213" y="33866"/>
                </a:lnTo>
                <a:lnTo>
                  <a:pt x="3365476" y="38100"/>
                </a:lnTo>
                <a:lnTo>
                  <a:pt x="0" y="38100"/>
                </a:lnTo>
                <a:lnTo>
                  <a:pt x="2263" y="33866"/>
                </a:lnTo>
                <a:lnTo>
                  <a:pt x="11740" y="22318"/>
                </a:lnTo>
                <a:lnTo>
                  <a:pt x="23287" y="12842"/>
                </a:lnTo>
                <a:lnTo>
                  <a:pt x="36461" y="5800"/>
                </a:lnTo>
                <a:lnTo>
                  <a:pt x="50755" y="1464"/>
                </a:lnTo>
                <a:lnTo>
                  <a:pt x="65621" y="0"/>
                </a:lnTo>
                <a:close/>
              </a:path>
            </a:pathLst>
          </a:custGeom>
          <a:solidFill>
            <a:srgbClr val="56606B"/>
          </a:solidFill>
          <a:ln/>
        </p:spPr>
      </p:sp>
      <p:sp>
        <p:nvSpPr>
          <p:cNvPr id="16" name="3 · VAZÃO"/>
          <p:cNvSpPr txBox="1"/>
          <p:nvPr/>
        </p:nvSpPr>
        <p:spPr>
          <a:xfrm>
            <a:off x="8252817" y="2160399"/>
            <a:ext cx="2884984"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56606B"/>
                </a:solidFill>
                <a:latin typeface="Arial" pitchFamily="34" charset="0"/>
                <a:ea typeface="Arial" pitchFamily="34" charset="-122"/>
                <a:cs typeface="Arial" pitchFamily="34" charset="-120"/>
              </a:rPr>
              <a:t>3 · VAZÃO</a:t>
            </a:r>
            <a:endParaRPr lang="en-US" sz="1200" dirty="0"/>
          </a:p>
        </p:txBody>
      </p:sp>
      <p:sp>
        <p:nvSpPr>
          <p:cNvPr id="17" name="≈ 6,6 mL/h"/>
          <p:cNvSpPr txBox="1"/>
          <p:nvPr/>
        </p:nvSpPr>
        <p:spPr>
          <a:xfrm>
            <a:off x="8252817" y="2462442"/>
            <a:ext cx="2884984" cy="379710"/>
          </a:xfrm>
          <a:prstGeom prst="rect">
            <a:avLst/>
          </a:prstGeom>
          <a:noFill/>
          <a:ln/>
        </p:spPr>
        <p:txBody>
          <a:bodyPr wrap="none" lIns="0" tIns="0" rIns="0" bIns="0" rtlCol="0" anchor="t"/>
          <a:lstStyle/>
          <a:p>
            <a:pPr algn="l" indent="0" marL="0">
              <a:lnSpc>
                <a:spcPts val="2990"/>
              </a:lnSpc>
              <a:buNone/>
            </a:pPr>
            <a:r>
              <a:rPr lang="pt-BR" altLang="en-US" sz="2600" dirty="0">
                <a:solidFill>
                  <a:srgbClr val="1B2A3A"/>
                </a:solidFill>
                <a:latin typeface="Georgia" pitchFamily="34" charset="0"/>
                <a:ea typeface="Georgia" pitchFamily="34" charset="-122"/>
                <a:cs typeface="Georgia" pitchFamily="34" charset="-120"/>
              </a:rPr>
              <a:t>≈ 6,6 mL/h</a:t>
            </a:r>
            <a:endParaRPr lang="en-US" sz="2600" dirty="0"/>
          </a:p>
        </p:txBody>
      </p:sp>
      <p:sp>
        <p:nvSpPr>
          <p:cNvPr id="18" name="70 kg × 0,1 mcg/kg/min = 7 mcg/min = 420"/>
          <p:cNvSpPr txBox="1"/>
          <p:nvPr/>
        </p:nvSpPr>
        <p:spPr>
          <a:xfrm>
            <a:off x="8252817" y="2901858"/>
            <a:ext cx="2884984" cy="497086"/>
          </a:xfrm>
          <a:prstGeom prst="rect">
            <a:avLst/>
          </a:prstGeom>
          <a:noFill/>
          <a:ln/>
        </p:spPr>
        <p:txBody>
          <a:bodyPr wrap="square" lIns="0" tIns="0" rIns="0" bIns="0" rtlCol="0" anchor="t"/>
          <a:lstStyle/>
          <a:p>
            <a:pPr algn="l" indent="0" marL="0">
              <a:lnSpc>
                <a:spcPts val="1957"/>
              </a:lnSpc>
              <a:buNone/>
            </a:pPr>
            <a:r>
              <a:rPr lang="pt-BR" altLang="en-US" sz="1350" dirty="0">
                <a:solidFill>
                  <a:srgbClr val="2C3A48"/>
                </a:solidFill>
                <a:latin typeface="Arial" pitchFamily="34" charset="0"/>
                <a:ea typeface="Arial" pitchFamily="34" charset="-122"/>
                <a:cs typeface="Arial" pitchFamily="34" charset="-120"/>
              </a:rPr>
              <a:t>70 kg × 0,1 mcg/kg/min = 7 mcg/min = 420 mcg/h. 420 ÷ 64 ≈ 6,6 mL/h.</a:t>
            </a:r>
            <a:endParaRPr lang="en-US" sz="1350" dirty="0"/>
          </a:p>
        </p:txBody>
      </p:sp>
      <p:sp>
        <p:nvSpPr>
          <p:cNvPr id="19" name="Cartão"/>
          <p:cNvSpPr/>
          <p:nvPr/>
        </p:nvSpPr>
        <p:spPr>
          <a:xfrm>
            <a:off x="812800" y="4374753"/>
            <a:ext cx="10566400" cy="988020"/>
          </a:xfrm>
          <a:prstGeom prst="roundRect">
            <a:avLst>
              <a:gd name="adj" fmla="val 7712"/>
            </a:avLst>
          </a:prstGeom>
          <a:solidFill>
            <a:srgbClr val="FFFDF8"/>
          </a:solidFill>
          <a:ln w="6350">
            <a:solidFill>
              <a:srgbClr val="E2DDD2"/>
            </a:solidFill>
            <a:prstDash val="solid"/>
          </a:ln>
        </p:spPr>
      </p:sp>
      <p:sp>
        <p:nvSpPr>
          <p:cNvPr id="20" name="Atenção"/>
          <p:cNvSpPr txBox="1"/>
          <p:nvPr/>
        </p:nvSpPr>
        <p:spPr>
          <a:xfrm>
            <a:off x="1073150" y="4555449"/>
            <a:ext cx="1476970" cy="568920"/>
          </a:xfrm>
          <a:prstGeom prst="rect">
            <a:avLst/>
          </a:prstGeom>
          <a:noFill/>
          <a:ln/>
        </p:spPr>
        <p:txBody>
          <a:bodyPr wrap="none" lIns="0" tIns="0" rIns="0" bIns="0" rtlCol="0" anchor="t"/>
          <a:lstStyle/>
          <a:p>
            <a:pPr algn="l" indent="0" marL="0">
              <a:lnSpc>
                <a:spcPts val="4480"/>
              </a:lnSpc>
              <a:buNone/>
            </a:pPr>
            <a:r>
              <a:rPr lang="pt-BR" altLang="en-US" sz="3200" dirty="0">
                <a:solidFill>
                  <a:srgbClr val="B9581A"/>
                </a:solidFill>
                <a:latin typeface="Georgia" pitchFamily="34" charset="0"/>
                <a:ea typeface="Georgia" pitchFamily="34" charset="-122"/>
                <a:cs typeface="Georgia" pitchFamily="34" charset="-120"/>
              </a:rPr>
              <a:t>Atenção</a:t>
            </a:r>
            <a:endParaRPr lang="en-US" sz="3200" dirty="0"/>
          </a:p>
        </p:txBody>
      </p:sp>
      <p:sp>
        <p:nvSpPr>
          <p:cNvPr id="21" name="Em sal, a mesma vazão corresponde a 0,2 "/>
          <p:cNvSpPr txBox="1"/>
          <p:nvPr/>
        </p:nvSpPr>
        <p:spPr>
          <a:xfrm>
            <a:off x="2734270" y="4588062"/>
            <a:ext cx="8403630" cy="533400"/>
          </a:xfrm>
          <a:prstGeom prst="rect">
            <a:avLst/>
          </a:prstGeom>
          <a:noFill/>
          <a:ln/>
        </p:spPr>
        <p:txBody>
          <a:bodyPr wrap="square" lIns="0" tIns="0" rIns="0" bIns="0" rtlCol="0" anchor="t"/>
          <a:lstStyle/>
          <a:p>
            <a:pPr algn="l" indent="0" marL="0">
              <a:lnSpc>
                <a:spcPts val="2100"/>
              </a:lnSpc>
              <a:buNone/>
            </a:pPr>
            <a:r>
              <a:rPr lang="pt-BR" altLang="en-US" sz="1500" dirty="0">
                <a:solidFill>
                  <a:srgbClr val="1B2A3A"/>
                </a:solidFill>
                <a:latin typeface="Arial" pitchFamily="34" charset="0"/>
                <a:ea typeface="Arial" pitchFamily="34" charset="-122"/>
                <a:cs typeface="Arial" pitchFamily="34" charset="-120"/>
              </a:rPr>
              <a:t>Em sal, a mesma vazão corresponde a 0,2 mcg/kg/min: o número dobra. Escrever sempre a forma (base ou sal) e seguir o protocolo do serviço.</a:t>
            </a:r>
            <a:endParaRPr lang="en-US" sz="1500" dirty="0"/>
          </a:p>
        </p:txBody>
      </p:sp>
      <p:sp>
        <p:nvSpPr>
          <p:cNvPr id="22" name="Bula do hemitartarato de norepinefrina ·"/>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Bula do hemitartarato de norepinefrina · Ibarra-Estrada, Intensive Care Med 2024 · exemplo ilustrativo</a:t>
            </a:r>
            <a:endParaRPr lang="en-US" sz="12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E"/>
        </a:solidFill>
      </p:bgPr>
    </p:bg>
    <p:spTree>
      <p:nvGrpSpPr>
        <p:cNvPr id="1" name=""/>
        <p:cNvGrpSpPr/>
        <p:nvPr/>
      </p:nvGrpSpPr>
      <p:grpSpPr>
        <a:xfrm>
          <a:off x="0" y="0"/>
          <a:ext cx="0" cy="0"/>
          <a:chOff x="0" y="0"/>
          <a:chExt cx="0" cy="0"/>
        </a:xfrm>
      </p:grpSpPr>
      <p:sp>
        <p:nvSpPr>
          <p:cNvPr id="2" name="RESERVA · ALVO INTRAOPERATÓRIO"/>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ALVO INTRAOPERATÓRIO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Alvo intraoperatório: PAM ≥65 como piso</a:t>
            </a:r>
            <a:endParaRPr lang="en-US" sz="3200" dirty="0"/>
          </a:p>
        </p:txBody>
      </p:sp>
      <p:graphicFrame>
        <p:nvGraphicFramePr>
          <p:cNvPr id="27" name="Tabela"/>
          <p:cNvGraphicFramePr>
            <a:graphicFrameLocks noGrp="1"/>
          </p:cNvGraphicFramePr>
          <p:nvPr>
            <p:extLst>
              <p:ext uri="{D42A27DB-BD31-4B8C-83A1-F6EECF244321}">
                <p14:modId xmlns:p14="http://schemas.microsoft.com/office/powerpoint/2010/main" val="1579011935"/>
              </p:ext>
            </p:extLst>
          </p:nvPr>
        </p:nvGraphicFramePr>
        <p:xfrm>
          <a:off x="812800" y="1879501"/>
          <a:ext cx="10566400" cy="914400"/>
        </p:xfrm>
        <a:graphic>
          <a:graphicData uri="http://schemas.openxmlformats.org/drawingml/2006/table">
            <a:tbl>
              <a:tblPr/>
              <a:tblGrid>
                <a:gridCol w="2113260"/>
                <a:gridCol w="2747169"/>
                <a:gridCol w="2535932"/>
                <a:gridCol w="3170039"/>
              </a:tblGrid>
              <a:tr h="391120">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Estudo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População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Alvos</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c>
                  <a:txBody>
                    <a:bodyPr/>
                    <a:lstStyle/>
                    <a:p>
                      <a:pPr algn="l" indent="0" marL="0">
                        <a:lnSpc>
                          <a:spcPts val="1680"/>
                        </a:lnSpc>
                        <a:buNone/>
                      </a:pPr>
                      <a:r>
                        <a:rPr lang="pt-BR" altLang="en-US" sz="1200" b="1" dirty="0">
                          <a:solidFill>
                            <a:srgbClr val="F5F3EE"/>
                          </a:solidFill>
                          <a:latin typeface="Arial" pitchFamily="34" charset="0"/>
                          <a:ea typeface="Arial" pitchFamily="34" charset="-122"/>
                          <a:cs typeface="Arial" pitchFamily="34" charset="-120"/>
                        </a:rPr>
                        <a:t>Resultado</a:t>
                      </a:r>
                      <a:endParaRPr lang="en-US" sz="1200" dirty="0"/>
                    </a:p>
                  </a:txBody>
                  <a:tcPr marL="127000" marR="127000" marT="88900" marB="88900" anchor="ctr">
                    <a:lnL w="0" cap="flat" cmpd="sng" algn="ctr">
                      <a:noFill/>
                    </a:lnL>
                    <a:lnR w="0" cap="flat" cmpd="sng" algn="ctr">
                      <a:noFill/>
                    </a:lnR>
                    <a:lnT w="0" cap="flat" cmpd="sng" algn="ctr">
                      <a:noFill/>
                    </a:lnT>
                    <a:lnB w="0" cap="flat" cmpd="sng" algn="ctr">
                      <a:noFill/>
                    </a:lnB>
                    <a:solidFill>
                      <a:srgbClr val="1B2A3A"/>
                    </a:solidFill>
                  </a:tcPr>
                </a:tc>
              </a:tr>
              <a:tr h="607616">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POISE-3 · Ann Intern Med 2023</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7.490; cirurgia não cardíaca, risco cardiovascular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PAM ≥80 vs. ≥60, com manejo de anti-hipertensivos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Eventos vasculares em 30 dias: 13,9% vs. 14,0%</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610791">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IMPROVE-multi · JAMA 2025</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1.134; cirurgia abdominal maior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PAM individualizada pela basal noturna vs. ≥65</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Composto em 7 dias: 33,5% vs. 30,5% (NS)</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r h="610791">
                <a:tc>
                  <a:txBody>
                    <a:bodyPr/>
                    <a:lstStyle/>
                    <a:p>
                      <a:pPr algn="l" indent="0" marL="0">
                        <a:lnSpc>
                          <a:spcPts val="1680"/>
                        </a:lnSpc>
                        <a:buNone/>
                      </a:pPr>
                      <a:r>
                        <a:rPr lang="pt-BR" altLang="en-US" sz="1200" b="1" dirty="0">
                          <a:solidFill>
                            <a:srgbClr val="1B2A3A"/>
                          </a:solidFill>
                          <a:latin typeface="Arial" pitchFamily="34" charset="0"/>
                          <a:ea typeface="Arial" pitchFamily="34" charset="-122"/>
                          <a:cs typeface="Arial" pitchFamily="34" charset="-120"/>
                        </a:rPr>
                        <a:t>HISTAP · Intensive Care Med 2026</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630; ≥60 anos, hipertensos, abdominal maior</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PAM ≥80 vs. ≥65</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c>
                  <a:txBody>
                    <a:bodyPr/>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Morte ou disfunção orgânica: 38,1% vs. 48,9% (RR 0,78), sobretudo LRA</a:t>
                      </a:r>
                      <a:endParaRPr lang="en-US" sz="1200" dirty="0"/>
                    </a:p>
                  </a:txBody>
                  <a:tcPr marL="127000" marR="127000" marT="88900" marB="88900" anchor="ctr">
                    <a:lnL w="0" cap="flat" cmpd="sng" algn="ctr">
                      <a:noFill/>
                    </a:lnL>
                    <a:lnR w="0" cap="flat" cmpd="sng" algn="ctr">
                      <a:noFill/>
                    </a:lnR>
                    <a:lnT w="0" cap="flat" cmpd="sng" algn="ctr">
                      <a:noFill/>
                    </a:lnT>
                    <a:lnB w="6350" cap="flat" cmpd="sng" algn="ctr">
                      <a:solidFill>
                        <a:srgbClr val="E2DDD2"/>
                      </a:solidFill>
                      <a:prstDash val="solid"/>
                      <a:round/>
                      <a:headEnd type="none" w="med" len="med"/>
                      <a:tailEnd type="none" w="med" len="med"/>
                    </a:lnB>
                  </a:tcPr>
                </a:tc>
              </a:tr>
            </a:tbl>
          </a:graphicData>
        </a:graphic>
      </p:graphicFrame>
      <p:sp>
        <p:nvSpPr>
          <p:cNvPr id="5" name="PAM abaixo de 65 é o que se deve evitar."/>
          <p:cNvSpPr txBox="1"/>
          <p:nvPr/>
        </p:nvSpPr>
        <p:spPr>
          <a:xfrm>
            <a:off x="812800" y="4394725"/>
            <a:ext cx="10585450" cy="497681"/>
          </a:xfrm>
          <a:prstGeom prst="rect">
            <a:avLst/>
          </a:prstGeom>
          <a:noFill/>
          <a:ln/>
        </p:spPr>
        <p:txBody>
          <a:bodyPr wrap="square" lIns="0" tIns="0" rIns="0" bIns="0" rtlCol="0" anchor="t"/>
          <a:lstStyle/>
          <a:p>
            <a:pPr algn="l" indent="0" marL="0">
              <a:lnSpc>
                <a:spcPts val="1960"/>
              </a:lnSpc>
              <a:buNone/>
            </a:pPr>
            <a:r>
              <a:rPr lang="pt-BR" altLang="en-US" sz="1400" dirty="0">
                <a:solidFill>
                  <a:srgbClr val="2C3A48"/>
                </a:solidFill>
                <a:latin typeface="Arial" pitchFamily="34" charset="0"/>
                <a:ea typeface="Arial" pitchFamily="34" charset="-122"/>
                <a:cs typeface="Arial" pitchFamily="34" charset="-120"/>
              </a:rPr>
              <a:t>PAM abaixo de 65 é o que se deve evitar. Alvo mais alto pode beneficiar hipertensos de alto risco com monitorização contínua, mas os ECRs divergem.</a:t>
            </a:r>
            <a:endParaRPr lang="en-US" sz="1400" dirty="0"/>
          </a:p>
        </p:txBody>
      </p:sp>
      <p:sp>
        <p:nvSpPr>
          <p:cNvPr id="6" name="Marcucci, Ann Intern Med 2023 · Saugel, "/>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Marcucci, Ann Intern Med 2023 · Saugel, JAMA 2025 · HISTAP (SIAARTI), Intensive Care Med 2026</a:t>
            </a:r>
            <a:endParaRPr lang="en-US" sz="12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3EE"/>
        </a:solidFill>
      </p:bgPr>
    </p:bg>
    <p:spTree>
      <p:nvGrpSpPr>
        <p:cNvPr id="1" name=""/>
        <p:cNvGrpSpPr/>
        <p:nvPr/>
      </p:nvGrpSpPr>
      <p:grpSpPr>
        <a:xfrm>
          <a:off x="0" y="0"/>
          <a:ext cx="0" cy="0"/>
          <a:chOff x="0" y="0"/>
          <a:chExt cx="0" cy="0"/>
        </a:xfrm>
      </p:grpSpPr>
      <p:sp>
        <p:nvSpPr>
          <p:cNvPr id="2" name="RESERVA · ROTEIRO"/>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ROTEIRO</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O que vamos discutir</a:t>
            </a:r>
            <a:endParaRPr lang="en-US" sz="3200" dirty="0"/>
          </a:p>
        </p:txBody>
      </p:sp>
      <p:sp>
        <p:nvSpPr>
          <p:cNvPr id="4" name="01"/>
          <p:cNvSpPr txBox="1"/>
          <p:nvPr/>
        </p:nvSpPr>
        <p:spPr>
          <a:xfrm>
            <a:off x="812800" y="1857860"/>
            <a:ext cx="374253"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01</a:t>
            </a:r>
            <a:endParaRPr lang="en-US" sz="2400" dirty="0"/>
          </a:p>
        </p:txBody>
      </p:sp>
      <p:sp>
        <p:nvSpPr>
          <p:cNvPr id="5" name="Fisiologia: PAM, débito cardíaco e resis"/>
          <p:cNvSpPr txBox="1"/>
          <p:nvPr/>
        </p:nvSpPr>
        <p:spPr>
          <a:xfrm>
            <a:off x="1320403" y="1959009"/>
            <a:ext cx="4591447" cy="561181"/>
          </a:xfrm>
          <a:prstGeom prst="rect">
            <a:avLst/>
          </a:prstGeom>
          <a:noFill/>
          <a:ln/>
        </p:spPr>
        <p:txBody>
          <a:bodyPr wrap="square" lIns="0" tIns="0" rIns="0" bIns="0" rtlCol="0" anchor="t"/>
          <a:lstStyle/>
          <a:p>
            <a:pPr algn="l" indent="0" marL="0">
              <a:lnSpc>
                <a:spcPts val="2210"/>
              </a:lnSpc>
              <a:buNone/>
            </a:pPr>
            <a:r>
              <a:rPr lang="pt-BR" altLang="en-US" sz="1700" dirty="0">
                <a:solidFill>
                  <a:srgbClr val="1B2A3A"/>
                </a:solidFill>
                <a:latin typeface="Arial" pitchFamily="34" charset="0"/>
                <a:ea typeface="Arial" pitchFamily="34" charset="-122"/>
                <a:cs typeface="Arial" pitchFamily="34" charset="-120"/>
              </a:rPr>
              <a:t>Fisiologia: PAM, débito cardíaco e resistência vascular</a:t>
            </a:r>
            <a:endParaRPr lang="en-US" sz="1700" dirty="0"/>
          </a:p>
        </p:txBody>
      </p:sp>
      <p:sp>
        <p:nvSpPr>
          <p:cNvPr id="6" name="02"/>
          <p:cNvSpPr txBox="1"/>
          <p:nvPr/>
        </p:nvSpPr>
        <p:spPr>
          <a:xfrm>
            <a:off x="6299200" y="1857860"/>
            <a:ext cx="386755"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02</a:t>
            </a:r>
            <a:endParaRPr lang="en-US" sz="2400" dirty="0"/>
          </a:p>
        </p:txBody>
      </p:sp>
      <p:sp>
        <p:nvSpPr>
          <p:cNvPr id="7" name="Receptores adrenérgicos e classificação "/>
          <p:cNvSpPr txBox="1"/>
          <p:nvPr/>
        </p:nvSpPr>
        <p:spPr>
          <a:xfrm>
            <a:off x="6819305" y="1959009"/>
            <a:ext cx="4578945" cy="561181"/>
          </a:xfrm>
          <a:prstGeom prst="rect">
            <a:avLst/>
          </a:prstGeom>
          <a:noFill/>
          <a:ln/>
        </p:spPr>
        <p:txBody>
          <a:bodyPr wrap="square" lIns="0" tIns="0" rIns="0" bIns="0" rtlCol="0" anchor="t"/>
          <a:lstStyle/>
          <a:p>
            <a:pPr algn="l" indent="0" marL="0">
              <a:lnSpc>
                <a:spcPts val="2210"/>
              </a:lnSpc>
              <a:buNone/>
            </a:pPr>
            <a:r>
              <a:rPr lang="pt-BR" altLang="en-US" sz="1700" dirty="0">
                <a:solidFill>
                  <a:srgbClr val="1B2A3A"/>
                </a:solidFill>
                <a:latin typeface="Arial" pitchFamily="34" charset="0"/>
                <a:ea typeface="Arial" pitchFamily="34" charset="-122"/>
                <a:cs typeface="Arial" pitchFamily="34" charset="-120"/>
              </a:rPr>
              <a:t>Receptores adrenérgicos e classificação das aminas</a:t>
            </a:r>
            <a:endParaRPr lang="en-US" sz="1700" dirty="0"/>
          </a:p>
        </p:txBody>
      </p:sp>
      <p:sp>
        <p:nvSpPr>
          <p:cNvPr id="8" name="03"/>
          <p:cNvSpPr txBox="1"/>
          <p:nvPr/>
        </p:nvSpPr>
        <p:spPr>
          <a:xfrm>
            <a:off x="812800" y="2660341"/>
            <a:ext cx="374352"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03</a:t>
            </a:r>
            <a:endParaRPr lang="en-US" sz="2400" dirty="0"/>
          </a:p>
        </p:txBody>
      </p:sp>
      <p:sp>
        <p:nvSpPr>
          <p:cNvPr id="9" name="Drogas individuais: noradrenalina, adren"/>
          <p:cNvSpPr txBox="1"/>
          <p:nvPr/>
        </p:nvSpPr>
        <p:spPr>
          <a:xfrm>
            <a:off x="1320502" y="2761490"/>
            <a:ext cx="4591348" cy="561181"/>
          </a:xfrm>
          <a:prstGeom prst="rect">
            <a:avLst/>
          </a:prstGeom>
          <a:noFill/>
          <a:ln/>
        </p:spPr>
        <p:txBody>
          <a:bodyPr wrap="square" lIns="0" tIns="0" rIns="0" bIns="0" rtlCol="0" anchor="t"/>
          <a:lstStyle/>
          <a:p>
            <a:pPr algn="l" indent="0" marL="0">
              <a:lnSpc>
                <a:spcPts val="2210"/>
              </a:lnSpc>
              <a:buNone/>
            </a:pPr>
            <a:r>
              <a:rPr lang="pt-BR" altLang="en-US" sz="1700" dirty="0">
                <a:solidFill>
                  <a:srgbClr val="1B2A3A"/>
                </a:solidFill>
                <a:latin typeface="Arial" pitchFamily="34" charset="0"/>
                <a:ea typeface="Arial" pitchFamily="34" charset="-122"/>
                <a:cs typeface="Arial" pitchFamily="34" charset="-120"/>
              </a:rPr>
              <a:t>Drogas individuais: noradrenalina, adrenalina, dopamina, dobutamina, fenilefrina e efedrina</a:t>
            </a:r>
            <a:endParaRPr lang="en-US" sz="1700" dirty="0"/>
          </a:p>
        </p:txBody>
      </p:sp>
      <p:sp>
        <p:nvSpPr>
          <p:cNvPr id="10" name="04"/>
          <p:cNvSpPr txBox="1"/>
          <p:nvPr/>
        </p:nvSpPr>
        <p:spPr>
          <a:xfrm>
            <a:off x="6299200" y="2660341"/>
            <a:ext cx="378321"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04</a:t>
            </a:r>
            <a:endParaRPr lang="en-US" sz="2400" dirty="0"/>
          </a:p>
        </p:txBody>
      </p:sp>
      <p:sp>
        <p:nvSpPr>
          <p:cNvPr id="11" name="Além das aminas: vasopressina e adjuvant"/>
          <p:cNvSpPr txBox="1"/>
          <p:nvPr/>
        </p:nvSpPr>
        <p:spPr>
          <a:xfrm>
            <a:off x="6810871" y="2761490"/>
            <a:ext cx="4587379" cy="561181"/>
          </a:xfrm>
          <a:prstGeom prst="rect">
            <a:avLst/>
          </a:prstGeom>
          <a:noFill/>
          <a:ln/>
        </p:spPr>
        <p:txBody>
          <a:bodyPr wrap="square" lIns="0" tIns="0" rIns="0" bIns="0" rtlCol="0" anchor="t"/>
          <a:lstStyle/>
          <a:p>
            <a:pPr algn="l" indent="0" marL="0">
              <a:lnSpc>
                <a:spcPts val="2210"/>
              </a:lnSpc>
              <a:buNone/>
            </a:pPr>
            <a:r>
              <a:rPr lang="pt-BR" altLang="en-US" sz="1700" dirty="0">
                <a:solidFill>
                  <a:srgbClr val="1B2A3A"/>
                </a:solidFill>
                <a:latin typeface="Arial" pitchFamily="34" charset="0"/>
                <a:ea typeface="Arial" pitchFamily="34" charset="-122"/>
                <a:cs typeface="Arial" pitchFamily="34" charset="-120"/>
              </a:rPr>
              <a:t>Além das aminas: vasopressina e adjuvantes do choque refratário</a:t>
            </a:r>
            <a:endParaRPr lang="en-US" sz="1700" dirty="0"/>
          </a:p>
        </p:txBody>
      </p:sp>
      <p:sp>
        <p:nvSpPr>
          <p:cNvPr id="12" name="05"/>
          <p:cNvSpPr txBox="1"/>
          <p:nvPr/>
        </p:nvSpPr>
        <p:spPr>
          <a:xfrm>
            <a:off x="812800" y="3462822"/>
            <a:ext cx="385068"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05</a:t>
            </a:r>
            <a:endParaRPr lang="en-US" sz="2400" dirty="0"/>
          </a:p>
        </p:txBody>
      </p:sp>
      <p:sp>
        <p:nvSpPr>
          <p:cNvPr id="13" name="Choque séptico: SSC 2026, alvo de PAM e "/>
          <p:cNvSpPr txBox="1"/>
          <p:nvPr/>
        </p:nvSpPr>
        <p:spPr>
          <a:xfrm>
            <a:off x="1331218" y="3563972"/>
            <a:ext cx="4580632" cy="561181"/>
          </a:xfrm>
          <a:prstGeom prst="rect">
            <a:avLst/>
          </a:prstGeom>
          <a:noFill/>
          <a:ln/>
        </p:spPr>
        <p:txBody>
          <a:bodyPr wrap="square" lIns="0" tIns="0" rIns="0" bIns="0" rtlCol="0" anchor="t"/>
          <a:lstStyle/>
          <a:p>
            <a:pPr algn="l" indent="0" marL="0">
              <a:lnSpc>
                <a:spcPts val="2210"/>
              </a:lnSpc>
              <a:buNone/>
            </a:pPr>
            <a:r>
              <a:rPr lang="pt-BR" altLang="en-US" sz="1700" dirty="0">
                <a:solidFill>
                  <a:srgbClr val="1B2A3A"/>
                </a:solidFill>
                <a:latin typeface="Arial" pitchFamily="34" charset="0"/>
                <a:ea typeface="Arial" pitchFamily="34" charset="-122"/>
                <a:cs typeface="Arial" pitchFamily="34" charset="-120"/>
              </a:rPr>
              <a:t>Choque séptico: SSC 2026, alvo de PAM e VASSPR</a:t>
            </a:r>
            <a:endParaRPr lang="en-US" sz="1700" dirty="0"/>
          </a:p>
        </p:txBody>
      </p:sp>
      <p:sp>
        <p:nvSpPr>
          <p:cNvPr id="14" name="06"/>
          <p:cNvSpPr txBox="1"/>
          <p:nvPr/>
        </p:nvSpPr>
        <p:spPr>
          <a:xfrm>
            <a:off x="6299200" y="3462822"/>
            <a:ext cx="378619"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06</a:t>
            </a:r>
            <a:endParaRPr lang="en-US" sz="2400" dirty="0"/>
          </a:p>
        </p:txBody>
      </p:sp>
      <p:sp>
        <p:nvSpPr>
          <p:cNvPr id="15" name="Perioperatório: hipotensão intraoperatór"/>
          <p:cNvSpPr txBox="1"/>
          <p:nvPr/>
        </p:nvSpPr>
        <p:spPr>
          <a:xfrm>
            <a:off x="6811169" y="3563972"/>
            <a:ext cx="4587081" cy="561181"/>
          </a:xfrm>
          <a:prstGeom prst="rect">
            <a:avLst/>
          </a:prstGeom>
          <a:noFill/>
          <a:ln/>
        </p:spPr>
        <p:txBody>
          <a:bodyPr wrap="square" lIns="0" tIns="0" rIns="0" bIns="0" rtlCol="0" anchor="t"/>
          <a:lstStyle/>
          <a:p>
            <a:pPr algn="l" indent="0" marL="0">
              <a:lnSpc>
                <a:spcPts val="2210"/>
              </a:lnSpc>
              <a:buNone/>
            </a:pPr>
            <a:r>
              <a:rPr lang="pt-BR" altLang="en-US" sz="1700" dirty="0">
                <a:solidFill>
                  <a:srgbClr val="1B2A3A"/>
                </a:solidFill>
                <a:latin typeface="Arial" pitchFamily="34" charset="0"/>
                <a:ea typeface="Arial" pitchFamily="34" charset="-122"/>
                <a:cs typeface="Arial" pitchFamily="34" charset="-120"/>
              </a:rPr>
              <a:t>Perioperatório: hipotensão intraoperatória e obstetrícia</a:t>
            </a:r>
            <a:endParaRPr lang="en-US" sz="1700" dirty="0"/>
          </a:p>
        </p:txBody>
      </p:sp>
      <p:sp>
        <p:nvSpPr>
          <p:cNvPr id="16" name="07"/>
          <p:cNvSpPr txBox="1"/>
          <p:nvPr/>
        </p:nvSpPr>
        <p:spPr>
          <a:xfrm>
            <a:off x="812800" y="4265304"/>
            <a:ext cx="425450" cy="426641"/>
          </a:xfrm>
          <a:prstGeom prst="rect">
            <a:avLst/>
          </a:prstGeom>
          <a:noFill/>
          <a:ln/>
        </p:spPr>
        <p:txBody>
          <a:bodyPr wrap="none" lIns="0" tIns="0" rIns="0" bIns="0" rtlCol="0" anchor="t"/>
          <a:lstStyle/>
          <a:p>
            <a:pPr algn="l" indent="0" marL="0">
              <a:lnSpc>
                <a:spcPts val="3360"/>
              </a:lnSpc>
              <a:buNone/>
            </a:pPr>
            <a:r>
              <a:rPr lang="pt-BR" altLang="en-US" sz="2400" dirty="0">
                <a:solidFill>
                  <a:srgbClr val="B9581A"/>
                </a:solidFill>
                <a:latin typeface="Georgia" pitchFamily="34" charset="0"/>
                <a:ea typeface="Georgia" pitchFamily="34" charset="-122"/>
                <a:cs typeface="Georgia" pitchFamily="34" charset="-120"/>
              </a:rPr>
              <a:t>07</a:t>
            </a:r>
            <a:endParaRPr lang="en-US" sz="2400" dirty="0"/>
          </a:p>
        </p:txBody>
      </p:sp>
      <p:sp>
        <p:nvSpPr>
          <p:cNvPr id="17" name="Consenso, controvérsias e mensagens fina"/>
          <p:cNvSpPr txBox="1"/>
          <p:nvPr/>
        </p:nvSpPr>
        <p:spPr>
          <a:xfrm>
            <a:off x="1371600" y="4366453"/>
            <a:ext cx="4315420" cy="280591"/>
          </a:xfrm>
          <a:prstGeom prst="rect">
            <a:avLst/>
          </a:prstGeom>
          <a:noFill/>
          <a:ln/>
        </p:spPr>
        <p:txBody>
          <a:bodyPr wrap="none" lIns="0" tIns="0" rIns="0" bIns="0" rtlCol="0" anchor="t"/>
          <a:lstStyle/>
          <a:p>
            <a:pPr algn="l" indent="0" marL="0">
              <a:lnSpc>
                <a:spcPts val="2210"/>
              </a:lnSpc>
              <a:buNone/>
            </a:pPr>
            <a:r>
              <a:rPr lang="pt-BR" altLang="en-US" sz="1700" dirty="0">
                <a:solidFill>
                  <a:srgbClr val="1B2A3A"/>
                </a:solidFill>
                <a:latin typeface="Arial" pitchFamily="34" charset="0"/>
                <a:ea typeface="Arial" pitchFamily="34" charset="-122"/>
                <a:cs typeface="Arial" pitchFamily="34" charset="-120"/>
              </a:rPr>
              <a:t>Consenso, controvérsias e mensagens finais</a:t>
            </a:r>
            <a:endParaRPr lang="en-US" sz="1700" dirty="0"/>
          </a:p>
        </p:txBody>
      </p:sp>
      <p:sp>
        <p:nvSpPr>
          <p:cNvPr id="18" name="Surviving Sepsis Campaign 2026 · ESICM 2"/>
          <p:cNvSpPr txBox="1"/>
          <p:nvPr/>
        </p:nvSpPr>
        <p:spPr>
          <a:xfrm>
            <a:off x="812800" y="6227078"/>
            <a:ext cx="105854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56606B"/>
                </a:solidFill>
                <a:latin typeface="Arial" pitchFamily="34" charset="0"/>
                <a:ea typeface="Arial" pitchFamily="34" charset="-122"/>
                <a:cs typeface="Arial" pitchFamily="34" charset="-120"/>
              </a:rPr>
              <a:t>Surviving Sepsis Campaign 2026 · ESICM 2025 · Miller’s Anesthesia, 10ª ed. (2024)</a:t>
            </a:r>
            <a:endParaRPr lang="en-US" sz="12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E"/>
        </a:solidFill>
      </p:bgPr>
    </p:bg>
    <p:spTree>
      <p:nvGrpSpPr>
        <p:cNvPr id="1" name=""/>
        <p:cNvGrpSpPr/>
        <p:nvPr/>
      </p:nvGrpSpPr>
      <p:grpSpPr>
        <a:xfrm>
          <a:off x="0" y="0"/>
          <a:ext cx="0" cy="0"/>
          <a:chOff x="0" y="0"/>
          <a:chExt cx="0" cy="0"/>
        </a:xfrm>
      </p:grpSpPr>
      <p:sp>
        <p:nvSpPr>
          <p:cNvPr id="2" name="RESERVA · REFERÊNCIAS"/>
          <p:cNvSpPr txBox="1"/>
          <p:nvPr/>
        </p:nvSpPr>
        <p:spPr>
          <a:xfrm>
            <a:off x="812800" y="801599"/>
            <a:ext cx="10585450" cy="213320"/>
          </a:xfrm>
          <a:prstGeom prst="rect">
            <a:avLst/>
          </a:prstGeom>
          <a:noFill/>
          <a:ln/>
        </p:spPr>
        <p:txBody>
          <a:bodyPr wrap="none" lIns="0" tIns="0" rIns="0" bIns="0" rtlCol="0" anchor="t"/>
          <a:lstStyle/>
          <a:p>
            <a:pPr algn="l" indent="0" marL="0">
              <a:lnSpc>
                <a:spcPts val="1680"/>
              </a:lnSpc>
              <a:buNone/>
            </a:pPr>
            <a:r>
              <a:rPr lang="pt-BR" altLang="en-US" sz="1200" b="1" spc="100" kern="0" dirty="0">
                <a:solidFill>
                  <a:srgbClr val="B9581A"/>
                </a:solidFill>
                <a:latin typeface="Arial" pitchFamily="34" charset="0"/>
                <a:ea typeface="Arial" pitchFamily="34" charset="-122"/>
                <a:cs typeface="Arial" pitchFamily="34" charset="-120"/>
              </a:rPr>
              <a:t>RESERVA · REFERÊNCIAS</a:t>
            </a:r>
            <a:endParaRPr lang="en-US" sz="1200" dirty="0"/>
          </a:p>
        </p:txBody>
      </p:sp>
      <p:sp>
        <p:nvSpPr>
          <p:cNvPr id="3" name="Text 0"/>
          <p:cNvSpPr/>
          <p:nvPr>
            <p:ph type="title"/>
          </p:nvPr>
        </p:nvSpPr>
        <p:spPr>
          <a:xfrm>
            <a:off x="812800" y="1135442"/>
            <a:ext cx="10718800" cy="894080"/>
          </a:xfrm>
          <a:prstGeom prst="rect">
            <a:avLst/>
          </a:prstGeom>
          <a:noFill/>
          <a:ln/>
        </p:spPr>
        <p:txBody>
          <a:bodyPr wrap="square" lIns="0" tIns="0" rIns="0" bIns="0" rtlCol="0" anchor="t"/>
          <a:lstStyle/>
          <a:p>
            <a:pPr algn="l" indent="0" marL="0">
              <a:lnSpc>
                <a:spcPts val="3520"/>
              </a:lnSpc>
              <a:buNone/>
            </a:pPr>
            <a:r>
              <a:rPr lang="pt-BR" altLang="en-US" sz="3200" dirty="0">
                <a:solidFill>
                  <a:srgbClr val="1B2A3A"/>
                </a:solidFill>
                <a:latin typeface="Georgia" pitchFamily="34" charset="0"/>
                <a:ea typeface="Georgia" pitchFamily="34" charset="-122"/>
                <a:cs typeface="Georgia" pitchFamily="34" charset="-120"/>
              </a:rPr>
              <a:t>Leitura base</a:t>
            </a:r>
            <a:endParaRPr lang="en-US" sz="3200" dirty="0"/>
          </a:p>
        </p:txBody>
      </p:sp>
      <p:sp>
        <p:nvSpPr>
          <p:cNvPr id="4" name="Prescott, Antonelli · SSC 2026 · Crit Ca"/>
          <p:cNvSpPr txBox="1"/>
          <p:nvPr/>
        </p:nvSpPr>
        <p:spPr>
          <a:xfrm>
            <a:off x="812800" y="1868299"/>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Prescott, Antonelli · SSC 2026 · Crit Care Med 2026</a:t>
            </a:r>
            <a:endParaRPr lang="en-US" sz="1200" dirty="0"/>
          </a:p>
        </p:txBody>
      </p:sp>
      <p:sp>
        <p:nvSpPr>
          <p:cNvPr id="5" name="Monnet, Messina · ESICM 2025 · Intensive"/>
          <p:cNvSpPr txBox="1"/>
          <p:nvPr/>
        </p:nvSpPr>
        <p:spPr>
          <a:xfrm>
            <a:off x="812800" y="2132420"/>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Monnet, Messina · ESICM 2025 · Intensive Care Med 2025</a:t>
            </a:r>
            <a:endParaRPr lang="en-US" sz="1200" dirty="0"/>
          </a:p>
        </p:txBody>
      </p:sp>
      <p:sp>
        <p:nvSpPr>
          <p:cNvPr id="6" name="Miller’s Anesthesia, 10ª ed. · Elsevier "/>
          <p:cNvSpPr txBox="1"/>
          <p:nvPr/>
        </p:nvSpPr>
        <p:spPr>
          <a:xfrm>
            <a:off x="812800" y="2396540"/>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Miller’s Anesthesia, 10ª ed. · Elsevier 2024 · [caps.]</a:t>
            </a:r>
            <a:endParaRPr lang="en-US" sz="1200" dirty="0"/>
          </a:p>
        </p:txBody>
      </p:sp>
      <p:sp>
        <p:nvSpPr>
          <p:cNvPr id="7" name="De Backer · SOAP II · N Engl J Med 2010"/>
          <p:cNvSpPr txBox="1"/>
          <p:nvPr/>
        </p:nvSpPr>
        <p:spPr>
          <a:xfrm>
            <a:off x="812800" y="2660660"/>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De Backer · SOAP II · N Engl J Med 2010</a:t>
            </a:r>
            <a:endParaRPr lang="en-US" sz="1200" dirty="0"/>
          </a:p>
        </p:txBody>
      </p:sp>
      <p:sp>
        <p:nvSpPr>
          <p:cNvPr id="8" name="Russell · VASST · N Engl J Med 2008"/>
          <p:cNvSpPr txBox="1"/>
          <p:nvPr/>
        </p:nvSpPr>
        <p:spPr>
          <a:xfrm>
            <a:off x="812800" y="2924781"/>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Russell · VASST · N Engl J Med 2008</a:t>
            </a:r>
            <a:endParaRPr lang="en-US" sz="1200" dirty="0"/>
          </a:p>
        </p:txBody>
      </p:sp>
      <p:sp>
        <p:nvSpPr>
          <p:cNvPr id="9" name="Peltan · VASSPR · JAMA 2026"/>
          <p:cNvSpPr txBox="1"/>
          <p:nvPr/>
        </p:nvSpPr>
        <p:spPr>
          <a:xfrm>
            <a:off x="812800" y="3188901"/>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Peltan · VASSPR · JAMA 2026</a:t>
            </a:r>
            <a:endParaRPr lang="en-US" sz="1200" dirty="0"/>
          </a:p>
        </p:txBody>
      </p:sp>
      <p:sp>
        <p:nvSpPr>
          <p:cNvPr id="10" name="Lamontagne · 65 trial · JAMA 2020"/>
          <p:cNvSpPr txBox="1"/>
          <p:nvPr/>
        </p:nvSpPr>
        <p:spPr>
          <a:xfrm>
            <a:off x="812800" y="3453021"/>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Lamontagne · 65 trial · JAMA 2020</a:t>
            </a:r>
            <a:endParaRPr lang="en-US" sz="1200" dirty="0"/>
          </a:p>
        </p:txBody>
      </p:sp>
      <p:sp>
        <p:nvSpPr>
          <p:cNvPr id="11" name="Endo · OPTPRESS · Intensive Care Med 202"/>
          <p:cNvSpPr txBox="1"/>
          <p:nvPr/>
        </p:nvSpPr>
        <p:spPr>
          <a:xfrm>
            <a:off x="812800" y="3717142"/>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Endo · OPTPRESS · Intensive Care Med 2025</a:t>
            </a:r>
            <a:endParaRPr lang="en-US" sz="1200" dirty="0"/>
          </a:p>
        </p:txBody>
      </p:sp>
      <p:sp>
        <p:nvSpPr>
          <p:cNvPr id="12" name="Permpikul · CENSER · Am J Respir Crit Ca"/>
          <p:cNvSpPr txBox="1"/>
          <p:nvPr/>
        </p:nvSpPr>
        <p:spPr>
          <a:xfrm>
            <a:off x="812800" y="3981262"/>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Permpikul · CENSER · Am J Respir Crit Care Med 2019</a:t>
            </a:r>
            <a:endParaRPr lang="en-US" sz="1200" dirty="0"/>
          </a:p>
        </p:txBody>
      </p:sp>
      <p:sp>
        <p:nvSpPr>
          <p:cNvPr id="13" name="Annane · CATS · Lancet 2007"/>
          <p:cNvSpPr txBox="1"/>
          <p:nvPr/>
        </p:nvSpPr>
        <p:spPr>
          <a:xfrm>
            <a:off x="812800" y="4245382"/>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Annane · CATS · Lancet 2007</a:t>
            </a:r>
            <a:endParaRPr lang="en-US" sz="1200" dirty="0"/>
          </a:p>
        </p:txBody>
      </p:sp>
      <p:sp>
        <p:nvSpPr>
          <p:cNvPr id="14" name="Levy · OptimaCC · J Am Coll Cardiol 2018"/>
          <p:cNvSpPr txBox="1"/>
          <p:nvPr/>
        </p:nvSpPr>
        <p:spPr>
          <a:xfrm>
            <a:off x="812800" y="4509503"/>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Levy · OptimaCC · J Am Coll Cardiol 2018</a:t>
            </a:r>
            <a:endParaRPr lang="en-US" sz="1200" dirty="0"/>
          </a:p>
        </p:txBody>
      </p:sp>
      <p:sp>
        <p:nvSpPr>
          <p:cNvPr id="15" name="Mathew · DOREMI · N Engl J Med 2021"/>
          <p:cNvSpPr txBox="1"/>
          <p:nvPr/>
        </p:nvSpPr>
        <p:spPr>
          <a:xfrm>
            <a:off x="812800" y="4773623"/>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Mathew · DOREMI · N Engl J Med 2021</a:t>
            </a:r>
            <a:endParaRPr lang="en-US" sz="1200" dirty="0"/>
          </a:p>
        </p:txBody>
      </p:sp>
      <p:sp>
        <p:nvSpPr>
          <p:cNvPr id="16" name="Khanna · ATHOS-3 · N Engl J Med 2017"/>
          <p:cNvSpPr txBox="1"/>
          <p:nvPr/>
        </p:nvSpPr>
        <p:spPr>
          <a:xfrm>
            <a:off x="812800" y="5037743"/>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Khanna · ATHOS-3 · N Engl J Med 2017</a:t>
            </a:r>
            <a:endParaRPr lang="en-US" sz="1200" dirty="0"/>
          </a:p>
        </p:txBody>
      </p:sp>
      <p:sp>
        <p:nvSpPr>
          <p:cNvPr id="17" name="Bellomo · dopamina em dose baixa (ANZICS"/>
          <p:cNvSpPr txBox="1"/>
          <p:nvPr/>
        </p:nvSpPr>
        <p:spPr>
          <a:xfrm>
            <a:off x="6248400" y="1868299"/>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Bellomo · dopamina em dose baixa (ANZICS) · Lancet 2000</a:t>
            </a:r>
            <a:endParaRPr lang="en-US" sz="1200" dirty="0"/>
          </a:p>
        </p:txBody>
      </p:sp>
      <p:sp>
        <p:nvSpPr>
          <p:cNvPr id="18" name="Venkatesh · ADRENAL · N Engl J Med 2018"/>
          <p:cNvSpPr txBox="1"/>
          <p:nvPr/>
        </p:nvSpPr>
        <p:spPr>
          <a:xfrm>
            <a:off x="6248400" y="2132420"/>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Venkatesh · ADRENAL · N Engl J Med 2018</a:t>
            </a:r>
            <a:endParaRPr lang="en-US" sz="1200" dirty="0"/>
          </a:p>
        </p:txBody>
      </p:sp>
      <p:sp>
        <p:nvSpPr>
          <p:cNvPr id="19" name="Annane · APROCCHSS · N Engl J Med 2018"/>
          <p:cNvSpPr txBox="1"/>
          <p:nvPr/>
        </p:nvSpPr>
        <p:spPr>
          <a:xfrm>
            <a:off x="6248400" y="2396540"/>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Annane · APROCCHSS · N Engl J Med 2018</a:t>
            </a:r>
            <a:endParaRPr lang="en-US" sz="1200" dirty="0"/>
          </a:p>
        </p:txBody>
      </p:sp>
      <p:sp>
        <p:nvSpPr>
          <p:cNvPr id="20" name="Kinsella · consenso cesárea · Anaesthesi"/>
          <p:cNvSpPr txBox="1"/>
          <p:nvPr/>
        </p:nvSpPr>
        <p:spPr>
          <a:xfrm>
            <a:off x="6248400" y="2660660"/>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Kinsella · consenso cesárea · Anaesthesia 2018</a:t>
            </a:r>
            <a:endParaRPr lang="en-US" sz="1200" dirty="0"/>
          </a:p>
        </p:txBody>
      </p:sp>
      <p:sp>
        <p:nvSpPr>
          <p:cNvPr id="21" name="Park, Choi · vasopressores na cesárea · "/>
          <p:cNvSpPr txBox="1"/>
          <p:nvPr/>
        </p:nvSpPr>
        <p:spPr>
          <a:xfrm>
            <a:off x="6248400" y="2924781"/>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Park, Choi · vasopressores na cesárea · Anesth Pain Med 2024</a:t>
            </a:r>
            <a:endParaRPr lang="en-US" sz="1200" dirty="0"/>
          </a:p>
        </p:txBody>
      </p:sp>
      <p:sp>
        <p:nvSpPr>
          <p:cNvPr id="22" name="Marcucci · POISE-3 · Ann Intern Med 2023"/>
          <p:cNvSpPr txBox="1"/>
          <p:nvPr/>
        </p:nvSpPr>
        <p:spPr>
          <a:xfrm>
            <a:off x="6248400" y="3188901"/>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Marcucci · POISE-3 · Ann Intern Med 2023</a:t>
            </a:r>
            <a:endParaRPr lang="en-US" sz="1200" dirty="0"/>
          </a:p>
        </p:txBody>
      </p:sp>
      <p:sp>
        <p:nvSpPr>
          <p:cNvPr id="23" name="Saugel · POQI · Br J Anaesth 2024"/>
          <p:cNvSpPr txBox="1"/>
          <p:nvPr/>
        </p:nvSpPr>
        <p:spPr>
          <a:xfrm>
            <a:off x="6248400" y="3453021"/>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Saugel · POQI · Br J Anaesth 2024</a:t>
            </a:r>
            <a:endParaRPr lang="en-US" sz="1200" dirty="0"/>
          </a:p>
        </p:txBody>
      </p:sp>
      <p:sp>
        <p:nvSpPr>
          <p:cNvPr id="24" name="Saugel · IMPROVE-multi · JAMA 2025"/>
          <p:cNvSpPr txBox="1"/>
          <p:nvPr/>
        </p:nvSpPr>
        <p:spPr>
          <a:xfrm>
            <a:off x="6248400" y="3717142"/>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Saugel · IMPROVE-multi · JAMA 2025</a:t>
            </a:r>
            <a:endParaRPr lang="en-US" sz="1200" dirty="0"/>
          </a:p>
        </p:txBody>
      </p:sp>
      <p:sp>
        <p:nvSpPr>
          <p:cNvPr id="25" name="SIAARTI · HISTAP · Intensive Care Med 20"/>
          <p:cNvSpPr txBox="1"/>
          <p:nvPr/>
        </p:nvSpPr>
        <p:spPr>
          <a:xfrm>
            <a:off x="6248400" y="3981262"/>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SIAARTI · HISTAP · Intensive Care Med 2026</a:t>
            </a:r>
            <a:endParaRPr lang="en-US" sz="1200" dirty="0"/>
          </a:p>
        </p:txBody>
      </p:sp>
      <p:sp>
        <p:nvSpPr>
          <p:cNvPr id="26" name="Tran · NA periférica · Am J Emerg Med 20"/>
          <p:cNvSpPr txBox="1"/>
          <p:nvPr/>
        </p:nvSpPr>
        <p:spPr>
          <a:xfrm>
            <a:off x="6248400" y="4245382"/>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Tran · NA periférica · Am J Emerg Med 2020</a:t>
            </a:r>
            <a:endParaRPr lang="en-US" sz="1200" dirty="0"/>
          </a:p>
        </p:txBody>
      </p:sp>
      <p:sp>
        <p:nvSpPr>
          <p:cNvPr id="27" name="Ibarra-Estrada · NA base vs. sal · Inten"/>
          <p:cNvSpPr txBox="1"/>
          <p:nvPr/>
        </p:nvSpPr>
        <p:spPr>
          <a:xfrm>
            <a:off x="6248400" y="4509503"/>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Ibarra-Estrada · NA base vs. sal · Intensive Care Med 2024</a:t>
            </a:r>
            <a:endParaRPr lang="en-US" sz="1200" dirty="0"/>
          </a:p>
        </p:txBody>
      </p:sp>
      <p:sp>
        <p:nvSpPr>
          <p:cNvPr id="28" name="ANZCA/ANZAAG · anafilaxia perioperatória"/>
          <p:cNvSpPr txBox="1"/>
          <p:nvPr/>
        </p:nvSpPr>
        <p:spPr>
          <a:xfrm>
            <a:off x="6248400" y="4773623"/>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ANZCA/ANZAAG · anafilaxia perioperatória · 2022</a:t>
            </a:r>
            <a:endParaRPr lang="en-US" sz="1200" dirty="0"/>
          </a:p>
        </p:txBody>
      </p:sp>
      <p:sp>
        <p:nvSpPr>
          <p:cNvPr id="29" name="Overgaard, Džavík · revisão · Circulatio"/>
          <p:cNvSpPr txBox="1"/>
          <p:nvPr/>
        </p:nvSpPr>
        <p:spPr>
          <a:xfrm>
            <a:off x="6248400" y="5037743"/>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Overgaard, Džavík · revisão · Circulation 2008</a:t>
            </a:r>
            <a:endParaRPr lang="en-US" sz="1200" dirty="0"/>
          </a:p>
        </p:txBody>
      </p:sp>
      <p:sp>
        <p:nvSpPr>
          <p:cNvPr id="30" name="Persichini · NA e retorno venoso · Crit "/>
          <p:cNvSpPr txBox="1"/>
          <p:nvPr/>
        </p:nvSpPr>
        <p:spPr>
          <a:xfrm>
            <a:off x="6248400" y="5301863"/>
            <a:ext cx="5149850" cy="213320"/>
          </a:xfrm>
          <a:prstGeom prst="rect">
            <a:avLst/>
          </a:prstGeom>
          <a:noFill/>
          <a:ln/>
        </p:spPr>
        <p:txBody>
          <a:bodyPr wrap="none" lIns="0" tIns="0" rIns="0" bIns="0" rtlCol="0" anchor="t"/>
          <a:lstStyle/>
          <a:p>
            <a:pPr algn="l" indent="0" marL="0">
              <a:lnSpc>
                <a:spcPts val="1680"/>
              </a:lnSpc>
              <a:buNone/>
            </a:pPr>
            <a:r>
              <a:rPr lang="pt-BR" altLang="en-US" sz="1200" dirty="0">
                <a:solidFill>
                  <a:srgbClr val="1B2A3A"/>
                </a:solidFill>
                <a:latin typeface="Arial" pitchFamily="34" charset="0"/>
                <a:ea typeface="Arial" pitchFamily="34" charset="-122"/>
                <a:cs typeface="Arial" pitchFamily="34" charset="-120"/>
              </a:rPr>
              <a:t>Persichini · NA e retorno venoso · Crit Care Med 2012</a:t>
            </a:r>
            <a:endParaRPr lang="en-US" sz="12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Aminas Vasoativas">
      <a:dk1>
        <a:srgbClr val="1B2A3A"/>
      </a:dk1>
      <a:lt1>
        <a:srgbClr val="FFFDF8"/>
      </a:lt1>
      <a:dk2>
        <a:srgbClr val="2C3A48"/>
      </a:dk2>
      <a:lt2>
        <a:srgbClr val="F5F3EE"/>
      </a:lt2>
      <a:accent1>
        <a:srgbClr val="B9581A"/>
      </a:accent1>
      <a:accent2>
        <a:srgbClr val="2E5E8C"/>
      </a:accent2>
      <a:accent3>
        <a:srgbClr val="56606B"/>
      </a:accent3>
      <a:accent4>
        <a:srgbClr val="E49A5C"/>
      </a:accent4>
      <a:accent5>
        <a:srgbClr val="33475E"/>
      </a:accent5>
      <a:accent6>
        <a:srgbClr val="E2DDD2"/>
      </a:accent6>
      <a:hlink>
        <a:srgbClr val="2E5E8C"/>
      </a:hlink>
      <a:folHlink>
        <a:srgbClr val="56606B"/>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Aminas Vasoativas</dc:title>
  <dc:subject>Sessão clínica</dc:subject>
  <dc:creator>Bruno Dubois</dc:creator>
  <cp:lastModifiedBy>Bruno Dubois</cp:lastModifiedBy>
  <cp:revision>1</cp:revision>
  <dcterms:created xsi:type="dcterms:W3CDTF">2026-10-18T17:55:44Z</dcterms:created>
  <dcterms:modified xsi:type="dcterms:W3CDTF">2026-10-18T17:55:44Z</dcterms:modified>
</cp:coreProperties>
</file>