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2eea7c27-177c-950c-63d3-9c237551d389}">
          <p14:sldIdLst>
            <p14:sldId id="256"/>
            <p14:sldId id="257"/>
          </p14:sldIdLst>
        </p14:section>
        <p14:section name="Fisiologia: pressão, débito e perfusão; farmacologia dos receptores" id="{884e54d7-7b80-d14e-f201-6c3c17bf26c3}">
          <p14:sldIdLst>
            <p14:sldId id="258"/>
            <p14:sldId id="259"/>
            <p14:sldId id="260"/>
            <p14:sldId id="261"/>
          </p14:sldIdLst>
        </p14:section>
        <p14:section name="Drogas: noradrenalina, adrenalina, dopamina, dobutamina, milrinona (mecanismo e escolha frente à dobutamina), fenilefrina, efedrina e vasopressina" id="{9637c3db-3c97-a928-9908-5f7d042dd6ed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hoque séptico: a sequência da SSC 2026" id="{bed38d60-aa49-8526-ef60-c378bd815bf5}">
          <p14:sldIdLst>
            <p14:sldId id="270"/>
          </p14:sldIdLst>
        </p14:section>
        <p14:section name="Perioperatório: escolha da droga, alvo de pressão e caso de falência de VD após CEC" id="{b00a521b-70fb-0797-326a-d6a115aa7f44}">
          <p14:sldIdLst>
            <p14:sldId id="271"/>
            <p14:sldId id="272"/>
            <p14:sldId id="273"/>
            <p14:sldId id="274"/>
          </p14:sldIdLst>
        </p14:section>
        <p14:section name="Mensagens finais" id="{3e1d50fe-46b4-9b3c-9607-865a62156cb2}">
          <p14:sldIdLst>
            <p14:sldId id="275"/>
          </p14:sldIdLst>
        </p14:section>
        <p14:section name="Slides de reserva para perguntas" id="{f768a5c9-b3a5-b954-45cd-8a9891e98562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previsto: cerca de 18 minutos e 20 segundos nos 20 slides principais; ensaiar para 18 a 19 minutos, sem passar de 20. Tempos: capa, 20 s; objetivos, 30 s; fisiologia, 1 min; pressão e perfusão, 1 min; receptores, 45 s; catecolaminas, 30 s; noradrenalina, 1 min 15 s; adrenalina, 1 min; dopamina e dobutamina, 1 min; AMPc, 1 min; milrinona, 45 s; milrinona ou dobutamina, 1 min 15 s; fenilefrina e efedrina, 1 min; vasopressina e adjuvantes, 1 min; choque séptico, 1 min; intraoperatório, 1 min 15 s; hipotensão intraoperatória, 45 s; caso, 1 min; conduta na falência de VD, 1 min 15 s; mensagens finais, 45 s. Depois das mensagens finais ficam os slides de reserva, para perguntas. Fontes principais: Surviving Sepsis Campaign 2026, ESICM 2025, POQI 2024 e Miller’s Anesthesia, 10ª ed. (2025).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O objetivo é fixar um raciocínio: diante da hipotensão, perguntar qual componente da PAM está falhando. Tônus vascular baixo pede vasopressor, bomba fraca pede inotrópico e pré-carga baixa pede volume. Depois vêm a fisiologia, os receptores, as drogas uma a uma e, no fim, a aplicação no choque séptico, no centro cirúrgico e num caso de falência de VD após CEC.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PAM depende do débito cardíaco e da resistência vascular; a relação completa é PAM − PVC = DC × RVS, e a PVC pesa quando está alta. Na vasoplegia o problema é o tônus: sepse, anestesia geral, neuroeixo, anafilaxia, saída de CEC. Na falência de bomba o débito é baixo, em geral com resistência alta; na sepse, a disfunção miocárdica pode coexistir com vasoplegia. Hipovolemia se trata com volume. O α1 também contrai veias, recruta volume não estressado e aumenta o retorno venoso, e por isso a noradrenalina pode aumentar o débito no choque séptico (Persichini, Crit Care Med 2012). Para diferenciar, a ESICM 2025 recomenda eco como primeira imagem, parâmetros dinâmicos antes de mais volume e perfusão seriada pelo tempo de enchimento capilar, com temperatura e livedo da pele.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Pressão não é fluxo: como a PAM depende do débito e da resistência, uma resistência alta pode manter a PAM com o débito baixo. Por isso, a decisão de usar inotrópico depende de sinais de hipoperfusão e de uma estimativa do débito, e não só da pressão. Na clínica, enchimento capilar, livedo e temperatura das extremidades; no laboratório, lactato, saturação venosa central e gap de CO₂; e ainda diurese e consciência. Antes da droga, vale perguntar se o débito responde a volume, com parâmetros dinâmicos ou com um teste de volume medindo o débito; o eco mostra o VTI e a função dos dois ventrículos. O inverso também vale: aumentar o débito com uma droga não é o mesmo que melhorar o desfecho. No OPTIME-CHF, a milrinona usada sem indicação clara não trouxe benefício e aumentou hipotensão e arritmia. Se perguntarem: num ECR de 2025 (Tongyoo, Ann Med; 64 pacientes em choque séptico com hipoperfusão ou disfunção de VE), a milrinona aumentou o débito em 6 horas em relação ao placebo, mas a mortalidade em 28 dias foi igual,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α1 contrai artérias e veias; β1 aumenta contratilidade e frequência; β2 dilata vasos e brônquios e eleva glicemia e lactato; D1 dilata os leitos renal e mesentérico. α2 está na tabela só para lembrar que clonidina e dexmedetomidina são simpatolíticos, e não vasopressores. V1 e PDE3 entram porque vasopressina e milrinona não dependem do adrenoceptor: a vasopressina age no receptor V1, e a milrinona inibe a enzima que degrada o AMPc, depois do receptor β. A dessensibilização com o uso prolongado ajuda a explicar a taquifilaxia e a lógica de associar uma droga de outra 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A via de síntese explica duas coisas práticas: parte do efeito da dopamina vem da conversão e da liberação de noradrenalina, e a síntese de adrenalina na medula adrenal depende de cortisol. As catecolaminas têm meia-vida de minutos e são usadas em infusão; sem o anel catecol, fenilefrina e efedrina duram mais e servem para bolus.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É a droga de primeira linha no choque séptico. É um α1 potente, com efeito β1 modesto: eleva a PAM pela resistência e pela venoconstrição, com débito mantido ou maior e frequência estável ou menor, por reflexo. A dose usual vai de 0,01 a 0,5 mcg/kg/min, sem teto fixo no choque refratário; no centro cirúrgico, bolus de 5 a 10 mcg. Pode começar em veia periférica calibrosa. 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O efeito depende da dose: em dose baixa predominam β1 e β2, com débito alto e resistência que pode cair; em dose alta prevalece o α1. É a droga da anafilaxia e, no choque séptico, entra como terceira droga quando a PAM segue inadequada com noradrenalina e vasopressina. Na anafilaxia em ambiente monitorizado, bolus EV diluídos e titulados (ANZCA/ANZAAG 2022); se forem necessários mais de três bolus, iniciar infusão; sem acesso venoso, ou fora desse ambiente, 0,5 mg IM. O lactato pode subir por efeito β2, mas isso não autoriza ignorar hipoperfusão. 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Dopamina: o efeito muda com a dose, primeiro D1, depois β1 e, em doses altas, α1, mas a resposta varia muito entre pacientes. A dose “renal” não protege o rim: no ANZICS (n = 328), não houve diferença em creatinina, diálise ou mortalidade. No SOAP II, a mortalidade foi semelhante à da noradrenalina, com o dobro de arritmias, e a SSC 2026 recomenda não usar a dopamina como primeira linha. Uso residual: bradicardia sintomática sem alternativa. Dobutamina: inotropismo β1 com queda discreta da resistência, indicada no baixo débito com hipoperfusão. Se a PAM cair, associar vasopressor para sustentar a pressão de perfusão. Em seguida, o mecanismo que separa a dobutamina da milrinona.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Este é o mecanismo que separa as duas drogas. A dobutamina estimula o receptor β1, que, pela proteína Gs, ativa a adenilato ciclase e aumenta a produção de AMPc; o AMPc ativa a PKA, que aumenta o cálcio disponível para a contração e acelera a recaptação, melhorando também o relaxamento. A milrinona entra mais adiante: inibe a PDE3, a enzima que degrada o AMPc. Por isso, a milrinona não depende do receptor β e mantém efeito com betabloqueio ou com receptores dessensibilizados. Mas atenção: isso é fundamento farmacológico, não benefício demonstrado. Na subanálise do DOREMI com pacientes betabloqueados, a milrinona não teve vantagem clínica. No músculo liso vascular, o AMPc causa relaxamento, e por isso a milrinona é um inodilatador, que pode baixar a PAM. E, como as duas aumentam AMPc e cálcio intracelular, as duas podem causar arritmias.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Como vimos, a milrinona inibe a PDE3 e age depois do receptor β. É um inodilatador: aumenta a contratilidade e o relaxamento e reduz as resistências sistêmica e pulmonar. Por ser vasodilatadora, muitas vezes exige associação com noradrenalina. Tem eliminação renal e meia-vida bem mais longa que a da dobutamina: é menos titulável e acumula na insuficiência renal; a dose máxima diária em bula é 1,13 mg/kg. A indicação é a disfunção ventricular com baixo débito que exige suporte inotrópico, o que no centro cirúrgico inclui a dificuldade de saída de CEC; a comparação com a dobutamina vem no próximo slide. 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Esta é a pergunta prática da aula. Primeiro, a indicação: inotrópico se justifica quando há disfunção ventricular com baixo débito ou hipoperfusão, depois de otimizar volume e PAM. Se a hipotensão é por vasoplegia, a droga é o vasopressor, e um inodilatador baixa ainda mais a pressão. Entre as duas, nenhuma é superior em desfecho; a escolha é farmacológica, e as diferenças da tabela são perfis esperados, não diferenças demonstradas em ensaio. A milrinona faz sentido quando o problema é o VD com hipertensão pulmonar, como na saída de CEC, porque reduz a resistência pulmonar, e quando a taquicardia ou o betabloqueio limitam a dobutamina, ainda que, no betabloqueado, o benefício seja teórico. A dobutamina é preferível quando há hipotensão ou vasoplegia, insuficiência renal, porque a milrinona acumula, ou quando é preciso titular rápido. Para discutir o caso que motivou a aula: havia baixo débito com hipoperfusão? Havia disfunção de VD ou hipertensão pulmonar? A hipotensão era vasoplegia? Se perguntarem: no DOREMI (n = 192, choque cardiogênico), o desfecho composto foi 49% com milrinona e 54% com dobutamina (RR 0,90; IC 95% de 0,69 a 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 na insuficiência cardíaca e aumenta na insuficiência renal, que pede dose de manutenção menor; a da dobutamina é de cerca de 2 minutos. Sem hipoperfusão, inotrópico não traz benefício: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Fenilefrina: α1 puro, sem ação β; a PAM sobe pela resistência e a frequência cai por reflexo. Isso é útil quando a taquicardia é indesejável, mas pode reduzir o débito quando ele depende da frequência. Na estenose aórtica, o objetivo é manter a pós-carga e evitar taquicardia; a escolha depende da frequência e da função ventricular, e não de uma regra fixa. Na cesárea, o consenso internacional de 2018 recomenda vasopressor α-agonista em infusão profilática, titulado para manter a PAS perto da basal. Efedrina: por ter ação indireta, perde efeito com doses repetidas e com estoques de noradrenalina depletados; atravessa a placenta e se associa a mais acidose fetal.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vasopressina age no receptor V1, fora da via adrenérgica: poupa catecolamina e costuma manter efeito em acidose; no choque séptico há deficiência relativa de vasopressina. Em geral, usa-se dose fixa; a ordem do desmame não tem regra definida e segue o protocolo do serviço, considerando a dose de noradrenalina e a tolerância. Indicações: choque séptico com noradrenalina em escalada, vasoplegia após CEC e hipotensão refratária em quem usa IECA ou BRA. Riscos: isquemia digital e mesentérica, hiponatremia. Antes de associar drogas, corrigir causas tratáveis (volume, foco, acidose, cálcio, disfunção ventricular). Adjuvantes: a hidrocortisona restaura a resposta às catecolaminas; a angiotensina II poupa catecolamina, mas é pouco disponível; o azul de metileno fica como resgate na vasoplegia refratária. 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SSC 2026 organiza os vasopressores em sequência. Noradrenalina primeiro, iniciada cedo e, se preciso, por veia periférica (recomendação forte em relação à dopamina; a preferência em relação à vasopressina e à angiotensina II passou a ser condicional). Vasopressina quando a dose de noradrenalina está subindo (condicional, certeza moderada); a diretriz não define um limiar, e na enquete dos painelistas a mediana de noradrenalina para associá-la foi 0,3 mcg/kg/min. Adrenalina se a PAM continuar inadequada (condicional, certeza muito baixa). Alvo inicial de 65 mmHg (forte, certeza moderada), ou 60 a 65 mmHg a partir dos 65 anos (condicional, certeza baixa). Na disfunção cardíaca com hipoperfusão apesar de volume e PAM adequados, dobutamina com noradrenalina, ou adrenalina. A diretriz também sugere hidrocortisona e se posiciona contra levosimendana e terlipressina. 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Antes da droga, afastar causas tratáveis: plano anestésico profundo, hipovolemia, compressão aortocava, pneumotórax, anafilaxia. Se a hipotensão persistir, avaliar a resposta a volume com parâmetros dinâmicos e fazer eco. A escolha segue o mecanismo: tônus baixo com frequência preservada pede α1; bradicardia associada pede ação β1, com efedrina ou, se grave, adrenalina; baixo débito pede inotrópico, e a milrinona tem a vantagem de reduzir a resistência pulmonar. A vasoplegia que não responde às catecolaminas, como após CEC, com uso crônico de IECA ou BRA ou na reperfusão do enxerto hepático, pode responder à vasopressina, que age por outra via; o azul de metileno fica como resgate, com evidência limitada. Bolus na hipotensão transitória e infusão na persistente. Na cesárea, metanálises recentes mostram menos bradicardia materna com noradrenalina e pH umbilical semelhante ao da fenilefrina. Na anafilaxia, adrenalina.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É a mensagem do editorial “The hidden cost of hypotension” (Braz J Anesthesiol 2025), que tem Rodrigo Diaz, da UFRJ, entre os autores: a hipotensão intraoperatória, mesmo por períodos curtos, se associa a lesão renal aguda, lesão miocárdica, delirium, AVC, reinternação e mortalidade, e o risco cresce com a profundidade e a duração. O editorial defende monitorização contínua, manejo proativo e metas individualizadas. O POQI 2024 trata PAM ≥60 mmHg em pacientes de risco como limite mínimo, e não como garantia de perfusão; com pressão venosa central, intracraniana ou abdominal alta, o alvo deve ser maior. No HISTAP, PAM ≥80 beneficiou hipertensos de alto risco, mas os ensaios divergem. 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Caso ilustrativo, para aplicar o raciocínio. Na saída da CEC, a PAM está em 55 mmHg. Antes de escolher a droga, a pergunta é a mesma do início: o que está falhando? Na vasoplegia, o índice cardíaco é normal ou alto, a PVC não está alta e os ventrículos contraem bem. Aqui é o contrário: índice cardíaco baixo, PVC alta, lactato subindo e, no ETE, VD dilatado e hipocinético, com o septo retificado e o VE pequeno, mal enchido. É falência de VD, com hipertensão pulmonar. Deixar a pergunta para a plateia por alguns segundos antes de passar.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Na falência de VD, quatro frentes andam juntas. Primeiro, a pressão de perfusão: o VD fica isquêmico quando a PAM cai, então noradrenalina, ou vasopressina, para sustentar a PAM. Segundo, a resistência pulmonar: corrigir hipóxia, hipercapnia e acidose, ajustar a ventilação e, se preciso, usar vasodilatador pulmonar inalado, como óxido nítrico ou prostaciclina. Terceiro, a contratilidade: aqui a milrinona faz sentido, porque é inotrópica e reduz a resistência pulmonar; a dobutamina é alternativa, e a adrenalina entra se o choque for grave. Quarto, volume e ritmo: o VD dilatado tolera mal mais volume, e a perda do ritmo sinusal pesa muito; se nada disso funcionar, assistência mecânica. A milrinona, sozinha, não trata toda hipertensão pulmonar e pode baixar a PAM. Voltando à pergunta que motivou a aula: a milrinona tem indicação quando há baixo débito por disfunção ventricular, sobretudo de VD com hipertensão pulmonar. Se o problema fosse vasoplegia, com débito preservado, a droga seria o vasopressor.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Voltar à pergunta do início: qual componente da PAM está falhando? A droga certa é a que corrige esse componente, na menor dose eficaz e pelo menor tempo. Terminar com a pergunta para o grupo, sobre a prática do serviço. Depois deste slide ficam os slides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apresentação principal termina no slide de mensagens finais. Daqui em diante, só material de apoio: resumo das drogas, slides individuais de dopamina, dobutamina, fenilefrina, efedrina e vasopressina, choque refratário, sequência da SSC 2026, alvo de PAM, início precoce e via periférica, estudos de alvo no intraoperatório, roteiro e 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consolidar, ler por coluna: as drogas com α1 alto elevam a RVS (noradrenalina, fenilefrina); as com β1 alto elevam DC e FC (adrenalina, dobutamina, isoproterenol); β2 explica vasodilatação e lactato. Na dopamina, o receptor que predomina muda com a dose. Milrinona e vasopressina têm zero nas colunas porque não agem nesses receptores: a milrinona inibe a PDE3 e a vasopressina age no V1. O isoproterenol só tem linha nesta tabela: uso restrito à bradicardia refratária e à ponte para marca-passo. As faixas de dose são as usuais em adultos e devem ser tituladas pela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de dose mostram o perfil esperado; na prática, a resposta a cada faixa é imprevisível. ANZICS (n = 328): dopamina 2 mcg/kg/min vs. placebo, sem diferença no pico de creatinina, na necessidade de diálise ou na mortalidade. SOAP II: no subgrupo de choque cardiogênico, mortalidade maior com dopamina (p = 0,03). Uso residual: bradicardia sintomática, quando não houver alternativa.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Isômero (+): agonista β1 e β2 e antagonista α1; isômero (−): agonista α1. O resultado clínico é inotropismo com queda discreta da RVS; por isso, no paciente vasoplégico, associar vasopressor quando necessário para sustentar a pressão de perfusão. DOREMI (n = 192): mortalidade hospitalar de 43% vs. 37% com milrinona, sem diferença significativa. A SSC 2026 não encontrou dados suficientes para comparar dobutamina e milrinona e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Agonista α1 direto, sem ação β: a PAM sobe pela RVS e a FC cai por reflexo. Isso é vantagem quando a taquicardia é o problema (estenose aórtica, cardiomiopatia hipertrófica obstrutiva, fibrilação atrial com resposta rápida) e desvantagem quando o DC depende da FC. O consenso internacional obstétrico (Kinsella 2018) indica a fenilefrina como agente de escolha, em infusão profilática; a noradrenalina é alternativa cada vez mais usada, com melhor preservação do DC materno e desfechos neonatais comparáveis. Os números da comparação em bolus são do ensaio de Sharkey (Anesth Analg 2019), citado na revisão de Park e Choi.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ação indireta explica as limitações: resposta menor quando os estoques de noradrenalina estão depletados (choque prolongado, uso crônico de simpatolíticos) e pouca eficácia no coração transplantado, que é desnervado. Na cesárea, a efedrina foi substituída pela fenilefrina como primeira escolha; continua útil como resgate quando há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Embora não seja amina, é o principal adjuvante da noradrenalina. VASST: no subgrupo de choque menos grave (NA de 5 a 14 mcg/min), mortalidade de 26,5% vs. 35,7%, achado só gerador de hipótese. VANISH (Gordon, JAMA 2016), com vasopressina precoce: sem diferença em dias livres de falência renal. VASSPR (publicado em 14/10/2026): comparou políticas de início por hospital (vasopressina de fato usada em 52,4% vs. 32,9%), sem ganho de mortalidade nem de dias livres de terapia renal substitutiva, com sinal de mais choque cardiogênico no grupo precoce (7,4% vs. 6,3%). Equivalência usada em escores: vasopressina 0,03 U/min corresponde a cerca de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choque que não responde à noradrenalina, associam-se drogas de mecanismos diferentes em vez de aumentar indefinidamente a dose da mesma droga. ATHOS-3 (n = 344): mortalidade em 28 dias de 46% vs. 53,8% (NS). Azul de metileno: na enquete com os painelistas da SSC 2026, 69% nunca ou quase nunca o usam como resgate.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Pontos da SSC 2026: a preferência pela noradrenalina em relação à vasopressina e à angiotensina II passou a ser sugestão (condicional); mantém-se a sugestão, já presente em 2021, de iniciar o vasopressor por via periférica em vez de esperar o acesso central; a sugestão contra a levosimendana, também de 2021, foi mantida, e a terlipressina recebeu sugestão contra; o azul de metileno ficou sem recomendação, por evidência insuficiente. A SSC não define um limiar numérico para associar vasopressina.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65 trial (n = 2.463 na análise primária): menos exposição a vasopressor no grupo permissivo (duração média de 46,0 vs. 55,9 h; dose total média de noradrenalina-equivalente de 31,5 vs. 44,3 mg), sem sinal de dano; a razão de chances (OR) ajustada favoreceu a hipotensão permissiva (0,82). OPTPRESS (29 hospitais japoneses): interrompido precocemente por dano, com diferença absoluta de 10,7 pontos percentuais (IC 95% de 2,6 a 18,9) e menos dias livres de terapia renal substitutiva no alvo alto; o protocolo associava vasopressina cedo, com NA ≥0,1 mcg/kg/min. A ESICM 2025 também sugere alvo menor no trauma com sangramento ativo sem TCE e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CENSER (n = 310): dose fixa, não titulada, por 24 h; mortalidade em 28 dias de 15,5% vs. 21,9% (NS). Na metanálise de Tran (Am J Emerg Med 2020), houve 122 complicações em 1.835 pacientes (7%), 96% delas leves; a prevalência combinada por efeitos aleatórios foi de 8,6% (IC 95% de 3,1 a 21%), e os estudos com protocolo de segurança tiveram menos complicações (2,9% vs. 12%). Na prática: veia calibrosa e proximal, inspeção frequente do sítio e plano para acesso central se a dose subir ou a infusão se prolongar; no extravasamento, fentolamina local. A equivalência de 2 mg/mL de hemitartarato a 1 mg/mL de base consta da bula do hemitartarato de norepinefrina. Ibarra-Estrada, Kattan e Jung (Intensive Care Med 2024) defendem padronizar o relato da dose: a mesma infusão expressa em sal corresponde ao dobro do valor em base (0,1 mcg/kg/min de sal ≈ 0,05 de base).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POISE-3: o braço de evitar hipotensão suspendia anti-hipertensivos e visava PAM ≥80, sem redução de eventos vasculares. IMPROVE-multi: o alvo individualizado não foi melhor que PAM ≥65 (RR 1,10; IC 95% 0,93–1,30). HISTAP (n = 630, 18 centros italianos): em idosos hipertensos de alto risco, com monitorização contínua e fluidoterapia protocolada, PAM ≥80 reduziu o desfecho composto, sobretudo por menos lesão renal aguda leve a moderada (23,5% vs. 33,7%). A PAM média alcançada foi 77 mmHg no controle e 88 mmHg no alvo alto, ou seja, o controle não ficou em 65; o alvo alto exigiu mais noradrenalina, efedrina e transfusão. Na prática, evitar PAM abaixo de 60–65 mmHg é consenso; elevar o alvo é decisão individual, em paciente selecionado.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apresentação, mantido como reserva (o slide de objetivos faz esse papel). A aula vai do raciocínio fisiológico para a farmacologia, depois para cada droga e, por fim, para a aplicação no choque séptico e no centro cirúrgico. O bloco de drogas é o centro da aula: cerca de 1 minuto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Miller’s Anesthesia, 10ª ed.: Gropper MA, Cohen NH, Eriksson LI, Fleisher LA, Johnson-Akeju O, Leslie K (eds.), Elsevier, 2025; capítulos e páginas a acrescentar quando o sumário estiver disponível. Tongyoo et al., milrinona vs. placebo no choque séptico: Ann Med 2025;57(1):2484464. SSC 2026: Crit Care Med 2026;54(4):725–812. VASSPR: JAMA, publicado online em 14/10/2026. HISTAP: Intensive Care Med 2026;52(8):1619–1634. IMPROVE-multi: JAMA 2025;334(21):1893–1904. POISE-3 (braço de pressão): Ann Intern Med 2023;176:605–614. POQI: Br J Anaesth 2024;133(2):264–276. Lineburger et al., “The hidden cost of hypotension” (editorial; entre os autores, Rodrigo Diaz): Braz J Anesthesiol 2025;75(1):844581. DOREMI: N Engl J Med 2021;385(6):516–525. Di Santo et al., subanálise do DOREMI por uso de betabloqueador: Crit Care 2021;25:289. OPTIME-CHF: JAMA 2002;287(12):1541–1547. VANCS: Anesthesiology 2017;126(1):85–93. CAT: Intensive Care Med 2008;34:2226–2234. VANISH: JAMA 2016;316(5):509–518. Salmasi: Anesthesiology 2017;126(1):47–65. Sharkey: Anesth Analg 2019;129(5):1312–1318. Cecconi et al., consenso da ESICM sobre choque circulatório: Intensive Care Med 2014;40:1795–1815. Konstam et al., declaração da AHA sobre insuficiência cardíaca direita: Circulation 2018;137(20):e578–e622.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Gouvea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esse raciocínio no choque séptic"/>
          <p:cNvSpPr txBox="1"/>
          <p:nvPr/>
        </p:nvSpPr>
        <p:spPr>
          <a:xfrm>
            <a:off x="1371600" y="3777602"/>
            <a:ext cx="893881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séptico, na hipotensão intraoperatória e na falência de VD após CEC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2600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 com DC preservado ou alto (sep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cardiografia inicial para o tipo de c"/>
          <p:cNvSpPr txBox="1"/>
          <p:nvPr/>
        </p:nvSpPr>
        <p:spPr>
          <a:xfrm>
            <a:off x="4584898" y="4769275"/>
            <a:ext cx="65530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baseline="-40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PAM normal não exclui débito baixo. E dé"/>
          <p:cNvSpPr txBox="1"/>
          <p:nvPr/>
        </p:nvSpPr>
        <p:spPr>
          <a:xfrm>
            <a:off x="27342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6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exige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 com β1 modesto: eleva a PAM 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preservado ou maior;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Indicada no baixo débito com hipoperfusão, em 2,5–20 mcg/kg/min;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777901"/>
            <a:ext cx="10566400" cy="2440781"/>
          </a:xfrm>
          <a:prstGeom prst="roundRect">
            <a:avLst>
              <a:gd name="adj" fmla="val 3122"/>
            </a:avLst>
          </a:prstGeom>
          <a:solidFill>
            <a:srgbClr val="1B2A3A"/>
          </a:solidFill>
          <a:ln/>
        </p:spPr>
      </p:sp>
      <p:sp>
        <p:nvSpPr>
          <p:cNvPr id="5" name="CARDIOMIÓCITO"/>
          <p:cNvSpPr txBox="1"/>
          <p:nvPr/>
        </p:nvSpPr>
        <p:spPr>
          <a:xfrm>
            <a:off x="1066800" y="1943737"/>
            <a:ext cx="10077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CARDIOMIÓCITO</a:t>
            </a:r>
            <a:endParaRPr lang="en-US" sz="1200" dirty="0"/>
          </a:p>
        </p:txBody>
      </p:sp>
      <p:sp>
        <p:nvSpPr>
          <p:cNvPr id="6" name="Betabloqueador"/>
          <p:cNvSpPr/>
          <p:nvPr/>
        </p:nvSpPr>
        <p:spPr>
          <a:xfrm>
            <a:off x="3661569" y="2270621"/>
            <a:ext cx="1414959" cy="383480"/>
          </a:xfrm>
          <a:prstGeom prst="roundRect">
            <a:avLst>
              <a:gd name="adj" fmla="val 49677"/>
            </a:avLst>
          </a:prstGeom>
          <a:solidFill>
            <a:srgbClr val="33475E"/>
          </a:solidFill>
          <a:ln w="12700">
            <a:solidFill>
              <a:srgbClr val="8A98A8"/>
            </a:solidFill>
          </a:ln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Betabloqueador</a:t>
            </a:r>
            <a:endParaRPr lang="en-US" sz="1300" dirty="0"/>
          </a:p>
        </p:txBody>
      </p:sp>
      <p:sp>
        <p:nvSpPr>
          <p:cNvPr id="7" name="Seta"/>
          <p:cNvSpPr/>
          <p:nvPr/>
        </p:nvSpPr>
        <p:spPr>
          <a:xfrm>
            <a:off x="3994845" y="2704902"/>
            <a:ext cx="177800" cy="228600"/>
          </a:xfrm>
          <a:prstGeom prst="downArrow">
            <a:avLst/>
          </a:prstGeom>
          <a:solidFill>
            <a:srgbClr val="E49A5C"/>
          </a:solidFill>
          <a:ln/>
        </p:spPr>
      </p:sp>
      <p:sp>
        <p:nvSpPr>
          <p:cNvPr id="8" name="bloqueia"/>
          <p:cNvSpPr txBox="1"/>
          <p:nvPr/>
        </p:nvSpPr>
        <p:spPr>
          <a:xfrm>
            <a:off x="4248845" y="2710405"/>
            <a:ext cx="513457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</a:t>
            </a:r>
            <a:endParaRPr lang="en-US" sz="1100" dirty="0"/>
          </a:p>
        </p:txBody>
      </p:sp>
      <p:sp>
        <p:nvSpPr>
          <p:cNvPr id="9" name="Dobutamina"/>
          <p:cNvSpPr/>
          <p:nvPr/>
        </p:nvSpPr>
        <p:spPr>
          <a:xfrm>
            <a:off x="2121991" y="2984302"/>
            <a:ext cx="1133177" cy="35808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39700" tIns="63500" rIns="139700" bIns="63500" rtlCol="0" anchor="ctr"/>
          <a:lstStyle/>
          <a:p>
            <a:pPr algn="ctr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300" dirty="0"/>
          </a:p>
        </p:txBody>
      </p:sp>
      <p:sp>
        <p:nvSpPr>
          <p:cNvPr id="10" name="Seta"/>
          <p:cNvSpPr/>
          <p:nvPr/>
        </p:nvSpPr>
        <p:spPr>
          <a:xfrm>
            <a:off x="3305969" y="3074392"/>
            <a:ext cx="304800" cy="177800"/>
          </a:xfrm>
          <a:prstGeom prst="rightArrow">
            <a:avLst/>
          </a:prstGeom>
          <a:solidFill>
            <a:srgbClr val="E49A5C"/>
          </a:solidFill>
          <a:ln/>
        </p:spPr>
      </p:sp>
      <p:sp>
        <p:nvSpPr>
          <p:cNvPr id="11" name="Receptor β1 · Gs"/>
          <p:cNvSpPr/>
          <p:nvPr/>
        </p:nvSpPr>
        <p:spPr>
          <a:xfrm>
            <a:off x="3668018" y="2984302"/>
            <a:ext cx="1401961" cy="358080"/>
          </a:xfrm>
          <a:prstGeom prst="roundRect">
            <a:avLst>
              <a:gd name="adj" fmla="val 50000"/>
            </a:avLst>
          </a:prstGeom>
          <a:solidFill>
            <a:srgbClr val="F5F3EE"/>
          </a:solidFill>
          <a:ln/>
        </p:spPr>
        <p:txBody>
          <a:bodyPr wrap="none" lIns="139700" tIns="63500" rIns="139700" bIns="63500" rtlCol="0" anchor="ctr"/>
          <a:lstStyle/>
          <a:p>
            <a:pPr algn="ctr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 β1 · Gs</a:t>
            </a:r>
            <a:endParaRPr lang="en-US" sz="1300" dirty="0"/>
          </a:p>
        </p:txBody>
      </p:sp>
      <p:sp>
        <p:nvSpPr>
          <p:cNvPr id="12" name="Seta"/>
          <p:cNvSpPr/>
          <p:nvPr/>
        </p:nvSpPr>
        <p:spPr>
          <a:xfrm>
            <a:off x="5127327" y="3074392"/>
            <a:ext cx="304800" cy="177800"/>
          </a:xfrm>
          <a:prstGeom prst="rightArrow">
            <a:avLst/>
          </a:prstGeom>
          <a:solidFill>
            <a:srgbClr val="E49A5C"/>
          </a:solidFill>
          <a:ln/>
        </p:spPr>
      </p:sp>
      <p:sp>
        <p:nvSpPr>
          <p:cNvPr id="13" name="Adenilato ciclase"/>
          <p:cNvSpPr/>
          <p:nvPr/>
        </p:nvSpPr>
        <p:spPr>
          <a:xfrm>
            <a:off x="5482927" y="2984302"/>
            <a:ext cx="1435497" cy="358080"/>
          </a:xfrm>
          <a:prstGeom prst="roundRect">
            <a:avLst>
              <a:gd name="adj" fmla="val 50000"/>
            </a:avLst>
          </a:prstGeom>
          <a:solidFill>
            <a:srgbClr val="F5F3EE"/>
          </a:solidFill>
          <a:ln/>
        </p:spPr>
        <p:txBody>
          <a:bodyPr wrap="none" lIns="139700" tIns="63500" rIns="139700" bIns="63500" rtlCol="0" anchor="ctr"/>
          <a:lstStyle/>
          <a:p>
            <a:pPr algn="ctr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Adenilato ciclase</a:t>
            </a:r>
            <a:endParaRPr lang="en-US" sz="1300" dirty="0"/>
          </a:p>
        </p:txBody>
      </p:sp>
      <p:sp>
        <p:nvSpPr>
          <p:cNvPr id="14" name="Seta"/>
          <p:cNvSpPr/>
          <p:nvPr/>
        </p:nvSpPr>
        <p:spPr>
          <a:xfrm>
            <a:off x="6969224" y="3074392"/>
            <a:ext cx="304800" cy="177800"/>
          </a:xfrm>
          <a:prstGeom prst="rightArrow">
            <a:avLst/>
          </a:prstGeom>
          <a:solidFill>
            <a:srgbClr val="E49A5C"/>
          </a:solidFill>
          <a:ln/>
        </p:spPr>
      </p:sp>
      <p:sp>
        <p:nvSpPr>
          <p:cNvPr id="15" name="AMPc"/>
          <p:cNvSpPr/>
          <p:nvPr/>
        </p:nvSpPr>
        <p:spPr>
          <a:xfrm>
            <a:off x="7443589" y="2984302"/>
            <a:ext cx="680740" cy="358080"/>
          </a:xfrm>
          <a:prstGeom prst="roundRect">
            <a:avLst>
              <a:gd name="adj" fmla="val 50000"/>
            </a:avLst>
          </a:prstGeom>
          <a:solidFill>
            <a:srgbClr val="F5F3EE"/>
          </a:solidFill>
          <a:ln/>
        </p:spPr>
        <p:txBody>
          <a:bodyPr wrap="none" lIns="139700" tIns="63500" rIns="139700" bIns="63500" rtlCol="0" anchor="ctr"/>
          <a:lstStyle/>
          <a:p>
            <a:pPr algn="ctr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AMPc</a:t>
            </a:r>
            <a:endParaRPr lang="en-US" sz="1300" dirty="0"/>
          </a:p>
        </p:txBody>
      </p:sp>
      <p:sp>
        <p:nvSpPr>
          <p:cNvPr id="16" name="Seta"/>
          <p:cNvSpPr/>
          <p:nvPr/>
        </p:nvSpPr>
        <p:spPr>
          <a:xfrm>
            <a:off x="8293894" y="3074392"/>
            <a:ext cx="304800" cy="177800"/>
          </a:xfrm>
          <a:prstGeom prst="rightArrow">
            <a:avLst/>
          </a:prstGeom>
          <a:solidFill>
            <a:srgbClr val="E49A5C"/>
          </a:solidFill>
          <a:ln/>
        </p:spPr>
      </p:sp>
      <p:sp>
        <p:nvSpPr>
          <p:cNvPr id="17" name="PKA · ↑Ca²⁺"/>
          <p:cNvSpPr/>
          <p:nvPr/>
        </p:nvSpPr>
        <p:spPr>
          <a:xfrm>
            <a:off x="8805069" y="2984302"/>
            <a:ext cx="1109266" cy="358080"/>
          </a:xfrm>
          <a:prstGeom prst="roundRect">
            <a:avLst>
              <a:gd name="adj" fmla="val 50000"/>
            </a:avLst>
          </a:prstGeom>
          <a:solidFill>
            <a:srgbClr val="F5F3EE"/>
          </a:solidFill>
          <a:ln/>
        </p:spPr>
        <p:txBody>
          <a:bodyPr wrap="none" lIns="139700" tIns="63500" rIns="139700" bIns="63500" rtlCol="0" anchor="ctr"/>
          <a:lstStyle/>
          <a:p>
            <a:pPr algn="ctr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PKA · ↑Ca</a:t>
            </a:r>
            <a:pPr algn="ctr" indent="0" marL="0">
              <a:lnSpc>
                <a:spcPts val="1820"/>
              </a:lnSpc>
              <a:buNone/>
            </a:pPr>
            <a:r>
              <a:rPr lang="pt-BR" altLang="en-US" sz="1300" b="1" baseline="30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endParaRPr lang="en-US" sz="1300" dirty="0"/>
          </a:p>
        </p:txBody>
      </p:sp>
      <p:sp>
        <p:nvSpPr>
          <p:cNvPr id="18" name="Seta"/>
          <p:cNvSpPr/>
          <p:nvPr/>
        </p:nvSpPr>
        <p:spPr>
          <a:xfrm>
            <a:off x="7324824" y="3393182"/>
            <a:ext cx="177800" cy="228600"/>
          </a:xfrm>
          <a:prstGeom prst="downArrow">
            <a:avLst/>
          </a:prstGeom>
          <a:solidFill>
            <a:srgbClr val="E49A5C"/>
          </a:solidFill>
          <a:ln/>
        </p:spPr>
      </p:sp>
      <p:sp>
        <p:nvSpPr>
          <p:cNvPr id="19" name="degradação"/>
          <p:cNvSpPr txBox="1"/>
          <p:nvPr/>
        </p:nvSpPr>
        <p:spPr>
          <a:xfrm>
            <a:off x="7578824" y="3398686"/>
            <a:ext cx="683320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degradação</a:t>
            </a:r>
            <a:endParaRPr lang="en-US" sz="1100" dirty="0"/>
          </a:p>
        </p:txBody>
      </p:sp>
      <p:sp>
        <p:nvSpPr>
          <p:cNvPr id="20" name="contração e relaxamento"/>
          <p:cNvSpPr txBox="1"/>
          <p:nvPr/>
        </p:nvSpPr>
        <p:spPr>
          <a:xfrm>
            <a:off x="8639969" y="3398686"/>
            <a:ext cx="1439565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pt-BR" altLang="en-US" sz="11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contração e relaxamento</a:t>
            </a:r>
            <a:endParaRPr lang="en-US" sz="1100" dirty="0"/>
          </a:p>
        </p:txBody>
      </p:sp>
      <p:sp>
        <p:nvSpPr>
          <p:cNvPr id="21" name="Milrinona"/>
          <p:cNvSpPr/>
          <p:nvPr/>
        </p:nvSpPr>
        <p:spPr>
          <a:xfrm>
            <a:off x="5724922" y="3677642"/>
            <a:ext cx="951508" cy="35808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39700" tIns="63500" rIns="139700" bIns="63500" rtlCol="0" anchor="ctr"/>
          <a:lstStyle/>
          <a:p>
            <a:pPr algn="ctr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</a:t>
            </a:r>
            <a:endParaRPr lang="en-US" sz="1300" dirty="0"/>
          </a:p>
        </p:txBody>
      </p:sp>
      <p:sp>
        <p:nvSpPr>
          <p:cNvPr id="22" name="inibe"/>
          <p:cNvSpPr txBox="1"/>
          <p:nvPr/>
        </p:nvSpPr>
        <p:spPr>
          <a:xfrm>
            <a:off x="6994128" y="3662613"/>
            <a:ext cx="2740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pt-BR" altLang="en-US" sz="10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</a:t>
            </a:r>
            <a:endParaRPr lang="en-US" sz="1000" dirty="0"/>
          </a:p>
        </p:txBody>
      </p:sp>
      <p:sp>
        <p:nvSpPr>
          <p:cNvPr id="23" name="Seta"/>
          <p:cNvSpPr/>
          <p:nvPr/>
        </p:nvSpPr>
        <p:spPr>
          <a:xfrm>
            <a:off x="6969224" y="3863082"/>
            <a:ext cx="304800" cy="177800"/>
          </a:xfrm>
          <a:prstGeom prst="rightArrow">
            <a:avLst/>
          </a:prstGeom>
          <a:solidFill>
            <a:srgbClr val="E49A5C"/>
          </a:solidFill>
          <a:ln/>
        </p:spPr>
      </p:sp>
      <p:sp>
        <p:nvSpPr>
          <p:cNvPr id="24" name="PDE3"/>
          <p:cNvSpPr/>
          <p:nvPr/>
        </p:nvSpPr>
        <p:spPr>
          <a:xfrm>
            <a:off x="7466112" y="3677642"/>
            <a:ext cx="635595" cy="358080"/>
          </a:xfrm>
          <a:prstGeom prst="roundRect">
            <a:avLst>
              <a:gd name="adj" fmla="val 50000"/>
            </a:avLst>
          </a:prstGeom>
          <a:solidFill>
            <a:srgbClr val="F5F3EE"/>
          </a:solidFill>
          <a:ln/>
        </p:spPr>
        <p:txBody>
          <a:bodyPr wrap="none" lIns="139700" tIns="63500" rIns="139700" bIns="63500" rtlCol="0" anchor="ctr"/>
          <a:lstStyle/>
          <a:p>
            <a:pPr algn="ctr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PDE3</a:t>
            </a:r>
            <a:endParaRPr lang="en-US" sz="1300" dirty="0"/>
          </a:p>
        </p:txBody>
      </p:sp>
      <p:sp>
        <p:nvSpPr>
          <p:cNvPr id="25" name="Seta"/>
          <p:cNvSpPr/>
          <p:nvPr/>
        </p:nvSpPr>
        <p:spPr>
          <a:xfrm>
            <a:off x="8293894" y="3767832"/>
            <a:ext cx="304800" cy="177800"/>
          </a:xfrm>
          <a:prstGeom prst="rightArrow">
            <a:avLst/>
          </a:prstGeom>
          <a:solidFill>
            <a:srgbClr val="E49A5C"/>
          </a:solidFill>
          <a:ln/>
        </p:spPr>
      </p:sp>
      <p:sp>
        <p:nvSpPr>
          <p:cNvPr id="26" name="AMP inativo"/>
          <p:cNvSpPr txBox="1"/>
          <p:nvPr/>
        </p:nvSpPr>
        <p:spPr>
          <a:xfrm>
            <a:off x="8982273" y="3738108"/>
            <a:ext cx="774005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 inativo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812800" y="4421882"/>
            <a:ext cx="3420566" cy="1020961"/>
          </a:xfrm>
          <a:prstGeom prst="roundRect">
            <a:avLst>
              <a:gd name="adj" fmla="val 746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8" name="Com betabloqueador"/>
          <p:cNvSpPr txBox="1"/>
          <p:nvPr/>
        </p:nvSpPr>
        <p:spPr>
          <a:xfrm>
            <a:off x="1022350" y="4577343"/>
            <a:ext cx="3020516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betabloqueador</a:t>
            </a:r>
            <a:endParaRPr lang="en-US" sz="1400" dirty="0"/>
          </a:p>
        </p:txBody>
      </p:sp>
      <p:sp>
        <p:nvSpPr>
          <p:cNvPr id="29" name="A milrinona age depois do receptor; no D"/>
          <p:cNvSpPr txBox="1"/>
          <p:nvPr/>
        </p:nvSpPr>
        <p:spPr>
          <a:xfrm>
            <a:off x="1022350" y="4845489"/>
            <a:ext cx="3020516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milrinona age depois do receptor; no DOREMI, sem vantagem clínica nesse subgrupo.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4385766" y="4421882"/>
            <a:ext cx="3420566" cy="1020961"/>
          </a:xfrm>
          <a:prstGeom prst="roundRect">
            <a:avLst>
              <a:gd name="adj" fmla="val 746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1" name="Nos vasos"/>
          <p:cNvSpPr txBox="1"/>
          <p:nvPr/>
        </p:nvSpPr>
        <p:spPr>
          <a:xfrm>
            <a:off x="4595316" y="4577343"/>
            <a:ext cx="3020516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vasos</a:t>
            </a:r>
            <a:endParaRPr lang="en-US" sz="1400" dirty="0"/>
          </a:p>
        </p:txBody>
      </p:sp>
      <p:sp>
        <p:nvSpPr>
          <p:cNvPr id="32" name="No músculo liso, o AMPc relaxa: a milrin"/>
          <p:cNvSpPr txBox="1"/>
          <p:nvPr/>
        </p:nvSpPr>
        <p:spPr>
          <a:xfrm>
            <a:off x="4595316" y="4845489"/>
            <a:ext cx="3020516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músculo liso, o AMPc relaxa: a milrinona é inodilatadora e pode baixar a PAM.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7958733" y="4421882"/>
            <a:ext cx="3420566" cy="1020961"/>
          </a:xfrm>
          <a:prstGeom prst="roundRect">
            <a:avLst>
              <a:gd name="adj" fmla="val 746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4" name="Mesmo mediador"/>
          <p:cNvSpPr txBox="1"/>
          <p:nvPr/>
        </p:nvSpPr>
        <p:spPr>
          <a:xfrm>
            <a:off x="8168283" y="4577343"/>
            <a:ext cx="3020516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mediador</a:t>
            </a:r>
            <a:endParaRPr lang="en-US" sz="1400" dirty="0"/>
          </a:p>
        </p:txBody>
      </p:sp>
      <p:sp>
        <p:nvSpPr>
          <p:cNvPr id="35" name="As duas aumentam AMPc e cálcio intracelu"/>
          <p:cNvSpPr txBox="1"/>
          <p:nvPr/>
        </p:nvSpPr>
        <p:spPr>
          <a:xfrm>
            <a:off x="8168283" y="4845489"/>
            <a:ext cx="3020516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aumentam AMPc e cálcio intracelular, e as duas podem causar arritmias.</a:t>
            </a:r>
            <a:endParaRPr lang="en-US" sz="1200" dirty="0"/>
          </a:p>
        </p:txBody>
      </p:sp>
      <p:sp>
        <p:nvSpPr>
          <p:cNvPr id="36" name="Overgaard &amp; Džavík, Circulation 2008 · 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Overgaard &amp; Džavík, Circulation 2008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3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Eliminação renal: reduzir a dose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1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; insuficiência "/>
          <p:cNvSpPr txBox="1"/>
          <p:nvPr/>
        </p:nvSpPr>
        <p:spPr>
          <a:xfrm>
            <a:off x="6407150" y="492565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vasoplegia; insuficiência renal; necessidade de titular rápido;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DC, mas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 NA continua preferida.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Seta"/>
          <p:cNvSpPr/>
          <p:nvPr/>
        </p:nvSpPr>
        <p:spPr>
          <a:xfrm>
            <a:off x="4021634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9" name="Cartão"/>
          <p:cNvSpPr/>
          <p:nvPr/>
        </p:nvSpPr>
        <p:spPr>
          <a:xfrm>
            <a:off x="4555034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58234" y="2070737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58234" y="2342592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58234" y="2658901"/>
            <a:ext cx="269448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Seta"/>
          <p:cNvSpPr/>
          <p:nvPr/>
        </p:nvSpPr>
        <p:spPr>
          <a:xfrm>
            <a:off x="7763867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14" name="Cartão"/>
          <p:cNvSpPr/>
          <p:nvPr/>
        </p:nvSpPr>
        <p:spPr>
          <a:xfrm>
            <a:off x="8297267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500467" y="2070737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500467" y="2342592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500467" y="2658901"/>
            <a:ext cx="269448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Seta"/>
          <p:cNvSpPr/>
          <p:nvPr/>
        </p:nvSpPr>
        <p:spPr>
          <a:xfrm>
            <a:off x="1920379" y="1941711"/>
            <a:ext cx="279400" cy="1778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6" name="Afastar plano profundo, hipovolemia, com"/>
          <p:cNvSpPr/>
          <p:nvPr/>
        </p:nvSpPr>
        <p:spPr>
          <a:xfrm>
            <a:off x="2301379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Seta"/>
          <p:cNvSpPr/>
          <p:nvPr/>
        </p:nvSpPr>
        <p:spPr>
          <a:xfrm>
            <a:off x="8232378" y="1941711"/>
            <a:ext cx="279400" cy="1778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8" name="Qual mecanismo?"/>
          <p:cNvSpPr/>
          <p:nvPr/>
        </p:nvSpPr>
        <p:spPr>
          <a:xfrm>
            <a:off x="8613378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Corrige o tônus sem taquicardia"/>
          <p:cNvSpPr txBox="1"/>
          <p:nvPr/>
        </p:nvSpPr>
        <p:spPr>
          <a:xfrm>
            <a:off x="946150" y="3878619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295146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β1 e liberação de noradrenalina"/>
          <p:cNvSpPr txBox="1"/>
          <p:nvPr/>
        </p:nvSpPr>
        <p:spPr>
          <a:xfrm>
            <a:off x="3084810" y="3449994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09012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Inotropismo; a milrinona também reduz a "/>
          <p:cNvSpPr txBox="1"/>
          <p:nvPr/>
        </p:nvSpPr>
        <p:spPr>
          <a:xfrm>
            <a:off x="5223470" y="4092931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722878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Vasoplegia refratária"/>
          <p:cNvSpPr/>
          <p:nvPr/>
        </p:nvSpPr>
        <p:spPr>
          <a:xfrm>
            <a:off x="7235130" y="2492871"/>
            <a:ext cx="1998960" cy="375841"/>
          </a:xfrm>
          <a:prstGeom prst="roundRect">
            <a:avLst>
              <a:gd name="adj" fmla="val 20275"/>
            </a:avLst>
          </a:prstGeom>
          <a:solidFill>
            <a:srgbClr val="1B2A3A"/>
          </a:solidFill>
          <a:ln/>
        </p:spPr>
        <p:txBody>
          <a:bodyPr wrap="none" lIns="127000" tIns="88900" rIns="127000" bIns="8890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Vasopressina; azul de metileno como resg"/>
          <p:cNvSpPr txBox="1"/>
          <p:nvPr/>
        </p:nvSpPr>
        <p:spPr>
          <a:xfrm>
            <a:off x="7362130" y="2972931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Pós-CEC, IECA/BRA, reperfusão hepática"/>
          <p:cNvSpPr txBox="1"/>
          <p:nvPr/>
        </p:nvSpPr>
        <p:spPr>
          <a:xfrm>
            <a:off x="7362130" y="3466266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9367441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Pré-carga baixa"/>
          <p:cNvSpPr/>
          <p:nvPr/>
        </p:nvSpPr>
        <p:spPr>
          <a:xfrm>
            <a:off x="9373791" y="2492871"/>
            <a:ext cx="1998960" cy="375841"/>
          </a:xfrm>
          <a:prstGeom prst="roundRect">
            <a:avLst>
              <a:gd name="adj" fmla="val 20275"/>
            </a:avLst>
          </a:prstGeom>
          <a:solidFill>
            <a:srgbClr val="1B2A3A"/>
          </a:solidFill>
          <a:ln/>
        </p:spPr>
        <p:txBody>
          <a:bodyPr wrap="none" lIns="127000" tIns="88900" rIns="127000" bIns="8890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Volume, se o débito responde"/>
          <p:cNvSpPr txBox="1"/>
          <p:nvPr/>
        </p:nvSpPr>
        <p:spPr>
          <a:xfrm>
            <a:off x="9500791" y="2972931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Hipovolemia não se corrige com amina"/>
          <p:cNvSpPr txBox="1"/>
          <p:nvPr/>
        </p:nvSpPr>
        <p:spPr>
          <a:xfrm>
            <a:off x="9500791" y="3466266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100" dirty="0"/>
          </a:p>
        </p:txBody>
      </p:sp>
      <p:sp>
        <p:nvSpPr>
          <p:cNvPr id="29" name="Raquianestesia na cesárea: fenilefrina p"/>
          <p:cNvSpPr txBox="1"/>
          <p:nvPr/>
        </p:nvSpPr>
        <p:spPr>
          <a:xfrm>
            <a:off x="812800" y="484052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Miller’s Anesthesia, 10ª ed. (2025)</a:t>
            </a:r>
            <a:endParaRPr lang="en-US" sz="1200" dirty="0"/>
          </a:p>
        </p:txBody>
      </p:sp>
      <p:pic>
        <p:nvPicPr>
          <p:cNvPr id="3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 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 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CAS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CASO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Caso: hipotensão na saída de CEC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777901"/>
            <a:ext cx="10566400" cy="2616002"/>
          </a:xfrm>
          <a:prstGeom prst="roundRect">
            <a:avLst>
              <a:gd name="adj" fmla="val 291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CASO ILUSTRATIVO"/>
          <p:cNvSpPr txBox="1"/>
          <p:nvPr/>
        </p:nvSpPr>
        <p:spPr>
          <a:xfrm>
            <a:off x="1073150" y="1975487"/>
            <a:ext cx="100647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ILUSTRATIVO</a:t>
            </a:r>
            <a:endParaRPr lang="en-US" sz="1200" dirty="0"/>
          </a:p>
        </p:txBody>
      </p:sp>
      <p:sp>
        <p:nvSpPr>
          <p:cNvPr id="6" name="Troca valvar mitral em paciente com hipe"/>
          <p:cNvSpPr txBox="1"/>
          <p:nvPr/>
        </p:nvSpPr>
        <p:spPr>
          <a:xfrm>
            <a:off x="1073150" y="2314312"/>
            <a:ext cx="100647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valvar mitral em paciente com hipertensão pulmonar. Na saída da CEC:</a:t>
            </a:r>
            <a:endParaRPr lang="en-US" sz="1350" dirty="0"/>
          </a:p>
        </p:txBody>
      </p:sp>
      <p:sp>
        <p:nvSpPr>
          <p:cNvPr id="7" name="PAM"/>
          <p:cNvSpPr txBox="1"/>
          <p:nvPr/>
        </p:nvSpPr>
        <p:spPr>
          <a:xfrm>
            <a:off x="1073150" y="268381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endParaRPr lang="en-US" sz="1100" dirty="0"/>
          </a:p>
        </p:txBody>
      </p:sp>
      <p:sp>
        <p:nvSpPr>
          <p:cNvPr id="8" name="55 mmHg"/>
          <p:cNvSpPr txBox="1"/>
          <p:nvPr/>
        </p:nvSpPr>
        <p:spPr>
          <a:xfrm>
            <a:off x="1073150" y="2886093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mmHg</a:t>
            </a:r>
            <a:endParaRPr lang="en-US" sz="1700" dirty="0"/>
          </a:p>
        </p:txBody>
      </p:sp>
      <p:sp>
        <p:nvSpPr>
          <p:cNvPr id="9" name="IC"/>
          <p:cNvSpPr txBox="1"/>
          <p:nvPr/>
        </p:nvSpPr>
        <p:spPr>
          <a:xfrm>
            <a:off x="4472484" y="268381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</a:t>
            </a:r>
            <a:endParaRPr lang="en-US" sz="1100" dirty="0"/>
          </a:p>
        </p:txBody>
      </p:sp>
      <p:sp>
        <p:nvSpPr>
          <p:cNvPr id="10" name="1,8 L/min/m²"/>
          <p:cNvSpPr txBox="1"/>
          <p:nvPr/>
        </p:nvSpPr>
        <p:spPr>
          <a:xfrm>
            <a:off x="4472484" y="2886093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 L/min/m</a:t>
            </a:r>
            <a:pPr algn="l" indent="0" marL="0">
              <a:lnSpc>
                <a:spcPts val="2380"/>
              </a:lnSpc>
              <a:buNone/>
            </a:pPr>
            <a:r>
              <a:rPr lang="pt-BR" altLang="en-US" sz="1700" b="1" baseline="30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PVC"/>
          <p:cNvSpPr txBox="1"/>
          <p:nvPr/>
        </p:nvSpPr>
        <p:spPr>
          <a:xfrm>
            <a:off x="7871817" y="2683815"/>
            <a:ext cx="3266083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</a:t>
            </a:r>
            <a:endParaRPr lang="en-US" sz="1100" dirty="0"/>
          </a:p>
        </p:txBody>
      </p:sp>
      <p:sp>
        <p:nvSpPr>
          <p:cNvPr id="12" name="18 mmHg"/>
          <p:cNvSpPr txBox="1"/>
          <p:nvPr/>
        </p:nvSpPr>
        <p:spPr>
          <a:xfrm>
            <a:off x="7871817" y="2886093"/>
            <a:ext cx="3266083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mmHg</a:t>
            </a:r>
            <a:endParaRPr lang="en-US" sz="1700" dirty="0"/>
          </a:p>
        </p:txBody>
      </p:sp>
      <p:sp>
        <p:nvSpPr>
          <p:cNvPr id="13" name="PAP"/>
          <p:cNvSpPr txBox="1"/>
          <p:nvPr/>
        </p:nvSpPr>
        <p:spPr>
          <a:xfrm>
            <a:off x="1073150" y="329589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</a:t>
            </a:r>
            <a:endParaRPr lang="en-US" sz="1100" dirty="0"/>
          </a:p>
        </p:txBody>
      </p:sp>
      <p:sp>
        <p:nvSpPr>
          <p:cNvPr id="14" name="60/30 mmHg"/>
          <p:cNvSpPr txBox="1"/>
          <p:nvPr/>
        </p:nvSpPr>
        <p:spPr>
          <a:xfrm>
            <a:off x="1073150" y="3498174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60/30 mmHg</a:t>
            </a:r>
            <a:endParaRPr lang="en-US" sz="1700" dirty="0"/>
          </a:p>
        </p:txBody>
      </p:sp>
      <p:sp>
        <p:nvSpPr>
          <p:cNvPr id="15" name="FC"/>
          <p:cNvSpPr txBox="1"/>
          <p:nvPr/>
        </p:nvSpPr>
        <p:spPr>
          <a:xfrm>
            <a:off x="4472484" y="329589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endParaRPr lang="en-US" sz="1100" dirty="0"/>
          </a:p>
        </p:txBody>
      </p:sp>
      <p:sp>
        <p:nvSpPr>
          <p:cNvPr id="16" name="100 bpm"/>
          <p:cNvSpPr txBox="1"/>
          <p:nvPr/>
        </p:nvSpPr>
        <p:spPr>
          <a:xfrm>
            <a:off x="4472484" y="3498174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bpm</a:t>
            </a:r>
            <a:endParaRPr lang="en-US" sz="1700" dirty="0"/>
          </a:p>
        </p:txBody>
      </p:sp>
      <p:sp>
        <p:nvSpPr>
          <p:cNvPr id="17" name="LACTATO"/>
          <p:cNvSpPr txBox="1"/>
          <p:nvPr/>
        </p:nvSpPr>
        <p:spPr>
          <a:xfrm>
            <a:off x="7871817" y="3295895"/>
            <a:ext cx="3266083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</a:t>
            </a:r>
            <a:endParaRPr lang="en-US" sz="1100" dirty="0"/>
          </a:p>
        </p:txBody>
      </p:sp>
      <p:sp>
        <p:nvSpPr>
          <p:cNvPr id="18" name="4 mmol/L ↑"/>
          <p:cNvSpPr txBox="1"/>
          <p:nvPr/>
        </p:nvSpPr>
        <p:spPr>
          <a:xfrm>
            <a:off x="7871817" y="3498174"/>
            <a:ext cx="3266083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mmol/L ↑</a:t>
            </a:r>
            <a:endParaRPr lang="en-US" sz="1700" dirty="0"/>
          </a:p>
        </p:txBody>
      </p:sp>
      <p:sp>
        <p:nvSpPr>
          <p:cNvPr id="19" name="ETE: VD dilatado e hipocinético, septo r"/>
          <p:cNvSpPr txBox="1"/>
          <p:nvPr/>
        </p:nvSpPr>
        <p:spPr>
          <a:xfrm>
            <a:off x="1073150" y="3930883"/>
            <a:ext cx="100647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ETE: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VD dilatado e hipocinético, septo retificado, VE pequeno e hiperdinâmico.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812800" y="4597102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Pergunta"/>
          <p:cNvSpPr txBox="1"/>
          <p:nvPr/>
        </p:nvSpPr>
        <p:spPr>
          <a:xfrm>
            <a:off x="1066800" y="4749655"/>
            <a:ext cx="1451173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</a:t>
            </a:r>
            <a:endParaRPr lang="en-US" sz="2800" dirty="0"/>
          </a:p>
        </p:txBody>
      </p:sp>
      <p:sp>
        <p:nvSpPr>
          <p:cNvPr id="22" name="Falência de VD ou vasoplegia? Dobutamina"/>
          <p:cNvSpPr txBox="1"/>
          <p:nvPr/>
        </p:nvSpPr>
        <p:spPr>
          <a:xfrm>
            <a:off x="2702123" y="4875439"/>
            <a:ext cx="7589738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ou vasoplegia? Dobutamina, milrinona, noradrenalina ou vasodilatador pulmonar?</a:t>
            </a:r>
            <a:endParaRPr lang="en-US" sz="1500" dirty="0"/>
          </a:p>
        </p:txBody>
      </p:sp>
      <p:sp>
        <p:nvSpPr>
          <p:cNvPr id="23" name="Caso ilustrativo, construído para a aul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ilustrativo, construído para a aula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CAS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CASO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 após CEC: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, ou vasopressina, para man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Noradrenalina, ou vasopressina, para manter a PAM e a perfusão coronariana do VD.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No caso"/>
          <p:cNvSpPr txBox="1"/>
          <p:nvPr/>
        </p:nvSpPr>
        <p:spPr>
          <a:xfrm>
            <a:off x="1066800" y="4419653"/>
            <a:ext cx="125531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caso</a:t>
            </a:r>
            <a:endParaRPr lang="en-US" sz="2800" dirty="0"/>
          </a:p>
        </p:txBody>
      </p:sp>
      <p:sp>
        <p:nvSpPr>
          <p:cNvPr id="22" name="Há indicação de inotrópico, e a milrinon"/>
          <p:cNvSpPr txBox="1"/>
          <p:nvPr/>
        </p:nvSpPr>
        <p:spPr>
          <a:xfrm>
            <a:off x="2506266" y="4430943"/>
            <a:ext cx="863798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 indicação de inotrópico, e a milrinona tem fundamento, associada à noradrenalina. Se o IC fosse normal com RVS baixa, a droga seria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21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ra discutir: no nosso serviço, como do"/>
          <p:cNvSpPr txBox="1"/>
          <p:nvPr/>
        </p:nvSpPr>
        <p:spPr>
          <a:xfrm>
            <a:off x="812800" y="513311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discutir: no nosso serviço, como documentamos o baixo débito antes do inotrópico, e quando associamos vasopressina?</a:t>
            </a:r>
            <a:endParaRPr lang="en-US" sz="1400" dirty="0"/>
          </a:p>
        </p:txBody>
      </p:sp>
      <p:sp>
        <p:nvSpPr>
          <p:cNvPr id="6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: detalhes, tabelas e r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detalhes, tabelas e referências.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sp>
        <p:nvSpPr>
          <p:cNvPr id="17" name="Referências"/>
          <p:cNvSpPr/>
          <p:nvPr/>
        </p:nvSpPr>
        <p:spPr>
          <a:xfrm>
            <a:off x="7959824" y="4391521"/>
            <a:ext cx="12159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4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2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 3 a 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 vs. 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25–50 mcg/min,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 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 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 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2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 mortalidade. APROCCHSS: ↓ 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Milrinona, 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Inodilatadores não adrenérgicos (PDE3; sensibilização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levosimendana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Seta"/>
          <p:cNvSpPr/>
          <p:nvPr/>
        </p:nvSpPr>
        <p:spPr>
          <a:xfrm>
            <a:off x="4021634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9" name="Cartão"/>
          <p:cNvSpPr/>
          <p:nvPr/>
        </p:nvSpPr>
        <p:spPr>
          <a:xfrm>
            <a:off x="4555034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58234" y="2070737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58234" y="2342592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58234" y="2658901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Seta"/>
          <p:cNvSpPr/>
          <p:nvPr/>
        </p:nvSpPr>
        <p:spPr>
          <a:xfrm>
            <a:off x="7763867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14" name="Cartão"/>
          <p:cNvSpPr/>
          <p:nvPr/>
        </p:nvSpPr>
        <p:spPr>
          <a:xfrm>
            <a:off x="8297267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500467" y="2070737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500467" y="2342592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500467" y="2658901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 + 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 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 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Ibarra-Estrada,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3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anti-hipertensivos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 vs. 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383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só houve benefício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, alvo d"/>
          <p:cNvSpPr txBox="1"/>
          <p:nvPr/>
        </p:nvSpPr>
        <p:spPr>
          <a:xfrm>
            <a:off x="6858000" y="3862533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droga, alvo de pressão e falência de VD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56494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671364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EFERÊNCI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770509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Antonelli · SSC 2026 · Crit Care Med 2026</a:t>
            </a:r>
            <a:endParaRPr lang="en-US" sz="120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1981250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Monnet, Messina · ESICM 2025 · Intensive Care Med 2025</a:t>
            </a:r>
            <a:endParaRPr lang="en-US" sz="120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191991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· Elsevier 2025</a:t>
            </a:r>
            <a:endParaRPr lang="en-US" sz="120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402731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 · SOAP II · N Engl J Med 2010</a:t>
            </a:r>
            <a:endParaRPr lang="en-US" sz="120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613472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· VASST · N Engl J Med 2008</a:t>
            </a:r>
            <a:endParaRPr lang="en-US" sz="1200" dirty="0"/>
          </a:p>
        </p:txBody>
      </p:sp>
      <p:sp>
        <p:nvSpPr>
          <p:cNvPr id="9" name="Gordon · VANISH · JAMA 2016"/>
          <p:cNvSpPr txBox="1"/>
          <p:nvPr/>
        </p:nvSpPr>
        <p:spPr>
          <a:xfrm>
            <a:off x="812800" y="2824213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· VANISH · JAMA 2016</a:t>
            </a:r>
            <a:endParaRPr lang="en-US" sz="1200" dirty="0"/>
          </a:p>
        </p:txBody>
      </p:sp>
      <p:sp>
        <p:nvSpPr>
          <p:cNvPr id="10" name="Peltan · VASSPR · JAMA 2026"/>
          <p:cNvSpPr txBox="1"/>
          <p:nvPr/>
        </p:nvSpPr>
        <p:spPr>
          <a:xfrm>
            <a:off x="812800" y="3034953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Peltan · VASSPR · JAMA 2026</a:t>
            </a:r>
            <a:endParaRPr lang="en-US" sz="1200" dirty="0"/>
          </a:p>
        </p:txBody>
      </p:sp>
      <p:sp>
        <p:nvSpPr>
          <p:cNvPr id="11" name="Lamontagne · 65 trial · JAMA 2020"/>
          <p:cNvSpPr txBox="1"/>
          <p:nvPr/>
        </p:nvSpPr>
        <p:spPr>
          <a:xfrm>
            <a:off x="812800" y="3245694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 · 65 trial · JAMA 2020</a:t>
            </a:r>
            <a:endParaRPr lang="en-US" sz="1200" dirty="0"/>
          </a:p>
        </p:txBody>
      </p:sp>
      <p:sp>
        <p:nvSpPr>
          <p:cNvPr id="12" name="Endo · OPTPRESS · Intensive Care Med 202"/>
          <p:cNvSpPr txBox="1"/>
          <p:nvPr/>
        </p:nvSpPr>
        <p:spPr>
          <a:xfrm>
            <a:off x="812800" y="3456434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 · OPTPRESS · Intensive Care Med 2025</a:t>
            </a:r>
            <a:endParaRPr lang="en-US" sz="1200" dirty="0"/>
          </a:p>
        </p:txBody>
      </p:sp>
      <p:sp>
        <p:nvSpPr>
          <p:cNvPr id="13" name="Permpikul · CENSER · Am J Respir Crit Ca"/>
          <p:cNvSpPr txBox="1"/>
          <p:nvPr/>
        </p:nvSpPr>
        <p:spPr>
          <a:xfrm>
            <a:off x="812800" y="3667175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 · CENSER · Am J Respir Crit Care Med 2019</a:t>
            </a:r>
            <a:endParaRPr lang="en-US" sz="1200" dirty="0"/>
          </a:p>
        </p:txBody>
      </p:sp>
      <p:sp>
        <p:nvSpPr>
          <p:cNvPr id="14" name="Annane · CATS · Lancet 2007"/>
          <p:cNvSpPr txBox="1"/>
          <p:nvPr/>
        </p:nvSpPr>
        <p:spPr>
          <a:xfrm>
            <a:off x="812800" y="3877916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CATS · Lancet 2007</a:t>
            </a:r>
            <a:endParaRPr lang="en-US" sz="1200" dirty="0"/>
          </a:p>
        </p:txBody>
      </p:sp>
      <p:sp>
        <p:nvSpPr>
          <p:cNvPr id="15" name="Myburgh · CAT · Intensive Care Med 2008"/>
          <p:cNvSpPr txBox="1"/>
          <p:nvPr/>
        </p:nvSpPr>
        <p:spPr>
          <a:xfrm>
            <a:off x="812800" y="4088656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Myburgh · CAT · Intensive Care Med 2008</a:t>
            </a:r>
            <a:endParaRPr lang="en-US" sz="1200" dirty="0"/>
          </a:p>
        </p:txBody>
      </p:sp>
      <p:sp>
        <p:nvSpPr>
          <p:cNvPr id="16" name="Levy · OptimaCC · J Am Coll Cardiol 2018"/>
          <p:cNvSpPr txBox="1"/>
          <p:nvPr/>
        </p:nvSpPr>
        <p:spPr>
          <a:xfrm>
            <a:off x="812800" y="4299397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Levy · OptimaCC · J Am Coll Cardiol 2018</a:t>
            </a:r>
            <a:endParaRPr lang="en-US" sz="1200" dirty="0"/>
          </a:p>
        </p:txBody>
      </p:sp>
      <p:sp>
        <p:nvSpPr>
          <p:cNvPr id="17" name="Mathew · DOREMI · N Engl J Med 2021"/>
          <p:cNvSpPr txBox="1"/>
          <p:nvPr/>
        </p:nvSpPr>
        <p:spPr>
          <a:xfrm>
            <a:off x="812800" y="4510138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· DOREMI · N Engl J Med 2021</a:t>
            </a:r>
            <a:endParaRPr lang="en-US" sz="1200" dirty="0"/>
          </a:p>
        </p:txBody>
      </p:sp>
      <p:sp>
        <p:nvSpPr>
          <p:cNvPr id="18" name="Di Santo · DOREMI, betabloqueador · Crit"/>
          <p:cNvSpPr txBox="1"/>
          <p:nvPr/>
        </p:nvSpPr>
        <p:spPr>
          <a:xfrm>
            <a:off x="812800" y="4720878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Santo · DOREMI, betabloqueador · Crit Care 2021</a:t>
            </a:r>
            <a:endParaRPr lang="en-US" sz="1200" dirty="0"/>
          </a:p>
        </p:txBody>
      </p:sp>
      <p:sp>
        <p:nvSpPr>
          <p:cNvPr id="19" name="Cuffe · OPTIME-CHF · JAMA 2002"/>
          <p:cNvSpPr txBox="1"/>
          <p:nvPr/>
        </p:nvSpPr>
        <p:spPr>
          <a:xfrm>
            <a:off x="812800" y="4931619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 · OPTIME-CHF · JAMA 2002</a:t>
            </a:r>
            <a:endParaRPr lang="en-US" sz="1200" dirty="0"/>
          </a:p>
        </p:txBody>
      </p:sp>
      <p:sp>
        <p:nvSpPr>
          <p:cNvPr id="20" name="Hajjar · VANCS · Anesthesiology 2017"/>
          <p:cNvSpPr txBox="1"/>
          <p:nvPr/>
        </p:nvSpPr>
        <p:spPr>
          <a:xfrm>
            <a:off x="812800" y="5142359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Hajjar · VANCS · Anesthesiology 2017</a:t>
            </a:r>
            <a:endParaRPr lang="en-US" sz="1200" dirty="0"/>
          </a:p>
        </p:txBody>
      </p:sp>
      <p:sp>
        <p:nvSpPr>
          <p:cNvPr id="21" name="Khanna · ATHOS-3 · N Engl J Med 2017"/>
          <p:cNvSpPr txBox="1"/>
          <p:nvPr/>
        </p:nvSpPr>
        <p:spPr>
          <a:xfrm>
            <a:off x="812800" y="5353100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Khanna · ATHOS-3 · N Engl J Med 2017</a:t>
            </a:r>
            <a:endParaRPr lang="en-US" sz="1200" dirty="0"/>
          </a:p>
        </p:txBody>
      </p:sp>
      <p:sp>
        <p:nvSpPr>
          <p:cNvPr id="22" name="Tongyoo · milrinona no choque séptico · "/>
          <p:cNvSpPr txBox="1"/>
          <p:nvPr/>
        </p:nvSpPr>
        <p:spPr>
          <a:xfrm>
            <a:off x="812800" y="5563841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Tongyoo · milrinona no choque séptico · Ann Med 2025</a:t>
            </a:r>
            <a:endParaRPr lang="en-US" sz="1200" dirty="0"/>
          </a:p>
        </p:txBody>
      </p:sp>
      <p:sp>
        <p:nvSpPr>
          <p:cNvPr id="23" name="Bellomo · dopamina em dose baixa (ANZICS"/>
          <p:cNvSpPr txBox="1"/>
          <p:nvPr/>
        </p:nvSpPr>
        <p:spPr>
          <a:xfrm>
            <a:off x="6248400" y="1770509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 · dopamina em dose baixa (ANZICS) · Lancet 2000</a:t>
            </a:r>
            <a:endParaRPr lang="en-US" sz="1200" dirty="0"/>
          </a:p>
        </p:txBody>
      </p:sp>
      <p:sp>
        <p:nvSpPr>
          <p:cNvPr id="24" name="Venkatesh · ADRENAL · N Engl J Med 2018"/>
          <p:cNvSpPr txBox="1"/>
          <p:nvPr/>
        </p:nvSpPr>
        <p:spPr>
          <a:xfrm>
            <a:off x="6248400" y="1981250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 · ADRENAL · N Engl J Med 2018</a:t>
            </a:r>
            <a:endParaRPr lang="en-US" sz="1200" dirty="0"/>
          </a:p>
        </p:txBody>
      </p:sp>
      <p:sp>
        <p:nvSpPr>
          <p:cNvPr id="25" name="Annane · APROCCHSS · N Engl J Med 2018"/>
          <p:cNvSpPr txBox="1"/>
          <p:nvPr/>
        </p:nvSpPr>
        <p:spPr>
          <a:xfrm>
            <a:off x="6248400" y="2191991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APROCCHSS · N Engl J Med 2018</a:t>
            </a:r>
            <a:endParaRPr lang="en-US" sz="1200" dirty="0"/>
          </a:p>
        </p:txBody>
      </p:sp>
      <p:sp>
        <p:nvSpPr>
          <p:cNvPr id="26" name="Kinsella · consenso cesárea · Anaesthesi"/>
          <p:cNvSpPr txBox="1"/>
          <p:nvPr/>
        </p:nvSpPr>
        <p:spPr>
          <a:xfrm>
            <a:off x="6248400" y="2402731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 · consenso cesárea · Anaesthesia 2018</a:t>
            </a:r>
            <a:endParaRPr lang="en-US" sz="1200" dirty="0"/>
          </a:p>
        </p:txBody>
      </p:sp>
      <p:sp>
        <p:nvSpPr>
          <p:cNvPr id="27" name="Sharkey · NA vs. fenilefrina na cesárea "/>
          <p:cNvSpPr txBox="1"/>
          <p:nvPr/>
        </p:nvSpPr>
        <p:spPr>
          <a:xfrm>
            <a:off x="6248400" y="2613472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Sharkey · NA vs. fenilefrina na cesárea · Anesth Analg 2019</a:t>
            </a:r>
            <a:endParaRPr lang="en-US" sz="1200" dirty="0"/>
          </a:p>
        </p:txBody>
      </p:sp>
      <p:sp>
        <p:nvSpPr>
          <p:cNvPr id="28" name="Park, Choi · vasopressores na cesárea · "/>
          <p:cNvSpPr txBox="1"/>
          <p:nvPr/>
        </p:nvSpPr>
        <p:spPr>
          <a:xfrm>
            <a:off x="6248400" y="2824213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Park, Choi · vasopressores na cesárea · Anesth Pain Med 2024</a:t>
            </a:r>
            <a:endParaRPr lang="en-US" sz="1200" dirty="0"/>
          </a:p>
        </p:txBody>
      </p:sp>
      <p:sp>
        <p:nvSpPr>
          <p:cNvPr id="29" name="Marcucci · POISE-3 · Ann Intern Med 2023"/>
          <p:cNvSpPr txBox="1"/>
          <p:nvPr/>
        </p:nvSpPr>
        <p:spPr>
          <a:xfrm>
            <a:off x="6248400" y="3034953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 · POISE-3 · Ann Intern Med 2023</a:t>
            </a:r>
            <a:endParaRPr lang="en-US" sz="1200" dirty="0"/>
          </a:p>
        </p:txBody>
      </p:sp>
      <p:sp>
        <p:nvSpPr>
          <p:cNvPr id="30" name="Saugel · POQI · Br J Anaesth 2024"/>
          <p:cNvSpPr txBox="1"/>
          <p:nvPr/>
        </p:nvSpPr>
        <p:spPr>
          <a:xfrm>
            <a:off x="6248400" y="3245694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POQI · Br J Anaesth 2024</a:t>
            </a:r>
            <a:endParaRPr lang="en-US" sz="1200" dirty="0"/>
          </a:p>
        </p:txBody>
      </p:sp>
      <p:sp>
        <p:nvSpPr>
          <p:cNvPr id="31" name="Lineburger · custo da hipotensão · Braz "/>
          <p:cNvSpPr txBox="1"/>
          <p:nvPr/>
        </p:nvSpPr>
        <p:spPr>
          <a:xfrm>
            <a:off x="6248400" y="3456434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 · custo da hipotensão · Braz J Anesthesiol 2025</a:t>
            </a:r>
            <a:endParaRPr lang="en-US" sz="1200" dirty="0"/>
          </a:p>
        </p:txBody>
      </p:sp>
      <p:sp>
        <p:nvSpPr>
          <p:cNvPr id="32" name="Salmasi · hipotensão e lesão orgânica · "/>
          <p:cNvSpPr txBox="1"/>
          <p:nvPr/>
        </p:nvSpPr>
        <p:spPr>
          <a:xfrm>
            <a:off x="6248400" y="3667175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Salmasi · hipotensão e lesão orgânica · Anesthesiology 2017</a:t>
            </a:r>
            <a:endParaRPr lang="en-US" sz="1200" dirty="0"/>
          </a:p>
        </p:txBody>
      </p:sp>
      <p:sp>
        <p:nvSpPr>
          <p:cNvPr id="33" name="Saugel · IMPROVE-multi · JAMA 2025"/>
          <p:cNvSpPr txBox="1"/>
          <p:nvPr/>
        </p:nvSpPr>
        <p:spPr>
          <a:xfrm>
            <a:off x="6248400" y="3877916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IMPROVE-multi · JAMA 2025</a:t>
            </a:r>
            <a:endParaRPr lang="en-US" sz="1200" dirty="0"/>
          </a:p>
        </p:txBody>
      </p:sp>
      <p:sp>
        <p:nvSpPr>
          <p:cNvPr id="34" name="Cecconi · HISTAP · Intensive Care Med 20"/>
          <p:cNvSpPr txBox="1"/>
          <p:nvPr/>
        </p:nvSpPr>
        <p:spPr>
          <a:xfrm>
            <a:off x="6248400" y="4088656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HISTAP · Intensive Care Med 2026</a:t>
            </a:r>
            <a:endParaRPr lang="en-US" sz="1200" dirty="0"/>
          </a:p>
        </p:txBody>
      </p:sp>
      <p:sp>
        <p:nvSpPr>
          <p:cNvPr id="35" name="Tran · NA periférica · Am J Emerg Med 20"/>
          <p:cNvSpPr txBox="1"/>
          <p:nvPr/>
        </p:nvSpPr>
        <p:spPr>
          <a:xfrm>
            <a:off x="6248400" y="4299397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 · NA periférica · Am J Emerg Med 2020</a:t>
            </a:r>
            <a:endParaRPr lang="en-US" sz="1200" dirty="0"/>
          </a:p>
        </p:txBody>
      </p:sp>
      <p:sp>
        <p:nvSpPr>
          <p:cNvPr id="36" name="Ibarra-Estrada · NA base vs. sal · Inten"/>
          <p:cNvSpPr txBox="1"/>
          <p:nvPr/>
        </p:nvSpPr>
        <p:spPr>
          <a:xfrm>
            <a:off x="6248400" y="4510138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Ibarra-Estrada · NA base vs. sal · Intensive Care Med 2024</a:t>
            </a:r>
            <a:endParaRPr lang="en-US" sz="1200" dirty="0"/>
          </a:p>
        </p:txBody>
      </p:sp>
      <p:sp>
        <p:nvSpPr>
          <p:cNvPr id="37" name="ANZCA/ANZAAG · anafilaxia perioperatória"/>
          <p:cNvSpPr txBox="1"/>
          <p:nvPr/>
        </p:nvSpPr>
        <p:spPr>
          <a:xfrm>
            <a:off x="6248400" y="4720878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· anafilaxia perioperatória · 2022</a:t>
            </a:r>
            <a:endParaRPr lang="en-US" sz="1200" dirty="0"/>
          </a:p>
        </p:txBody>
      </p:sp>
      <p:sp>
        <p:nvSpPr>
          <p:cNvPr id="38" name="Overgaard, Džavík · revisão · Circulatio"/>
          <p:cNvSpPr txBox="1"/>
          <p:nvPr/>
        </p:nvSpPr>
        <p:spPr>
          <a:xfrm>
            <a:off x="6248400" y="4931619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Overgaard, Džavík · revisão · Circulation 2008</a:t>
            </a:r>
            <a:endParaRPr lang="en-US" sz="1200" dirty="0"/>
          </a:p>
        </p:txBody>
      </p:sp>
      <p:sp>
        <p:nvSpPr>
          <p:cNvPr id="39" name="Persichini · NA e retorno venoso · Crit "/>
          <p:cNvSpPr txBox="1"/>
          <p:nvPr/>
        </p:nvSpPr>
        <p:spPr>
          <a:xfrm>
            <a:off x="6248400" y="5142359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Persichini · NA e retorno venoso · Crit Care Med 2012</a:t>
            </a:r>
            <a:endParaRPr lang="en-US" sz="1200" dirty="0"/>
          </a:p>
        </p:txBody>
      </p:sp>
      <p:sp>
        <p:nvSpPr>
          <p:cNvPr id="40" name="Cecconi · consenso de choque (ESICM) · I"/>
          <p:cNvSpPr txBox="1"/>
          <p:nvPr/>
        </p:nvSpPr>
        <p:spPr>
          <a:xfrm>
            <a:off x="6248400" y="5353100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consenso de choque (ESICM) · Intensive Care Med 2014</a:t>
            </a:r>
            <a:endParaRPr lang="en-US" sz="1200" dirty="0"/>
          </a:p>
        </p:txBody>
      </p:sp>
      <p:sp>
        <p:nvSpPr>
          <p:cNvPr id="41" name="Konstam · falência de VD (AHA) · Circula"/>
          <p:cNvSpPr txBox="1"/>
          <p:nvPr/>
        </p:nvSpPr>
        <p:spPr>
          <a:xfrm>
            <a:off x="6248400" y="5563841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 · falência de VD (AHA) · Circulation 2018</a:t>
            </a:r>
            <a:endParaRPr lang="en-US" sz="1200" dirty="0"/>
          </a:p>
        </p:txBody>
      </p:sp>
      <p:pic>
        <p:nvPicPr>
          <p:cNvPr id="4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2026-10-18T20:11:04Z</dcterms:created>
  <dcterms:modified xsi:type="dcterms:W3CDTF">2026-10-18T20:11:04Z</dcterms:modified>
</cp:coreProperties>
</file>