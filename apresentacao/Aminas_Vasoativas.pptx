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589f2236-d7cc-90a0-ea07-f6ff2c5dd285}">
          <p14:sldIdLst>
            <p14:sldId id="256"/>
            <p14:sldId id="257"/>
          </p14:sldIdLst>
        </p14:section>
        <p14:section name="01 · Fisiologia: pressão, débito e perfusão" id="{b74f641c-4f58-4f01-a12c-ddba9ec7eef8}">
          <p14:sldIdLst>
            <p14:sldId id="258"/>
            <p14:sldId id="259"/>
          </p14:sldIdLst>
        </p14:section>
        <p14:section name="02 · Receptores e vias de sinalização" id="{7e21a693-202a-4697-5b4e-c5b1343f1aec}">
          <p14:sldIdLst>
            <p14:sldId id="260"/>
          </p14:sldIdLst>
        </p14:section>
        <p14:section name="03 · Drogas: noradrenalina, adrenalina, dobutamina (e dopamina), milrinona (escolha e falência de VD), fenilefrina e efedrina" id="{91f8e0d0-a848-48e8-9110-86d0fd26434a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 e adjuvantes" id="{a3628a99-ca24-1808-4cd5-5a5f5efd572f}">
          <p14:sldIdLst>
            <p14:sldId id="268"/>
          </p14:sldIdLst>
        </p14:section>
        <p14:section name="05 · Choque séptico: a sequência da SSC 2026" id="{e596d5af-c074-21c4-d8b9-4710146f0116}">
          <p14:sldIdLst>
            <p14:sldId id="269"/>
          </p14:sldIdLst>
        </p14:section>
        <p14:section name="06 · Perioperatório: escolha da droga e alvo de pressão" id="{39314cef-6083-b029-2534-4030bfc0767c}">
          <p14:sldIdLst>
            <p14:sldId id="270"/>
            <p14:sldId id="271"/>
          </p14:sldIdLst>
        </p14:section>
        <p14:section name="07 · Mensagens finais e encerramento" id="{78d62ef3-ea87-b120-8224-86490b9ae10c}">
          <p14:sldIdLst>
            <p14:sldId id="272"/>
            <p14:sldId id="273"/>
          </p14:sldIdLst>
        </p14:section>
        <p14:section name="Slides ocultos de reserva para perguntas (não aparecem na apresentação)" id="{1f8eddf9-6a54-1e90-cd16-b183297b0710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13 min 30 s nos 18 slides principais;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 e cuidados, e quando preferir milrinona ou dobutamina.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é o produto do débito cardíaco pela resistência vascular sistêmica, somado à pressão venosa central, que pesa quando está alta, porque reduz a pressão de perfusão. Na vasoplegia o problema é o tônus arterial: sepse, anestesia geral, bloqueio de neuroeixo, anafilaxia, saída de CEC; as causas anestésicas e a anafilaxia somam venodilatação. Na falência de bomba o débito é baixo, em geral com resistência alta; na sepse, a disfunção miocárdica pode coexistir com vasoplegia. Na pré-carga baixa, a hipovolemia pede volume; o α1 também contrai veias e recruta volume não estressado, elevando o retorno venoso.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50 s (0:55 → 1:45)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Persichini (Crit Care Med 2012; 16 pacientes com choque séptico): reduzir a dose de noradrenalina baixou a pressão sistêmica média e o retorno venoso, mais do que a resistência ao retorno venoso, com queda do débito; é a prova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Os sinais estão no slide. Antes da droga, perguntar se o débito responde a volume; o eco mostra o VTI e a função dos ventrículos.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(1:45 → 2:30)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β1 aumenta contratilidade e frequência; β2 dilata vasos e brônquios e eleva glicemia e lactato. D1 dilata os leitos renal e mesentérico. V1 e PDE3 entram na tabela porque vasopressina e milrinona não dependem do adrenoceptor. Dois pontos práticos: as catecolaminas têm meia-vida de minutos, o que favorece a infusão contínua; fenilefrina e efedrina, sem o anel catecol, duram mais e costumam ir em bolus. E o uso prolongado dessensibiliza os adrenoceptores.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45 s (2:30 → 3:15)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sobe a PAM pela resistência e pela venoconstrição, com débito em geral mantido, podendo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(3:15 → 3:55)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(3:55 → 4:40)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A dobutamina aumenta a produção de AMPc pelo receptor β1; a milrinona também aumenta o AMPc, mas impedindo a degradação.</a:t>
            </a:r>
            <a:endParaRPr lang="en-US" dirty="0"/>
          </a:p>
          <a:p>
            <a:r>
              <a:rPr lang="en-US" dirty="0"/>
              <a:t>TEMPO: 50 s (4:40 → 5:30)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 e, por isso, age depois do receptor β: é um inodilatador, aumenta contratilidade e relaxamento e reduz as resistências sistêmica e pulmonar. A indicação é a disfunção ventricular com baixo débito que exige inotrópico, incluindo a saída difícil de CEC.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45 s (5:30 → 6:15)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Primeiro, a indicação: inotrópico quando há disfunção ventricular com baixo débito e hipoperfusão, depois de otimizar volume e PAM. Se a hipotensão é por vasoplegia, a droga é o vasopressor; um inodilatador baixa ainda mais a pressão.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significativa, inclusive nos 93 pacientes betabloqueados. Isso não comprova equivalência, mas deixa a escolha farmacológica. Milrinona no VD com hipertensão pulmonar, como na saída de CEC, e quando taquicardia ou betabloqueio limitam a dobutamina.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15 s (6:15 → 7:30)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Pressão de perfusão: o VD pode ficar isquêmico quando a PAM cai; noradrenalina e, se houver vasoplegia, vasopressina. Resistência pulmonar: corrigir hipóxia, hipercapnia e acidose; se preciso, vasodilatador inalado. Contratilidade: a milrinona faz sentido porque é inotrópica e reduz a resistência pulmonar; a dobutamina é alternativa; adrenalina no choque grave. Volume e ritmo: o VD dilatado tolera mal a sobrecarga de volume.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45 s (7:30 → 8:15)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Em bolus de 50 a 100 microgramas, é útil quando a taquicardia é indesejável, mas pode reduzir o débito quando ele depende da frequência; na cesárea, o consenso de 2018 recomenda vasopressor α-agonista em infusão profilática. Efedrina: α1 e β1 moderados; sobe pressão, frequência e débito.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(8:15 → 9:05)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Adjuvantes: a hidrocortisona restaura a resposta às catecolaminas, 200 mg por dia;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(9:05 → 9:50)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cedo, mesmo por veia periférica. Vasopressina quando a dose de noradrenalina sobe, sem limiar definido. Adrenalina se a PAM continuar inadequada. Alvo inicial de 65 mmHg, ou 60 a 65 a partir dos 65 anos. Sobre o momento da vasopressina, o VASSPR, de outubro de 2026, com 3.959 pacientes em 13 hospitais, comparou iniciá-la com 0,1 ou com 0,4 microgramas por quilo por minuto de noradrenalina ou equivalente: mortalidade semelhante, 31,8 contra 33,0%.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(9:50 → 10:40)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tônus baixo com frequência normal ou alta pede agonista α1; bradicardia associada pede ação β1, efedrina ou, se grave, adrenalina; baixo débito pede inotrópico, e a milrinona ajuda no VD com hipertensão pulmonar; vasoplegia refratária às catecolaminas, como após CEC, com IECA ou BRA ou na reperfusão do enxerto hepático, pode responder à vasopressina, com azul de metileno como resgate; e pré-carga baixa pede volume, não amina. Um dado do nosso serviço: Gouvêa, Diaz e colaboradores avaliaram por ETE o VD de 19 pacientes selecionados em cinco momentos do transplante hepático; TAPSE e variação fracional de área permaneceram normais, inclusive após a reperfusão.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5 s (10:40 → 11:45)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O POQI 2024 trata PAM de 60 em pacientes de risco como limite mínimo; com pressão venosa ou compartimental alta, o alvo sobe. Acima do piso, o ensaio positivo mais recente é o HISTAP: 630 hipertensos com 60 anos ou mais, em cirurgia abdominal maior, PAM de pelo menos 80 contra pelo menos 65: morte ou disfunção orgânica em 38 contra 49%, sobretudo por menos lesão renal aguda. Outros ensaios, como o POISE-3 e o IMPROVE-multi, foram neutros.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(11:45 → 12:45)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efedrina. Com taquicardia: fenilefrina. Anafilaxia: adrenalina.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(12:45 → 13:20)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(13:20 → 13:30)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classificação das drogas e a síntese; um slide para dopamina, dobutamina, fenilefrina, efedrina e vasopressina; o esquema do AMPc;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vai da tirosina à adrenalina; a tirosina hidroxilase é a etapa limitante e a PNMT, na medula adrenal, depende de cortisol. As catecolaminas têm o núcleo catecol, são degradadas por MAO e COMT e recaptadas, com meia-vida de minutos, o que favorece a infusão contínua. Fenilefrina e efedrina, sem o anel catecol, escapam da COMT, duram mais e costumam ir em bolus; a efedrina age também liberando noradrenalina.</a:t>
            </a:r>
            <a:endParaRPr lang="en-US" dirty="0"/>
          </a:p>
          <a:p>
            <a:r>
              <a:rPr lang="en-US" dirty="0"/>
              <a:t>USO: se perguntarem sobre a via de síntese das catecolaminas ou a diferença entre catecolaminas e não catecolaminas.</a:t>
            </a:r>
            <a:endParaRPr lang="en-US" dirty="0"/>
          </a:p>
          <a:p>
            <a:r>
              <a:rPr lang="en-US" dirty="0"/>
              <a:t>PONTO-CHAVE: Catecolaminas: meia-vida de minutos, infusão titulável; fenilefrina e efedrina: sem o anel catecol, duram mais, bolus.</a:t>
            </a:r>
            <a:endParaRPr lang="en-US" dirty="0"/>
          </a:p>
          <a:p>
            <a:r>
              <a:rPr lang="en-US" dirty="0"/>
              <a:t>SE PERGUNTAREM: a fenilefrina ainda é metabolizada pela MAO; a efedrina, com grupo α-metil, resiste também à MAO, o que explica a duração maior e a atividade 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 A noradrenalina tem ação β2 fraca, sem relevância clínica nas doses usuais; a tabela marca 0 por ser escala qualitativa. Adrenalina: 0,01–0,1 mcg/kg/min é a faixa de predomínio β; no choque, a dose é maior, titulada pela 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em grande parte se cancelam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estimula o receptor β1; pela proteína Gs, a adenilato ciclase produz AMPc, que ativa a PKA. A PKA aumenta a entrada de cálcio pelo canal tipo L, que dispara a liberação pelo RyR2 do retículo, com mais cálcio na sístole; e fosforila o fosfolambam, que deixa de inibir a SERCA2a: a recaptação acelera e o retículo fica mais carregado para a sístole seguinte. A milrinona inibe a PDE3, a enzima que degrada o AMPc: não depende do receptor β, mas precisa de alguma produção de AMPc; por isso mantém efeito com betabloqueio, embora isso seja fundamento farmacológico, não benefício demonstrado. No músculo liso vascular, a mesma via inibe a quinase da cadeia leve da miosina e o vaso relaxa: a milrinona é inodilatadora e pode baixar a PAM.</a:t>
            </a:r>
            <a:endParaRPr lang="en-US" dirty="0"/>
          </a:p>
          <a:p>
            <a:r>
              <a:rPr lang="en-US" dirty="0"/>
              <a:t>USO: pergunta sobre o mecanismo da dobutamina e da milrinona (AMPc, PKA, PDE3), sobre betabloqueio ou sobre a figura.</a:t>
            </a:r>
            <a:endParaRPr lang="en-US" dirty="0"/>
          </a:p>
          <a:p>
            <a:r>
              <a:rPr lang="en-US" dirty="0"/>
              <a:t>PONTO-CHAVE: Dobutamina aumenta a produção de AMPc; milrinona impede a degradação; as duas convergem na PKA.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parte do efeito da PKA sobre o canal tipo L passa pela fosforilação da proteína Rad, que deixa de inibir o canal (Liu, Nature 2020). O cálcio que entra pelo canal L é o gatilho da liberação pelo RyR2 (liberação induzida por cálcio), e a maior parte do cálcio da sístole vem do retículo; a fosforilação do fosfolambam, ao acelerar a SERCA2a, também aumenta a carga de cálcio do retículo. A contribuição funcional da fosforilação do RyR2 pela PKA ainda é debatida; por isso a figura não desenha seta da PKA para o RyR2.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com ação β desprezível nas doses usuais: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quase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escapa da COMT, e o grupo α-metil a protege da MAO: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NA-equivalente de 0,1 vs. 0,4 mcg/kg/min (13 hospitais, cluster-crossover); vasopressina usada em 52,4% vs. 32,9%; mortalidade 31,8% vs. 33,0%. No escore de equivalente de noradrenalina (Kotani, Crit Care 2023), a vasopressina entra como U/min × 2,5: 0,03 U/min ≈ 0,075 mcg/kg/min. É convenção para comparar estudos, não equipotência clínica.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contraindicado na deficiência de G6PD; subestima a SpO₂ e reduz o BIS; síndrome serotoninérgica com serotoninérgicos, por inibir a MAO-A.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lugar: recomendação forte em relação à dopamina, condicional em relação à vasopressina e à angiotensina II;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as sugestões contra levosimendana e terlipressina também são de 2021 e foram mantidas em 2026 (condicionais; a da terlipressina com certeza baixa).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 estatisticamente significativa,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80, IECA e BRA suspensos e os demais anti-hipertensivos condicionados à pressão sistólica, a evitar hipertensão, com PAM de 60 e todos os anti-hipertensivos mantidos: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(2025), cap. 13, 50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Classificação"/>
          <p:cNvSpPr/>
          <p:nvPr/>
        </p:nvSpPr>
        <p:spPr>
          <a:xfrm>
            <a:off x="812800" y="3888680"/>
            <a:ext cx="128657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</a:t>
            </a:r>
            <a:endParaRPr lang="en-US" sz="1400" dirty="0"/>
          </a:p>
        </p:txBody>
      </p:sp>
      <p:sp>
        <p:nvSpPr>
          <p:cNvPr id="6" name="Síntese das drogas"/>
          <p:cNvSpPr/>
          <p:nvPr/>
        </p:nvSpPr>
        <p:spPr>
          <a:xfrm>
            <a:off x="220097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7" name="Dopamina"/>
          <p:cNvSpPr/>
          <p:nvPr/>
        </p:nvSpPr>
        <p:spPr>
          <a:xfrm>
            <a:off x="4024610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8" name="Dobutamina"/>
          <p:cNvSpPr/>
          <p:nvPr/>
        </p:nvSpPr>
        <p:spPr>
          <a:xfrm>
            <a:off x="524420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9" name="Sinalização AMPc"/>
          <p:cNvSpPr/>
          <p:nvPr/>
        </p:nvSpPr>
        <p:spPr>
          <a:xfrm>
            <a:off x="6620867" y="3888680"/>
            <a:ext cx="164246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Sinalização AMPc</a:t>
            </a:r>
            <a:endParaRPr lang="en-US" sz="1400" dirty="0"/>
          </a:p>
        </p:txBody>
      </p:sp>
      <p:sp>
        <p:nvSpPr>
          <p:cNvPr id="10" name="Fenilefrina"/>
          <p:cNvSpPr/>
          <p:nvPr/>
        </p:nvSpPr>
        <p:spPr>
          <a:xfrm>
            <a:off x="8364934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11" name="Efedrina"/>
          <p:cNvSpPr/>
          <p:nvPr/>
        </p:nvSpPr>
        <p:spPr>
          <a:xfrm>
            <a:off x="9611816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2" name="Vasopressina"/>
          <p:cNvSpPr/>
          <p:nvPr/>
        </p:nvSpPr>
        <p:spPr>
          <a:xfrm>
            <a:off x="812800" y="4391521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3" name="Choque refratário"/>
          <p:cNvSpPr/>
          <p:nvPr/>
        </p:nvSpPr>
        <p:spPr>
          <a:xfrm>
            <a:off x="2246312" y="4391521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4" name="Sequência SSC"/>
          <p:cNvSpPr/>
          <p:nvPr/>
        </p:nvSpPr>
        <p:spPr>
          <a:xfrm>
            <a:off x="4021038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5" name="Alvo de PAM"/>
          <p:cNvSpPr/>
          <p:nvPr/>
        </p:nvSpPr>
        <p:spPr>
          <a:xfrm>
            <a:off x="5535811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6" name="Início e via"/>
          <p:cNvSpPr/>
          <p:nvPr/>
        </p:nvSpPr>
        <p:spPr>
          <a:xfrm>
            <a:off x="6947297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7" name="Alvo intraoperatório"/>
          <p:cNvSpPr/>
          <p:nvPr/>
        </p:nvSpPr>
        <p:spPr>
          <a:xfrm>
            <a:off x="8190111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8" name="Roteiro"/>
          <p:cNvSpPr/>
          <p:nvPr/>
        </p:nvSpPr>
        <p:spPr>
          <a:xfrm>
            <a:off x="10161488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 (β); maior no choque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1ª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em grande parte se cancelam: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INALIZAÇÃO DO AMPc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SINALIZAÇÃO DO AMPc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aumenta a entrada de cálcio pelo canal tipo L (gatilho da liberação de cálcio pelo RyR2 do retículo sarcoplasmático: mais cálcio na sístole) e fosforila o fosfolambam (recaptação mais rápida pela SERCA2a e retículo mais carregad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a dobutamina aumenta a produção de AMPc; a milrinona reduz a degradação, sem depender do receptor β.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Miller’s Anesthesia, 10ª ed. (2025), cap. 13,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1ª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escapa da COMT; o grupo α-metil a protege da MAO: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0,1 vs. 0,4 mcg/kg/min de NA-equivalente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no choque séptico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vs.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688802"/>
          </a:xfrm>
          <a:prstGeom prst="roundRect">
            <a:avLst>
              <a:gd name="adj" fmla="val 4512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 vs. dopamina; condiciona"/>
          <p:cNvSpPr txBox="1"/>
          <p:nvPr/>
        </p:nvSpPr>
        <p:spPr>
          <a:xfrm>
            <a:off x="1016000" y="2658901"/>
            <a:ext cx="275084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 vs. dopamina; condicional vs. vasopressina e angiotensina II);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560810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99499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186228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458083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774392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77150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402785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376483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1ª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103425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≥80, IECA/BRA suspensos e demais anti‑hipertensivos se PAS ≥130 vs. PAM ≥60 com todos mantidos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82047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vias de sinalização"/>
          <p:cNvSpPr txBox="1"/>
          <p:nvPr/>
        </p:nvSpPr>
        <p:spPr>
          <a:xfrm>
            <a:off x="6858000" y="1964280"/>
            <a:ext cx="281483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vias de sinalização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but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dobutamina (e dopamina), milrinona, fenilefrina e efedrina; quando preferir milrinona; falência de VD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15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2026-10-19T21:27:34Z</dcterms:created>
  <dcterms:modified xsi:type="dcterms:W3CDTF">2026-10-19T21:27:34Z</dcterms:modified>
</cp:coreProperties>
</file>