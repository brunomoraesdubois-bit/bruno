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910ea48c-096c-af79-2a7d-15fa1c8d265f}">
          <p14:sldIdLst>
            <p14:sldId id="256"/>
            <p14:sldId id="257"/>
          </p14:sldIdLst>
        </p14:section>
        <p14:section name="01 · Fisiologia: pressão, débito e perfusão" id="{832140e8-3e76-1777-87e2-584337432b5e}">
          <p14:sldIdLst>
            <p14:sldId id="258"/>
            <p14:sldId id="259"/>
          </p14:sldIdLst>
        </p14:section>
        <p14:section name="02 · Receptores e classificação das drogas" id="{bb2ba472-f7bb-14b3-9396-cd2b9668f3be}">
          <p14:sldIdLst>
            <p14:sldId id="260"/>
            <p14:sldId id="261"/>
          </p14:sldIdLst>
        </p14:section>
        <p14:section name="03 · Drogas: noradrenalina, adrenalina, dopamina, dobutamina, milrinona (escolha e falência de VD), fenilefrina e efedrina" id="{fe7b98c7-e3e3-77d2-359b-c0811a771d4b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04 · Além das aminas: vasopressina e adjuvantes" id="{07d017bc-5553-a6d5-0e09-2f1618a4dd1e}">
          <p14:sldIdLst>
            <p14:sldId id="270"/>
          </p14:sldIdLst>
        </p14:section>
        <p14:section name="05 · Choque séptico: a sequência da SSC 2026" id="{512d9da9-f77e-e9ac-bcea-c270ef621843}">
          <p14:sldIdLst>
            <p14:sldId id="271"/>
          </p14:sldIdLst>
        </p14:section>
        <p14:section name="06 · Perioperatório: escolha da droga e alvo de pressão" id="{0b966e16-9ff6-a623-45ae-25383fc9c138}">
          <p14:sldIdLst>
            <p14:sldId id="272"/>
            <p14:sldId id="273"/>
          </p14:sldIdLst>
        </p14:section>
        <p14:section name="07 · Mensagens finais e encerramento" id="{da6becc1-b295-4856-66f8-90def9ef489e}">
          <p14:sldIdLst>
            <p14:sldId id="274"/>
            <p14:sldId id="275"/>
          </p14:sldIdLst>
        </p14:section>
        <p14:section name="Slides ocultos de reserva para perguntas (não aparecem na apresentação)" id="{628c1c84-9cbf-2007-c7b8-ae695e8f2179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vasoativas. A aula nasceu de uma discussão em sala sobre o uso de milrinona: quando ela tem indicação, e quando a dobutamina ou um vasopressor seriam a escolha.</a:t>
            </a:r>
            <a:endParaRPr lang="en-US" dirty="0"/>
          </a:p>
          <a:p>
            <a:r>
              <a:rPr lang="en-US" dirty="0"/>
              <a:t>TRANSIÇÃO: Começo pelos objetivos.</a:t>
            </a:r>
            <a:endParaRPr lang="en-US" dirty="0"/>
          </a:p>
          <a:p>
            <a:r>
              <a:rPr lang="en-US" dirty="0"/>
              <a:t>TEMPO: 25 s (0:00 → 0:25). Total previsto: 17 min 55 s nos 20 slides principais; ensaiar em cerca de 17 minutos e meio, sem passar de 18.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▸ Distinguir vasoplegia, falência de bomba e pré-carga baixa. ▸ Relacionar o perfil de receptores de cada droga ao seu efeito hemodinâmico. ▸ Conhecer ação, dose e cuidados de cada droga, e quando preferir milrinona ou dobutamina. ▸ Aplicar o raciocínio no choque séptico e no centro cirúrgico. ▸ A pergunta que organiza a aula: qual componente da pressão arterial média, a PAM, está falhando?</a:t>
            </a:r>
            <a:endParaRPr lang="en-US" dirty="0"/>
          </a:p>
          <a:p>
            <a:r>
              <a:rPr lang="en-US" dirty="0"/>
              <a:t>TRANSIÇÃO: Para responder, precisamos entender de que depende a pressão arterial média.</a:t>
            </a:r>
            <a:endParaRPr lang="en-US" dirty="0"/>
          </a:p>
          <a:p>
            <a:r>
              <a:rPr lang="en-US" dirty="0"/>
              <a:t>TEMPO: 35 s (0:25 → 1:00)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PAM depende do débito cardíaco e da resistência vascular, e a PVC pesa quando está alta. ▸ Na vasoplegia o problema é o tônus: sepse, anestesia geral, bloqueio de neuroeixo, anafilaxia, saída de CEC. ▸ Na falência de bomba o débito é baixo, em geral com resistência alta; na sepse, a disfunção miocárdica pode coexistir com vasoplegia. ▸ Na pré-carga baixa, a hipovolemia se corrige com volume; e o α1 também contrai veias, recruta volume não estressado e aumenta o retorno venoso: Persichini mostrou, no choque séptico, que reduzir a dose de noradrenalina diminui a pressão sistêmica média, o retorno venoso e o débito cardíaco. ▸ Para diferenciar, a ESICM 2025 recomenda eco como primeira imagem, parâmetros dinâmicos antes de mais volume e perfusão seriada pelo enchimento capilar.</a:t>
            </a:r>
            <a:endParaRPr lang="en-US" dirty="0"/>
          </a:p>
          <a:p>
            <a:r>
              <a:rPr lang="en-US" dirty="0"/>
              <a:t>TRANSIÇÃO: Mas uma PAM normal não basta.</a:t>
            </a:r>
            <a:endParaRPr lang="en-US" dirty="0"/>
          </a:p>
          <a:p>
            <a:r>
              <a:rPr lang="en-US" dirty="0"/>
              <a:t>TEMPO: 1 min (1:00 → 2:00)</a:t>
            </a:r>
            <a:endParaRPr lang="en-US" dirty="0"/>
          </a:p>
          <a:p>
            <a:r>
              <a:rPr lang="en-US" dirty="0"/>
              <a:t>PONTO-CHAVE: Vasoplegia pede vasopressor; bomba fraca, inotrópico; pré-carga baixa,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Pressão não é fluxo: uma resistência alta pode manter a PAM com débito baixo. Por isso, a decisão de usar inotrópico depende de sinais de hipoperfusão e de uma estimativa do débito, não apenas da pressão. ▸ Os sinais estão no slide. ▸ Antes da droga, perguntar se o débito responde a volume, com parâmetros dinâmicos ou um teste de volume; o eco mostra o VTI e a função dos ventrículos. ▸ Vale a ressalva oposta: aumentar o débito com uma droga não é melhorar o desfecho. No OPTIME-CHF, 951 pacientes internados por insuficiência cardíaca descompensada, sem indicação clara de inotrópico, receberam milrinona ou placebo por 48 horas: não houve benefício, e a milrinona causou mais hipotensão sustentada, 10,7 contra 3,2%, e mais arritmia atrial.</a:t>
            </a:r>
            <a:endParaRPr lang="en-US" dirty="0"/>
          </a:p>
          <a:p>
            <a:r>
              <a:rPr lang="en-US" dirty="0"/>
              <a:t>TRANSIÇÃO: Definido o problema, as ferramentas: os receptores.</a:t>
            </a:r>
            <a:endParaRPr lang="en-US" dirty="0"/>
          </a:p>
          <a:p>
            <a:r>
              <a:rPr lang="en-US" dirty="0"/>
              <a:t>TEMPO: 1 min (2:00 → 3:00)</a:t>
            </a:r>
            <a:endParaRPr lang="en-US" dirty="0"/>
          </a:p>
          <a:p>
            <a:r>
              <a:rPr lang="en-US" dirty="0"/>
              <a:t>PONTO-CHAVE: Inotrópico se decide por hipoperfusão e débito, não apenas pela pressão.</a:t>
            </a:r>
            <a:endParaRPr lang="en-US" dirty="0"/>
          </a:p>
          <a:p>
            <a:r>
              <a:rPr lang="en-US" dirty="0"/>
              <a:t>SE PERGUNTAREM: em um ECR de 2025 (Tongyoo, Ann Med; 64 pacientes em choque séptico), a milrinona aumentou o débito em 6 horas em relação ao placebo, mas a mortalidade em 28 dias foi de 50% nos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α1 contrai artérias e veias; α2, no terminal pré-sináptico, explica os simpatolíticos clonidina e dexmedetomidina. ▸ β1 aumenta contratilidade e frequência; β2 dilata vasos e brônquios e eleva glicemia e lactato. ▸ D1 dilata os leitos renal e mesentérico. ▸ V1 e PDE3 entram porque vasopressina e milrinona não dependem do adrenoceptor: a vasopressina age no receptor V1, e a milrinona inibe a enzima que degrada o AMPc, depois do receptor β. ▸ A dessensibilização com o uso prolongado ajuda a explicar a taquifilaxia e a lógica de associar uma droga de outra via.</a:t>
            </a:r>
            <a:endParaRPr lang="en-US" dirty="0"/>
          </a:p>
          <a:p>
            <a:r>
              <a:rPr lang="en-US" dirty="0"/>
              <a:t>TRANSIÇÃO: Antes das drogas, a via de síntese e uma classificação rápida.</a:t>
            </a:r>
            <a:endParaRPr lang="en-US" dirty="0"/>
          </a:p>
          <a:p>
            <a:r>
              <a:rPr lang="en-US" dirty="0"/>
              <a:t>TEMPO: 45 s (3:00 → 3:45)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via de síntese explica dois pontos práticos: parte do efeito da dopamina vem da conversão e da liberação de noradrenalina, e a síntese de adrenalina na medula adrenal depende de cortisol. ▸ A curta duração das catecolaminas facilita a titulação por infusão contínua; ▸ fenilefrina e efedrina, sem o anel catecol, duram mais e costumam ser usadas em bolus na hipotensão transitória, embora a fenilefrina também possa ser infundida.</a:t>
            </a:r>
            <a:endParaRPr lang="en-US" dirty="0"/>
          </a:p>
          <a:p>
            <a:r>
              <a:rPr lang="en-US" dirty="0"/>
              <a:t>TRANSIÇÃO: Começo pela noradrenalina.</a:t>
            </a:r>
            <a:endParaRPr lang="en-US" dirty="0"/>
          </a:p>
          <a:p>
            <a:r>
              <a:rPr lang="en-US" dirty="0"/>
              <a:t>TEMPO: 35 s (3:45 → 4:20)</a:t>
            </a:r>
            <a:endParaRPr lang="en-US" dirty="0"/>
          </a:p>
          <a:p>
            <a:r>
              <a:rPr lang="en-US" dirty="0"/>
              <a:t>PONTO-CHAVE: Catecolaminas: meia-vida curta, infusão titulável; fenilefrina e efedrina: bolus na hipotensão transitória.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droga de primeira linha no choque séptico. É um α1 potente, com efeito β1 modesto: ▸ eleva a PAM pela resistência e pela venoconstrição, com débito em geral mantido ou maior, podendo cair pela pós-carga, e frequência estável ou menor, por reflexo. ▸ A dose usual vai de 0,01 a 0,5 microgramas por quilo por minuto, sem teto fixo no choque refratário; no centro cirúrgico, bolus de 5 a 10 microgramas. Riscos: isquemia digital e esplâncnica e extravasamento.</a:t>
            </a:r>
            <a:endParaRPr lang="en-US" dirty="0"/>
          </a:p>
          <a:p>
            <a:r>
              <a:rPr lang="en-US" dirty="0"/>
              <a:t>TRANSIÇÃO: A adrenalina é parecida na estrutura, mas tem outro perfil.</a:t>
            </a:r>
            <a:endParaRPr lang="en-US" dirty="0"/>
          </a:p>
          <a:p>
            <a:r>
              <a:rPr lang="en-US" dirty="0"/>
              <a:t>TEMPO: 40 s (4:20 → 5:00)</a:t>
            </a:r>
            <a:endParaRPr lang="en-US" dirty="0"/>
          </a:p>
          <a:p>
            <a:r>
              <a:rPr lang="en-US" dirty="0"/>
              <a:t>PONTO-CHAVE: α1 potente com β1 modesto: sobe a PAM e preserva o débito.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β2; sobe pressão, débito e frequência. ▸ O efeito depende da dose: em dose baixa predominam β1 e β2, com débito alto e resistência que pode cair; em dose alta prevalece o α1. É a droga da anafilaxia e, no choque séptico, entra como terceira droga quando a PAM segue inadequada com noradrenalina e vasopressina. ▸ Na anafilaxia em ambiente monitorizado, bolus EV diluídos e titulados, conforme o ANZAAG; se forem necessários mais de três bolus, iniciar infusão; sem acesso venoso, ou fora desse ambiente, 0,5 mg IM. O lactato pode subir por efeito β2, mas isso não autoriza ignorar hipoperfusão.</a:t>
            </a:r>
            <a:endParaRPr lang="en-US" dirty="0"/>
          </a:p>
          <a:p>
            <a:r>
              <a:rPr lang="en-US" dirty="0"/>
              <a:t>TRANSIÇÃO: Passando à dopamina e à dobutamina, duas catecolaminas com aplicações muito diferentes.</a:t>
            </a:r>
            <a:endParaRPr lang="en-US" dirty="0"/>
          </a:p>
          <a:p>
            <a:r>
              <a:rPr lang="en-US" dirty="0"/>
              <a:t>TEMPO: 55 s (5:00 → 5:55)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Dopamina: perfil amplo, de D1 a α1. ▸ O efeito muda com a dose, primeiro D1, depois β1 e, em doses altas, α1, com resposta variável. A dose “renal” não protege o rim: no ensaio da ANZICS, 328 pacientes críticos com disfunção renal inicial receberam dopamina em 2 microgramas por quilo por minuto ou placebo, sem diferença em creatinina, diálise ou mortalidade. No SOAP II, 1.679 pacientes em choque receberam dopamina ou noradrenalina como primeira droga: mortalidade em 28 dias semelhante, 52,5 contra 48,5%, com o dobro de arritmias; por isso a SSC 2026 recomenda não usá-la como primeira linha. ▸ Dobutamina: inotropismo β1 com queda discreta da resistência. ▸ É indicada no baixo débito com hipoperfusão, de 2,5 a 20 microgramas por quilo por minuto; taquicardia e arritmia limitam a dose e, se a PAM cair, associar vasopressor para sustentar a pressão de perfusão.</a:t>
            </a:r>
            <a:endParaRPr lang="en-US" dirty="0"/>
          </a:p>
          <a:p>
            <a:r>
              <a:rPr lang="en-US" dirty="0"/>
              <a:t>TRANSIÇÃO: Para entender a diferença entre dobutamina e milrinona, um esquema.</a:t>
            </a:r>
            <a:endParaRPr lang="en-US" dirty="0"/>
          </a:p>
          <a:p>
            <a:r>
              <a:rPr lang="en-US" dirty="0"/>
              <a:t>TEMPO: 1 min 10 s (5:55 → 7:05)</a:t>
            </a:r>
            <a:endParaRPr lang="en-US" dirty="0"/>
          </a:p>
          <a:p>
            <a:r>
              <a:rPr lang="en-US" dirty="0"/>
              <a:t>PONTO-CHAVE: Dopamina fora da primeira linha; dobutamina para baixo débito com hipoperfusão.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é o mecanismo que separa as duas drogas. A dobutamina estimula o receptor β1; pela proteína Gs, a adenilato ciclase produz AMPc, que ativa a PKA. A PKA fosforila o canal de cálcio tipo L, aumentando o cálcio na sístole, e o fosfolambam, que deixa de inibir a SERCA2a e acelera a recaptação na diástole. ▸ A milrinona entra em outro ponto: inibe a PDE3, a enzima que degrada o AMPc em 5′-AMP. Ela não depende do receptor β, mas precisa de alguma produção de AMPc; por isso mantém efeito com betabloqueio ou receptores dessensibilizados. Mas isso é fundamento farmacológico, não benefício demonstrado: veremos no DOREMI. No músculo liso vascular, a mesma via inibe a quinase da cadeia leve da miosina e o vaso relaxa: por isso a milrinona é inodilatadora e pode baixar a PAM. E, como as duas aumentam AMPc e cálcio, ambas podem causar arritmias.</a:t>
            </a:r>
            <a:endParaRPr lang="en-US" dirty="0"/>
          </a:p>
          <a:p>
            <a:r>
              <a:rPr lang="en-US" dirty="0"/>
              <a:t>TRANSIÇÃO: Com esse mecanismo, a milrinona fica fácil de entender.</a:t>
            </a:r>
            <a:endParaRPr lang="en-US" dirty="0"/>
          </a:p>
          <a:p>
            <a:r>
              <a:rPr lang="en-US" dirty="0"/>
              <a:t>TEMPO: 1 min 10 s (7:05 → 8:15)</a:t>
            </a:r>
            <a:endParaRPr lang="en-US" dirty="0"/>
          </a:p>
          <a:p>
            <a:r>
              <a:rPr lang="en-US" dirty="0"/>
              <a:t>PONTO-CHAVE: Dobutamina aumenta a produção de AMPc; milrinona impede a degradação.</a:t>
            </a:r>
            <a:endParaRPr lang="en-US" dirty="0"/>
          </a:p>
          <a:p>
            <a:r>
              <a:rPr lang="en-US" dirty="0"/>
              <a:t>SE PERGUNTAREM: a sinalização do AMPc é compartimentalizada, com PKA e fosfodiesterases ancoradas por AKAPs em nanodomínios (Zaccolo e Kovanich, Physiol Rev 2025); e parte do efeito da PKA sobre o canal tipo L passa pela fosforilação da proteína Rad, que deixa de inibir o canal (Liu, Nature 2020). A contribuição funcional da fosforilação do RyR2 pela PKA ainda é debatida; por isso a figura mostra apenas os dois alvos bem estabelecidos, o canal tipo L e o fosfolambam.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Como vimos, a milrinona inibe a PDE3 e age depois do receptor β. É um inodilatador: aumenta a contratilidade e o relaxamento e reduz as resistências sistêmica e pulmonar. ▸ A indicação é a disfunção ventricular com baixo débito que exige suporte inotrópico, incluindo a saída difícil de CEC. ▸ Dose de bula: ataque de 50 microgramas por quilo em 10 minutos e manutenção de 0,375 a 0,75 microgramas por quilo por minuto. Por ser vasodilatadora, muitas vezes exige associação com noradrenalina. Tem eliminação renal e meia-vida bem mais longa que a da dobutamina: é menos titulável e acumula na insuficiência renal.</a:t>
            </a:r>
            <a:endParaRPr lang="en-US" dirty="0"/>
          </a:p>
          <a:p>
            <a:r>
              <a:rPr lang="en-US" dirty="0"/>
              <a:t>TRANSIÇÃO: E a pergunta prática que motivou a aula: quando escolher cada uma?</a:t>
            </a:r>
            <a:endParaRPr lang="en-US" dirty="0"/>
          </a:p>
          <a:p>
            <a:r>
              <a:rPr lang="en-US" dirty="0"/>
              <a:t>TEMPO: 50 s (8:15 → 9:05)</a:t>
            </a:r>
            <a:endParaRPr lang="en-US" dirty="0"/>
          </a:p>
          <a:p>
            <a:r>
              <a:rPr lang="en-US" dirty="0"/>
              <a:t>PONTO-CHAVE: Inodilatador pós-receptor β para a disfunção ventricular com baixo débito; meia-vida longa e eliminação renal.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▸ Primeiro, a indicação: inotrópico se justifica quando há disfunção ventricular com baixo débito e hipoperfusão, depois de otimizar volume e PAM. Se a hipotensão é por vasoplegia, a droga é o vasopressor, e um inodilatador baixa ainda mais a pressão. ▸ A tabela resume os perfis esperados: meia-vida, circulação pulmonar, frequência e pressão, e resposta com betabloqueador. O ensaio de referência que comparou as duas no choque cardiogênico é o DOREMI: randomizado e duplo-cego, 192 pacientes receberam milrinona ou dobutamina. O desfecho composto de morte, parada, suporte mecânico, infarto, AVC ou diálise ocorreu em 49% com milrinona e 54% com dobutamina, sem diferença; arritmia, hipotensão sustentada e necessidade de vasopressor também não diferiram. Na subanálise dos 93 pacientes que usavam betabloqueador antes do choque, a milrinona não teve vantagem. Isso não comprova equivalência; a escolha fica farmacológica. ▸ A milrinona faz sentido no VD com hipertensão pulmonar, como na saída de CEC, porque reduz a resistência pulmonar, e quando a taquicardia ou o betabloqueio limitam a dobutamina. ▸ Quando há indicação de inotrópico, a dobutamina pode ser mais conveniente se houver hipotensão associada, insuficiência renal, porque a milrinona acumula, ou necessidade de titulação rápida.</a:t>
            </a:r>
            <a:endParaRPr lang="en-US" dirty="0"/>
          </a:p>
          <a:p>
            <a:r>
              <a:rPr lang="en-US" dirty="0"/>
              <a:t>TRANSIÇÃO: Um cenário em que essa diferença farmacológica realmente importa é a falência de ventrículo direito. Como abordá-la?</a:t>
            </a:r>
            <a:endParaRPr lang="en-US" dirty="0"/>
          </a:p>
          <a:p>
            <a:r>
              <a:rPr lang="en-US" dirty="0"/>
              <a:t>TEMPO: 1 min 35 s (9:05 → 10:40)</a:t>
            </a:r>
            <a:endParaRPr lang="en-US" dirty="0"/>
          </a:p>
          <a:p>
            <a:r>
              <a:rPr lang="en-US" dirty="0"/>
              <a:t>PONTO-CHAVE: Primeiro a indicação; depois a escolha é farmacológica, sem superioridade em desfecho.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Na falência de VD, quatro frentes andam juntas. ▸ Primeiro, a pressão de perfusão: o VD pode ficar isquêmico quando a PAM cai; por isso, noradrenalina para sustentar a PAM e, conforme a vasoplegia associada, vasopressina. ▸ Segundo, a resistência pulmonar: corrigir hipóxia, hipercapnia e acidose e, se preciso, vasodilatador pulmonar inalado. ▸ Terceiro, a contratilidade: aqui a milrinona faz sentido, porque é inotrópica e reduz a resistência pulmonar; a dobutamina é alternativa, e a adrenalina entra se o choque for grave. ▸ Quarto, volume e ritmo: o VD dilatado tolera mal mais volume; manter ritmo sinusal e sincronia AV. ▸ A milrinona pode baixar a PAM e não substitui o diagnóstico: com débito preservado e resistência baixa, considerar vasoplegia e, nesse caso, a droga é o vasopressor.</a:t>
            </a:r>
            <a:endParaRPr lang="en-US" dirty="0"/>
          </a:p>
          <a:p>
            <a:r>
              <a:rPr lang="en-US" dirty="0"/>
              <a:t>TRANSIÇÃO: Saindo dos inotrópicos, as drogas de bolus do centro cirúrgico.</a:t>
            </a:r>
            <a:endParaRPr lang="en-US" dirty="0"/>
          </a:p>
          <a:p>
            <a:r>
              <a:rPr lang="en-US" dirty="0"/>
              <a:t>TEMPO: 1 min (10:40 → 11:40)</a:t>
            </a:r>
            <a:endParaRPr lang="en-US" dirty="0"/>
          </a:p>
          <a:p>
            <a:r>
              <a:rPr lang="en-US" dirty="0"/>
              <a:t>PONTO-CHAVE: Na falência de VD, a milrinona entra na contratilidade, com noradrenalina; com débito preservado e RVS baixa, considerar vasoplegia.</a:t>
            </a:r>
            <a:endParaRPr lang="en-US" dirty="0"/>
          </a:p>
          <a:p>
            <a:r>
              <a:rPr lang="en-US" dirty="0"/>
              <a:t>SE PERGUNTAREM: declaração científica da AHA sobre insuficiência cardíaca direita (Konstam, Circulation 2018;137(20):e578–e622). No transplante hepático, o estudo de Gouvêa, Diaz e colaboradores (PLoS One 2022) não encontrou disfunção de VD ao ETE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Fenilefrina: agonista α1 puro, sem ação β; a PAM sobe pela resistência e a frequência cai por reflexo. ▸ Em bolus de 50 a 100 microgramas, é útil quando a taquicardia é indesejável, mas pode reduzir o débito quando ele depende da frequência. Na estenose aórtica, manter a pós-carga e evitar taquicardia. Na cesárea, o consenso internacional de 2018 recomenda vasopressor α-agonista em infusão profilática, titulado para manter a PAS perto da basal. ▸ Efedrina: ação mista, direta em α e β e indireta, liberando noradrenalina. ▸ Bolus de 5 a 10 mg, útil na hipotensão com bradicardia. Perde efeito com doses repetidas e com estoques de noradrenalina depletados; atravessa a placenta e se associa a mais acidose fetal.</a:t>
            </a:r>
            <a:endParaRPr lang="en-US" dirty="0"/>
          </a:p>
          <a:p>
            <a:r>
              <a:rPr lang="en-US" dirty="0"/>
              <a:t>TRANSIÇÃO: E quando a via adrenérgica não basta?</a:t>
            </a:r>
            <a:endParaRPr lang="en-US" dirty="0"/>
          </a:p>
          <a:p>
            <a:r>
              <a:rPr lang="en-US" dirty="0"/>
              <a:t>TEMPO: 55 s (11:40 → 12:35)</a:t>
            </a:r>
            <a:endParaRPr lang="en-US" dirty="0"/>
          </a:p>
          <a:p>
            <a:r>
              <a:rPr lang="en-US" dirty="0"/>
              <a:t>PONTO-CHAVE: Fenilefrina: tônus baixo com FC alta. Efedrina: tônus baixo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V1, fora da via adrenérgica: poupa catecolamina e costuma manter efeito em acidose; no choque séptico há deficiência relativa de vasopressina. Em geral, usa-se dose fixa; a ordem do desmame segue o protocolo do serviço. Indicações: choque séptico com noradrenalina em escalada, vasoplegia após CEC e hipotensão refratária em pacientes em uso de IECA ou BRA. Riscos: isquemia digital e mesentérica, hiponatremia. Antes de associar drogas, corrigir causas tratáveis. Adjuvantes: ▸ a hidrocortisona restaura a resposta às catecolaminas, 200 mg por dia no choque séptico; ▸ a angiotensina II, agonista AT1, poupa catecolamina, mas é pouco disponível; ▸ o azul de metileno bloqueia a via do óxido nítrico e fica como resgate na vasoplegia refratária.</a:t>
            </a:r>
            <a:endParaRPr lang="en-US" dirty="0"/>
          </a:p>
          <a:p>
            <a:r>
              <a:rPr lang="en-US" dirty="0"/>
              <a:t>TRANSIÇÃO: Juntando tudo no choque séptico.</a:t>
            </a:r>
            <a:endParaRPr lang="en-US" dirty="0"/>
          </a:p>
          <a:p>
            <a:r>
              <a:rPr lang="en-US" dirty="0"/>
              <a:t>TEMPO: 55 s (12:35 → 13:30)</a:t>
            </a:r>
            <a:endParaRPr lang="en-US" dirty="0"/>
          </a:p>
          <a:p>
            <a:r>
              <a:rPr lang="en-US" dirty="0"/>
              <a:t>PONTO-CHAVE: Vasopressina age por outra via (V1) e poupa catecolamina; no refratário, somar mecanismos: hidrocortisona, angiotensina II e azul de metileno.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ciclase; é resgate na vasoplegia pós-CEC e na reperfusão do enxerto hepático, com evidência limitada; interfere na oximetria e pode causar síndrome serotoninérgica com ISRS e outros serotoninérgicos.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organiza os vasopressores em sequência. ▸ Noradrenalina primeiro, iniciada cedo e, se preciso, por veia periférica. ▸ Vasopressina quando a dose de noradrenalina está subindo; sem limiar definido; a mediana da enquete dos painelistas foi 0,3 microgramas por quilo por minuto. ▸ Adrenalina se a PAM continuar inadequada. ▸ Alvo inicial de 65 mmHg, ou 60 a 65 a partir dos 65 anos. Sobre o momento: o VASSPR, de outubro de 2026, 3.959 pacientes com choque séptico em hospitais sorteados para iniciar a vasopressina com noradrenalina em 0,1 ou em 0,4 microgramas por quilo por minuto; a mortalidade foi semelhante, 31,8 contra 33,0%. Antecipar como regra não trouxe ganho. ▸ Na disfunção cardíaca com hipoperfusão apesar de volume e PAM adequados, dobutamina com noradrenalina, ou adrenalina; hidrocortisona sugerida; sugestão contra levosimendana e terlipressina.</a:t>
            </a:r>
            <a:endParaRPr lang="en-US" dirty="0"/>
          </a:p>
          <a:p>
            <a:r>
              <a:rPr lang="en-US" dirty="0"/>
              <a:t>TRANSIÇÃO: No centro cirúrgico, o raciocínio é o mesmo, com outras causas.</a:t>
            </a:r>
            <a:endParaRPr lang="en-US" dirty="0"/>
          </a:p>
          <a:p>
            <a:r>
              <a:rPr lang="en-US" dirty="0"/>
              <a:t>TEMPO: 1 min 5 s (13:30 → 14:35)</a:t>
            </a:r>
            <a:endParaRPr lang="en-US" dirty="0"/>
          </a:p>
          <a:p>
            <a:r>
              <a:rPr lang="en-US" dirty="0"/>
              <a:t>PONTO-CHAVE: Noradrenalina, depois vasopressina, depois adrenalina; PAM inicial de 65 mmHg.</a:t>
            </a:r>
            <a:endParaRPr lang="en-US" dirty="0"/>
          </a:p>
          <a:p>
            <a:r>
              <a:rPr lang="en-US" dirty="0"/>
              <a:t>SE PERGUNTAREM: o VASSPR (JAMA 2026, n = 3.959) comparou políticas hospitalares de iniciar a vasopressina com noradrenalina de 0,1 vs. 0,4 mcg/kg/min;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Antes da droga, afastar causas tratáveis: plano anestésico profundo, hipovolemia, compressão aortocava, pneumotórax e anafilaxia, que pede adrenalina. Se persistir, avaliar a resposta a volume e fazer eco. A escolha segue o mecanismo: ▸ tônus baixo com frequência preservada pede α1; ▸ bradicardia associada pede ação β1, com efedrina ou, se grave, adrenalina; ▸ baixo débito pede inotrópico, e a milrinona tem a vantagem de reduzir a resistência pulmonar. ▸ A vasoplegia refratária às catecolaminas, como após CEC, com IECA ou BRA ou na reperfusão do enxerto hepático, pode responder à vasopressina; o azul de metileno fica como resgate. ▸ E pré-carga baixa pede volume, não amina. ▸ Na cesárea, fenilefrina profilática, com a noradrenalina como alternativa. ▸ Um dado do nosso serviço: Gouvêa, Diaz e colaboradores avaliaram por ETE a função do VD de 19 pacientes selecionados em cinco momentos do transplante hepático; TAPSE e variação fracional de área permaneceram normais, inclusive após a reperfusão. Mais um motivo para identificar o mecanismo antes de presumir falência de VD.</a:t>
            </a:r>
            <a:endParaRPr lang="en-US" dirty="0"/>
          </a:p>
          <a:p>
            <a:r>
              <a:rPr lang="en-US" dirty="0"/>
              <a:t>TRANSIÇÃO: E quanto de PAM é suficiente no intraoperatório?</a:t>
            </a:r>
            <a:endParaRPr lang="en-US" dirty="0"/>
          </a:p>
          <a:p>
            <a:r>
              <a:rPr lang="en-US" dirty="0"/>
              <a:t>TEMPO: 1 min 20 s (14:35 → 15:55)</a:t>
            </a:r>
            <a:endParaRPr lang="en-US" dirty="0"/>
          </a:p>
          <a:p>
            <a:r>
              <a:rPr lang="en-US" dirty="0"/>
              <a:t>PONTO-CHAVE: Afastar causas, identificar o mecanismo, escolher a droga.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pós-reperfusão e fechamento); função sistólica do VD preservada em todas; excluídos hipertensão portopulmonar, síndrome hepatopulmonar, doença cardiopulmonar e insuficiência hepática fulminante. População selecionada: o estudo não permite concluir que toda hipotensão na reperfusão seja vasoplegia.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hipotensão intraoperatória, mesmo por períodos curtos, se associa a lesão renal aguda, lesão miocárdica, delirium e mortalidade: é a mensagem do editorial “The hidden cost of hypotension”, de Lineburger e colaboradores, com Rodrigo Diaz entre os autores. ▸ O POQI 2024 trata PAM de 60 em pacientes de risco como limite mínimo, não como garantia de perfusão; com pressão venosa ou compartimental alta, o alvo tende a ser maior. ▸ Acima do piso, o ensaio positivo mais recente é o HISTAP: 630 pacientes com 60 anos ou mais, hipertensos, em cirurgia abdominal maior, randomizados para PAM de pelo menos 80 ou de pelo menos 65; morte ou disfunção orgânica em 38 contra 49%, sobretudo por menos lesão renal aguda. Outros ensaios com alvos mais altos ou individualizados, como o POISE-3 e o IMPROVE-multi, foram neutros. ▸ Daí a proposta do editorial: monitorização contínua, manejo proativo e metas individualizadas.</a:t>
            </a:r>
            <a:endParaRPr lang="en-US" dirty="0"/>
          </a:p>
          <a:p>
            <a:r>
              <a:rPr lang="en-US" dirty="0"/>
              <a:t>TRANSIÇÃO: Para terminar, as mensagens da aula.</a:t>
            </a:r>
            <a:endParaRPr lang="en-US" dirty="0"/>
          </a:p>
          <a:p>
            <a:r>
              <a:rPr lang="en-US" dirty="0"/>
              <a:t>TEMPO: 1 min 10 s (15:55 → 17:05)</a:t>
            </a:r>
            <a:endParaRPr lang="en-US" dirty="0"/>
          </a:p>
          <a:p>
            <a:r>
              <a:rPr lang="en-US" dirty="0"/>
              <a:t>PONTO-CHAVE: PAM de 60–65 mmHg como piso; alvo maior apenas em selecionados.</a:t>
            </a:r>
            <a:endParaRPr lang="en-US" dirty="0"/>
          </a:p>
          <a:p>
            <a:r>
              <a:rPr lang="en-US" dirty="0"/>
              <a:t>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▸ Vasoplegia pede noradrenalina e, quando a dose sobe, vasopressina; ▸ baixo débito com hipoperfusão pede inotrópico, com a milrinona reservada sobretudo para o VD com hipertensão pulmonar; ▸ na hipotensão anestésica com bradicardia, efedrina; ▸ com taquicardia, fenilefrina; ▸ anafilaxia, adrenalina; ▸ e, no intraoperatório, tratar cedo, com PAM mínima de 60 a 65. A droga certa é a que corrige esse componente, na menor dose eficaz e pelo menor tempo.</a:t>
            </a:r>
            <a:endParaRPr lang="en-US" dirty="0"/>
          </a:p>
          <a:p>
            <a:r>
              <a:rPr lang="en-US" dirty="0"/>
              <a:t>TRANSIÇÃO: Com isso, chego ao fim.</a:t>
            </a:r>
            <a:endParaRPr lang="en-US" dirty="0"/>
          </a:p>
          <a:p>
            <a:r>
              <a:rPr lang="en-US" dirty="0"/>
              <a:t>TEMPO: 40 s (17:05 → 17:45)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(17:45 → 17:55)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Deixei material de apoio em slides ocultos: a síntese das drogas; um slide para dopamina, dobutamina, fenilefrina, efedrina e vasopressina; os adjuvantes do choque refratário; a sequência da SSC 2026; os alvos de pressão no choque e no intraoperatório; o início precoce e a via periférica; e o roteiro. Posso abrir o que for útil para a discussão.</a:t>
            </a:r>
            <a:endParaRPr lang="en-US" dirty="0"/>
          </a:p>
          <a:p>
            <a:r>
              <a:rPr lang="en-US" dirty="0"/>
              <a:t>USO: slides ocultos no PowerPoint, depois do Obrigado; não aparecem na apresentação. Abrir apenas se houver pergunta, indo até o slide pelo número.</a:t>
            </a:r>
            <a:endParaRPr lang="en-US" dirty="0"/>
          </a:p>
          <a:p>
            <a:r>
              <a:rPr lang="en-US" dirty="0"/>
              <a:t>PONTO-CHAVE: daqui em diante é material de apoio, oculto na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tabela resume o perfil de receptores e a dose usual de cada droga. Lendo por coluna: as drogas com α1 alto elevam a resistência, como noradrenalina e fenilefrina; as com β1 alto elevam débito e frequência, como adrenalina, dobutamina e isoproterenol; o β2 explica a vasodilatação e a subida do lactato. Milrinona e vasopressina têm zero em todas as colunas porque agem fora desses receptores: PDE3 e V1. A escala é qualitativa, e as doses são faixas usuais em adultos, tituladas pela resposta.</a:t>
            </a:r>
            <a:endParaRPr lang="en-US" dirty="0"/>
          </a:p>
          <a:p>
            <a:r>
              <a:rPr lang="en-US" dirty="0"/>
              <a:t>USO: pergunta sobre comparação entre drogas, receptores ou doses.</a:t>
            </a:r>
            <a:endParaRPr lang="en-US" dirty="0"/>
          </a:p>
          <a:p>
            <a:r>
              <a:rPr lang="en-US" dirty="0"/>
              <a:t>PONTO-CHAVE: ler por coluna: α1 alto eleva a RVS; β1 alto eleva DC e FC; β2 explica vasodilatação e lactato.</a:t>
            </a:r>
            <a:endParaRPr lang="en-US" dirty="0"/>
          </a:p>
          <a:p>
            <a:r>
              <a:rPr lang="en-US" dirty="0"/>
              <a:t>SE PERGUNTAREM: na dopamina, o receptor predominante muda com a dose. O isoproterenol é detalhado apenas nesta tabela: uso restrito à bradicardia refratária e à ponte para marca-passo. A tabela é adaptada de Overgaard e Džavík (Circulation 2008), com escala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dopamina tem efeito dose-dependente, D1 em dose baixa, β1 na faixa intermediária e α1 em dose alta, mas os limiares variam muito entre pacientes. A dose “renal” não protege o rim: no ensaio da ANZICS, dopamina em 2 microgramas por quilo por minuto não mudou creatinina, diálise nem mortalidade. No SOAP II, a dopamina teve o dobro de arritmias da noradrenalina e maior mortalidade no subgrupo de choque cardiogênico. Por isso a SSC 2026 faz recomendação forte contra o uso como primeira linha. Fica um uso residual: bradicardia sintomática quando não há alternativa.</a:t>
            </a:r>
            <a:endParaRPr lang="en-US" dirty="0"/>
          </a:p>
          <a:p>
            <a:r>
              <a:rPr lang="en-US" dirty="0"/>
              <a:t>USO: pergunta sobre dose renal ou sobre dopamina no choque.</a:t>
            </a:r>
            <a:endParaRPr lang="en-US" dirty="0"/>
          </a:p>
          <a:p>
            <a:r>
              <a:rPr lang="en-US" dirty="0"/>
              <a:t>PONTO-CHAVE: a dose “renal” não protege o rim; mais arritmia que a noradrenalina.</a:t>
            </a:r>
            <a:endParaRPr lang="en-US" dirty="0"/>
          </a:p>
          <a:p>
            <a:r>
              <a:rPr lang="en-US" dirty="0"/>
              <a:t>SE PERGUNTAREM: ANZICS (Bellomo, Lancet 2000; n = 328): sem diferença no pico de creatinina, na necessidade de diálise ou na mortalidade. SOAP II (De Backer, N Engl J Med 2010): arritmias 24,1% vs. 12,4%; no subgrupo cardiogênico, mortalidade maior com dopamina (p = 0,03).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dobutamina é uma mistura racêmica: o isômero positivo é agonista β1 e β2 e antagonista α1; o negativo é agonista α1. Os efeitos α1 se anulam e sobra inotropismo com queda discreta da resistência. A faixa é de 2,5 a 20 microgramas por quilo por minuto. Os limites são taquicardia, arritmia, maior consumo de oxigênio pelo miocárdio e tolerância com uso prolongado; no paciente hipovolêmico ou vasoplégico ela tende a baixar a pressão e, nesse caso, associa-se vasopressor para sustentar a pressão de perfusão. No choque cardiogênico, o DOREMI não mostrou diferença significativa em relação à milrinona.</a:t>
            </a:r>
            <a:endParaRPr lang="en-US" dirty="0"/>
          </a:p>
          <a:p>
            <a:r>
              <a:rPr lang="en-US" dirty="0"/>
              <a:t>USO: pergunta sobre dose, isômeros ou DOREMI pelo lado da dobutamina.</a:t>
            </a:r>
            <a:endParaRPr lang="en-US" dirty="0"/>
          </a:p>
          <a:p>
            <a:r>
              <a:rPr lang="en-US" dirty="0"/>
              <a:t>PONTO-CHAVE: inotrópico β1 com vasodilatação β2; associar vasopressor quando a PAM cair.</a:t>
            </a:r>
            <a:endParaRPr lang="en-US" dirty="0"/>
          </a:p>
          <a:p>
            <a:r>
              <a:rPr lang="en-US" dirty="0"/>
              <a:t>SE PERGUNTAREM: DOREMI (n = 192): desfecho composto 54% vs. 49% com milrinona; mortalidade hospitalar 43% vs. 37%, sem diferença significativa. SSC 2026: com disfunção cardíaca e hipoperfusão persistente, dobutamina com noradrenalina ou adrenalina isolada; não há dados para comparar dobutamina e milrinona no choque séptico;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fenilefrina é agonista α1 direto, sem ação β: a pressão sobe pela resistência e a frequência cai por barorreflexo. Isso é vantagem quando a taquicardia é o problema, como em casos selecionados de estenose aórtica ou de obstrução dinâmica da via de saída, e desvantagem quando o débito depende da frequência ou há disfunção de VE. Na cesárea sob raquianestesia, o consenso de 2018 recomenda infusão profilática de vasopressor α-agonista, mantendo a pressão sistólica em pelo menos 90% da basal; a noradrenalina é alternativa cada vez mais usada, com menos bradicardia materna. No choque séptico, não há evidência para usá-la como primeira linha.</a:t>
            </a:r>
            <a:endParaRPr lang="en-US" dirty="0"/>
          </a:p>
          <a:p>
            <a:r>
              <a:rPr lang="en-US" dirty="0"/>
              <a:t>USO: pergunta sobre cesárea, estenose aórtica ou fenilefrina no choque.</a:t>
            </a:r>
            <a:endParaRPr lang="en-US" dirty="0"/>
          </a:p>
          <a:p>
            <a:r>
              <a:rPr lang="en-US" dirty="0"/>
              <a:t>PONTO-CHAVE: α1 puro: a PAM sobe pela resistência e a FC cai por reflexo.</a:t>
            </a:r>
            <a:endParaRPr lang="en-US" dirty="0"/>
          </a:p>
          <a:p>
            <a:r>
              <a:rPr lang="en-US" dirty="0"/>
              <a:t>SE PERGUNTAREM: bolus de 50 a 100 mcg; infusão profilática na cesárea de 25 a 50 mcg/min. Sharkey (Anesth Analg 2019): noradrenalina 6 mcg vs. fenilefrina 100 mcg em bolus, bradicardia materna 10,7% vs. 37,5%, citado na revisão de Park e Choi (Anesth Pain Med 2024). Consenso de Kinsella (Anaesthesia 2018).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efedrina tem ação direta em α e β e ação indireta, liberando noradrenalina das terminações nervosas. Sem o anel catecol, resiste à MAO e à COMT e dura mais que as catecolaminas, o que a torna boa opção em bolus de 5 a 10 mg na hipotensão com bradicardia após indução ou raquianestesia. A ação indireta explica os limites: doses repetidas perdem efeito, a resposta cai quando os estoques de noradrenalina estão depletados e há pouca eficácia no coração transplantado. Na cesárea, atravessa a placenta e se associa a mais acidose fetal que a fenilefrina; fica como resgate.</a:t>
            </a:r>
            <a:endParaRPr lang="en-US" dirty="0"/>
          </a:p>
          <a:p>
            <a:r>
              <a:rPr lang="en-US" dirty="0"/>
              <a:t>USO: pergunta sobre efedrina, taquifilaxia ou acidose fetal.</a:t>
            </a:r>
            <a:endParaRPr lang="en-US" dirty="0"/>
          </a:p>
          <a:p>
            <a:r>
              <a:rPr lang="en-US" dirty="0"/>
              <a:t>PONTO-CHAVE: ação mista e indireta: útil na hipotensão com bradicardia, com taquifilaxia.</a:t>
            </a:r>
            <a:endParaRPr lang="en-US" dirty="0"/>
          </a:p>
          <a:p>
            <a:r>
              <a:rPr lang="en-US" dirty="0"/>
              <a:t>SE PERGUNTAREM: interação grave com inibidores da MAO. Na cesárea, a efedrina deixou de ser a primeira escolha; continua útil como resgate quando há bradicardia (Kinsella, Anaesthesia 2018; Park e Choi, Anesth Pain Med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 do músculo liso vascular, costuma manter efeito em acidose e com adrenoceptores dessensibilizados, e no choque séptico há deficiência relativa do hormônio endógeno. Em geral se usa dose fixa de 0,03 unidades por minuto, até 0,04, ao contrário da noradrenalina, que é titulada. A SSC 2026 sugere associar quando a noradrenalina está em escalada, sem definir um limiar; na enquete dos painelistas, a mediana foi 0,3 microgramas por quilo por minuto. No VASST não houve redução de mortalidade, e no VASSPR, publicado em outubro de 2026, antecipar a vasopressina como política hospitalar também não mudou a mortalidade.</a:t>
            </a:r>
            <a:endParaRPr lang="en-US" dirty="0"/>
          </a:p>
          <a:p>
            <a:r>
              <a:rPr lang="en-US" dirty="0"/>
              <a:t>USO: pergunta sobre quando associar vasopressina, dose ou VASST/VASSPR.</a:t>
            </a:r>
            <a:endParaRPr lang="en-US" dirty="0"/>
          </a:p>
          <a:p>
            <a:r>
              <a:rPr lang="en-US" dirty="0"/>
              <a:t>PONTO-CHAVE: age no V1, fora da via adrenérgica; associar quando a noradrenalina está em escalada.</a:t>
            </a:r>
            <a:endParaRPr lang="en-US" dirty="0"/>
          </a:p>
          <a:p>
            <a:r>
              <a:rPr lang="en-US" dirty="0"/>
              <a:t>SE PERGUNTAREM: VASST (Russell, N Engl J Med 2008): mortalidade em 28 dias 35,4% vs. 39,3%; no subgrupo de choque menos grave (NA de 5 a 14 mcg/min), 26,5% vs. 35,7%, achado gerador de hipótese. VANISH (Gordon, JAMA 2016): vasopressina precoce sem diferença em dias livres de falência renal. VASSPR (Peltan, JAMA 2026; n = 3.959; publicado em 14/10/2026): políticas de início com NA 0,1 vs. 0,4 mcg/kg/min; vasopressina usada em 52,4% vs. 32,9%; mortalidade 31,8% vs. 33,0%. Equivalência em escores: 0,03 U/min ≈ 0,075 mcg/kg/min de noradrenalina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o choque não responde à noradrenalina, a estratégia é associar drogas de mecanismos diferentes. A hidrocortisona restaura a resposta vascular às catecolaminas: no ADRENAL, 3.800 pacientes com choque séptico em ventilação mecânica receberam hidrocortisona ou placebo, com resolução mais rápida do choque e mortalidade semelhante em 90 dias; no APROCCHSS, 1.241 pacientes com choque séptico receberam hidrocortisona com fludrocortisona ou placebo, e a mortalidade em 90 dias caiu de 49 para 43%; a SSC 2026 sugere usar. A angiotensina II, agonista AT1, foi testada no ATHOS-3 em 344 pacientes com choque vasodilatador refratário: elevou a PAM em 3 horas em 70% contra 23% do placebo, sem mudar a mortalidade; é pouco disponível. O azul de metileno inibe a via do óxido nítrico; os ensaios são pequenos e a SSC considera a evidência insuficiente. Milrinona e levosimendana são inodilatadores não adrenérgicos; a SSC sugere não usar levosimendana.</a:t>
            </a:r>
            <a:endParaRPr lang="en-US" dirty="0"/>
          </a:p>
          <a:p>
            <a:r>
              <a:rPr lang="en-US" dirty="0"/>
              <a:t>USO: pergunta sobre hidrocortisona, angiotensina II, azul de metileno ou levosimendana.</a:t>
            </a:r>
            <a:endParaRPr lang="en-US" dirty="0"/>
          </a:p>
          <a:p>
            <a:r>
              <a:rPr lang="en-US" dirty="0"/>
              <a:t>PONTO-CHAVE: no choque refratário, associar mecanismos diferentes em vez de subir indefinidamente a mesma droga.</a:t>
            </a:r>
            <a:endParaRPr lang="en-US" dirty="0"/>
          </a:p>
          <a:p>
            <a:r>
              <a:rPr lang="en-US" dirty="0"/>
              <a:t>SE PERGUNTAREM: ATHOS-3 (Khanna, N Engl J Med 2017; n = 344): resposta da PAM em 3 h em 69,9% vs. 23,4%; mortalidade em 28 dias 46% vs. 53,8% (NS). Hidrocortisona: 200 mg/dia (condicional, certeza baixa). Azul de metileno: na enquete com os painelistas da SSC 2026, 69% nunca ou quase nunca o usam como resgate; interfere na oximetria e pode causar síndrome serotoninérgica.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slide repete a sequência da SSC 2026 com a força de cada recomendação. Noradrenalina em primeiro lugar, recomendação forte, iniciada cedo e, se preciso, por veia periférica. Vasopressina quando a noradrenalina está em escalada, sugestão condicional com certeza moderada. Adrenalina se a pressão continuar inadequada, condicional com certeza muito baixa. Na disfunção cardíaca com hipoperfusão apesar de volume e pressão adequados, dobutamina com noradrenalina ou adrenalina isolada. Hidrocortisona sugerida. Contra: dopamina como primeira linha, levosimendana e terlipressina. Azul de metileno sem recomendação, por evidência insuficiente.</a:t>
            </a:r>
            <a:endParaRPr lang="en-US" dirty="0"/>
          </a:p>
          <a:p>
            <a:r>
              <a:rPr lang="en-US" dirty="0"/>
              <a:t>USO: pergunta sobre o que mudou na SSC 2026 ou sobre a força das recomendações.</a:t>
            </a:r>
            <a:endParaRPr lang="en-US" dirty="0"/>
          </a:p>
          <a:p>
            <a:r>
              <a:rPr lang="en-US" dirty="0"/>
              <a:t>PONTO-CHAVE: noradrenalina, vasopressina e adrenalina em sequência, com a força de cada recomendação.</a:t>
            </a:r>
            <a:endParaRPr lang="en-US" dirty="0"/>
          </a:p>
          <a:p>
            <a:r>
              <a:rPr lang="en-US" dirty="0"/>
              <a:t>SE PERGUNTAREM: a preferência pela noradrenalina em relação à vasopressina e à angiotensina II passou a ser condicional; a sugestão de via periférica já existia em 2021; a sugestão contra a levosimendana também é de 2021; a terlipressina recebeu sugestão contra em 2026. A diretriz não define limiar numérico para associar vasopressina (Prescott, Crit Care Med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mantém 65 mmHg como alvo inicial no choque séptico, com recomendação forte, e sugere 60 a 65 a partir dos 65 anos. A base é o 65 trial: 2.600 pacientes com 65 anos ou mais em choque vasodilatador, randomizados para hipotensão permissiva, com PAM de 60 a 65, ou cuidado usual; a mortalidade em 90 dias foi 41 contra 44%, sem diferença, com menos vasopressor no grupo permissivo. O OPTPRESS testou o contrário: 518 pacientes com 65 anos ou mais em choque séptico, alvo de 80 a 85 ou de 65 a 70; foi interrompido por dano, com mortalidade de 39 contra 29% no alvo alto. A ESICM 2025 recomenda individualizar: alvo maior pode fazer sentido na hipertensão crônica ou com pressão venosa alta, se houver melhora clínica com a pressão mais alta.</a:t>
            </a:r>
            <a:endParaRPr lang="en-US" dirty="0"/>
          </a:p>
          <a:p>
            <a:r>
              <a:rPr lang="en-US" dirty="0"/>
              <a:t>USO: pergunta sobre alvo de PAM no choque séptico ou sobre idosos.</a:t>
            </a:r>
            <a:endParaRPr lang="en-US" dirty="0"/>
          </a:p>
          <a:p>
            <a:r>
              <a:rPr lang="en-US" dirty="0"/>
              <a:t>PONTO-CHAVE: 65 mmHg como alvo inicial; 60 a 65 a partir dos 65 anos; alvo alto fez mal no OPTPRESS.</a:t>
            </a:r>
            <a:endParaRPr lang="en-US" dirty="0"/>
          </a:p>
          <a:p>
            <a:r>
              <a:rPr lang="en-US" dirty="0"/>
              <a:t>SE PERGUNTAREM: 65 trial (Lamontagne, JAMA 2020; n = 2.463 na análise primária): mortalidade em 90 dias 41,0% vs. 43,8% (NS); menor dose e menor duração de vasopressor; OR ajustada 0,82. OPTPRESS (Endo, Intensive Care Med 2025; n = 518; 29 hospitais japoneses): mortalidade em 90 dias 39,3% vs. 28,6%, diferença absoluta de 10,7 pontos (IC 95% 2,6–18,9), menos dias livres de terapia renal substitutiva no alvo alto; o protocolo associava vasopressina cedo. ESICM 2025: alvo menor no trauma com sangramento ativo sem TCE;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CENSER, 310 pacientes com choque séptico receberam, desde a admissão, noradrenalina em dose baixa e fixa ou o cuidado padrão: o controle do choque em 6 horas subiu de 48 para 76%, com menos edema pulmonar e arritmia e sem diferença de mortalidade. A via periférica mostrou-se segura com protocolo: na metanálise de Tran, com 1.835 pacientes recebendo vasopressor por veia periférica, as complicações ficaram em torno de 7%, 96% delas leves, e caíram com protocolo de segurança; a SSC 2026 sugere iniciar por via periférica em vez de esperar o acesso central. E um detalhe de prescrição: no Brasil, a ampola de hemitartarato de 2 miligramas por mililitro equivale a 1 miligrama por mililitro de noradrenalina base, portanto, a mesma infusão expressa em sal tem o dobro do valor em base; convém especificar a forma na prescrição e ao comparar com estudos.</a:t>
            </a:r>
            <a:endParaRPr lang="en-US" dirty="0"/>
          </a:p>
          <a:p>
            <a:r>
              <a:rPr lang="en-US" dirty="0"/>
              <a:t>USO: pergunta sobre início precoce, via periférica ou prescrição em base e sal.</a:t>
            </a:r>
            <a:endParaRPr lang="en-US" dirty="0"/>
          </a:p>
          <a:p>
            <a:r>
              <a:rPr lang="en-US" dirty="0"/>
              <a:t>PONTO-CHAVE: começar cedo, por veia periférica se preciso, e especificar base ou sal na prescrição.</a:t>
            </a:r>
            <a:endParaRPr lang="en-US" dirty="0"/>
          </a:p>
          <a:p>
            <a:r>
              <a:rPr lang="en-US" dirty="0"/>
              <a:t>SE PERGUNTAREM: CENSER (Permpikul, Am J Respir Crit Care Med 2019; n = 310): NA 0,05 mcg/kg/min por 24 h; controle do choque em 6 h 76,1% vs. 48,4%; edema pulmonar 14,4% vs. 27,7%; mortalidade em 28 dias 15,5% vs. 21,9% (NS). Tran (Am J Emerg Med 2020): 122 complicações em 1.835 pacientes (7%), prevalência combinada 8,6% (IC 95% 3,1–21%), 2,9% vs. 12% com protocolo. Na prática: veia calibrosa e proximal, inspeção frequente, plano para acesso central se a dose subir; no extravasamento, fentolamina local. Kattan, Ibarra-Estrada e Jung (Intensive Care Med 2024): 0,1 mcg/kg/min de sal ≈ 0,05 de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ensaios recentes testaram alvos mais altos no intraoperatório. O POISE-3, com 7.490 pacientes de risco cardiovascular em cirurgia não cardíaca, comparou evitar hipotensão, com PAM de 80 e anti-hipertensivos suspensos, a evitar hipertensão: eventos vasculares em 30 dias semelhantes, 13,9 contra 14,0%. O IMPROVE-multi, com 1.134 pacientes em cirurgia abdominal maior, individualizou o alvo pela pressão basal noturna e não foi melhor que 65. O HISTAP, com 630 idosos hipertensos em cirurgia abdominal maior, encontrou menos morte ou disfunção orgânica com PAM de 80, 38 contra 49%, sobretudo por menos lesão renal aguda. A leitura prática é a do POQI: PAM de 60 é o piso em pacientes de risco, maior se a pressão venosa ou compartimental estiver alta; acima do piso, o benefício demonstrado até agora foi em hipertensos de alto risco.</a:t>
            </a:r>
            <a:endParaRPr lang="en-US" dirty="0"/>
          </a:p>
          <a:p>
            <a:r>
              <a:rPr lang="en-US" dirty="0"/>
              <a:t>USO: pergunta sobre os ensaios de alvo de PAM no intraoperatório.</a:t>
            </a:r>
            <a:endParaRPr lang="en-US" dirty="0"/>
          </a:p>
          <a:p>
            <a:r>
              <a:rPr lang="en-US" dirty="0"/>
              <a:t>PONTO-CHAVE: evitar PAM abaixo de 60 a 65 é consenso; subir o alvo mostrou-se útil, até agora, em hipertensos de alto risco.</a:t>
            </a:r>
            <a:endParaRPr lang="en-US" dirty="0"/>
          </a:p>
          <a:p>
            <a:r>
              <a:rPr lang="en-US" dirty="0"/>
              <a:t>SE PERGUNTAREM: POISE-3 (Marcucci, Ann Intern Med 2023; n = 7.490): eventos vasculares em 30 dias 13,9% vs. 14,0%. IMPROVE-multi (Saugel, JAMA 2025; n = 1.134): composto em 7 dias 33,5% vs. 30,5% (RR 1,10; IC 95% 0,93–1,30). HISTAP (Cecconi, Intensive Care Med 2026; n = 630; 18 centros italianos): 38,1% vs. 48,9% (RR 0,78); lesão renal aguda leve a moderada 23,5% vs. 33,7%; PAM média alcançada 88 vs. 77 mmHg, com mais noradrenalina, efedrina e transfusão no alvo alto. POQI (Saugel, Br J Anaesth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aula vai do raciocínio fisiológico para a farmacologia dos receptores, depois para cada droga, com a milrinona e a escolha frente à dobutamina como eixo, e termina na aplicação no choque séptico e no centro cirúrgico.</a:t>
            </a:r>
            <a:endParaRPr lang="en-US" dirty="0"/>
          </a:p>
          <a:p>
            <a:r>
              <a:rPr lang="en-US" dirty="0"/>
              <a:t>USO: apenas se alguém pedir a estrutura da aula; o slide de objetivos faz esse papel na apresentação.</a:t>
            </a:r>
            <a:endParaRPr lang="en-US" dirty="0"/>
          </a:p>
          <a:p>
            <a:r>
              <a:rPr lang="en-US" dirty="0"/>
              <a:t>PONTO-CHAVE: do raciocínio fisiológico para a farmacologia, para cada droga e, por fim, para a aplicação.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[p1] 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[p1] 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[p2] 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[p2] Relacionar o perfil de receptores de cad"/>
          <p:cNvSpPr txBox="1"/>
          <p:nvPr/>
        </p:nvSpPr>
        <p:spPr>
          <a:xfrm>
            <a:off x="1371600" y="2568720"/>
            <a:ext cx="671760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o perfil de receptores de cada droga ao seu efeito hemodinâmico</a:t>
            </a:r>
            <a:endParaRPr lang="en-US" sz="1700" dirty="0"/>
          </a:p>
        </p:txBody>
      </p:sp>
      <p:sp>
        <p:nvSpPr>
          <p:cNvPr id="8" name="[p3] 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[p3] Conhecer ação, dose, indicações e cuidad"/>
          <p:cNvSpPr txBox="1"/>
          <p:nvPr/>
        </p:nvSpPr>
        <p:spPr>
          <a:xfrm>
            <a:off x="1371600" y="3173161"/>
            <a:ext cx="967422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ação, dose, indicações e cuidados das drogas vasoativas e quando preferir milrinona ou dobutamina</a:t>
            </a:r>
            <a:endParaRPr lang="en-US" sz="1700" dirty="0"/>
          </a:p>
        </p:txBody>
      </p:sp>
      <p:sp>
        <p:nvSpPr>
          <p:cNvPr id="10" name="[p4] 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[p4] Aplicar esse raciocínio no choque séptic"/>
          <p:cNvSpPr txBox="1"/>
          <p:nvPr/>
        </p:nvSpPr>
        <p:spPr>
          <a:xfrm>
            <a:off x="1371600" y="3777602"/>
            <a:ext cx="6464300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esse raciocínio no choque séptico e na hipotensão intraoperatória</a:t>
            </a:r>
            <a:endParaRPr lang="en-US" sz="1700" dirty="0"/>
          </a:p>
        </p:txBody>
      </p:sp>
      <p:sp>
        <p:nvSpPr>
          <p:cNvPr id="12" name="[p5] 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5] 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[p5] Qual componente da PAM está falhando? A "/>
          <p:cNvSpPr txBox="1"/>
          <p:nvPr/>
        </p:nvSpPr>
        <p:spPr>
          <a:xfrm>
            <a:off x="44632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 animBg="1"/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[p1] RVS baixa com DC preservado ou alto (sep"/>
          <p:cNvSpPr txBox="1"/>
          <p:nvPr/>
        </p:nvSpPr>
        <p:spPr>
          <a:xfrm>
            <a:off x="1073150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 com DC preservado ou alto (sepse, anestesia geral, bloqueio de neuroeixo, anafilaxia, pós-CEC). Alvo: tônus arterial, com vasopressor α1 ou V1.</a:t>
            </a:r>
            <a:endParaRPr lang="en-US" sz="1350" dirty="0"/>
          </a:p>
        </p:txBody>
      </p:sp>
      <p:sp>
        <p:nvSpPr>
          <p:cNvPr id="7" name="[p2] 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[p2] 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[p2] DC baixo, em geral com RVS alta, como no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em geral com RVS alta, como no choque cardiogênico; na sepse, a disfunção miocárdica pode coexistir com vasoplegia. Alvo: contratilidade, com inotrópico (β1 ou PDE3), associado a vasopressor se a PAM cair.</a:t>
            </a:r>
            <a:endParaRPr lang="en-US" sz="1350" dirty="0"/>
          </a:p>
        </p:txBody>
      </p:sp>
      <p:sp>
        <p:nvSpPr>
          <p:cNvPr id="10" name="[p3] 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[p3] Pré-carg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2" name="[p3] Hipovolemia se corrige com volume. O α1 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se corrige com volume. O α1 também contrai veias, recruta volume não estressado e aumenta o retorno venoso.</a:t>
            </a:r>
            <a:endParaRPr lang="en-US" sz="1350" dirty="0"/>
          </a:p>
        </p:txBody>
      </p:sp>
      <p:sp>
        <p:nvSpPr>
          <p:cNvPr id="13" name="[p4] Cartão"/>
          <p:cNvSpPr/>
          <p:nvPr/>
        </p:nvSpPr>
        <p:spPr>
          <a:xfrm>
            <a:off x="812800" y="4556919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[p4] Como diferenciar?"/>
          <p:cNvSpPr txBox="1"/>
          <p:nvPr/>
        </p:nvSpPr>
        <p:spPr>
          <a:xfrm>
            <a:off x="1073150" y="4737614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[p4] Ecocardiografia inicial para o tipo de c"/>
          <p:cNvSpPr txBox="1"/>
          <p:nvPr/>
        </p:nvSpPr>
        <p:spPr>
          <a:xfrm>
            <a:off x="4788098" y="4769275"/>
            <a:ext cx="63498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inicial para o tipo de choque, parâmetros dinâmicos para a resposta a volume e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 · P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 · Persichini, Crit Care Med 2012 · Monnet, Intensive Care Med 2025 (ESICM)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 animBg="1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[p1] 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[p1] Lactato alto ou sem queda"/>
          <p:cNvSpPr txBox="1"/>
          <p:nvPr/>
        </p:nvSpPr>
        <p:spPr>
          <a:xfrm>
            <a:off x="1073150" y="281596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</a:t>
            </a:r>
            <a:endParaRPr lang="en-US" sz="1350" dirty="0"/>
          </a:p>
        </p:txBody>
      </p:sp>
      <p:sp>
        <p:nvSpPr>
          <p:cNvPr id="8" name="[p1] Saturação venosa central baixa; gap veno"/>
          <p:cNvSpPr txBox="1"/>
          <p:nvPr/>
        </p:nvSpPr>
        <p:spPr>
          <a:xfrm>
            <a:off x="1073150" y="31194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Saturação venosa central baixa;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aumentado</a:t>
            </a:r>
            <a:endParaRPr lang="en-US" sz="1350" dirty="0"/>
          </a:p>
        </p:txBody>
      </p:sp>
      <p:sp>
        <p:nvSpPr>
          <p:cNvPr id="9" name="[p1] Oligúria e alteração da consciência"/>
          <p:cNvSpPr txBox="1"/>
          <p:nvPr/>
        </p:nvSpPr>
        <p:spPr>
          <a:xfrm>
            <a:off x="1073150" y="36629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10" name="[p2] Cartão"/>
          <p:cNvSpPr/>
          <p:nvPr/>
        </p:nvSpPr>
        <p:spPr>
          <a:xfrm>
            <a:off x="61976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[p2] 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2" name="[p2] 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3" name="[p2] 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4" name="[p2] Eco: VTI na via de saída do VE e função 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 e função de VE e VD</a:t>
            </a:r>
            <a:endParaRPr lang="en-US" sz="1350" dirty="0"/>
          </a:p>
        </p:txBody>
      </p:sp>
      <p:sp>
        <p:nvSpPr>
          <p:cNvPr id="15" name="[p3] Cartão"/>
          <p:cNvSpPr/>
          <p:nvPr/>
        </p:nvSpPr>
        <p:spPr>
          <a:xfrm>
            <a:off x="812800" y="44816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3] Atenção"/>
          <p:cNvSpPr txBox="1"/>
          <p:nvPr/>
        </p:nvSpPr>
        <p:spPr>
          <a:xfrm>
            <a:off x="1073150" y="46623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7" name="[p3] PAM normal não exclui débito baixo. E dé"/>
          <p:cNvSpPr txBox="1"/>
          <p:nvPr/>
        </p:nvSpPr>
        <p:spPr>
          <a:xfrm>
            <a:off x="2937470" y="48273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8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/>
      <p:bldP spid="10" grpId="0" animBg="1"/>
      <p:bldP spid="11" grpId="0"/>
      <p:bldP spid="12" grpId="0"/>
      <p:bldP spid="13" grpId="0"/>
      <p:bldP spid="14" grpId="0"/>
      <p:bldP spid="15" grpId="0" animBg="1"/>
      <p:bldP spid="16" grpId="0"/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[p1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06556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6050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[p3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57973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[p4] Com o uso prolongado, os adrenoceptores "/>
          <p:cNvSpPr txBox="1"/>
          <p:nvPr/>
        </p:nvSpPr>
        <p:spPr>
          <a:xfrm>
            <a:off x="812800" y="5343756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uso prolongado, os adrenoceptores se dessensibilizam; vasopressina (V1) e milrinona (PDE3) não dependem deles.</a:t>
            </a:r>
            <a:endParaRPr lang="en-US" sz="1400" dirty="0"/>
          </a:p>
        </p:txBody>
      </p:sp>
      <p:sp>
        <p:nvSpPr>
          <p:cNvPr id="9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Graphic spid="6" grpId="0">
        <p:bldAsOne/>
      </p:bldGraphic>
      <p:bldGraphic spid="7" grpId="0">
        <p:bldAsOne/>
      </p:bldGraphic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[p1] 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[p1] 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[p1] 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favorece a infusão contínua e titulável.</a:t>
            </a:r>
            <a:endParaRPr lang="en-US" sz="1350" dirty="0"/>
          </a:p>
        </p:txBody>
      </p:sp>
      <p:sp>
        <p:nvSpPr>
          <p:cNvPr id="17" name="[p2] 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[p2] 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[p2] 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/>
      <p:bldP spid="16" grpId="0"/>
      <p:bldP spid="17" grpId="0" animBg="1"/>
      <p:bldP spid="18" grpId="0"/>
      <p:bldP spid="1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↔/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F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[p1] 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1] 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[p1] α1 potente com β1 modesto: eleva a PAM 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 com β1 modesto: eleva a PAM ao aumentar a RVS e, por venoconstrição, o retorno venoso. DC em geral mantido ou maior, podendo cair pela pós-carga; FC estável ou menor. Primeira linha no choque séptico e na vasoplegia que exige infusão.</a:t>
            </a:r>
            <a:endParaRPr lang="en-US" sz="1350" dirty="0"/>
          </a:p>
        </p:txBody>
      </p:sp>
      <p:sp>
        <p:nvSpPr>
          <p:cNvPr id="24" name="[p2] 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[p2] 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[p2] 0,01–0,5 mcg/kg/min, sem teto fixo no ch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 no choque refratário; bolus de 5–10 mcg no centro cirúrgico. Pode ser iniciada em veia periférica calibrosa. Menos arritmia que a dopamina (SOAP II). Riscos: isquemia digital e esplâncnica, extravasamento.</a:t>
            </a:r>
            <a:endParaRPr lang="en-US" sz="1350" dirty="0"/>
          </a:p>
        </p:txBody>
      </p:sp>
      <p:sp>
        <p:nvSpPr>
          <p:cNvPr id="27" name="De Backer, N Engl J Med 2010 (SOAP II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Backer, N Engl J Med 2010 (SOAP II) · Persichini, Crit Care Med 2012 · SSC 2026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  <p:bldP spid="23" grpId="0"/>
      <p:bldP spid="24" grpId="0" animBg="1"/>
      <p:bldP spid="25" grpId="0"/>
      <p:bldP spid="2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[p1] 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[p1] 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[p1] Dose-dependente: em dose baixa predomin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Dose-dependente: em dose baixa predomina β (↑DC; a RVS pode cair); em dose alta, α1. Droga de escolha na anafilaxia; no choque séptico, entra se a PAM seguir inadequada com noradrenalina (NA) + vasopressina.</a:t>
            </a:r>
            <a:endParaRPr lang="en-US" sz="1350" dirty="0"/>
          </a:p>
        </p:txBody>
      </p:sp>
      <p:sp>
        <p:nvSpPr>
          <p:cNvPr id="25" name="[p2] 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[p2] 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[p2] 0,01–0,1 mcg/kg/min; doses maiores no ch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mcg/kg/min; doses maiores no choque refratário. Na anafilaxia durante a anestesia, bolus titulado: 10–20 mcg EV no grau 2,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50–100 mcg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grau 3. Riscos: taquicardia, arritmia e hiperglicemia. O lactato pode subir por efeito β2, mas é preciso excluir hipoperfusão.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  <p:bldP spid="25" grpId="0" animBg="1"/>
      <p:bldP spid="26" grpId="0"/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PAMINA E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DOPAMINA E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 e 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pamina"/>
          <p:cNvSpPr txBox="1"/>
          <p:nvPr/>
        </p:nvSpPr>
        <p:spPr>
          <a:xfrm>
            <a:off x="10668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6" name="PAM ↑ · DC ↑ · FC ↑↑"/>
          <p:cNvSpPr txBox="1"/>
          <p:nvPr/>
        </p:nvSpPr>
        <p:spPr>
          <a:xfrm>
            <a:off x="4106069" y="2069740"/>
            <a:ext cx="1653381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9" name="[p1] 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[p1] Efeito dose-dependente e imprevisível: D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imprevisível: D1, depois β1 (em parte por liberar NA) e, em doses altas, α1. Dose “renal” não protege o rim. Causa mais arritmia que a NA e não é primeira linha no choque.</a:t>
            </a:r>
            <a:endParaRPr lang="en-US" sz="1350" dirty="0"/>
          </a:p>
        </p:txBody>
      </p:sp>
      <p:sp>
        <p:nvSpPr>
          <p:cNvPr id="21" name="[p2] 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2" name="[p2] Dobutamina"/>
          <p:cNvSpPr txBox="1"/>
          <p:nvPr/>
        </p:nvSpPr>
        <p:spPr>
          <a:xfrm>
            <a:off x="64516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23" name="[p2] DC ↑↑ · FC ↑ · RVS ↓"/>
          <p:cNvSpPr txBox="1"/>
          <p:nvPr/>
        </p:nvSpPr>
        <p:spPr>
          <a:xfrm>
            <a:off x="9554468" y="2069740"/>
            <a:ext cx="1589782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↑↑ · FC ↑ · RVS ↓</a:t>
            </a:r>
            <a:endParaRPr lang="en-US" sz="1300" dirty="0"/>
          </a:p>
        </p:txBody>
      </p:sp>
      <p:sp>
        <p:nvSpPr>
          <p:cNvPr id="24" name="[p2] 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5" name="[p2] 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[p2] Cartão"/>
          <p:cNvSpPr/>
          <p:nvPr/>
        </p:nvSpPr>
        <p:spPr>
          <a:xfrm>
            <a:off x="68580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[p2] 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8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[p2] 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1" name="[p2] 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[p2] Cartão"/>
          <p:cNvSpPr/>
          <p:nvPr/>
        </p:nvSpPr>
        <p:spPr>
          <a:xfrm>
            <a:off x="68580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3" name="[p2] 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4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5" name="[p3] 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[p3] Inotrópico β1 com vasodilatação β2: pode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pode baixar a PAM; associar vasopressor quando necessário para sustentar a pressão de perfusão. Indicação: baixo débito com hipoperfusão, em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2,5–20 mcg/kg/min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taquicardia e arritmia limitam a dose.</a:t>
            </a:r>
            <a:endParaRPr lang="en-US" sz="1350" dirty="0"/>
          </a:p>
        </p:txBody>
      </p:sp>
      <p:sp>
        <p:nvSpPr>
          <p:cNvPr id="37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  <p:bldP spid="21" grpId="0" animBg="1"/>
      <p:bldP spid="22" grpId="0"/>
      <p:bldP spid="23" grpId="0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  <p:bldP spid="31" grpId="0" animBg="1"/>
      <p:bldP spid="32" grpId="0" animBg="1"/>
      <p:bldP spid="33" grpId="0"/>
      <p:bldP spid="34" grpId="0" animBg="1"/>
      <p:bldP spid="35" grpId="0" animBg="1"/>
      <p:bldP spid="3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pic>
        <p:nvPicPr>
          <p:cNvPr id="4" name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 descr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52501"/>
            <a:ext cx="10566400" cy="3302000"/>
          </a:xfrm>
          <a:prstGeom prst="rect">
            <a:avLst/>
          </a:prstGeom>
        </p:spPr>
      </p:pic>
      <p:sp>
        <p:nvSpPr>
          <p:cNvPr id="5" name="[p1] Leitura: a dobutamina aumenta a produção"/>
          <p:cNvSpPr txBox="1"/>
          <p:nvPr/>
        </p:nvSpPr>
        <p:spPr>
          <a:xfrm>
            <a:off x="812800" y="5218842"/>
            <a:ext cx="105854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dobutamina aumenta a produção de AMPc; a milrinona reduz a degradação, sem depender do receptor β. Nos vasos, a mesma via relaxa o músculo liso: inodilatação. Com betabloqueador, o fundamento é farmacológico; no DOREMI, sem vantagem clínica.</a:t>
            </a:r>
            <a:endParaRPr lang="en-US" sz="1350" dirty="0"/>
          </a:p>
        </p:txBody>
      </p:sp>
      <p:sp>
        <p:nvSpPr>
          <p:cNvPr id="6" name="Esquema próprio · Zaccolo &amp; Kovanich, Ph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próprio · Zaccolo &amp; Kovanich, Physiol Rev 2025 · Di Santo, Crit Care 2021 (DOREMI, betabloqueador) · 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355578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[p1] 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1] 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[p1] Disfunção ventricular com baixo débito q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suporte inotrópico: IC descompensada, dificuldade de saída de CEC, falência de VD com hipertensão pulmonar, ponte para transplante ou assistência ventricular.</a:t>
            </a:r>
            <a:endParaRPr lang="en-US" sz="1350" dirty="0"/>
          </a:p>
        </p:txBody>
      </p:sp>
      <p:sp>
        <p:nvSpPr>
          <p:cNvPr id="18" name="[p2] Cartão"/>
          <p:cNvSpPr/>
          <p:nvPr/>
        </p:nvSpPr>
        <p:spPr>
          <a:xfrm>
            <a:off x="4064000" y="3608090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2] 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[p2] Ataque de 50 mcg/kg em 10 min, muitas ve"/>
          <p:cNvSpPr txBox="1"/>
          <p:nvPr/>
        </p:nvSpPr>
        <p:spPr>
          <a:xfrm>
            <a:off x="4324350" y="4213069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min, muitas vezes omitido; manutenção de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0,375–0,75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mcg/kg/min. Eliminação renal: reduzir a dose na insuficiência renal. Riscos: hipotensão (associar NA) e arritmias. No choque cardiogênico, sem diferença significativa vs. dobutamina (DOREMI).</a:t>
            </a:r>
            <a:endParaRPr lang="en-US" sz="1350" dirty="0"/>
          </a:p>
        </p:txBody>
      </p:sp>
      <p:sp>
        <p:nvSpPr>
          <p:cNvPr id="21" name="Mathew, N Engl J Med 2021 (DOREMI) · Cuf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Cuffe, JAMA 2002 (OPTIME-CHF) · Miller’s Anesthesia, 10ª ed. (2025)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/>
      <p:bldP spid="17" grpId="0"/>
      <p:bldP spid="18" grpId="0" animBg="1"/>
      <p:bldP spid="19" grpId="0"/>
      <p:bldP spid="2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[p1] 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depois do receptor β; no DOREMI, sem vantagem clínica nesse subgrupo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[p3] Cartão"/>
          <p:cNvSpPr/>
          <p:nvPr/>
        </p:nvSpPr>
        <p:spPr>
          <a:xfrm>
            <a:off x="8128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[p3] Considere milrinona"/>
          <p:cNvSpPr txBox="1"/>
          <p:nvPr/>
        </p:nvSpPr>
        <p:spPr>
          <a:xfrm>
            <a:off x="10223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[p3] Falência de VD com hipertensão pulmonar,"/>
          <p:cNvSpPr txBox="1"/>
          <p:nvPr/>
        </p:nvSpPr>
        <p:spPr>
          <a:xfrm>
            <a:off x="10223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 com hipertensão pulmonar, inclusive na saída de CEC; taquicardia ou betabloqueio limitando a dobutamina (fundamento farmacológico).</a:t>
            </a:r>
            <a:endParaRPr lang="en-US" sz="1300" dirty="0"/>
          </a:p>
        </p:txBody>
      </p:sp>
      <p:sp>
        <p:nvSpPr>
          <p:cNvPr id="9" name="[p4] Cartão"/>
          <p:cNvSpPr/>
          <p:nvPr/>
        </p:nvSpPr>
        <p:spPr>
          <a:xfrm>
            <a:off x="61976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4] Considere dobutamina"/>
          <p:cNvSpPr txBox="1"/>
          <p:nvPr/>
        </p:nvSpPr>
        <p:spPr>
          <a:xfrm>
            <a:off x="64071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[p4] Com indicação de inotrópico: hipotensão "/>
          <p:cNvSpPr txBox="1"/>
          <p:nvPr/>
        </p:nvSpPr>
        <p:spPr>
          <a:xfrm>
            <a:off x="64071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indicação de inotrópico: hipotensão associada; insuficiência renal; necessidade de titulação rápida; disfunção miocárdica da sepse (droga citada pela 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Graphic spid="5" grpId="0">
        <p:bldAsOne/>
      </p:bldGraphic>
      <p:bldP spid="6" grpId="0" animBg="1"/>
      <p:bldP spid="7" grpId="0"/>
      <p:bldP spid="8" grpId="0"/>
      <p:bldP spid="9" grpId="0" animBg="1"/>
      <p:bldP spid="10" grpId="0"/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ALÊNCIA DE VD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FALÊNCIA DE VD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VD: o que fazer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[p1] 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[p1] Noradrenalina para sustentar a PAM e a p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 para sustentar a PAM e a perfusão coronariana do VD; vasopressina conforme a vasoplegia associada.</a:t>
            </a:r>
            <a:endParaRPr lang="en-US" sz="1250" dirty="0"/>
          </a:p>
        </p:txBody>
      </p:sp>
      <p:sp>
        <p:nvSpPr>
          <p:cNvPr id="8" name="[p2] 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[p2] 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[p2] 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[p2] 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óxido nítrico ou prostaciclina inalados.</a:t>
            </a:r>
            <a:endParaRPr lang="en-US" sz="1250" dirty="0"/>
          </a:p>
        </p:txBody>
      </p:sp>
      <p:sp>
        <p:nvSpPr>
          <p:cNvPr id="12" name="[p3] 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3] 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[p3] 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[p3] Milrinona, que também reduz a RVP, ou do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Milrinona, que também reduz a RVP, ou dobutamina; adrenalina se o choque for grave.</a:t>
            </a:r>
            <a:endParaRPr lang="en-US" sz="1250" dirty="0"/>
          </a:p>
        </p:txBody>
      </p:sp>
      <p:sp>
        <p:nvSpPr>
          <p:cNvPr id="16" name="[p4] 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[p4] 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[p4] Volume e ritmo"/>
          <p:cNvSpPr txBox="1"/>
          <p:nvPr/>
        </p:nvSpPr>
        <p:spPr>
          <a:xfrm>
            <a:off x="6653907" y="3139627"/>
            <a:ext cx="453479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[p4] Evitar sobrecarga de volume; manter ritm"/>
          <p:cNvSpPr txBox="1"/>
          <p:nvPr/>
        </p:nvSpPr>
        <p:spPr>
          <a:xfrm>
            <a:off x="6653907" y="3397389"/>
            <a:ext cx="453479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 Se falhar, assistência mecânica.</a:t>
            </a:r>
            <a:endParaRPr lang="en-US" sz="1250" dirty="0"/>
          </a:p>
        </p:txBody>
      </p:sp>
      <p:sp>
        <p:nvSpPr>
          <p:cNvPr id="20" name="[p5] 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[p5] Milrinona"/>
          <p:cNvSpPr txBox="1"/>
          <p:nvPr/>
        </p:nvSpPr>
        <p:spPr>
          <a:xfrm>
            <a:off x="1066800" y="4419653"/>
            <a:ext cx="1595636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2800" dirty="0"/>
          </a:p>
        </p:txBody>
      </p:sp>
      <p:sp>
        <p:nvSpPr>
          <p:cNvPr id="22" name="[p5] Inotrópica, com redução da RVP; associar"/>
          <p:cNvSpPr txBox="1"/>
          <p:nvPr/>
        </p:nvSpPr>
        <p:spPr>
          <a:xfrm>
            <a:off x="3049786" y="4430943"/>
            <a:ext cx="809446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Inotrópica, com redução da RVP; associar noradrenalina, porque pode baixar a PAM. Com débito preservado e RVS baixa, considerar vasoplegia: a droga é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 animBg="1"/>
      <p:bldP spid="9" grpId="0"/>
      <p:bldP spid="10" grpId="0"/>
      <p:bldP spid="11" grpId="0"/>
      <p:bldP spid="12" grpId="0" animBg="1"/>
      <p:bldP spid="13" grpId="0"/>
      <p:bldP spid="14" grpId="0"/>
      <p:bldP spid="15" grpId="0"/>
      <p:bldP spid="16" grpId="0" animBg="1"/>
      <p:bldP spid="17" grpId="0"/>
      <p:bldP spid="18" grpId="0"/>
      <p:bldP spid="19" grpId="0"/>
      <p:bldP spid="20" grpId="0" animBg="1"/>
      <p:bldP spid="21" grpId="0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RVS ↑↑ · FC ↓ · DC ↔/↓"/>
          <p:cNvSpPr txBox="1"/>
          <p:nvPr/>
        </p:nvSpPr>
        <p:spPr>
          <a:xfrm>
            <a:off x="3882430" y="2069740"/>
            <a:ext cx="187702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↑↑ · FC ↓ · DC ↔/↓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[p1] 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[p1] Agonista α1 direto, em bolus de 50–100 m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em bolus de 50–100 mcg. A bradicardia reflexa pode reduzir o DC; a droga é útil quando a taquicardia é indesejável, como em casos selecionados de estenose aórtica. Cesárea: infusão profilática de 25–50 mcg/min.</a:t>
            </a:r>
            <a:endParaRPr lang="en-US" sz="1350" dirty="0"/>
          </a:p>
        </p:txBody>
      </p:sp>
      <p:sp>
        <p:nvSpPr>
          <p:cNvPr id="18" name="[p2] 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[p2] 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[p2] PAM ↑ · FC ↑ · DC ↑"/>
          <p:cNvSpPr txBox="1"/>
          <p:nvPr/>
        </p:nvSpPr>
        <p:spPr>
          <a:xfrm>
            <a:off x="9640292" y="2069740"/>
            <a:ext cx="150395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FC ↑ · DC ↑</a:t>
            </a:r>
            <a:endParaRPr lang="en-US" sz="1300" dirty="0"/>
          </a:p>
        </p:txBody>
      </p:sp>
      <p:sp>
        <p:nvSpPr>
          <p:cNvPr id="21" name="[p2] 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[p2] 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[p2] 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[p2] 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[p2] 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[p2] 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[p2] 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[p2] 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[p2] 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[p3] 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[p3] Ação mista: direta em α e β e indireta, 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mista: direta em α e β e indireta, liberando noradrenalina. Bolus de 5–10 mg; útil na hipotensão com bradicardia. Taquifilaxia com doses repetidas;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18" grpId="0" animBg="1"/>
      <p:bldP spid="19" grpId="0"/>
      <p:bldP spid="20" grpId="0"/>
      <p:bldP spid="21" grpId="0"/>
      <p:bldP spid="22" grpId="0" animBg="1"/>
      <p:bldP spid="23" grpId="0" animBg="1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  <p:bldP spid="31" grpId="0" animBg="1"/>
      <p:bldP spid="32" grpId="0" animBg="1"/>
      <p:bldP spid="3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[p1] Cartão"/>
          <p:cNvSpPr/>
          <p:nvPr/>
        </p:nvSpPr>
        <p:spPr>
          <a:xfrm>
            <a:off x="5080000" y="187950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1] 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[p1] Restaura a resposta vascular às catecola"/>
          <p:cNvSpPr txBox="1"/>
          <p:nvPr/>
        </p:nvSpPr>
        <p:spPr>
          <a:xfrm>
            <a:off x="5289550" y="2304690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catecolaminas. No choque séptico, 200 mg/dia (sugerida pela SSC 2026).</a:t>
            </a:r>
            <a:endParaRPr lang="en-US" sz="1300" dirty="0"/>
          </a:p>
        </p:txBody>
      </p:sp>
      <p:sp>
        <p:nvSpPr>
          <p:cNvPr id="12" name="[p2] Cartão"/>
          <p:cNvSpPr/>
          <p:nvPr/>
        </p:nvSpPr>
        <p:spPr>
          <a:xfrm>
            <a:off x="5080000" y="30401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2] Angiotensina II"/>
          <p:cNvSpPr txBox="1"/>
          <p:nvPr/>
        </p:nvSpPr>
        <p:spPr>
          <a:xfrm>
            <a:off x="5289550" y="31953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[p2] Agonista AT1: eleva a PAM rapidamente e "/>
          <p:cNvSpPr txBox="1"/>
          <p:nvPr/>
        </p:nvSpPr>
        <p:spPr>
          <a:xfrm>
            <a:off x="5289550" y="34653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eleva a PAM rapidamente e poupa catecolamina. Pouco disponível; a NA continua preferida.</a:t>
            </a:r>
            <a:endParaRPr lang="en-US" sz="1300" dirty="0"/>
          </a:p>
        </p:txBody>
      </p:sp>
      <p:sp>
        <p:nvSpPr>
          <p:cNvPr id="15" name="[p3] Cartão"/>
          <p:cNvSpPr/>
          <p:nvPr/>
        </p:nvSpPr>
        <p:spPr>
          <a:xfrm>
            <a:off x="5080000" y="4200823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3] Azul de metileno"/>
          <p:cNvSpPr txBox="1"/>
          <p:nvPr/>
        </p:nvSpPr>
        <p:spPr>
          <a:xfrm>
            <a:off x="5289550" y="4356048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[p3] Bloqueia a via óxido nítrico–GMPc: resga"/>
          <p:cNvSpPr txBox="1"/>
          <p:nvPr/>
        </p:nvSpPr>
        <p:spPr>
          <a:xfrm>
            <a:off x="5289550" y="4626012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a via óxido nítrico–GMPc: resgate na vasoplegia refratária (pós-CEC, reperfusão hepática). Evitar em uso de ISRS e na deficiência de G6PD.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[p1] 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[p1] 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[p1] 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[p2] 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[p2] 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[p2] 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[p2] 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[p2] 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[p3] 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[p3] 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[p3] 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[p3] 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[p3] 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[p4] 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4] 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[p4] PAM-alvo inicial de 65 mmHg (60–65 mmHg 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PAM-alvo inicial de 65 mmHg (60–65 mmHg a partir dos 65 anos). Antecipar sistematicamente a vasopressina não reduziu a mortalidade (VASSPR).</a:t>
            </a:r>
            <a:endParaRPr lang="en-US" sz="1350" dirty="0"/>
          </a:p>
        </p:txBody>
      </p:sp>
      <p:sp>
        <p:nvSpPr>
          <p:cNvPr id="21" name="[p5] 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5] 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[p5] Hipoperfusão com volume e PAM adequados: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com NA, ou adrenalina. Hidrocortisona EV sugerida. Evitar levosimendana e terlipressina.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 animBg="1"/>
      <p:bldP spid="10" grpId="0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[p1] Cartão"/>
          <p:cNvSpPr/>
          <p:nvPr/>
        </p:nvSpPr>
        <p:spPr>
          <a:xfrm>
            <a:off x="812800" y="2486521"/>
            <a:ext cx="2011660" cy="2147292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1] 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[p1] Fenilefrina 50–100 mcg ou NA 5–10 mcg em"/>
          <p:cNvSpPr txBox="1"/>
          <p:nvPr/>
        </p:nvSpPr>
        <p:spPr>
          <a:xfrm>
            <a:off x="946150" y="3170972"/>
            <a:ext cx="176401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 em bolus; NA em infusão se persistir</a:t>
            </a:r>
            <a:endParaRPr lang="en-US" sz="1250" dirty="0"/>
          </a:p>
        </p:txBody>
      </p:sp>
      <p:sp>
        <p:nvSpPr>
          <p:cNvPr id="12" name="[p1] Corrige o tônus sem taquicardia"/>
          <p:cNvSpPr txBox="1"/>
          <p:nvPr/>
        </p:nvSpPr>
        <p:spPr>
          <a:xfrm>
            <a:off x="946150" y="3877812"/>
            <a:ext cx="176401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o tônus sem taquicardia</a:t>
            </a:r>
            <a:endParaRPr lang="en-US" sz="1200" dirty="0"/>
          </a:p>
        </p:txBody>
      </p:sp>
      <p:sp>
        <p:nvSpPr>
          <p:cNvPr id="13" name="[p2] Cartão"/>
          <p:cNvSpPr/>
          <p:nvPr/>
        </p:nvSpPr>
        <p:spPr>
          <a:xfrm>
            <a:off x="2951460" y="2486521"/>
            <a:ext cx="2011660" cy="2147292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[p2] 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5" name="[p2] Efedrina 5–10 mg"/>
          <p:cNvSpPr txBox="1"/>
          <p:nvPr/>
        </p:nvSpPr>
        <p:spPr>
          <a:xfrm>
            <a:off x="3084810" y="3170972"/>
            <a:ext cx="176401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250" dirty="0"/>
          </a:p>
        </p:txBody>
      </p:sp>
      <p:sp>
        <p:nvSpPr>
          <p:cNvPr id="16" name="[p2] β1 e liberação de noradrenalina"/>
          <p:cNvSpPr txBox="1"/>
          <p:nvPr/>
        </p:nvSpPr>
        <p:spPr>
          <a:xfrm>
            <a:off x="3084810" y="3449187"/>
            <a:ext cx="176401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 e liberação de noradrenalina</a:t>
            </a:r>
            <a:endParaRPr lang="en-US" sz="1200" dirty="0"/>
          </a:p>
        </p:txBody>
      </p:sp>
      <p:sp>
        <p:nvSpPr>
          <p:cNvPr id="17" name="[p3] Cartão"/>
          <p:cNvSpPr/>
          <p:nvPr/>
        </p:nvSpPr>
        <p:spPr>
          <a:xfrm>
            <a:off x="5090120" y="2486521"/>
            <a:ext cx="2011660" cy="2147292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[p3] 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9" name="[p3] Dobutamina; milrinona se VD com hiperten"/>
          <p:cNvSpPr txBox="1"/>
          <p:nvPr/>
        </p:nvSpPr>
        <p:spPr>
          <a:xfrm>
            <a:off x="5223470" y="3170972"/>
            <a:ext cx="176401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se VD com hipertensão pulmonar; NA se a PAM cair</a:t>
            </a:r>
            <a:endParaRPr lang="en-US" sz="1250" dirty="0"/>
          </a:p>
        </p:txBody>
      </p:sp>
      <p:sp>
        <p:nvSpPr>
          <p:cNvPr id="20" name="[p3] Inotropismo; a milrinona também reduz a "/>
          <p:cNvSpPr txBox="1"/>
          <p:nvPr/>
        </p:nvSpPr>
        <p:spPr>
          <a:xfrm>
            <a:off x="5223470" y="4092125"/>
            <a:ext cx="176401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Inotropismo; a milrinona também reduz a RVP</a:t>
            </a:r>
            <a:endParaRPr lang="en-US" sz="1200" dirty="0"/>
          </a:p>
        </p:txBody>
      </p:sp>
      <p:sp>
        <p:nvSpPr>
          <p:cNvPr id="21" name="[p4] Cartão"/>
          <p:cNvSpPr/>
          <p:nvPr/>
        </p:nvSpPr>
        <p:spPr>
          <a:xfrm>
            <a:off x="7228780" y="2486521"/>
            <a:ext cx="2011660" cy="2147292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4] 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3" name="[p4] Vasopressina; azul de metileno como resg"/>
          <p:cNvSpPr txBox="1"/>
          <p:nvPr/>
        </p:nvSpPr>
        <p:spPr>
          <a:xfrm>
            <a:off x="7362130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</a:t>
            </a:r>
            <a:endParaRPr lang="en-US" sz="1250" dirty="0"/>
          </a:p>
        </p:txBody>
      </p:sp>
      <p:sp>
        <p:nvSpPr>
          <p:cNvPr id="24" name="[p4] Pós-CEC, IECA/BRA, reperfusão hepática"/>
          <p:cNvSpPr txBox="1"/>
          <p:nvPr/>
        </p:nvSpPr>
        <p:spPr>
          <a:xfrm>
            <a:off x="7362130" y="3661119"/>
            <a:ext cx="176401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Pós-CEC, IECA/BRA, reperfusão hepática</a:t>
            </a:r>
            <a:endParaRPr lang="en-US" sz="1200" dirty="0"/>
          </a:p>
        </p:txBody>
      </p:sp>
      <p:sp>
        <p:nvSpPr>
          <p:cNvPr id="25" name="[p5] Cartão"/>
          <p:cNvSpPr/>
          <p:nvPr/>
        </p:nvSpPr>
        <p:spPr>
          <a:xfrm>
            <a:off x="9367441" y="2486521"/>
            <a:ext cx="2011660" cy="2147292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[p5] 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7" name="[p5] Volume, se o débito responde"/>
          <p:cNvSpPr txBox="1"/>
          <p:nvPr/>
        </p:nvSpPr>
        <p:spPr>
          <a:xfrm>
            <a:off x="9500791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8" name="[p5] Hipovolemia não se corrige com amina"/>
          <p:cNvSpPr txBox="1"/>
          <p:nvPr/>
        </p:nvSpPr>
        <p:spPr>
          <a:xfrm>
            <a:off x="9500791" y="3661119"/>
            <a:ext cx="176401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não se corrige com amina</a:t>
            </a:r>
            <a:endParaRPr lang="en-US" sz="1200" dirty="0"/>
          </a:p>
        </p:txBody>
      </p:sp>
      <p:sp>
        <p:nvSpPr>
          <p:cNvPr id="29" name="[p6] Raquianestesia na cesárea: fenilefrina p"/>
          <p:cNvSpPr txBox="1"/>
          <p:nvPr/>
        </p:nvSpPr>
        <p:spPr>
          <a:xfrm>
            <a:off x="812800" y="487485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Raquianestesia na cesárea: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fenilefrina profilática 25–50 mcg/min, NA como alternativa; alvo de PAS ≥90% da basal.</a:t>
            </a:r>
            <a:endParaRPr lang="en-US" sz="1300" dirty="0"/>
          </a:p>
        </p:txBody>
      </p:sp>
      <p:sp>
        <p:nvSpPr>
          <p:cNvPr id="30" name="[p7] Transplante hepático (UFRJ): em 19 pacie"/>
          <p:cNvSpPr txBox="1"/>
          <p:nvPr/>
        </p:nvSpPr>
        <p:spPr>
          <a:xfrm>
            <a:off x="812800" y="5359933"/>
            <a:ext cx="105854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do VD ao ETE manteve-se preservada em todas as fases, inclusive após a reperfusão (Gouvêa et al., PLoS One 2022).</a:t>
            </a:r>
            <a:endParaRPr lang="en-US" sz="1300" dirty="0"/>
          </a:p>
        </p:txBody>
      </p:sp>
      <p:sp>
        <p:nvSpPr>
          <p:cNvPr id="31" name="Kinsella, Anaesthesia 2018 · Hajjar, An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Hajjar, Anesthesiology 2017 (VANCS) · Gouvêa, PLoS One 2022 · Miller’s Anesthesia, 10ª ed. (2025)</a:t>
            </a:r>
            <a:endParaRPr lang="en-US" sz="1200" dirty="0"/>
          </a:p>
        </p:txBody>
      </p:sp>
      <p:pic>
        <p:nvPicPr>
          <p:cNvPr id="3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  <p:bldP spid="13" grpId="0" animBg="1"/>
      <p:bldP spid="14" grpId="0" animBg="1"/>
      <p:bldP spid="15" grpId="0"/>
      <p:bldP spid="16" grpId="0"/>
      <p:bldP spid="17" grpId="0" animBg="1"/>
      <p:bldP spid="18" grpId="0" animBg="1"/>
      <p:bldP spid="19" grpId="0"/>
      <p:bldP spid="20" grpId="0"/>
      <p:bldP spid="21" grpId="0" animBg="1"/>
      <p:bldP spid="22" grpId="0" animBg="1"/>
      <p:bldP spid="23" grpId="0"/>
      <p:bldP spid="24" grpId="0"/>
      <p:bldP spid="25" grpId="0" animBg="1"/>
      <p:bldP spid="26" grpId="0" animBg="1"/>
      <p:bldP spid="27" grpId="0"/>
      <p:bldP spid="28" grpId="0"/>
      <p:bldP spid="29" grpId="0"/>
      <p:bldP spid="3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&lt;65</a:t>
            </a:r>
            <a:endParaRPr lang="en-US" sz="4400" dirty="0"/>
          </a:p>
        </p:txBody>
      </p:sp>
      <p:sp>
        <p:nvSpPr>
          <p:cNvPr id="7" name="Em estudos observacionais, mesmo período"/>
          <p:cNvSpPr txBox="1"/>
          <p:nvPr/>
        </p:nvSpPr>
        <p:spPr>
          <a:xfrm>
            <a:off x="1066800" y="3148651"/>
            <a:ext cx="30670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estudos observacionais, mesmo períodos curtos abaixo de 65 mmHg se associam a lesão renal aguda, lesão miocárdica e delirium. Associação não prova que tratar evite o dano.</a:t>
            </a:r>
            <a:endParaRPr lang="en-US" sz="1350" dirty="0"/>
          </a:p>
        </p:txBody>
      </p:sp>
      <p:sp>
        <p:nvSpPr>
          <p:cNvPr id="8" name="[p1] 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[p1] 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[p1] 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o limite seguro individual é incerto. Com pressão venosa ou compartimental alta, o alvo é maior.</a:t>
            </a:r>
            <a:endParaRPr lang="en-US" sz="1300" dirty="0"/>
          </a:p>
        </p:txBody>
      </p:sp>
      <p:sp>
        <p:nvSpPr>
          <p:cNvPr id="11" name="[p2] 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[p2] 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[p2] PAM ≥80 (vs. ≥65) reduziu morte ou disfu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orgânica, sobretudo lesão renal aguda, em hipertensos de alto risco (HISTAP).</a:t>
            </a:r>
            <a:endParaRPr lang="en-US" sz="1300" dirty="0"/>
          </a:p>
        </p:txBody>
      </p:sp>
      <p:sp>
        <p:nvSpPr>
          <p:cNvPr id="14" name="[p3] 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[p3] Manejo proativo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[p3] Antecipar e tratar cedo; monitorização f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(VPP, volume sistólico, eco) orienta a escolha entre volume, vasopressor e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/>
      <p:bldP spid="11" grpId="0" animBg="1"/>
      <p:bldP spid="12" grpId="0"/>
      <p:bldP spid="13" grpId="0"/>
      <p:bldP spid="14" grpId="0" animBg="1"/>
      <p:bldP spid="15" grpId="0"/>
      <p:bldP spid="1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[p1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6609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pulmonar; NA se a PAM cair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[p3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38564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 (anestesia)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[p4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0980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taquicardia (anestesia)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[p5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3396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[p6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65812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SC 2026 · ESICM 2025 · Saugel, Br J An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1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Graphic spid="6" grpId="0">
        <p:bldAsOne/>
      </p:bldGraphic>
      <p:bldGraphic spid="7" grpId="0">
        <p:bldAsOne/>
      </p:bldGraphic>
      <p:bldGraphic spid="8" grpId="0">
        <p:bldAsOne/>
      </p:bldGraphic>
      <p:bldGraphic spid="9" grpId="0">
        <p:bldAsOne/>
      </p:bldGraphic>
      <p:bldGraphic spid="10" grpId="0">
        <p:bldAsOne/>
      </p:bldGraphic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, oculto na apresentaçã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apoio, oculto na apresentação: detalhes e tabelas.</a:t>
            </a:r>
            <a:endParaRPr lang="en-US" sz="1600" dirty="0"/>
          </a:p>
        </p:txBody>
      </p:sp>
      <p:sp>
        <p:nvSpPr>
          <p:cNvPr id="5" name="Síntese das drogas"/>
          <p:cNvSpPr/>
          <p:nvPr/>
        </p:nvSpPr>
        <p:spPr>
          <a:xfrm>
            <a:off x="81280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6" name="Dopamina"/>
          <p:cNvSpPr/>
          <p:nvPr/>
        </p:nvSpPr>
        <p:spPr>
          <a:xfrm>
            <a:off x="2636441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7" name="Dobutamina"/>
          <p:cNvSpPr/>
          <p:nvPr/>
        </p:nvSpPr>
        <p:spPr>
          <a:xfrm>
            <a:off x="385603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8" name="Fenilefrina"/>
          <p:cNvSpPr/>
          <p:nvPr/>
        </p:nvSpPr>
        <p:spPr>
          <a:xfrm>
            <a:off x="5232698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9" name="Efedrina"/>
          <p:cNvSpPr/>
          <p:nvPr/>
        </p:nvSpPr>
        <p:spPr>
          <a:xfrm>
            <a:off x="6479580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0" name="Vasopressina"/>
          <p:cNvSpPr/>
          <p:nvPr/>
        </p:nvSpPr>
        <p:spPr>
          <a:xfrm>
            <a:off x="7554813" y="3888680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1" name="Choque refratário"/>
          <p:cNvSpPr/>
          <p:nvPr/>
        </p:nvSpPr>
        <p:spPr>
          <a:xfrm>
            <a:off x="8988326" y="3888680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2" name="Sequência SSC"/>
          <p:cNvSpPr/>
          <p:nvPr/>
        </p:nvSpPr>
        <p:spPr>
          <a:xfrm>
            <a:off x="812800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3" name="Alvo de PAM"/>
          <p:cNvSpPr/>
          <p:nvPr/>
        </p:nvSpPr>
        <p:spPr>
          <a:xfrm>
            <a:off x="2327573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4" name="Início e via"/>
          <p:cNvSpPr/>
          <p:nvPr/>
        </p:nvSpPr>
        <p:spPr>
          <a:xfrm>
            <a:off x="3739059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5" name="Alvo intraoperatório"/>
          <p:cNvSpPr/>
          <p:nvPr/>
        </p:nvSpPr>
        <p:spPr>
          <a:xfrm>
            <a:off x="4981873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6" name="Roteiro"/>
          <p:cNvSpPr/>
          <p:nvPr/>
        </p:nvSpPr>
        <p:spPr>
          <a:xfrm>
            <a:off x="6953250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 3 a 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primeira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se anulam: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 vs. 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 mcg/min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 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resiste à MAO e à COMT e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Costuma manter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 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NA 0,1 vs. 0,4 mcg/kg/min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↓mortalidade. APROCCHSS: ↓mortalidade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Inibidor da PDE3: inodilatador não adrenérgico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 no choque cardiogênico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dados para comparar com a dobutamina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Sensibilizador ao 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benefício clínico demonstrado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inclusiv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(forte); iniciar cedo, inclusive por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30155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444309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 + NA, ou adrenalina isolada. Na escolha inicial, NA se taquiarritmia, adrenalina se bradiarritmia. Evitar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primeira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 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 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Kattan,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suspendendo anti‑hipertensivos vs. ≥60 mantendo-os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 vs. 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60715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o benefício demonstrado até agora foi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classificação das aminas"/>
          <p:cNvSpPr txBox="1"/>
          <p:nvPr/>
        </p:nvSpPr>
        <p:spPr>
          <a:xfrm>
            <a:off x="6858000" y="1964280"/>
            <a:ext cx="332124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pam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dopamina, dobutamina, milrinona, fenilefrina e efedrina; quando preferir milrinona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 e alvo "/>
          <p:cNvSpPr txBox="1"/>
          <p:nvPr/>
        </p:nvSpPr>
        <p:spPr>
          <a:xfrm>
            <a:off x="6858000" y="3862533"/>
            <a:ext cx="446325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 e alvo de pressão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33515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441573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SC 2026 · ESICM 2025 · Miller’s Anesth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13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2026-10-19T00:28:07Z</dcterms:created>
  <dcterms:modified xsi:type="dcterms:W3CDTF">2026-10-19T00:28:07Z</dcterms:modified>
</cp:coreProperties>
</file>