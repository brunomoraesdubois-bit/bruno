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bertura e objetivos" id="{c64bce80-c3a1-5cc1-5543-d5c65ba73e9b}">
          <p14:sldIdLst>
            <p14:sldId id="256"/>
            <p14:sldId id="257"/>
          </p14:sldIdLst>
        </p14:section>
        <p14:section name="Fisiologia da PAM e farmacologia dos receptores" id="{79224abe-5c4d-666f-ba64-0cb894b8bd9f}">
          <p14:sldIdLst>
            <p14:sldId id="258"/>
            <p14:sldId id="259"/>
            <p14:sldId id="260"/>
          </p14:sldIdLst>
        </p14:section>
        <p14:section name="Drogas: noradrenalina, adrenalina, dopamina, dobutamina, milrinona (e quando preferi-la à dobutamina), fenilefrina, efedrina e vasopressina" id="{81223831-41a7-9ca6-3d14-908bd08bd04c}">
          <p14:sldIdLst>
            <p14:sldId id="261"/>
            <p14:sldId id="262"/>
            <p14:sldId id="263"/>
            <p14:sldId id="264"/>
            <p14:sldId id="265"/>
            <p14:sldId id="266"/>
            <p14:sldId id="267"/>
          </p14:sldIdLst>
        </p14:section>
        <p14:section name="Choque séptico: a sequência da SSC 2026" id="{7a7e9713-c22c-2bea-207b-5568a0b6246a}">
          <p14:sldIdLst>
            <p14:sldId id="268"/>
          </p14:sldIdLst>
        </p14:section>
        <p14:section name="Perioperatório: escolha da droga e alvo de pressão" id="{48629c80-8a48-d28d-7cc7-d5df8544fdba}">
          <p14:sldIdLst>
            <p14:sldId id="269"/>
            <p14:sldId id="270"/>
          </p14:sldIdLst>
        </p14:section>
        <p14:section name="Mensagens finais" id="{ff3835aa-3215-51c5-027a-24e40301daaa}">
          <p14:sldIdLst>
            <p14:sldId id="271"/>
          </p14:sldIdLst>
        </p14:section>
        <p14:section name="Slides de reserva para perguntas" id="{36f680bd-2c66-51b9-3514-75015dc5ffe7}">
          <p14:sldIdLst>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previsto: cerca de 13 minutos e 50 segundos nos 16 slides principais; ensaiar para 13 a 14 minutos. Tempos: capa, 20 s; objetivos, 30 s; fisiologia, 1 min; receptores, 45 s; catecolaminas, 30 s; noradrenalina, 1 min 15 s; adrenalina, 1 min; dopamina e dobutamina, 1 min; milrinona, 45 s; milrinona ou dobutamina, 1 min 15 s; fenilefrina e efedrina, 1 min; vasopressina e adjuvantes, 1 min; choque séptico, 1 min; intraoperatório, 1 min 15 s; hipotensão intraoperatória, 45 s; mensagens finais, 30 s. Depois das mensagens finais ficam os slides de reserva, para perguntas. Fontes principais: Surviving Sepsis Campaign 2026, ESICM 2025, POQI 2024 e Miller’s Anesthesia, 10ª ed. (completar capítulo e página nos rodapés marcados).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Trinta segundos. A ideia é sair da aula com um raciocínio, e não com uma lista de doses: diante da hipotensão, perguntar qual componente da PAM está falhando. Tônus vascular baixo pede vasopressor, bomba fraca pede inotrópico e pré-carga baixa pede volume. Depois vêm os receptores, as drogas uma a uma e, no fim, a aplicação no choque séptico e no centro cirúrgico.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A PAM depende do débito cardíaco e da resistência vascular; a relação completa é PAM − PVC = DC × RVS, e a PVC pesa quando está alta. Na vasoplegia o problema é o tônus: sepse, anestesia geral, neuroeixo, anafilaxia, saída de CEC. Na falência de bomba o débito é baixo, em geral com resistência alta; na sepse, a disfunção miocárdica pode coexistir com vasoplegia. Hipovolemia se trata com volume. Um ponto menos lembrado: o α1 também contrai veias, recruta volume não estressado e aumenta o retorno venoso, e por isso a noradrenalina pode aumentar o débito no choque séptico (Persichini, Crit Care Med 2012). Para diferenciar, a ESICM 2025 recomenda eco como primeira imagem, parâmetros dinâmicos antes de mais volume e perfusão seriada pelo tempo de enchimento capilar, com temperatura e livedo da pele.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Quarenta e cinco segundos. α1 contrai artérias e veias; β1 aumenta contratilidade e frequência; β2 dilata vasos e brônquios e eleva glicemia e lactato; D1 dilata os leitos renal e mesentérico. α2 está na tabela só para lembrar que clonidina e dexmedetomidina são simpatolíticos, e não vasopressores. V1 e PDE3 entram porque vasopressina e milrinona não dependem do adrenoceptor: a vasopressina age no receptor V1, e a milrinona inibe a enzima que degrada o AMPc, depois do receptor β, e por isso funciona mesmo com betabloqueador. A dessensibilização com o uso prolongado ajuda a explicar a taquifilaxia e a lógica de associar uma droga de outra via.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Trinta segundos. A via de síntese explica duas coisas práticas: parte do efeito da dopamina vem da conversão e da liberação de noradrenalina, e a síntese de adrenalina na medula adrenal depende de cortisol. As catecolaminas têm meia-vida de minutos e são usadas em infusão; sem o anel catecol, fenilefrina e efedrina duram mais e servem para bolus. A ação indireta da efedrina explica a taquifilaxia.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e quinze. É a droga de primeira linha no choque séptico. É um α1 potente, com efeito β1 modesto: sobe a PAM pela resistência e pela venoconstrição, com débito mantido ou maior e frequência estável ou menor, por reflexo. A dose usual vai de 0,01 a 0,5 mcg/kg/min, sem teto fixo no choque refratário; no centro cirúrgico, bolus de 5 a 10 mcg. Pode começar em veia periférica calibrosa. Se perguntarem: no SOAP II (n = 1.679), a mortalidade em 28 dias foi semelhante à da dopamina (48,5% vs. 52,5%), com metade das arritmias (12,4% vs. 24,1%); a SSC 2026 recomenda a noradrenalina sobre a dopamina (forte, certeza alta). No Brasil, a ampola de hemitartarato de 2 mg/mL equivale a 1 mg/mL de base: registrar na prescrição se a dose está em base ou em sal. Início precoce (CENSER) e via periférica estão nos slides de reserva. No extravasamento, fentolamina infiltrada no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O efeito depende da dose: em dose baixa predominam β1 e β2, com débito alto e resistência que pode cair; em dose alta prevalece o α1. É a droga da anafilaxia e, no choque séptico, entra como terceira droga quando a PAM segue inadequada com noradrenalina e vasopressina (SSC 2026: condicional, certeza muito baixa). Na anafilaxia em ambiente monitorizado, bolus EV diluídos e titulados (ANZCA/ANZAAG 2022); se forem precisos mais de três bolus, iniciar infusão; sem acesso venoso, ou fora desse ambiente, 0,5 mg IM. O lactato pode subir por efeito β2, mas isso não autoriza ignorar hipoperfusão. Se perguntarem: no CATS (Annane, Lancet 2007), mortalidade semelhante à do grupo noradrenalina + dobutamina (40% vs. 34%, NS), com mais acidose; no CAT (Myburgh, Intensive Care Med 2008), 12,9% dos pacientes em adrenalina foram retirados por efeitos metabólicos transitórios. No OptimaCC (Levy, J Am Coll Cardiol 2018; n = 57, choque cardiogênico pós-IAM), o índice cardíaco foi semelhante, mas houve mais choque refratário com adrenalina (37% vs. 7%), que era o principal desfecho de segurança; o estudo foi interrompido precocemente.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Dopamina: o efeito muda com a dose, primeiro D1, depois β1 e, em doses altas, α1, mas a resposta varia muito entre pacientes. A dose “renal” não protege o rim: no ANZICS (n = 328), não houve diferença em creatinina, diálise ou mortalidade. No SOAP II, a mortalidade foi semelhante à da noradrenalina, com o dobro de arritmias, e a SSC 2026 recomenda contra a dopamina como primeira linha. Uso residual: bradicardia sintomática sem alternativa. Dobutamina: inotropismo β1 com queda discreta da resistência, indicada no baixo débito com hipoperfusão. No paciente hipotenso, entra junto com o vasopressor, nunca no lugar dele. A comparação com a milrinona vem logo depois do slide da milrinona.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Quarenta e cinco segundos. A milrinona inibe a fosfodiesterase 3 e aumenta o AMPc sem passar pelo receptor β; por isso mantém efeito com betabloqueador ou com receptores dessensibilizados. É um inodilatador: aumenta a contratilidade e o relaxamento e reduz as resistências sistêmica e pulmonar. Como dilata, muitas vezes precisa de noradrenalina junto. Tem eliminação renal e meia-vida bem mais longa que a da dobutamina: é menos titulável e acumula na insuficiência renal; a dose máxima diária em bula é 1,13 mg/kg. Toda indicação pressupõe baixo débito com hipoperfusão; a comparação com a dobutamina vem no próximo slide. Se perguntarem: no OPTIME-CHF (JAMA 2002), na IC descompensada sem indicação clara de inotrópico, não houve benefício, com mais hipotensão sustentada (10,7% vs. 3,2%) e arritmias atriais (4,6% vs. 1,5%). No DOREMI (N Engl J Med 2021), no choque cardiogênico, não houve diferença estatisticamente significativa no desfecho composto em relação à dobutamina, o que não prova equivalência. A SSC 2026 não encontrou dados para comparar as duas no choque séptico.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e quinze. Esta é a pergunta prática da aula. Primeiro, a indicação: inotrópico só se justifica com baixo débito e sinais de hipoperfusão, depois de corrigir volume e PAM. Se a hipotensão é por vasoplegia, a droga é o vasopressor, e um inodilatador baixa ainda mais a pressão. Entre as duas, nenhuma é superior em desfecho; a escolha é farmacológica. A milrinona faz sentido quando o problema é o VD com hipertensão pulmonar, como na saída de CEC, porque reduz a resistência pulmonar, e quando o betabloqueio ou a taquicardia limitam a dobutamina. A dobutamina é preferível quando há hipotensão ou vasoplegia, insuficiência renal, porque a milrinona acumula, ou quando é preciso titular rápido. Para discutir o caso que motivou a aula: havia baixo débito com hipoperfusão? Havia disfunção de VD ou hipertensão pulmonar? A hipotensão era vasoplegia? Se perguntarem: no DOREMI (n = 192, choque cardiogênico), o desfecho composto foi 49% com milrinona e 54% com dobutamina (RR 0,90; IC 95% de 0,69 a 1,19); no subgrupo em uso de betabloqueador (48% dos pacientes), também não houve diferença no desfecho composto, na FC nem na PAM (Di Santo, Crit Care 2021). Isso não prova equivalência, mas também não mostra vantagem de uma sobre a outra. A meia-vida da milrinona é de cerca de 2,4 h na insuficiência cardíaca e aumenta na insuficiência renal, que pede dose de manutenção menor; a da dobutamina é de cerca de 2 minutos. Sem hipoperfusão, inotrópico não traz benefício: no OPTIME-CHF, a milrinona causou mais hipotensão e mais arritmia atrial.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Fenilefrina: α1 puro, sem ação β; a PAM sobe pela resistência e a frequência cai por reflexo. Isso ajuda quando a taquicardia atrapalha, mas pode reduzir o débito quando ele depende da frequência. Na estenose aórtica, o objetivo é manter a pós-carga e evitar taquicardia; a escolha depende da frequência e da função ventricular, e não de uma regra fixa. Na cesárea, o consenso internacional de 2018 recomenda vasopressor α-agonista em infusão profilática, titulado para manter a PAS perto da basal; metanálises recentes mostram menos bradicardia materna com noradrenalina e pH umbilical semelhante. Efedrina: por ter ação indireta, perde efeito com doses repetidas e com estoques de noradrenalina depletados; atravessa a placenta e se associa a mais acidose fetal.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A vasopressina age no receptor V1, fora da via adrenérgica: poupa catecolamina e mantém efeito em acidose; no choque séptico há deficiência relativa de vasopressina. Usa-se em dose fixa, sem titulação; no desmame, reduzir primeiro a noradrenalina. Indicações: choque séptico com noradrenalina em escalada, vasoplegia após CEC e hipotensão refratária em quem usa IECA ou BRA. Riscos: isquemia digital e mesentérica, hiponatremia. Antes de somar drogas, corrigir causas tratáveis (volume, foco, acidose, cálcio, disfunção ventricular). Se perguntarem: no VANCS (Hajjar, Anesthesiology 2017, InCor), na vasoplegia pós-CEC, a vasopressina teve menos morte ou complicação grave que a noradrenalina (32% vs. 49%); é uma população de cirurgia cardíaca, e o resultado não deve ser extrapolado para o choque séptico. Hidrocortisona: 200 mg/dia (50 mg de 6/6 h ou em infusão). Angiotensina II: no ATHOS-3, a PAM respondeu em 3 h em 69,9% vs. 23,4% dos pacientes, sem diferença de mortalidade; verificar disponibilidade. Azul de metileno: inibe a óxido nítrico sintase e a guanilato ciclase; é resgate na vasoplegia pós-CEC e na reperfusão do enxerto hepático, com evidência limitada; interfere na oximetria e pode causar síndrome serotoninérgica com ISRS e outros serotoninérgicos.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A SSC 2026 organiza os vasopressores em sequência. Noradrenalina primeiro, iniciada cedo e, se preciso, por veia periférica (forte sobre a dopamina; a preferência sobre vasopressina e angiotensina II passou a ser condicional). Vasopressina quando a dose de noradrenalina está subindo (condicional, certeza moderada); a diretriz não define um número, e na enquete dos painelistas a mediana foi 0,3 mcg/kg/min. Adrenalina se a PAM continuar inadequada (condicional, certeza muito baixa). Alvo inicial de 65 mmHg (forte, certeza moderada), ou 60 a 65 mmHg a partir dos 65 anos (condicional, certeza baixa). Na disfunção cardíaca com hipoperfusão apesar de volume e PAM adequados, dobutamina com noradrenalina, ou adrenalina. Se perguntarem: o VASSPR (JAMA 2026, n = 3.959) comparou políticas hospitalares de iniciar a vasopressina com noradrenalina de 0,1 vs. 0,4 mcg/kg/min; a vasopressina foi usada em 52,4% vs. 32,9%, e a mortalidade foi 31,8% vs. 33,0%. Antecipar como regra não trouxe ganho, mas isso não prova que o momento seja irrelevante para todos. No OPTPRESS, alvo de 80–85 mmHg em idosos aumentou a mortalidade.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e quinze. Antes da droga, afastar causas tratáveis: plano anestésico profundo, hipovolemia, compressão aortocava, pneumotórax, anafilaxia. Se a hipotensão persistir, avaliar a resposta a volume com parâmetros dinâmicos e fazer eco. A escolha segue o mecanismo: tônus baixo com frequência preservada pede α1; bradicardia associada pede ação β1; baixo débito pede inotrópico, e a milrinona tem a vantagem de reduzir a resistência pulmonar. A vasoplegia que não responde às catecolaminas, como após CEC, com uso crônico de IECA ou BRA ou na reperfusão do enxerto hepático, responde melhor à vasopressina; o azul de metileno fica como resgate. Bolus para o transitório, infusão para o persistente. Na cesárea, metanálises recentes mostram menos bradicardia materna com noradrenalina e pH umbilical semelhante ao da fenilefrina. Na anafilaxia, adrenalina.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Quarenta e cinco segundos. É a mensagem do editorial “The hidden cost of hypotension” (Braz J Anesthesiol 2025), que tem Rodrigo Diaz, da UFRJ, entre os autores: a hipotensão intraoperatória, mesmo por períodos curtos, se associa a lesão renal aguda, lesão miocárdica, delirium, AVC, reinternação e mortalidade, e o risco cresce com a profundidade e a duração. O editorial defende monitorização contínua, manejo proativo e metas individualizadas. O POQI 2024 trata PAM ≥60 mmHg em pacientes de risco como limite mínimo, e não como garantia de perfusão; com pressão venosa central, intracraniana ou abdominal alta, o alvo deve ser maior. Se perguntarem: Salmasi (Anesthesiology 2017) associou mais de 13 minutos acumulados com PAM abaixo de 65 mmHg a mais lesão miocárdica e renal. No HISTAP (n = 630), PAM ≥80 vs. ≥65 em hipertensos de alto risco reduziu morte ou disfunção orgânica (38,1% vs. 48,9%), sobretudo por lesão renal aguda; a PAM alcançada foi 88 vs. 77 mmHg. No IMPROVE-multi (n = 1.134), o alvo individual pela PA noturna não foi melhor que PAM ≥65 (RR 1,10; IC 95% 0,93–1,30). Índice de previsão de hipotensão e sistemas em alça fechada reduzem a exposição à hipotensão, ainda sem benefício claro em desfechos.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Trinta segundos. Voltar à pergunta do início: qual componente da PAM está falhando? A droga certa é a que corrige esse componente, na menor dose eficaz e pelo menor tempo. Terminar com a pergunta para o grupo, sobre a prática do serviço. Depois deste slide ficam os slides de reserva.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apresentação principal termina no slide de mensagens finais. Daqui em diante, só material de apoio: resumo das drogas, slides individuais de dopamina, dobutamina, fenilefrina, efedrina e vasopressina, choque refratário, sequência da SSC 2026, alvo de PAM, início precoce e via periférica, estudos de alvo no intraoperatório, roteiro e referências.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consolidar, ler por coluna: quem tem α1 alto eleva a RVS (noradrenalina, fenilefrina); quem tem β1 alto eleva DC e FC (adrenalina, dobutamina, isoproterenol); β2 explica vasodilatação e lactato. Na dopamina, o receptor que predomina muda com a dose. Milrinona e vasopressina têm zero nas colunas porque não agem nesses receptores: a milrinona inibe a PDE3 e a vasopressina age no V1. O isoproterenol só tem linha nesta tabela: uso restrito a bradicardia refratária e ponte para marca-passo. As faixas de dose são as usuais em adultos e devem ser tituladas pela resposta.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faixas de dose mostram o perfil esperado; na prática, a resposta a cada faixa é imprevisível. ANZICS (n = 328): dopamina 2 mcg/kg/min vs. placebo, sem diferença no pico de creatinina, na necessidade de diálise ou na mortalidade. SOAP II: no subgrupo de choque cardiogênico, mortalidade maior com dopamina (p = 0,03). Uso residual: bradicardia sintomática, quando não houver alternativa.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Isômero (+): agonista β1 e β2 e antagonista α1; isômero (−): agonista α1. O resultado clínico é inotropismo com queda discreta da RVS; por isso, no paciente vasoplégico, a dobutamina entra junto com o vasopressor, nunca no lugar dele. DOREMI (n = 192): mortalidade hospitalar de 43% vs. 37% com milrinona, sem diferença significativa. A SSC 2026 não encontrou dados suficientes para comparar dobutamina e milrinona e sugere contra a levosimendana.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Agonista α1 direto, sem ação β: a PAM sobe pela RVS e a FC cai por reflexo. Isso é vantagem quando a taquicardia é o problema (estenose aórtica, cardiomiopatia hipertrófica obstrutiva, fibrilação atrial com resposta rápida) e desvantagem quando o DC depende da FC. O consenso internacional obstétrico (Kinsella 2018) indica a fenilefrina como agente de escolha, em infusão profilática; a noradrenalina é alternativa crescente, com melhor preservação do DC materno e desfechos neonatais comparáveis. Os números da comparação em bolus são do ensaio de Sharkey (Anesth Analg 2019), citado na revisão de Park e Choi; conferir no artigo original antes de citar.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ação indireta explica as limitações: resposta menor quando os estoques de noradrenalina estão depletados (choque prolongado, uso crônico de simpatolíticos) e pouca eficácia no coração transplantado, que é desnervado. Na cesárea, a efedrina foi substituída pela fenilefrina como primeira escolha; continua útil como resgate quando há bradicardia.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Não é amina, mas é a principal parceira da noradrenalina. VASST: no subgrupo de choque menos grave (NA de 5 a 14 mcg/min), mortalidade de 26,5% vs. 35,7%, achado só gerador de hipótese. VANISH (Gordon, JAMA 2016), com vasopressina precoce: sem diferença em dias livres de falência renal. VASSPR (publicado em 14/10/2026): comparou políticas de início por hospital (vasopressina de fato usada em 52,4% vs. 32,9%), sem ganho de mortalidade nem de dias livres de diálise, com sinal de mais choque cardiogênico no grupo precoce (7,4% vs. 6,3%). Equivalência usada em escores: vasopressina 0,03 U/min corresponde a cerca de 0,075 mcg/kg/min de noradrenalina (fator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Mensagem: no choque que não responde à noradrenalina, a estratégia é somar mecanismos diferentes, e não subir indefinidamente a mesma droga. ATHOS-3 (n = 344): mortalidade em 28 dias de 46% vs. 53,8% (NS). Azul de metileno: na enquete com os painelistas da SSC 2026, 69% nunca ou quase nunca o usam como resgate. Verificar a disponibilidade local de angiotensina II antes de citá-la como opção.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Pontos da SSC 2026: a preferência da noradrenalina sobre vasopressina e angiotensina II passou a ser sugestão (condicional); continua a sugestão de iniciar o vasopressor por via periférica em vez de esperar o acesso central, que já existia em 2021; a sugestão contra a levosimendana, também de 2021, foi mantida, e a terlipressina recebeu sugestão contra; o azul de metileno ficou sem recomendação, por evidência insuficiente. A SSC não define um limiar numérico para associar vasopressina.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trial (n = 2.463 na análise primária): menos exposição a vasopressor no grupo permissivo (duração média de 46,0 vs. 55,9 h; dose total média de noradrenalina-equivalente de 31,5 vs. 44,3 mg), sem sinal de dano; a OR ajustada favoreceu a hipotensão permissiva (0,82). OPTPRESS (29 hospitais japoneses): interrompido precocemente por dano, com diferença absoluta de 10,7 pontos percentuais (IC 95% de 2,6 a 18,9) e menos dias livres de terapia renal substitutiva no alvo alto; o protocolo associava vasopressina cedo, com NA ≥0,1 mcg/kg/min. A ESICM 2025 também sugere alvo menor no trauma com sangramento ativo sem TCE e PAM ≥80 mmHg no TCE grave.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CENSER (n = 310): dose fixa, não titulada, por 24 h; mortalidade em 28 dias de 15,5% vs. 21,9% (NS). Na metanálise de Tran (Am J Emerg Med 2020), houve 122 complicações em 1.835 pacientes (7%), 96% delas leves; a prevalência combinada por efeitos aleatórios foi de 8,6% (IC 95% de 3,1 a 21%), e os estudos com protocolo de segurança tiveram menos complicações (2,9% vs. 12%). Na prática: veia calibrosa e proximal, inspeção frequente do sítio e plano para acesso central se a dose subir ou a infusão se prolongar; no extravasamento, fentolamina local. A equivalência de 2 mg/mL de hemitartarato a 1 mg/mL de base consta da bula do hemitartarato de norepinefrina. Ibarra-Estrada, Kattan e Jung (Intensive Care Med 2024) defendem padronizar o relato da dose: a mesma infusão expressa em sal dá o dobro do número em base (0,1 mcg/kg/min de sal ≈ 0,05 de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POISE-3: o braço de evitar hipotensão suspendia anti-hipertensivos e mirava PAM ≥80, sem redução de eventos vasculares. IMPROVE-multi: o alvo individualizado não foi melhor que PAM ≥65 (RR 1,10; IC 95% 0,93–1,30). HISTAP (n = 630, 18 centros italianos): em idosos hipertensos de alto risco, com monitorização contínua e fluidoterapia protocolada, PAM ≥80 reduziu o desfecho composto, sobretudo por menos lesão renal aguda leve a moderada (23,5% vs. 33,7%). A PAM média alcançada foi 77 mmHg no controle e 88 mmHg no alvo alto, ou seja, o controle não ficou em 65; o alvo alto exigiu mais noradrenalina, efedrina e transfusão. Leitura prática: evitar PAM abaixo de 60–65 é consenso; subir o alvo é decisão individual, em paciente selecionado.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Roteiro da apresentação, mantido como reserva (na versão de 15 minutos, o slide de objetivos faz esse papel). A aula vai do raciocínio fisiológico para a farmacologia, depois para cada droga e, por fim, para a aplicação no choque séptico e no centro cirúrgico. O bloco de drogas é o centro da aula: cerca de 1 minuto por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Completar a entrada do Miller com os capítulos de farmacologia do sistema nervoso autônomo e de farmacologia cardiovascular, e preencher os rodapés marcados com [cap./pág.]. SSC 2026: Crit Care Med 2026;54(4):725–812. VASSPR: JAMA, publicado online em 14/10/2026. HISTAP: Intensive Care Med 2026;52(8):1619–1634. IMPROVE-multi: JAMA 2025;334(21):1893–1904. POISE-3 (braço de pressão): Ann Intern Med 2023;176:605–614. POQI: Br J Anaesth 2024;133(2):264–276. Lineburger et al., “The hidden cost of hypotension” (editorial; entre os autores, Rodrigo Diaz): Braz J Anesthesiol 2025;75(1):844581. DOREMI: N Engl J Med 2021;385(6):516–525. Di Santo et al., subanálise do DOREMI por uso de betabloqueador: Crit Care 2021;25:289. OPTIME-CHF: JAMA 2002;287(12):1541–1547. VANCS: Anesthesiology 2017;126(1):85–93. CAT: Intensive Care Med 2008;34:2226–2234. VANISH: JAMA 2016;316(5):509–518. Salmasi: Anesthesiology 2017;126(1):47–65. Sharkey: Anesth Analg 2019;129(5):1312–1318.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apa">
    <p:bg>
      <p:bgPr>
        <a:solidFill>
          <a:srgbClr val="1B2A3A"/>
        </a:solidFill>
      </p:bgPr>
    </p:bg>
    <p:spTree>
      <p:nvGrpSpPr>
        <p:cNvPr id="1" name=""/>
        <p:cNvGrpSpPr/>
        <p:nvPr/>
      </p:nvGrpSpPr>
      <p:grpSpPr>
        <a:xfrm>
          <a:off x="0" y="0"/>
          <a:ext cx="0" cy="0"/>
          <a:chOff x="0" y="0"/>
          <a:chExt cx="0" cy="0"/>
        </a:xfrm>
      </p:grpSpPr>
      <p:sp>
        <p:nvSpPr>
          <p:cNvPr id="2" name="Text 0"/>
          <p:cNvSpPr/>
          <p:nvPr>
            <p:ph type="title"/>
          </p:nvPr>
        </p:nvSpPr>
        <p:spPr>
          <a:xfrm>
            <a:off x="812800" y="4245839"/>
            <a:ext cx="9042400" cy="1493520"/>
          </a:xfrm>
          <a:prstGeom prst="rect">
            <a:avLst/>
          </a:prstGeom>
          <a:noFill/>
          <a:ln/>
        </p:spPr>
        <p:txBody>
          <a:bodyPr wrap="square" rtlCol="0"/>
          <a:lstStyle>
            <a:lvl1pPr algn="l" indent="0" marL="0">
              <a:buNone/>
              <a:defRPr lang="en-US" sz="5600" dirty="0">
                <a:solidFill>
                  <a:srgbClr val="F5F3EE"/>
                </a:solidFill>
                <a:latin typeface="Georgia" pitchFamily="34" charset="0"/>
                <a:ea typeface="Georgia" pitchFamily="34" charset="-122"/>
                <a:cs typeface="Georgia" pitchFamily="34" charset="-120"/>
              </a:defRPr>
            </a:lvl1pPr>
          </a:lstStyle>
          <a:p>
            <a:pPr algn="l" indent="0" marL="0">
              <a:buNone/>
            </a:pPr>
            <a:endParaRPr lang="en-US" sz="5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údo">
    <p:bg>
      <p:bgPr>
        <a:solidFill>
          <a:srgbClr val="F5F3EE"/>
        </a:solidFill>
      </p:bgPr>
    </p:bg>
    <p:spTree>
      <p:nvGrpSpPr>
        <p:cNvPr id="1" name=""/>
        <p:cNvGrpSpPr/>
        <p:nvPr/>
      </p:nvGrpSpPr>
      <p:grpSpPr>
        <a:xfrm>
          <a:off x="0" y="0"/>
          <a:ext cx="0" cy="0"/>
          <a:chOff x="0" y="0"/>
          <a:chExt cx="0" cy="0"/>
        </a:xfrm>
      </p:grpSpPr>
      <p:sp>
        <p:nvSpPr>
          <p:cNvPr id="2" name="Text 0"/>
          <p:cNvSpPr/>
          <p:nvPr>
            <p:ph type="title"/>
          </p:nvPr>
        </p:nvSpPr>
        <p:spPr>
          <a:xfrm>
            <a:off x="812800" y="1135442"/>
            <a:ext cx="10718800" cy="894080"/>
          </a:xfrm>
          <a:prstGeom prst="rect">
            <a:avLst/>
          </a:prstGeom>
          <a:noFill/>
          <a:ln/>
        </p:spPr>
        <p:txBody>
          <a:bodyPr wrap="square" rtlCol="0"/>
          <a:lstStyle>
            <a:lvl1pPr algn="l" indent="0" marL="0">
              <a:buNone/>
              <a:defRPr lang="en-US" sz="3200" dirty="0">
                <a:solidFill>
                  <a:srgbClr val="1B2A3A"/>
                </a:solidFill>
                <a:latin typeface="Georgia" pitchFamily="34" charset="0"/>
                <a:ea typeface="Georgia" pitchFamily="34" charset="-122"/>
                <a:cs typeface="Georgia" pitchFamily="34" charset="-120"/>
              </a:defRPr>
            </a:lvl1pPr>
          </a:lstStyle>
          <a:p>
            <a:pPr algn="l" indent="0" marL="0">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sor">
    <p:bg>
      <p:bgPr>
        <a:solidFill>
          <a:srgbClr val="1B2A3A"/>
        </a:solidFill>
      </p:bgPr>
    </p:bg>
    <p:spTree>
      <p:nvGrpSpPr>
        <p:cNvPr id="1" name=""/>
        <p:cNvGrpSpPr/>
        <p:nvPr/>
      </p:nvGrpSpPr>
      <p:grpSpPr>
        <a:xfrm>
          <a:off x="0" y="0"/>
          <a:ext cx="0" cy="0"/>
          <a:chOff x="0" y="0"/>
          <a:chExt cx="0" cy="0"/>
        </a:xfrm>
      </p:grpSpPr>
      <p:sp>
        <p:nvSpPr>
          <p:cNvPr id="2" name="Text 0"/>
          <p:cNvSpPr/>
          <p:nvPr>
            <p:ph type="title"/>
          </p:nvPr>
        </p:nvSpPr>
        <p:spPr>
          <a:xfrm>
            <a:off x="812800" y="1847982"/>
            <a:ext cx="10718800" cy="497840"/>
          </a:xfrm>
          <a:prstGeom prst="rect">
            <a:avLst/>
          </a:prstGeom>
          <a:noFill/>
          <a:ln/>
        </p:spPr>
        <p:txBody>
          <a:bodyPr wrap="square" rtlCol="0"/>
          <a:lstStyle>
            <a:lvl1pPr algn="l" indent="0" marL="0">
              <a:buNone/>
              <a:defRPr lang="en-US" sz="1400" dirty="0">
                <a:solidFill>
                  <a:srgbClr val="E49A5C"/>
                </a:solidFill>
                <a:latin typeface="Georgia" pitchFamily="34" charset="0"/>
                <a:ea typeface="Georgia" pitchFamily="34" charset="-122"/>
                <a:cs typeface="Georgia" pitchFamily="34" charset="-120"/>
              </a:defRPr>
            </a:lvl1pPr>
          </a:lstStyle>
          <a:p>
            <a:pPr algn="l" indent="0" marL="0">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3A"/>
        </a:solidFill>
      </p:bgPr>
    </p:bg>
    <p:spTree>
      <p:nvGrpSpPr>
        <p:cNvPr id="1" name=""/>
        <p:cNvGrpSpPr/>
        <p:nvPr/>
      </p:nvGrpSpPr>
      <p:grpSpPr>
        <a:xfrm>
          <a:off x="0" y="0"/>
          <a:ext cx="0" cy="0"/>
          <a:chOff x="0" y="0"/>
          <a:chExt cx="0" cy="0"/>
        </a:xfrm>
      </p:grpSpPr>
      <p:sp>
        <p:nvSpPr>
          <p:cNvPr id="2" name="SESSÃO CLÍNICA · ANESTESIOLOGIA"/>
          <p:cNvSpPr txBox="1"/>
          <p:nvPr/>
        </p:nvSpPr>
        <p:spPr>
          <a:xfrm>
            <a:off x="812800" y="3704861"/>
            <a:ext cx="10585450" cy="248841"/>
          </a:xfrm>
          <a:prstGeom prst="rect">
            <a:avLst/>
          </a:prstGeom>
          <a:noFill/>
          <a:ln/>
        </p:spPr>
        <p:txBody>
          <a:bodyPr wrap="none" lIns="0" tIns="0" rIns="0" bIns="0" rtlCol="0" anchor="t"/>
          <a:lstStyle/>
          <a:p>
            <a:pPr algn="l" indent="0" marL="0">
              <a:lnSpc>
                <a:spcPts val="1960"/>
              </a:lnSpc>
              <a:buNone/>
            </a:pPr>
            <a:r>
              <a:rPr lang="pt-BR" altLang="en-US" sz="1400" b="1" spc="150" kern="0" dirty="0">
                <a:solidFill>
                  <a:srgbClr val="E49A5C"/>
                </a:solidFill>
                <a:latin typeface="Calibri" pitchFamily="34" charset="0"/>
                <a:ea typeface="Calibri" pitchFamily="34" charset="-122"/>
                <a:cs typeface="Calibri" pitchFamily="34" charset="-120"/>
              </a:rPr>
              <a:t>SESSÃO CLÍNICA · ANESTESIOLOGIA</a:t>
            </a:r>
            <a:endParaRPr lang="en-US" sz="1400" dirty="0"/>
          </a:p>
        </p:txBody>
      </p:sp>
      <p:sp>
        <p:nvSpPr>
          <p:cNvPr id="3" name="Text 0"/>
          <p:cNvSpPr/>
          <p:nvPr>
            <p:ph type="title"/>
          </p:nvPr>
        </p:nvSpPr>
        <p:spPr>
          <a:xfrm>
            <a:off x="812800" y="4245839"/>
            <a:ext cx="9042400" cy="1493520"/>
          </a:xfrm>
          <a:prstGeom prst="rect">
            <a:avLst/>
          </a:prstGeom>
          <a:noFill/>
          <a:ln/>
        </p:spPr>
        <p:txBody>
          <a:bodyPr wrap="square" lIns="0" tIns="0" rIns="0" bIns="0" rtlCol="0" anchor="t"/>
          <a:lstStyle/>
          <a:p>
            <a:pPr algn="l" indent="0" marL="0">
              <a:lnSpc>
                <a:spcPts val="5880"/>
              </a:lnSpc>
              <a:buNone/>
            </a:pPr>
            <a:r>
              <a:rPr lang="pt-BR" altLang="en-US" sz="5600" dirty="0">
                <a:solidFill>
                  <a:srgbClr val="F5F3EE"/>
                </a:solidFill>
                <a:latin typeface="Georgia" pitchFamily="34" charset="0"/>
                <a:ea typeface="Georgia" pitchFamily="34" charset="-122"/>
                <a:cs typeface="Georgia" pitchFamily="34" charset="-120"/>
              </a:rPr>
              <a:t>Aminas vasoativas</a:t>
            </a:r>
            <a:endParaRPr lang="en-US" sz="5600" dirty="0"/>
          </a:p>
        </p:txBody>
      </p:sp>
      <p:sp>
        <p:nvSpPr>
          <p:cNvPr id="4" name="Fisiologia, farmacologia e escolha da dr"/>
          <p:cNvSpPr txBox="1"/>
          <p:nvPr/>
        </p:nvSpPr>
        <p:spPr>
          <a:xfrm>
            <a:off x="812800" y="5204434"/>
            <a:ext cx="8909050" cy="319980"/>
          </a:xfrm>
          <a:prstGeom prst="rect">
            <a:avLst/>
          </a:prstGeom>
          <a:noFill/>
          <a:ln/>
        </p:spPr>
        <p:txBody>
          <a:bodyPr wrap="none" lIns="0" tIns="0" rIns="0" bIns="0" rtlCol="0" anchor="t"/>
          <a:lstStyle/>
          <a:p>
            <a:pPr algn="l" indent="0" marL="0">
              <a:lnSpc>
                <a:spcPts val="2520"/>
              </a:lnSpc>
              <a:buNone/>
            </a:pPr>
            <a:r>
              <a:rPr lang="pt-BR" altLang="en-US" sz="1800" dirty="0">
                <a:solidFill>
                  <a:srgbClr val="C9CFD6"/>
                </a:solidFill>
                <a:latin typeface="Calibri" pitchFamily="34" charset="0"/>
                <a:ea typeface="Calibri" pitchFamily="34" charset="-122"/>
                <a:cs typeface="Calibri" pitchFamily="34" charset="-120"/>
              </a:rPr>
              <a:t>Fisiologia, farmacologia e escolha da droga no choque e no perioperatório</a:t>
            </a:r>
            <a:endParaRPr lang="en-US" sz="1800" dirty="0"/>
          </a:p>
        </p:txBody>
      </p:sp>
      <p:sp>
        <p:nvSpPr>
          <p:cNvPr id="5" name="Bruno Dubois · Orientadores: Marcelo Ban"/>
          <p:cNvSpPr txBox="1"/>
          <p:nvPr/>
        </p:nvSpPr>
        <p:spPr>
          <a:xfrm>
            <a:off x="812800" y="5782402"/>
            <a:ext cx="10585450" cy="248841"/>
          </a:xfrm>
          <a:prstGeom prst="rect">
            <a:avLst/>
          </a:prstGeom>
          <a:noFill/>
          <a:ln/>
        </p:spPr>
        <p:txBody>
          <a:bodyPr wrap="none" lIns="0" tIns="0" rIns="0" bIns="0" rtlCol="0" anchor="t"/>
          <a:lstStyle/>
          <a:p>
            <a:pPr algn="l" indent="0" marL="0">
              <a:lnSpc>
                <a:spcPts val="1960"/>
              </a:lnSpc>
              <a:buNone/>
            </a:pPr>
            <a:r>
              <a:rPr lang="pt-BR" altLang="en-US" sz="1400" dirty="0">
                <a:solidFill>
                  <a:srgbClr val="C9CFD6"/>
                </a:solidFill>
                <a:latin typeface="Calibri" pitchFamily="34" charset="0"/>
                <a:ea typeface="Calibri" pitchFamily="34" charset="-122"/>
                <a:cs typeface="Calibri" pitchFamily="34" charset="-120"/>
              </a:rPr>
              <a:t>Bruno Dubois · Orientadores: Marcelo Bandeira e Glauber Gouvea · UFRJ</a:t>
            </a:r>
            <a:endParaRPr lang="en-US" sz="1400" dirty="0"/>
          </a:p>
        </p:txBody>
      </p:sp>
      <p:pic>
        <p:nvPicPr>
          <p:cNvPr id="6"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E"/>
        </a:solidFill>
      </p:bgPr>
    </p:bg>
    <p:spTree>
      <p:nvGrpSpPr>
        <p:cNvPr id="1" name=""/>
        <p:cNvGrpSpPr/>
        <p:nvPr/>
      </p:nvGrpSpPr>
      <p:grpSpPr>
        <a:xfrm>
          <a:off x="0" y="0"/>
          <a:ext cx="0" cy="0"/>
          <a:chOff x="0" y="0"/>
          <a:chExt cx="0" cy="0"/>
        </a:xfrm>
      </p:grpSpPr>
      <p:sp>
        <p:nvSpPr>
          <p:cNvPr id="2" name="OBJETIVOS"/>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OBJETIVOS</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Escolher a droga pelo mecanismo da hipotensão</a:t>
            </a:r>
            <a:endParaRPr lang="en-US" sz="3200" dirty="0"/>
          </a:p>
        </p:txBody>
      </p:sp>
      <p:sp>
        <p:nvSpPr>
          <p:cNvPr id="4" name="01"/>
          <p:cNvSpPr txBox="1"/>
          <p:nvPr/>
        </p:nvSpPr>
        <p:spPr>
          <a:xfrm>
            <a:off x="812800" y="1857860"/>
            <a:ext cx="425450"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01</a:t>
            </a:r>
            <a:endParaRPr lang="en-US" sz="2400" dirty="0"/>
          </a:p>
        </p:txBody>
      </p:sp>
      <p:sp>
        <p:nvSpPr>
          <p:cNvPr id="5" name="Identificar qual componente da PAM está "/>
          <p:cNvSpPr txBox="1"/>
          <p:nvPr/>
        </p:nvSpPr>
        <p:spPr>
          <a:xfrm>
            <a:off x="1371600" y="1964280"/>
            <a:ext cx="7741245" cy="280591"/>
          </a:xfrm>
          <a:prstGeom prst="rect">
            <a:avLst/>
          </a:prstGeom>
          <a:noFill/>
          <a:ln/>
        </p:spPr>
        <p:txBody>
          <a:bodyPr wrap="none" lIns="0" tIns="0" rIns="0" bIns="0" rtlCol="0" anchor="t"/>
          <a:lstStyle/>
          <a:p>
            <a:pPr algn="l" indent="0" marL="0">
              <a:lnSpc>
                <a:spcPts val="2210"/>
              </a:lnSpc>
              <a:buNone/>
            </a:pPr>
            <a:r>
              <a:rPr lang="pt-BR" altLang="en-US" sz="1700" dirty="0">
                <a:solidFill>
                  <a:srgbClr val="1B2A3A"/>
                </a:solidFill>
                <a:latin typeface="Calibri" pitchFamily="34" charset="0"/>
                <a:ea typeface="Calibri" pitchFamily="34" charset="-122"/>
                <a:cs typeface="Calibri" pitchFamily="34" charset="-120"/>
              </a:rPr>
              <a:t>Identificar qual componente da PAM está falhando: tônus vascular, bomba ou pré-carga</a:t>
            </a:r>
            <a:endParaRPr lang="en-US" sz="1700" dirty="0"/>
          </a:p>
        </p:txBody>
      </p:sp>
      <p:sp>
        <p:nvSpPr>
          <p:cNvPr id="6" name="02"/>
          <p:cNvSpPr txBox="1"/>
          <p:nvPr/>
        </p:nvSpPr>
        <p:spPr>
          <a:xfrm>
            <a:off x="812800" y="2462301"/>
            <a:ext cx="425450"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02</a:t>
            </a:r>
            <a:endParaRPr lang="en-US" sz="2400" dirty="0"/>
          </a:p>
        </p:txBody>
      </p:sp>
      <p:sp>
        <p:nvSpPr>
          <p:cNvPr id="7" name="Relacionar o perfil de receptores de cad"/>
          <p:cNvSpPr txBox="1"/>
          <p:nvPr/>
        </p:nvSpPr>
        <p:spPr>
          <a:xfrm>
            <a:off x="1371600" y="2568720"/>
            <a:ext cx="6717605" cy="280591"/>
          </a:xfrm>
          <a:prstGeom prst="rect">
            <a:avLst/>
          </a:prstGeom>
          <a:noFill/>
          <a:ln/>
        </p:spPr>
        <p:txBody>
          <a:bodyPr wrap="none" lIns="0" tIns="0" rIns="0" bIns="0" rtlCol="0" anchor="t"/>
          <a:lstStyle/>
          <a:p>
            <a:pPr algn="l" indent="0" marL="0">
              <a:lnSpc>
                <a:spcPts val="2210"/>
              </a:lnSpc>
              <a:buNone/>
            </a:pPr>
            <a:r>
              <a:rPr lang="pt-BR" altLang="en-US" sz="1700" dirty="0">
                <a:solidFill>
                  <a:srgbClr val="1B2A3A"/>
                </a:solidFill>
                <a:latin typeface="Calibri" pitchFamily="34" charset="0"/>
                <a:ea typeface="Calibri" pitchFamily="34" charset="-122"/>
                <a:cs typeface="Calibri" pitchFamily="34" charset="-120"/>
              </a:rPr>
              <a:t>Relacionar o perfil de receptores de cada droga ao seu efeito hemodinâmico</a:t>
            </a:r>
            <a:endParaRPr lang="en-US" sz="1700" dirty="0"/>
          </a:p>
        </p:txBody>
      </p:sp>
      <p:sp>
        <p:nvSpPr>
          <p:cNvPr id="8" name="03"/>
          <p:cNvSpPr txBox="1"/>
          <p:nvPr/>
        </p:nvSpPr>
        <p:spPr>
          <a:xfrm>
            <a:off x="812800" y="3066741"/>
            <a:ext cx="425450"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03</a:t>
            </a:r>
            <a:endParaRPr lang="en-US" sz="2400" dirty="0"/>
          </a:p>
        </p:txBody>
      </p:sp>
      <p:sp>
        <p:nvSpPr>
          <p:cNvPr id="9" name="Conhecer ação, dose, indicações e cuidad"/>
          <p:cNvSpPr txBox="1"/>
          <p:nvPr/>
        </p:nvSpPr>
        <p:spPr>
          <a:xfrm>
            <a:off x="1371600" y="3173161"/>
            <a:ext cx="10026650" cy="561181"/>
          </a:xfrm>
          <a:prstGeom prst="rect">
            <a:avLst/>
          </a:prstGeom>
          <a:noFill/>
          <a:ln/>
        </p:spPr>
        <p:txBody>
          <a:bodyPr wrap="square" lIns="0" tIns="0" rIns="0" bIns="0" rtlCol="0" anchor="t"/>
          <a:lstStyle/>
          <a:p>
            <a:pPr algn="l" indent="0" marL="0">
              <a:lnSpc>
                <a:spcPts val="2210"/>
              </a:lnSpc>
              <a:buNone/>
            </a:pPr>
            <a:r>
              <a:rPr lang="pt-BR" altLang="en-US" sz="1700" dirty="0">
                <a:solidFill>
                  <a:srgbClr val="1B2A3A"/>
                </a:solidFill>
                <a:latin typeface="Calibri" pitchFamily="34" charset="0"/>
                <a:ea typeface="Calibri" pitchFamily="34" charset="-122"/>
                <a:cs typeface="Calibri" pitchFamily="34" charset="-120"/>
              </a:rPr>
              <a:t>Conhecer ação, dose, indicações e cuidados das drogas vasoativas, incluindo quando preferir milrinona ou dobutamina</a:t>
            </a:r>
            <a:endParaRPr lang="en-US" sz="1700" dirty="0"/>
          </a:p>
        </p:txBody>
      </p:sp>
      <p:sp>
        <p:nvSpPr>
          <p:cNvPr id="10" name="04"/>
          <p:cNvSpPr txBox="1"/>
          <p:nvPr/>
        </p:nvSpPr>
        <p:spPr>
          <a:xfrm>
            <a:off x="812800" y="3900972"/>
            <a:ext cx="425450"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04</a:t>
            </a:r>
            <a:endParaRPr lang="en-US" sz="2400" dirty="0"/>
          </a:p>
        </p:txBody>
      </p:sp>
      <p:sp>
        <p:nvSpPr>
          <p:cNvPr id="11" name="Aplicar esse raciocínio no choque séptic"/>
          <p:cNvSpPr txBox="1"/>
          <p:nvPr/>
        </p:nvSpPr>
        <p:spPr>
          <a:xfrm>
            <a:off x="1371600" y="4007392"/>
            <a:ext cx="6464300" cy="280591"/>
          </a:xfrm>
          <a:prstGeom prst="rect">
            <a:avLst/>
          </a:prstGeom>
          <a:noFill/>
          <a:ln/>
        </p:spPr>
        <p:txBody>
          <a:bodyPr wrap="none" lIns="0" tIns="0" rIns="0" bIns="0" rtlCol="0" anchor="t"/>
          <a:lstStyle/>
          <a:p>
            <a:pPr algn="l" indent="0" marL="0">
              <a:lnSpc>
                <a:spcPts val="2210"/>
              </a:lnSpc>
              <a:buNone/>
            </a:pPr>
            <a:r>
              <a:rPr lang="pt-BR" altLang="en-US" sz="1700" dirty="0">
                <a:solidFill>
                  <a:srgbClr val="1B2A3A"/>
                </a:solidFill>
                <a:latin typeface="Calibri" pitchFamily="34" charset="0"/>
                <a:ea typeface="Calibri" pitchFamily="34" charset="-122"/>
                <a:cs typeface="Calibri" pitchFamily="34" charset="-120"/>
              </a:rPr>
              <a:t>Aplicar esse raciocínio no choque séptico e na hipotensão intraoperatória</a:t>
            </a:r>
            <a:endParaRPr lang="en-US" sz="1700" dirty="0"/>
          </a:p>
        </p:txBody>
      </p:sp>
      <p:sp>
        <p:nvSpPr>
          <p:cNvPr id="12" name="Cartão"/>
          <p:cNvSpPr/>
          <p:nvPr/>
        </p:nvSpPr>
        <p:spPr>
          <a:xfrm>
            <a:off x="812800" y="4654054"/>
            <a:ext cx="10566400" cy="988020"/>
          </a:xfrm>
          <a:prstGeom prst="roundRect">
            <a:avLst>
              <a:gd name="adj" fmla="val 7712"/>
            </a:avLst>
          </a:prstGeom>
          <a:solidFill>
            <a:srgbClr val="FFFDF8"/>
          </a:solidFill>
          <a:ln w="6350">
            <a:solidFill>
              <a:srgbClr val="E2DDD2"/>
            </a:solidFill>
            <a:prstDash val="solid"/>
          </a:ln>
        </p:spPr>
      </p:sp>
      <p:sp>
        <p:nvSpPr>
          <p:cNvPr id="13" name="Pergunta central"/>
          <p:cNvSpPr txBox="1"/>
          <p:nvPr/>
        </p:nvSpPr>
        <p:spPr>
          <a:xfrm>
            <a:off x="1073150" y="4834750"/>
            <a:ext cx="3002756" cy="568920"/>
          </a:xfrm>
          <a:prstGeom prst="rect">
            <a:avLst/>
          </a:prstGeom>
          <a:noFill/>
          <a:ln/>
        </p:spPr>
        <p:txBody>
          <a:bodyPr wrap="none" lIns="0" tIns="0" rIns="0" bIns="0" rtlCol="0" anchor="t"/>
          <a:lstStyle/>
          <a:p>
            <a:pPr algn="l" indent="0" marL="0">
              <a:lnSpc>
                <a:spcPts val="4480"/>
              </a:lnSpc>
              <a:buNone/>
            </a:pPr>
            <a:r>
              <a:rPr lang="pt-BR" altLang="en-US" sz="3200" dirty="0">
                <a:solidFill>
                  <a:srgbClr val="B9581A"/>
                </a:solidFill>
                <a:latin typeface="Georgia" pitchFamily="34" charset="0"/>
                <a:ea typeface="Georgia" pitchFamily="34" charset="-122"/>
                <a:cs typeface="Georgia" pitchFamily="34" charset="-120"/>
              </a:rPr>
              <a:t>Pergunta central</a:t>
            </a:r>
            <a:endParaRPr lang="en-US" sz="3200" dirty="0"/>
          </a:p>
        </p:txBody>
      </p:sp>
      <p:sp>
        <p:nvSpPr>
          <p:cNvPr id="14" name="Qual componente da PAM está falhando? A "/>
          <p:cNvSpPr txBox="1"/>
          <p:nvPr/>
        </p:nvSpPr>
        <p:spPr>
          <a:xfrm>
            <a:off x="4260056" y="4999760"/>
            <a:ext cx="6247507" cy="266700"/>
          </a:xfrm>
          <a:prstGeom prst="rect">
            <a:avLst/>
          </a:prstGeom>
          <a:noFill/>
          <a:ln/>
        </p:spPr>
        <p:txBody>
          <a:bodyPr wrap="none" lIns="0" tIns="0" rIns="0" bIns="0" rtlCol="0" anchor="t"/>
          <a:lstStyle/>
          <a:p>
            <a:pPr algn="l" indent="0" marL="0">
              <a:lnSpc>
                <a:spcPts val="2100"/>
              </a:lnSpc>
              <a:buNone/>
            </a:pPr>
            <a:r>
              <a:rPr lang="pt-BR" altLang="en-US" sz="1500" dirty="0">
                <a:solidFill>
                  <a:srgbClr val="1B2A3A"/>
                </a:solidFill>
                <a:latin typeface="Calibri" pitchFamily="34" charset="0"/>
                <a:ea typeface="Calibri" pitchFamily="34" charset="-122"/>
                <a:cs typeface="Calibri" pitchFamily="34" charset="-120"/>
              </a:rPr>
              <a:t>Qual componente da PAM está falhando? A resposta orienta a escolha da droga.</a:t>
            </a:r>
            <a:endParaRPr lang="en-US" sz="1500" dirty="0"/>
          </a:p>
        </p:txBody>
      </p:sp>
      <p:pic>
        <p:nvPicPr>
          <p:cNvPr id="15"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E"/>
        </a:solidFill>
      </p:bgPr>
    </p:bg>
    <p:spTree>
      <p:nvGrpSpPr>
        <p:cNvPr id="1" name=""/>
        <p:cNvGrpSpPr/>
        <p:nvPr/>
      </p:nvGrpSpPr>
      <p:grpSpPr>
        <a:xfrm>
          <a:off x="0" y="0"/>
          <a:ext cx="0" cy="0"/>
          <a:chOff x="0" y="0"/>
          <a:chExt cx="0" cy="0"/>
        </a:xfrm>
      </p:grpSpPr>
      <p:sp>
        <p:nvSpPr>
          <p:cNvPr id="2" name="01 · FISIOLOGIA"/>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01 · FISIOLOGIA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Determinantes da pressão arterial média</a:t>
            </a:r>
            <a:endParaRPr lang="en-US" sz="3200" dirty="0"/>
          </a:p>
        </p:txBody>
      </p:sp>
      <p:sp>
        <p:nvSpPr>
          <p:cNvPr id="4" name="Cartão"/>
          <p:cNvSpPr/>
          <p:nvPr/>
        </p:nvSpPr>
        <p:spPr>
          <a:xfrm>
            <a:off x="812800" y="1879501"/>
            <a:ext cx="3386634" cy="2372618"/>
          </a:xfrm>
          <a:prstGeom prst="roundRect">
            <a:avLst>
              <a:gd name="adj" fmla="val 3212"/>
            </a:avLst>
          </a:prstGeom>
          <a:solidFill>
            <a:srgbClr val="FFFDF8"/>
          </a:solidFill>
          <a:ln w="6350">
            <a:solidFill>
              <a:srgbClr val="E2DDD2"/>
            </a:solidFill>
            <a:prstDash val="solid"/>
          </a:ln>
        </p:spPr>
      </p:sp>
      <p:sp>
        <p:nvSpPr>
          <p:cNvPr id="5" name="Vasoplegia"/>
          <p:cNvSpPr txBox="1"/>
          <p:nvPr/>
        </p:nvSpPr>
        <p:spPr>
          <a:xfrm>
            <a:off x="1073150" y="2135857"/>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Vasoplegia</a:t>
            </a:r>
            <a:endParaRPr lang="en-US" sz="1700" dirty="0"/>
          </a:p>
        </p:txBody>
      </p:sp>
      <p:sp>
        <p:nvSpPr>
          <p:cNvPr id="6" name="RVS baixa com DC preservado ou alto: sep"/>
          <p:cNvSpPr txBox="1"/>
          <p:nvPr/>
        </p:nvSpPr>
        <p:spPr>
          <a:xfrm>
            <a:off x="1073150" y="2484480"/>
            <a:ext cx="2884984" cy="994172"/>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RVS baixa com DC preservado ou alto: sepse, anestesia geral, neuroeixo, anafilaxia, pós-CEC. Alvo: tônus arterial, com vasopressor α1 ou V1.</a:t>
            </a:r>
            <a:endParaRPr lang="en-US" sz="1350" dirty="0"/>
          </a:p>
        </p:txBody>
      </p:sp>
      <p:sp>
        <p:nvSpPr>
          <p:cNvPr id="7" name="Cartão"/>
          <p:cNvSpPr/>
          <p:nvPr/>
        </p:nvSpPr>
        <p:spPr>
          <a:xfrm>
            <a:off x="4402634" y="1879501"/>
            <a:ext cx="3386634" cy="2372618"/>
          </a:xfrm>
          <a:prstGeom prst="roundRect">
            <a:avLst>
              <a:gd name="adj" fmla="val 3212"/>
            </a:avLst>
          </a:prstGeom>
          <a:solidFill>
            <a:srgbClr val="FFFDF8"/>
          </a:solidFill>
          <a:ln w="6350">
            <a:solidFill>
              <a:srgbClr val="E2DDD2"/>
            </a:solidFill>
            <a:prstDash val="solid"/>
          </a:ln>
        </p:spPr>
      </p:sp>
      <p:sp>
        <p:nvSpPr>
          <p:cNvPr id="8" name="Falência de bomba"/>
          <p:cNvSpPr txBox="1"/>
          <p:nvPr/>
        </p:nvSpPr>
        <p:spPr>
          <a:xfrm>
            <a:off x="4662984" y="2135857"/>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Falência de bomba</a:t>
            </a:r>
            <a:endParaRPr lang="en-US" sz="1700" dirty="0"/>
          </a:p>
        </p:txBody>
      </p:sp>
      <p:sp>
        <p:nvSpPr>
          <p:cNvPr id="9" name="DC baixo, em geral com RVS alta: choque "/>
          <p:cNvSpPr txBox="1"/>
          <p:nvPr/>
        </p:nvSpPr>
        <p:spPr>
          <a:xfrm>
            <a:off x="4662984" y="2484480"/>
            <a:ext cx="2884984" cy="1491258"/>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DC baixo, em geral com RVS alta: choque cardiogênico; na sepse, a disfunção miocárdica pode coexistir com vasoplegia. Alvo: contratilidade, com inotrópico β1, associado a vasopressor se a PAM cair.</a:t>
            </a:r>
            <a:endParaRPr lang="en-US" sz="1350" dirty="0"/>
          </a:p>
        </p:txBody>
      </p:sp>
      <p:sp>
        <p:nvSpPr>
          <p:cNvPr id="10" name="Cartão"/>
          <p:cNvSpPr/>
          <p:nvPr/>
        </p:nvSpPr>
        <p:spPr>
          <a:xfrm>
            <a:off x="7992467" y="1879501"/>
            <a:ext cx="3386634" cy="2372618"/>
          </a:xfrm>
          <a:prstGeom prst="roundRect">
            <a:avLst>
              <a:gd name="adj" fmla="val 3212"/>
            </a:avLst>
          </a:prstGeom>
          <a:solidFill>
            <a:srgbClr val="FFFDF8"/>
          </a:solidFill>
          <a:ln w="6350">
            <a:solidFill>
              <a:srgbClr val="E2DDD2"/>
            </a:solidFill>
            <a:prstDash val="solid"/>
          </a:ln>
        </p:spPr>
      </p:sp>
      <p:sp>
        <p:nvSpPr>
          <p:cNvPr id="11" name="Pré-carga"/>
          <p:cNvSpPr txBox="1"/>
          <p:nvPr/>
        </p:nvSpPr>
        <p:spPr>
          <a:xfrm>
            <a:off x="8252817" y="2135857"/>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Pré-carga</a:t>
            </a:r>
            <a:endParaRPr lang="en-US" sz="1700" dirty="0"/>
          </a:p>
        </p:txBody>
      </p:sp>
      <p:sp>
        <p:nvSpPr>
          <p:cNvPr id="12" name="Hipovolemia não se corrige com amina. Ma"/>
          <p:cNvSpPr txBox="1"/>
          <p:nvPr/>
        </p:nvSpPr>
        <p:spPr>
          <a:xfrm>
            <a:off x="8252817" y="2484480"/>
            <a:ext cx="2884984" cy="994172"/>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Hipovolemia não se corrige com amina. Mas o α1 também contrai veias: recruta volume não estressado e aumenta o retorno venoso.</a:t>
            </a:r>
            <a:endParaRPr lang="en-US" sz="1350" dirty="0"/>
          </a:p>
        </p:txBody>
      </p:sp>
      <p:sp>
        <p:nvSpPr>
          <p:cNvPr id="13" name="Cartão"/>
          <p:cNvSpPr/>
          <p:nvPr/>
        </p:nvSpPr>
        <p:spPr>
          <a:xfrm>
            <a:off x="812800" y="4556919"/>
            <a:ext cx="10566400" cy="988020"/>
          </a:xfrm>
          <a:prstGeom prst="roundRect">
            <a:avLst>
              <a:gd name="adj" fmla="val 7712"/>
            </a:avLst>
          </a:prstGeom>
          <a:solidFill>
            <a:srgbClr val="FFFDF8"/>
          </a:solidFill>
          <a:ln w="6350">
            <a:solidFill>
              <a:srgbClr val="E2DDD2"/>
            </a:solidFill>
            <a:prstDash val="solid"/>
          </a:ln>
        </p:spPr>
      </p:sp>
      <p:sp>
        <p:nvSpPr>
          <p:cNvPr id="14" name="Como diferenciar?"/>
          <p:cNvSpPr txBox="1"/>
          <p:nvPr/>
        </p:nvSpPr>
        <p:spPr>
          <a:xfrm>
            <a:off x="1073150" y="4737614"/>
            <a:ext cx="3327598" cy="568920"/>
          </a:xfrm>
          <a:prstGeom prst="rect">
            <a:avLst/>
          </a:prstGeom>
          <a:noFill/>
          <a:ln/>
        </p:spPr>
        <p:txBody>
          <a:bodyPr wrap="none" lIns="0" tIns="0" rIns="0" bIns="0" rtlCol="0" anchor="t"/>
          <a:lstStyle/>
          <a:p>
            <a:pPr algn="l" indent="0" marL="0">
              <a:lnSpc>
                <a:spcPts val="4480"/>
              </a:lnSpc>
              <a:buNone/>
            </a:pPr>
            <a:r>
              <a:rPr lang="pt-BR" altLang="en-US" sz="3200" dirty="0">
                <a:solidFill>
                  <a:srgbClr val="B9581A"/>
                </a:solidFill>
                <a:latin typeface="Georgia" pitchFamily="34" charset="0"/>
                <a:ea typeface="Georgia" pitchFamily="34" charset="-122"/>
                <a:cs typeface="Georgia" pitchFamily="34" charset="-120"/>
              </a:rPr>
              <a:t>Como diferenciar?</a:t>
            </a:r>
            <a:endParaRPr lang="en-US" sz="3200" dirty="0"/>
          </a:p>
        </p:txBody>
      </p:sp>
      <p:sp>
        <p:nvSpPr>
          <p:cNvPr id="15" name="Eco como primeira imagem para o tipo de "/>
          <p:cNvSpPr txBox="1"/>
          <p:nvPr/>
        </p:nvSpPr>
        <p:spPr>
          <a:xfrm>
            <a:off x="4584898" y="4769275"/>
            <a:ext cx="6553002" cy="533400"/>
          </a:xfrm>
          <a:prstGeom prst="rect">
            <a:avLst/>
          </a:prstGeom>
          <a:noFill/>
          <a:ln/>
        </p:spPr>
        <p:txBody>
          <a:bodyPr wrap="square" lIns="0" tIns="0" rIns="0" bIns="0" rtlCol="0" anchor="t"/>
          <a:lstStyle/>
          <a:p>
            <a:pPr algn="l" indent="0" marL="0">
              <a:lnSpc>
                <a:spcPts val="2100"/>
              </a:lnSpc>
              <a:buNone/>
            </a:pPr>
            <a:r>
              <a:rPr lang="pt-BR" altLang="en-US" sz="1500" dirty="0">
                <a:solidFill>
                  <a:srgbClr val="1B2A3A"/>
                </a:solidFill>
                <a:latin typeface="Calibri" pitchFamily="34" charset="0"/>
                <a:ea typeface="Calibri" pitchFamily="34" charset="-122"/>
                <a:cs typeface="Calibri" pitchFamily="34" charset="-120"/>
              </a:rPr>
              <a:t>Eco como primeira imagem para o tipo de choque, parâmetros dinâmicos para a resposta a volume e perfusão seriada (enchimento capilar).</a:t>
            </a:r>
            <a:endParaRPr lang="en-US" sz="1500" dirty="0"/>
          </a:p>
        </p:txBody>
      </p:sp>
      <p:sp>
        <p:nvSpPr>
          <p:cNvPr id="16" name="Miller’s Anesthesia, 10ª ed. (2024) · [c"/>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Miller’s Anesthesia, 10ª ed. (2024) · [cap./pág.] · Persichini, Crit Care Med 2012 · Monnet, Intensive Care Med 2025 (ESICM)</a:t>
            </a:r>
            <a:endParaRPr lang="en-US" sz="1200" dirty="0"/>
          </a:p>
        </p:txBody>
      </p:sp>
      <p:pic>
        <p:nvPicPr>
          <p:cNvPr id="17"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E"/>
        </a:solidFill>
      </p:bgPr>
    </p:bg>
    <p:spTree>
      <p:nvGrpSpPr>
        <p:cNvPr id="1" name=""/>
        <p:cNvGrpSpPr/>
        <p:nvPr/>
      </p:nvGrpSpPr>
      <p:grpSpPr>
        <a:xfrm>
          <a:off x="0" y="0"/>
          <a:ext cx="0" cy="0"/>
          <a:chOff x="0" y="0"/>
          <a:chExt cx="0" cy="0"/>
        </a:xfrm>
      </p:grpSpPr>
      <p:sp>
        <p:nvSpPr>
          <p:cNvPr id="2" name="02 · RECEPTORES"/>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02 · RECEPTORES</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Receptores e vias de sinalização</a:t>
            </a:r>
            <a:endParaRPr lang="en-US" sz="3200" dirty="0"/>
          </a:p>
        </p:txBody>
      </p:sp>
      <p:graphicFrame>
        <p:nvGraphicFramePr>
          <p:cNvPr id="5" name="Tabela"/>
          <p:cNvGraphicFramePr>
            <a:graphicFrameLocks noGrp="1"/>
          </p:cNvGraphicFramePr>
          <p:nvPr>
            <p:extLst>
              <p:ext uri="{D42A27DB-BD31-4B8C-83A1-F6EECF244321}">
                <p14:modId xmlns:p14="http://schemas.microsoft.com/office/powerpoint/2010/main" val="1579011935"/>
              </p:ext>
            </p:extLst>
          </p:nvPr>
        </p:nvGraphicFramePr>
        <p:xfrm>
          <a:off x="812800" y="1879501"/>
          <a:ext cx="10566400" cy="914400"/>
        </p:xfrm>
        <a:graphic>
          <a:graphicData uri="http://schemas.openxmlformats.org/drawingml/2006/table">
            <a:tbl>
              <a:tblPr/>
              <a:tblGrid>
                <a:gridCol w="1056580"/>
                <a:gridCol w="3169841"/>
                <a:gridCol w="4226520"/>
                <a:gridCol w="2113459"/>
              </a:tblGrid>
              <a:tr h="391120">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Receptor</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Onde</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Efeito principal</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Sinalização</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r>
              <a:tr h="394295">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α1</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Músculo liso de artérias e veias</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Vasoconstrição: ↑RVS e ↑retorno venoso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Gq → ↑Ca</a:t>
                      </a:r>
                      <a:pPr algn="l" indent="0" marL="0">
                        <a:lnSpc>
                          <a:spcPts val="1680"/>
                        </a:lnSpc>
                        <a:buNone/>
                      </a:pPr>
                      <a:r>
                        <a:rPr lang="pt-BR" altLang="en-US" sz="1200" baseline="30000" dirty="0">
                          <a:solidFill>
                            <a:srgbClr val="1B2A3A"/>
                          </a:solidFill>
                          <a:latin typeface="Calibri" pitchFamily="34" charset="0"/>
                          <a:ea typeface="Calibri" pitchFamily="34" charset="-122"/>
                          <a:cs typeface="Calibri" pitchFamily="34" charset="-120"/>
                        </a:rPr>
                        <a:t>2+</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α2</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Terminal pré-sináptico, SNC</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 liberação de noradrenalina; sedação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Gi → ↓AMPc</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β1</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Miocárdio, nós SA e AV</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 inotropismo, cronotropismo e dromotropismo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Gs → ↑AMPc</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β2</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Vasos, brônquios, fígado, músculo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Vasodilatação, broncodilatação, ↑glicemia e ↑lactato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Gs → ↑AMPc</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D1</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Leitos renal, mesentérico, coronariano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Vasodilatação e natriurese</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Gs → ↑AMPc</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V1</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Músculo liso vascular</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Vasoconstrição sem receptor adrenérgico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Gq → ↑Ca</a:t>
                      </a:r>
                      <a:pPr algn="l" indent="0" marL="0">
                        <a:lnSpc>
                          <a:spcPts val="1680"/>
                        </a:lnSpc>
                        <a:buNone/>
                      </a:pPr>
                      <a:r>
                        <a:rPr lang="pt-BR" altLang="en-US" sz="1200" baseline="30000" dirty="0">
                          <a:solidFill>
                            <a:srgbClr val="1B2A3A"/>
                          </a:solidFill>
                          <a:latin typeface="Calibri" pitchFamily="34" charset="0"/>
                          <a:ea typeface="Calibri" pitchFamily="34" charset="-122"/>
                          <a:cs typeface="Calibri" pitchFamily="34" charset="-120"/>
                        </a:rPr>
                        <a:t>2+</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PDE3</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Miocárdio e vasos (enzima)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Inibida pela milrinona: inotropismo e vasodilatação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 degradação do AMPc</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bl>
          </a:graphicData>
        </a:graphic>
      </p:graphicFrame>
      <p:sp>
        <p:nvSpPr>
          <p:cNvPr id="5" name="Com o uso prolongado, os adrenoceptores "/>
          <p:cNvSpPr txBox="1"/>
          <p:nvPr/>
        </p:nvSpPr>
        <p:spPr>
          <a:xfrm>
            <a:off x="812800" y="5343756"/>
            <a:ext cx="10585450" cy="248841"/>
          </a:xfrm>
          <a:prstGeom prst="rect">
            <a:avLst/>
          </a:prstGeom>
          <a:noFill/>
          <a:ln/>
        </p:spPr>
        <p:txBody>
          <a:bodyPr wrap="none" lIns="0" tIns="0" rIns="0" bIns="0" rtlCol="0" anchor="t"/>
          <a:lstStyle/>
          <a:p>
            <a:pPr algn="l" indent="0" marL="0">
              <a:lnSpc>
                <a:spcPts val="1960"/>
              </a:lnSpc>
              <a:buNone/>
            </a:pPr>
            <a:r>
              <a:rPr lang="pt-BR" altLang="en-US" sz="1400" dirty="0">
                <a:solidFill>
                  <a:srgbClr val="2C3A48"/>
                </a:solidFill>
                <a:latin typeface="Calibri" pitchFamily="34" charset="0"/>
                <a:ea typeface="Calibri" pitchFamily="34" charset="-122"/>
                <a:cs typeface="Calibri" pitchFamily="34" charset="-120"/>
              </a:rPr>
              <a:t>Com o uso prolongado, os adrenoceptores se dessensibilizam; vasopressina (V1) e milrinona (PDE3) não dependem deles.</a:t>
            </a:r>
            <a:endParaRPr lang="en-US" sz="1400" dirty="0"/>
          </a:p>
        </p:txBody>
      </p:sp>
      <p:sp>
        <p:nvSpPr>
          <p:cNvPr id="6" name="Miller’s Anesthesia, 10ª ed. (2024) · [c"/>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Miller’s Anesthesia, 10ª ed. (2024) · [cap./pág.]</a:t>
            </a:r>
            <a:endParaRPr lang="en-US" sz="1200" dirty="0"/>
          </a:p>
        </p:txBody>
      </p:sp>
      <p:pic>
        <p:nvPicPr>
          <p:cNvPr id="7"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E"/>
        </a:solidFill>
      </p:bgPr>
    </p:bg>
    <p:spTree>
      <p:nvGrpSpPr>
        <p:cNvPr id="1" name=""/>
        <p:cNvGrpSpPr/>
        <p:nvPr/>
      </p:nvGrpSpPr>
      <p:grpSpPr>
        <a:xfrm>
          <a:off x="0" y="0"/>
          <a:ext cx="0" cy="0"/>
          <a:chOff x="0" y="0"/>
          <a:chExt cx="0" cy="0"/>
        </a:xfrm>
      </p:grpSpPr>
      <p:sp>
        <p:nvSpPr>
          <p:cNvPr id="2" name="02 · CLASSIFICAÇÃO"/>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02 · CLASSIFICAÇÃO</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Catecolaminas e não catecolaminas</a:t>
            </a:r>
            <a:endParaRPr lang="en-US" sz="3200" dirty="0"/>
          </a:p>
        </p:txBody>
      </p:sp>
      <p:sp>
        <p:nvSpPr>
          <p:cNvPr id="4" name="Tirosina"/>
          <p:cNvSpPr/>
          <p:nvPr/>
        </p:nvSpPr>
        <p:spPr>
          <a:xfrm>
            <a:off x="812800" y="1879501"/>
            <a:ext cx="935137" cy="419100"/>
          </a:xfrm>
          <a:prstGeom prst="roundRect">
            <a:avLst>
              <a:gd name="adj" fmla="val 50000"/>
            </a:avLst>
          </a:prstGeom>
          <a:solidFill>
            <a:srgbClr val="1B2A3A"/>
          </a:solidFill>
          <a:ln/>
        </p:spPr>
        <p:txBody>
          <a:bodyPr wrap="none" lIns="152400" tIns="76200" rIns="152400" bIns="76200" rtlCol="0" anchor="ctr"/>
          <a:lstStyle/>
          <a:p>
            <a:pPr algn="ctr" indent="0" marL="0">
              <a:lnSpc>
                <a:spcPts val="2100"/>
              </a:lnSpc>
              <a:buNone/>
            </a:pPr>
            <a:r>
              <a:rPr lang="pt-BR" altLang="en-US" sz="1500" b="1" dirty="0">
                <a:solidFill>
                  <a:srgbClr val="F5F3EE"/>
                </a:solidFill>
                <a:latin typeface="Calibri" pitchFamily="34" charset="0"/>
                <a:ea typeface="Calibri" pitchFamily="34" charset="-122"/>
                <a:cs typeface="Calibri" pitchFamily="34" charset="-120"/>
              </a:rPr>
              <a:t>Tirosina</a:t>
            </a:r>
            <a:endParaRPr lang="en-US" sz="1500" dirty="0"/>
          </a:p>
        </p:txBody>
      </p:sp>
      <p:sp>
        <p:nvSpPr>
          <p:cNvPr id="5" name="→"/>
          <p:cNvSpPr txBox="1"/>
          <p:nvPr/>
        </p:nvSpPr>
        <p:spPr>
          <a:xfrm>
            <a:off x="1849537" y="1930820"/>
            <a:ext cx="203002" cy="284460"/>
          </a:xfrm>
          <a:prstGeom prst="rect">
            <a:avLst/>
          </a:prstGeom>
          <a:noFill/>
          <a:ln/>
        </p:spPr>
        <p:txBody>
          <a:bodyPr wrap="none" lIns="0" tIns="0" rIns="0" bIns="0" rtlCol="0" anchor="t"/>
          <a:lstStyle/>
          <a:p>
            <a:pPr algn="l" indent="0" marL="0">
              <a:lnSpc>
                <a:spcPts val="2240"/>
              </a:lnSpc>
              <a:buNone/>
            </a:pPr>
            <a:r>
              <a:rPr lang="pt-BR" altLang="en-US" sz="1600" dirty="0">
                <a:solidFill>
                  <a:srgbClr val="B9581A"/>
                </a:solidFill>
                <a:latin typeface="Calibri" pitchFamily="34" charset="0"/>
                <a:ea typeface="Calibri" pitchFamily="34" charset="-122"/>
                <a:cs typeface="Calibri" pitchFamily="34" charset="-120"/>
              </a:rPr>
              <a:t>→</a:t>
            </a:r>
            <a:endParaRPr lang="en-US" sz="1600" dirty="0"/>
          </a:p>
        </p:txBody>
      </p:sp>
      <p:sp>
        <p:nvSpPr>
          <p:cNvPr id="6" name="DOPA"/>
          <p:cNvSpPr/>
          <p:nvPr/>
        </p:nvSpPr>
        <p:spPr>
          <a:xfrm>
            <a:off x="2135088" y="1879501"/>
            <a:ext cx="770632" cy="419100"/>
          </a:xfrm>
          <a:prstGeom prst="roundRect">
            <a:avLst>
              <a:gd name="adj" fmla="val 50000"/>
            </a:avLst>
          </a:prstGeom>
          <a:solidFill>
            <a:srgbClr val="1B2A3A"/>
          </a:solidFill>
          <a:ln/>
        </p:spPr>
        <p:txBody>
          <a:bodyPr wrap="none" lIns="152400" tIns="76200" rIns="152400" bIns="76200" rtlCol="0" anchor="ctr"/>
          <a:lstStyle/>
          <a:p>
            <a:pPr algn="ctr" indent="0" marL="0">
              <a:lnSpc>
                <a:spcPts val="2100"/>
              </a:lnSpc>
              <a:buNone/>
            </a:pPr>
            <a:r>
              <a:rPr lang="pt-BR" altLang="en-US" sz="1500" b="1" dirty="0">
                <a:solidFill>
                  <a:srgbClr val="F5F3EE"/>
                </a:solidFill>
                <a:latin typeface="Calibri" pitchFamily="34" charset="0"/>
                <a:ea typeface="Calibri" pitchFamily="34" charset="-122"/>
                <a:cs typeface="Calibri" pitchFamily="34" charset="-120"/>
              </a:rPr>
              <a:t>DOPA</a:t>
            </a:r>
            <a:endParaRPr lang="en-US" sz="1500" dirty="0"/>
          </a:p>
        </p:txBody>
      </p:sp>
      <p:sp>
        <p:nvSpPr>
          <p:cNvPr id="7" name="→"/>
          <p:cNvSpPr txBox="1"/>
          <p:nvPr/>
        </p:nvSpPr>
        <p:spPr>
          <a:xfrm>
            <a:off x="3007320" y="1930820"/>
            <a:ext cx="203002" cy="284460"/>
          </a:xfrm>
          <a:prstGeom prst="rect">
            <a:avLst/>
          </a:prstGeom>
          <a:noFill/>
          <a:ln/>
        </p:spPr>
        <p:txBody>
          <a:bodyPr wrap="none" lIns="0" tIns="0" rIns="0" bIns="0" rtlCol="0" anchor="t"/>
          <a:lstStyle/>
          <a:p>
            <a:pPr algn="l" indent="0" marL="0">
              <a:lnSpc>
                <a:spcPts val="2240"/>
              </a:lnSpc>
              <a:buNone/>
            </a:pPr>
            <a:r>
              <a:rPr lang="pt-BR" altLang="en-US" sz="1600" dirty="0">
                <a:solidFill>
                  <a:srgbClr val="B9581A"/>
                </a:solidFill>
                <a:latin typeface="Calibri" pitchFamily="34" charset="0"/>
                <a:ea typeface="Calibri" pitchFamily="34" charset="-122"/>
                <a:cs typeface="Calibri" pitchFamily="34" charset="-120"/>
              </a:rPr>
              <a:t>→</a:t>
            </a:r>
            <a:endParaRPr lang="en-US" sz="1600" dirty="0"/>
          </a:p>
        </p:txBody>
      </p:sp>
      <p:sp>
        <p:nvSpPr>
          <p:cNvPr id="8" name="Dopamina"/>
          <p:cNvSpPr/>
          <p:nvPr/>
        </p:nvSpPr>
        <p:spPr>
          <a:xfrm>
            <a:off x="3292872" y="1879501"/>
            <a:ext cx="1121668" cy="419100"/>
          </a:xfrm>
          <a:prstGeom prst="roundRect">
            <a:avLst>
              <a:gd name="adj" fmla="val 50000"/>
            </a:avLst>
          </a:prstGeom>
          <a:solidFill>
            <a:srgbClr val="1B2A3A"/>
          </a:solidFill>
          <a:ln/>
        </p:spPr>
        <p:txBody>
          <a:bodyPr wrap="none" lIns="152400" tIns="76200" rIns="152400" bIns="76200" rtlCol="0" anchor="ctr"/>
          <a:lstStyle/>
          <a:p>
            <a:pPr algn="ctr" indent="0" marL="0">
              <a:lnSpc>
                <a:spcPts val="2100"/>
              </a:lnSpc>
              <a:buNone/>
            </a:pPr>
            <a:r>
              <a:rPr lang="pt-BR" altLang="en-US" sz="1500" b="1" dirty="0">
                <a:solidFill>
                  <a:srgbClr val="F5F3EE"/>
                </a:solidFill>
                <a:latin typeface="Calibri" pitchFamily="34" charset="0"/>
                <a:ea typeface="Calibri" pitchFamily="34" charset="-122"/>
                <a:cs typeface="Calibri" pitchFamily="34" charset="-120"/>
              </a:rPr>
              <a:t>Dopamina</a:t>
            </a:r>
            <a:endParaRPr lang="en-US" sz="1500" dirty="0"/>
          </a:p>
        </p:txBody>
      </p:sp>
      <p:sp>
        <p:nvSpPr>
          <p:cNvPr id="9" name="→"/>
          <p:cNvSpPr txBox="1"/>
          <p:nvPr/>
        </p:nvSpPr>
        <p:spPr>
          <a:xfrm>
            <a:off x="4516140" y="1930820"/>
            <a:ext cx="203002" cy="284460"/>
          </a:xfrm>
          <a:prstGeom prst="rect">
            <a:avLst/>
          </a:prstGeom>
          <a:noFill/>
          <a:ln/>
        </p:spPr>
        <p:txBody>
          <a:bodyPr wrap="none" lIns="0" tIns="0" rIns="0" bIns="0" rtlCol="0" anchor="t"/>
          <a:lstStyle/>
          <a:p>
            <a:pPr algn="l" indent="0" marL="0">
              <a:lnSpc>
                <a:spcPts val="2240"/>
              </a:lnSpc>
              <a:buNone/>
            </a:pPr>
            <a:r>
              <a:rPr lang="pt-BR" altLang="en-US" sz="1600" dirty="0">
                <a:solidFill>
                  <a:srgbClr val="B9581A"/>
                </a:solidFill>
                <a:latin typeface="Calibri" pitchFamily="34" charset="0"/>
                <a:ea typeface="Calibri" pitchFamily="34" charset="-122"/>
                <a:cs typeface="Calibri" pitchFamily="34" charset="-120"/>
              </a:rPr>
              <a:t>→</a:t>
            </a:r>
            <a:endParaRPr lang="en-US" sz="1600" dirty="0"/>
          </a:p>
        </p:txBody>
      </p:sp>
      <p:sp>
        <p:nvSpPr>
          <p:cNvPr id="10" name="Noradrenalina"/>
          <p:cNvSpPr/>
          <p:nvPr/>
        </p:nvSpPr>
        <p:spPr>
          <a:xfrm>
            <a:off x="4801691" y="1879501"/>
            <a:ext cx="1446411" cy="419100"/>
          </a:xfrm>
          <a:prstGeom prst="roundRect">
            <a:avLst>
              <a:gd name="adj" fmla="val 50000"/>
            </a:avLst>
          </a:prstGeom>
          <a:solidFill>
            <a:srgbClr val="1B2A3A"/>
          </a:solidFill>
          <a:ln/>
        </p:spPr>
        <p:txBody>
          <a:bodyPr wrap="none" lIns="152400" tIns="76200" rIns="152400" bIns="76200" rtlCol="0" anchor="ctr"/>
          <a:lstStyle/>
          <a:p>
            <a:pPr algn="ctr" indent="0" marL="0">
              <a:lnSpc>
                <a:spcPts val="2100"/>
              </a:lnSpc>
              <a:buNone/>
            </a:pPr>
            <a:r>
              <a:rPr lang="pt-BR" altLang="en-US" sz="1500" b="1" dirty="0">
                <a:solidFill>
                  <a:srgbClr val="F5F3EE"/>
                </a:solidFill>
                <a:latin typeface="Calibri" pitchFamily="34" charset="0"/>
                <a:ea typeface="Calibri" pitchFamily="34" charset="-122"/>
                <a:cs typeface="Calibri" pitchFamily="34" charset="-120"/>
              </a:rPr>
              <a:t>Noradrenalina</a:t>
            </a:r>
            <a:endParaRPr lang="en-US" sz="1500" dirty="0"/>
          </a:p>
        </p:txBody>
      </p:sp>
      <p:sp>
        <p:nvSpPr>
          <p:cNvPr id="11" name="→"/>
          <p:cNvSpPr txBox="1"/>
          <p:nvPr/>
        </p:nvSpPr>
        <p:spPr>
          <a:xfrm>
            <a:off x="6349702" y="1930820"/>
            <a:ext cx="203002" cy="284460"/>
          </a:xfrm>
          <a:prstGeom prst="rect">
            <a:avLst/>
          </a:prstGeom>
          <a:noFill/>
          <a:ln/>
        </p:spPr>
        <p:txBody>
          <a:bodyPr wrap="none" lIns="0" tIns="0" rIns="0" bIns="0" rtlCol="0" anchor="t"/>
          <a:lstStyle/>
          <a:p>
            <a:pPr algn="l" indent="0" marL="0">
              <a:lnSpc>
                <a:spcPts val="2240"/>
              </a:lnSpc>
              <a:buNone/>
            </a:pPr>
            <a:r>
              <a:rPr lang="pt-BR" altLang="en-US" sz="1600" dirty="0">
                <a:solidFill>
                  <a:srgbClr val="B9581A"/>
                </a:solidFill>
                <a:latin typeface="Calibri" pitchFamily="34" charset="0"/>
                <a:ea typeface="Calibri" pitchFamily="34" charset="-122"/>
                <a:cs typeface="Calibri" pitchFamily="34" charset="-120"/>
              </a:rPr>
              <a:t>→</a:t>
            </a:r>
            <a:endParaRPr lang="en-US" sz="1600" dirty="0"/>
          </a:p>
        </p:txBody>
      </p:sp>
      <p:sp>
        <p:nvSpPr>
          <p:cNvPr id="12" name="Adrenalina"/>
          <p:cNvSpPr/>
          <p:nvPr/>
        </p:nvSpPr>
        <p:spPr>
          <a:xfrm>
            <a:off x="6635254" y="1879501"/>
            <a:ext cx="1172270" cy="419100"/>
          </a:xfrm>
          <a:prstGeom prst="roundRect">
            <a:avLst>
              <a:gd name="adj" fmla="val 50000"/>
            </a:avLst>
          </a:prstGeom>
          <a:solidFill>
            <a:srgbClr val="B9581A"/>
          </a:solidFill>
          <a:ln/>
        </p:spPr>
        <p:txBody>
          <a:bodyPr wrap="none" lIns="152400" tIns="76200" rIns="152400" bIns="76200" rtlCol="0" anchor="ctr"/>
          <a:lstStyle/>
          <a:p>
            <a:pPr algn="ctr" indent="0" marL="0">
              <a:lnSpc>
                <a:spcPts val="2100"/>
              </a:lnSpc>
              <a:buNone/>
            </a:pPr>
            <a:r>
              <a:rPr lang="pt-BR" altLang="en-US" sz="1500" b="1" dirty="0">
                <a:solidFill>
                  <a:srgbClr val="FFFDF8"/>
                </a:solidFill>
                <a:latin typeface="Calibri" pitchFamily="34" charset="0"/>
                <a:ea typeface="Calibri" pitchFamily="34" charset="-122"/>
                <a:cs typeface="Calibri" pitchFamily="34" charset="-120"/>
              </a:rPr>
              <a:t>Adrenalina</a:t>
            </a:r>
            <a:endParaRPr lang="en-US" sz="1500" dirty="0"/>
          </a:p>
        </p:txBody>
      </p:sp>
      <p:sp>
        <p:nvSpPr>
          <p:cNvPr id="13" name="Tirosina hidroxilase (etapa limitante) ·"/>
          <p:cNvSpPr txBox="1"/>
          <p:nvPr/>
        </p:nvSpPr>
        <p:spPr>
          <a:xfrm>
            <a:off x="812800" y="2388237"/>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Tirosina hidroxilase (etapa limitante) · DOPA descarboxilase · dopamina β-hidroxilase · PNMT na medula adrenal, induzida por cortisol</a:t>
            </a:r>
            <a:endParaRPr lang="en-US" sz="1200" dirty="0"/>
          </a:p>
        </p:txBody>
      </p:sp>
      <p:sp>
        <p:nvSpPr>
          <p:cNvPr id="14" name="Cartão"/>
          <p:cNvSpPr/>
          <p:nvPr/>
        </p:nvSpPr>
        <p:spPr>
          <a:xfrm>
            <a:off x="812800" y="2918321"/>
            <a:ext cx="5181600" cy="1875532"/>
          </a:xfrm>
          <a:prstGeom prst="roundRect">
            <a:avLst>
              <a:gd name="adj" fmla="val 4063"/>
            </a:avLst>
          </a:prstGeom>
          <a:solidFill>
            <a:srgbClr val="FFFDF8"/>
          </a:solidFill>
          <a:ln w="6350">
            <a:solidFill>
              <a:srgbClr val="E2DDD2"/>
            </a:solidFill>
            <a:prstDash val="solid"/>
          </a:ln>
        </p:spPr>
      </p:sp>
      <p:sp>
        <p:nvSpPr>
          <p:cNvPr id="15" name="Catecolaminas"/>
          <p:cNvSpPr txBox="1"/>
          <p:nvPr/>
        </p:nvSpPr>
        <p:spPr>
          <a:xfrm>
            <a:off x="1073150" y="3174677"/>
            <a:ext cx="46799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Catecolaminas</a:t>
            </a:r>
            <a:endParaRPr lang="en-US" sz="1700" dirty="0"/>
          </a:p>
        </p:txBody>
      </p:sp>
      <p:sp>
        <p:nvSpPr>
          <p:cNvPr id="16" name="Núcleo 3,4-di-hidroxifenil. Endógenas: d"/>
          <p:cNvSpPr txBox="1"/>
          <p:nvPr/>
        </p:nvSpPr>
        <p:spPr>
          <a:xfrm>
            <a:off x="1073150" y="3523301"/>
            <a:ext cx="4679950" cy="994172"/>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Núcleo 3,4-di-hidroxifenil. Endógenas: dopamina, noradrenalina, adrenalina. Sintéticas: dobutamina, isoproterenol. Recaptação neuronal, MAO e COMT encurtam a meia-vida para minutos: uso em infusão contínua e titulável.</a:t>
            </a:r>
            <a:endParaRPr lang="en-US" sz="1350" dirty="0"/>
          </a:p>
        </p:txBody>
      </p:sp>
      <p:sp>
        <p:nvSpPr>
          <p:cNvPr id="17" name="Cartão"/>
          <p:cNvSpPr/>
          <p:nvPr/>
        </p:nvSpPr>
        <p:spPr>
          <a:xfrm>
            <a:off x="6197600" y="2918321"/>
            <a:ext cx="5181600" cy="1875532"/>
          </a:xfrm>
          <a:prstGeom prst="roundRect">
            <a:avLst>
              <a:gd name="adj" fmla="val 4063"/>
            </a:avLst>
          </a:prstGeom>
          <a:solidFill>
            <a:srgbClr val="FFFDF8"/>
          </a:solidFill>
          <a:ln w="6350">
            <a:solidFill>
              <a:srgbClr val="E2DDD2"/>
            </a:solidFill>
            <a:prstDash val="solid"/>
          </a:ln>
        </p:spPr>
      </p:sp>
      <p:sp>
        <p:nvSpPr>
          <p:cNvPr id="18" name="Não catecolaminas"/>
          <p:cNvSpPr txBox="1"/>
          <p:nvPr/>
        </p:nvSpPr>
        <p:spPr>
          <a:xfrm>
            <a:off x="6457950" y="3174677"/>
            <a:ext cx="46799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Não catecolaminas</a:t>
            </a:r>
            <a:endParaRPr lang="en-US" sz="1700" dirty="0"/>
          </a:p>
        </p:txBody>
      </p:sp>
      <p:sp>
        <p:nvSpPr>
          <p:cNvPr id="19" name="Sem o anel catecol, escapam da COMT: dur"/>
          <p:cNvSpPr txBox="1"/>
          <p:nvPr/>
        </p:nvSpPr>
        <p:spPr>
          <a:xfrm>
            <a:off x="6457950" y="3523301"/>
            <a:ext cx="4679950" cy="994172"/>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Sem o anel catecol, escapam da COMT: duram mais e servem para bolus. Fenilefrina: agonista direto α1. Efedrina e metaraminol: ação mista, direta e por liberação de noradrenalina das terminações.</a:t>
            </a:r>
            <a:endParaRPr lang="en-US" sz="1350" dirty="0"/>
          </a:p>
        </p:txBody>
      </p:sp>
      <p:sp>
        <p:nvSpPr>
          <p:cNvPr id="20" name="Miller’s Anesthesia, 10ª ed. (2024) · [c"/>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Miller’s Anesthesia, 10ª ed. (2024) · [cap./pág.]</a:t>
            </a:r>
            <a:endParaRPr lang="en-US" sz="1200" dirty="0"/>
          </a:p>
        </p:txBody>
      </p:sp>
      <p:pic>
        <p:nvPicPr>
          <p:cNvPr id="21"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3EE"/>
        </a:solidFill>
      </p:bgPr>
    </p:bg>
    <p:spTree>
      <p:nvGrpSpPr>
        <p:cNvPr id="1" name=""/>
        <p:cNvGrpSpPr/>
        <p:nvPr/>
      </p:nvGrpSpPr>
      <p:grpSpPr>
        <a:xfrm>
          <a:off x="0" y="0"/>
          <a:ext cx="0" cy="0"/>
          <a:chOff x="0" y="0"/>
          <a:chExt cx="0" cy="0"/>
        </a:xfrm>
      </p:grpSpPr>
      <p:sp>
        <p:nvSpPr>
          <p:cNvPr id="2" name="03 · DROGAS · NORADRENALINA"/>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03 · DROGAS · NORADRENALINA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Noradrenalina</a:t>
            </a:r>
            <a:endParaRPr lang="en-US" sz="3200" dirty="0"/>
          </a:p>
        </p:txBody>
      </p:sp>
      <p:sp>
        <p:nvSpPr>
          <p:cNvPr id="4" name="Cartão"/>
          <p:cNvSpPr/>
          <p:nvPr/>
        </p:nvSpPr>
        <p:spPr>
          <a:xfrm>
            <a:off x="812800" y="1879501"/>
            <a:ext cx="3048000" cy="3194844"/>
          </a:xfrm>
          <a:prstGeom prst="roundRect">
            <a:avLst>
              <a:gd name="adj" fmla="val 2500"/>
            </a:avLst>
          </a:prstGeom>
          <a:solidFill>
            <a:srgbClr val="1B2A3A"/>
          </a:solidFill>
          <a:ln/>
        </p:spPr>
      </p:sp>
      <p:sp>
        <p:nvSpPr>
          <p:cNvPr id="5" name="RECEPTORES"/>
          <p:cNvSpPr txBox="1"/>
          <p:nvPr/>
        </p:nvSpPr>
        <p:spPr>
          <a:xfrm>
            <a:off x="1066800" y="2121537"/>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RECEPTORES</a:t>
            </a:r>
            <a:endParaRPr lang="en-US" sz="1200" dirty="0"/>
          </a:p>
        </p:txBody>
      </p:sp>
      <p:sp>
        <p:nvSpPr>
          <p:cNvPr id="6" name="α1"/>
          <p:cNvSpPr txBox="1"/>
          <p:nvPr/>
        </p:nvSpPr>
        <p:spPr>
          <a:xfrm>
            <a:off x="1066800" y="2460861"/>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α1</a:t>
            </a:r>
            <a:endParaRPr lang="en-US" sz="1300" dirty="0"/>
          </a:p>
        </p:txBody>
      </p:sp>
      <p:sp>
        <p:nvSpPr>
          <p:cNvPr id="7" name="Cartão"/>
          <p:cNvSpPr/>
          <p:nvPr/>
        </p:nvSpPr>
        <p:spPr>
          <a:xfrm>
            <a:off x="1524000" y="2532162"/>
            <a:ext cx="1778000" cy="114300"/>
          </a:xfrm>
          <a:prstGeom prst="roundRect">
            <a:avLst>
              <a:gd name="adj" fmla="val 50000"/>
            </a:avLst>
          </a:prstGeom>
          <a:solidFill>
            <a:srgbClr val="33475E"/>
          </a:solidFill>
          <a:ln/>
        </p:spPr>
      </p:sp>
      <p:sp>
        <p:nvSpPr>
          <p:cNvPr id="8" name="Cartão"/>
          <p:cNvSpPr/>
          <p:nvPr/>
        </p:nvSpPr>
        <p:spPr>
          <a:xfrm>
            <a:off x="1524000" y="2532162"/>
            <a:ext cx="1778000" cy="114300"/>
          </a:xfrm>
          <a:prstGeom prst="roundRect">
            <a:avLst>
              <a:gd name="adj" fmla="val 50000"/>
            </a:avLst>
          </a:prstGeom>
          <a:solidFill>
            <a:srgbClr val="E49A5C"/>
          </a:solidFill>
          <a:ln/>
        </p:spPr>
      </p:sp>
      <p:sp>
        <p:nvSpPr>
          <p:cNvPr id="9" name="β1"/>
          <p:cNvSpPr txBox="1"/>
          <p:nvPr/>
        </p:nvSpPr>
        <p:spPr>
          <a:xfrm>
            <a:off x="1066800" y="2818941"/>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β1</a:t>
            </a:r>
            <a:endParaRPr lang="en-US" sz="1300" dirty="0"/>
          </a:p>
        </p:txBody>
      </p:sp>
      <p:sp>
        <p:nvSpPr>
          <p:cNvPr id="10" name="Cartão"/>
          <p:cNvSpPr/>
          <p:nvPr/>
        </p:nvSpPr>
        <p:spPr>
          <a:xfrm>
            <a:off x="1524000" y="2890242"/>
            <a:ext cx="1778000" cy="114300"/>
          </a:xfrm>
          <a:prstGeom prst="roundRect">
            <a:avLst>
              <a:gd name="adj" fmla="val 50000"/>
            </a:avLst>
          </a:prstGeom>
          <a:solidFill>
            <a:srgbClr val="33475E"/>
          </a:solidFill>
          <a:ln/>
        </p:spPr>
      </p:sp>
      <p:sp>
        <p:nvSpPr>
          <p:cNvPr id="11" name="Cartão"/>
          <p:cNvSpPr/>
          <p:nvPr/>
        </p:nvSpPr>
        <p:spPr>
          <a:xfrm>
            <a:off x="1524000" y="2890242"/>
            <a:ext cx="889000" cy="114300"/>
          </a:xfrm>
          <a:prstGeom prst="roundRect">
            <a:avLst>
              <a:gd name="adj" fmla="val 50000"/>
            </a:avLst>
          </a:prstGeom>
          <a:solidFill>
            <a:srgbClr val="E49A5C"/>
          </a:solidFill>
          <a:ln/>
        </p:spPr>
      </p:sp>
      <p:sp>
        <p:nvSpPr>
          <p:cNvPr id="12" name="β2"/>
          <p:cNvSpPr txBox="1"/>
          <p:nvPr/>
        </p:nvSpPr>
        <p:spPr>
          <a:xfrm>
            <a:off x="1066800" y="3177022"/>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β2</a:t>
            </a:r>
            <a:endParaRPr lang="en-US" sz="1300" dirty="0"/>
          </a:p>
        </p:txBody>
      </p:sp>
      <p:sp>
        <p:nvSpPr>
          <p:cNvPr id="13" name="Cartão"/>
          <p:cNvSpPr/>
          <p:nvPr/>
        </p:nvSpPr>
        <p:spPr>
          <a:xfrm>
            <a:off x="1524000" y="3248323"/>
            <a:ext cx="1778000" cy="114300"/>
          </a:xfrm>
          <a:prstGeom prst="roundRect">
            <a:avLst>
              <a:gd name="adj" fmla="val 50000"/>
            </a:avLst>
          </a:prstGeom>
          <a:solidFill>
            <a:srgbClr val="33475E"/>
          </a:solidFill>
          <a:ln/>
        </p:spPr>
      </p:sp>
      <p:sp>
        <p:nvSpPr>
          <p:cNvPr id="14" name="D1"/>
          <p:cNvSpPr txBox="1"/>
          <p:nvPr/>
        </p:nvSpPr>
        <p:spPr>
          <a:xfrm>
            <a:off x="1066800" y="3535102"/>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D1</a:t>
            </a:r>
            <a:endParaRPr lang="en-US" sz="1300" dirty="0"/>
          </a:p>
        </p:txBody>
      </p:sp>
      <p:sp>
        <p:nvSpPr>
          <p:cNvPr id="15" name="Cartão"/>
          <p:cNvSpPr/>
          <p:nvPr/>
        </p:nvSpPr>
        <p:spPr>
          <a:xfrm>
            <a:off x="1524000" y="3606403"/>
            <a:ext cx="1778000" cy="114300"/>
          </a:xfrm>
          <a:prstGeom prst="roundRect">
            <a:avLst>
              <a:gd name="adj" fmla="val 50000"/>
            </a:avLst>
          </a:prstGeom>
          <a:solidFill>
            <a:srgbClr val="33475E"/>
          </a:solidFill>
          <a:ln/>
        </p:spPr>
      </p:sp>
      <p:sp>
        <p:nvSpPr>
          <p:cNvPr id="16" name="EFEITO HEMODINÂMICO"/>
          <p:cNvSpPr txBox="1"/>
          <p:nvPr/>
        </p:nvSpPr>
        <p:spPr>
          <a:xfrm>
            <a:off x="1066800" y="3894180"/>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EFEITO HEMODINÂMICO</a:t>
            </a:r>
            <a:endParaRPr lang="en-US" sz="1200" dirty="0"/>
          </a:p>
        </p:txBody>
      </p:sp>
      <p:sp>
        <p:nvSpPr>
          <p:cNvPr id="17" name="PAM ↑↑"/>
          <p:cNvSpPr txBox="1"/>
          <p:nvPr/>
        </p:nvSpPr>
        <p:spPr>
          <a:xfrm>
            <a:off x="1066800" y="423250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PAM</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18" name="RVS ↑↑"/>
          <p:cNvSpPr txBox="1"/>
          <p:nvPr/>
        </p:nvSpPr>
        <p:spPr>
          <a:xfrm>
            <a:off x="2413000" y="423250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RVS</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19" name="DC ↔/↑"/>
          <p:cNvSpPr txBox="1"/>
          <p:nvPr/>
        </p:nvSpPr>
        <p:spPr>
          <a:xfrm>
            <a:off x="1066800" y="4557547"/>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DC</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20" name="FC ↔/↓"/>
          <p:cNvSpPr txBox="1"/>
          <p:nvPr/>
        </p:nvSpPr>
        <p:spPr>
          <a:xfrm>
            <a:off x="2413000" y="4557547"/>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FC</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21" name="Cartão"/>
          <p:cNvSpPr/>
          <p:nvPr/>
        </p:nvSpPr>
        <p:spPr>
          <a:xfrm>
            <a:off x="4064000" y="1879501"/>
            <a:ext cx="3556000" cy="3194844"/>
          </a:xfrm>
          <a:prstGeom prst="roundRect">
            <a:avLst>
              <a:gd name="adj" fmla="val 2385"/>
            </a:avLst>
          </a:prstGeom>
          <a:solidFill>
            <a:srgbClr val="FFFDF8"/>
          </a:solidFill>
          <a:ln w="6350">
            <a:solidFill>
              <a:srgbClr val="E2DDD2"/>
            </a:solidFill>
            <a:prstDash val="solid"/>
          </a:ln>
        </p:spPr>
      </p:sp>
      <p:sp>
        <p:nvSpPr>
          <p:cNvPr id="22" name="Ação e uso"/>
          <p:cNvSpPr txBox="1"/>
          <p:nvPr/>
        </p:nvSpPr>
        <p:spPr>
          <a:xfrm>
            <a:off x="4324350" y="2135857"/>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Ação e uso</a:t>
            </a:r>
            <a:endParaRPr lang="en-US" sz="1700" dirty="0"/>
          </a:p>
        </p:txBody>
      </p:sp>
      <p:sp>
        <p:nvSpPr>
          <p:cNvPr id="23" name="α1 potente com β1 modesto: eleva a PAM p"/>
          <p:cNvSpPr txBox="1"/>
          <p:nvPr/>
        </p:nvSpPr>
        <p:spPr>
          <a:xfrm>
            <a:off x="4324350" y="2484480"/>
            <a:ext cx="3054350" cy="1491258"/>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α1 potente com β1 modesto: eleva a PAM pela RVS e pela venoconstrição, que aumenta o retorno venoso. DC preservado ou maior; FC estável ou menor. Primeira linha no choque séptico e na vasoplegia que exige infusão.</a:t>
            </a:r>
            <a:endParaRPr lang="en-US" sz="1350" dirty="0"/>
          </a:p>
        </p:txBody>
      </p:sp>
      <p:sp>
        <p:nvSpPr>
          <p:cNvPr id="24" name="Cartão"/>
          <p:cNvSpPr/>
          <p:nvPr/>
        </p:nvSpPr>
        <p:spPr>
          <a:xfrm>
            <a:off x="7823200" y="1879501"/>
            <a:ext cx="3556000" cy="3194844"/>
          </a:xfrm>
          <a:prstGeom prst="roundRect">
            <a:avLst>
              <a:gd name="adj" fmla="val 2385"/>
            </a:avLst>
          </a:prstGeom>
          <a:solidFill>
            <a:srgbClr val="FFFDF8"/>
          </a:solidFill>
          <a:ln w="6350">
            <a:solidFill>
              <a:srgbClr val="E2DDD2"/>
            </a:solidFill>
            <a:prstDash val="solid"/>
          </a:ln>
        </p:spPr>
      </p:sp>
      <p:sp>
        <p:nvSpPr>
          <p:cNvPr id="25" name="Dose e cuidados"/>
          <p:cNvSpPr txBox="1"/>
          <p:nvPr/>
        </p:nvSpPr>
        <p:spPr>
          <a:xfrm>
            <a:off x="8083550" y="2135857"/>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Dose e cuidados</a:t>
            </a:r>
            <a:endParaRPr lang="en-US" sz="1700" dirty="0"/>
          </a:p>
        </p:txBody>
      </p:sp>
      <p:sp>
        <p:nvSpPr>
          <p:cNvPr id="26" name="0,01–0,5 mcg/kg/min, sem teto fixo no ch"/>
          <p:cNvSpPr txBox="1"/>
          <p:nvPr/>
        </p:nvSpPr>
        <p:spPr>
          <a:xfrm>
            <a:off x="8083550" y="2484480"/>
            <a:ext cx="3054350" cy="1491258"/>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0,01–0,5 mcg/kg/min, sem teto fixo no choque refratário; bolus de 5–10 mcg no centro cirúrgico. Pode começar em veia periférica calibrosa. Menos arritmia que a dopamina (SOAP II). Riscos: isquemia digital e esplâncnica, extravasamento.</a:t>
            </a:r>
            <a:endParaRPr lang="en-US" sz="1350" dirty="0"/>
          </a:p>
        </p:txBody>
      </p:sp>
      <p:sp>
        <p:nvSpPr>
          <p:cNvPr id="27" name="De Backer, N Engl J Med 2010 (SOAP II) ·"/>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De Backer, N Engl J Med 2010 (SOAP II) · Persichini, Crit Care Med 2012 · SSC 2026 · barras: escala qualitativa</a:t>
            </a:r>
            <a:endParaRPr lang="en-US" sz="1200" dirty="0"/>
          </a:p>
        </p:txBody>
      </p:sp>
      <p:pic>
        <p:nvPicPr>
          <p:cNvPr id="28"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EE"/>
        </a:solidFill>
      </p:bgPr>
    </p:bg>
    <p:spTree>
      <p:nvGrpSpPr>
        <p:cNvPr id="1" name=""/>
        <p:cNvGrpSpPr/>
        <p:nvPr/>
      </p:nvGrpSpPr>
      <p:grpSpPr>
        <a:xfrm>
          <a:off x="0" y="0"/>
          <a:ext cx="0" cy="0"/>
          <a:chOff x="0" y="0"/>
          <a:chExt cx="0" cy="0"/>
        </a:xfrm>
      </p:grpSpPr>
      <p:sp>
        <p:nvSpPr>
          <p:cNvPr id="2" name="03 · DROGAS · ADRENALINA"/>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03 · DROGAS · ADRENALINA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Adrenalina</a:t>
            </a:r>
            <a:endParaRPr lang="en-US" sz="3200" dirty="0"/>
          </a:p>
        </p:txBody>
      </p:sp>
      <p:sp>
        <p:nvSpPr>
          <p:cNvPr id="4" name="Cartão"/>
          <p:cNvSpPr/>
          <p:nvPr/>
        </p:nvSpPr>
        <p:spPr>
          <a:xfrm>
            <a:off x="812800" y="1879501"/>
            <a:ext cx="3048000" cy="3194844"/>
          </a:xfrm>
          <a:prstGeom prst="roundRect">
            <a:avLst>
              <a:gd name="adj" fmla="val 2500"/>
            </a:avLst>
          </a:prstGeom>
          <a:solidFill>
            <a:srgbClr val="1B2A3A"/>
          </a:solidFill>
          <a:ln/>
        </p:spPr>
      </p:sp>
      <p:sp>
        <p:nvSpPr>
          <p:cNvPr id="5" name="RECEPTORES"/>
          <p:cNvSpPr txBox="1"/>
          <p:nvPr/>
        </p:nvSpPr>
        <p:spPr>
          <a:xfrm>
            <a:off x="1066800" y="2121537"/>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RECEPTORES</a:t>
            </a:r>
            <a:endParaRPr lang="en-US" sz="1200" dirty="0"/>
          </a:p>
        </p:txBody>
      </p:sp>
      <p:sp>
        <p:nvSpPr>
          <p:cNvPr id="6" name="α1"/>
          <p:cNvSpPr txBox="1"/>
          <p:nvPr/>
        </p:nvSpPr>
        <p:spPr>
          <a:xfrm>
            <a:off x="1066800" y="2460861"/>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α1</a:t>
            </a:r>
            <a:endParaRPr lang="en-US" sz="1300" dirty="0"/>
          </a:p>
        </p:txBody>
      </p:sp>
      <p:sp>
        <p:nvSpPr>
          <p:cNvPr id="7" name="Cartão"/>
          <p:cNvSpPr/>
          <p:nvPr/>
        </p:nvSpPr>
        <p:spPr>
          <a:xfrm>
            <a:off x="1524000" y="2532162"/>
            <a:ext cx="1778000" cy="114300"/>
          </a:xfrm>
          <a:prstGeom prst="roundRect">
            <a:avLst>
              <a:gd name="adj" fmla="val 50000"/>
            </a:avLst>
          </a:prstGeom>
          <a:solidFill>
            <a:srgbClr val="33475E"/>
          </a:solidFill>
          <a:ln/>
        </p:spPr>
      </p:sp>
      <p:sp>
        <p:nvSpPr>
          <p:cNvPr id="8" name="Cartão"/>
          <p:cNvSpPr/>
          <p:nvPr/>
        </p:nvSpPr>
        <p:spPr>
          <a:xfrm>
            <a:off x="1524000" y="2532162"/>
            <a:ext cx="1333500" cy="114300"/>
          </a:xfrm>
          <a:prstGeom prst="roundRect">
            <a:avLst>
              <a:gd name="adj" fmla="val 50000"/>
            </a:avLst>
          </a:prstGeom>
          <a:solidFill>
            <a:srgbClr val="E49A5C"/>
          </a:solidFill>
          <a:ln/>
        </p:spPr>
      </p:sp>
      <p:sp>
        <p:nvSpPr>
          <p:cNvPr id="9" name="β1"/>
          <p:cNvSpPr txBox="1"/>
          <p:nvPr/>
        </p:nvSpPr>
        <p:spPr>
          <a:xfrm>
            <a:off x="1066800" y="2818941"/>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β1</a:t>
            </a:r>
            <a:endParaRPr lang="en-US" sz="1300" dirty="0"/>
          </a:p>
        </p:txBody>
      </p:sp>
      <p:sp>
        <p:nvSpPr>
          <p:cNvPr id="10" name="Cartão"/>
          <p:cNvSpPr/>
          <p:nvPr/>
        </p:nvSpPr>
        <p:spPr>
          <a:xfrm>
            <a:off x="1524000" y="2890242"/>
            <a:ext cx="1778000" cy="114300"/>
          </a:xfrm>
          <a:prstGeom prst="roundRect">
            <a:avLst>
              <a:gd name="adj" fmla="val 50000"/>
            </a:avLst>
          </a:prstGeom>
          <a:solidFill>
            <a:srgbClr val="33475E"/>
          </a:solidFill>
          <a:ln/>
        </p:spPr>
      </p:sp>
      <p:sp>
        <p:nvSpPr>
          <p:cNvPr id="11" name="Cartão"/>
          <p:cNvSpPr/>
          <p:nvPr/>
        </p:nvSpPr>
        <p:spPr>
          <a:xfrm>
            <a:off x="1524000" y="2890242"/>
            <a:ext cx="1778000" cy="114300"/>
          </a:xfrm>
          <a:prstGeom prst="roundRect">
            <a:avLst>
              <a:gd name="adj" fmla="val 50000"/>
            </a:avLst>
          </a:prstGeom>
          <a:solidFill>
            <a:srgbClr val="E49A5C"/>
          </a:solidFill>
          <a:ln/>
        </p:spPr>
      </p:sp>
      <p:sp>
        <p:nvSpPr>
          <p:cNvPr id="12" name="β2"/>
          <p:cNvSpPr txBox="1"/>
          <p:nvPr/>
        </p:nvSpPr>
        <p:spPr>
          <a:xfrm>
            <a:off x="1066800" y="3177022"/>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β2</a:t>
            </a:r>
            <a:endParaRPr lang="en-US" sz="1300" dirty="0"/>
          </a:p>
        </p:txBody>
      </p:sp>
      <p:sp>
        <p:nvSpPr>
          <p:cNvPr id="13" name="Cartão"/>
          <p:cNvSpPr/>
          <p:nvPr/>
        </p:nvSpPr>
        <p:spPr>
          <a:xfrm>
            <a:off x="1524000" y="3248323"/>
            <a:ext cx="1778000" cy="114300"/>
          </a:xfrm>
          <a:prstGeom prst="roundRect">
            <a:avLst>
              <a:gd name="adj" fmla="val 50000"/>
            </a:avLst>
          </a:prstGeom>
          <a:solidFill>
            <a:srgbClr val="33475E"/>
          </a:solidFill>
          <a:ln/>
        </p:spPr>
      </p:sp>
      <p:sp>
        <p:nvSpPr>
          <p:cNvPr id="14" name="Cartão"/>
          <p:cNvSpPr/>
          <p:nvPr/>
        </p:nvSpPr>
        <p:spPr>
          <a:xfrm>
            <a:off x="1524000" y="3248323"/>
            <a:ext cx="1333500" cy="114300"/>
          </a:xfrm>
          <a:prstGeom prst="roundRect">
            <a:avLst>
              <a:gd name="adj" fmla="val 50000"/>
            </a:avLst>
          </a:prstGeom>
          <a:solidFill>
            <a:srgbClr val="E49A5C"/>
          </a:solidFill>
          <a:ln/>
        </p:spPr>
      </p:sp>
      <p:sp>
        <p:nvSpPr>
          <p:cNvPr id="15" name="D1"/>
          <p:cNvSpPr txBox="1"/>
          <p:nvPr/>
        </p:nvSpPr>
        <p:spPr>
          <a:xfrm>
            <a:off x="1066800" y="3535102"/>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D1</a:t>
            </a:r>
            <a:endParaRPr lang="en-US" sz="1300" dirty="0"/>
          </a:p>
        </p:txBody>
      </p:sp>
      <p:sp>
        <p:nvSpPr>
          <p:cNvPr id="16" name="Cartão"/>
          <p:cNvSpPr/>
          <p:nvPr/>
        </p:nvSpPr>
        <p:spPr>
          <a:xfrm>
            <a:off x="1524000" y="3606403"/>
            <a:ext cx="1778000" cy="114300"/>
          </a:xfrm>
          <a:prstGeom prst="roundRect">
            <a:avLst>
              <a:gd name="adj" fmla="val 50000"/>
            </a:avLst>
          </a:prstGeom>
          <a:solidFill>
            <a:srgbClr val="33475E"/>
          </a:solidFill>
          <a:ln/>
        </p:spPr>
      </p:sp>
      <p:sp>
        <p:nvSpPr>
          <p:cNvPr id="17" name="EFEITO HEMODINÂMICO"/>
          <p:cNvSpPr txBox="1"/>
          <p:nvPr/>
        </p:nvSpPr>
        <p:spPr>
          <a:xfrm>
            <a:off x="1066800" y="3894180"/>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EFEITO HEMODINÂMICO</a:t>
            </a:r>
            <a:endParaRPr lang="en-US" sz="1200" dirty="0"/>
          </a:p>
        </p:txBody>
      </p:sp>
      <p:sp>
        <p:nvSpPr>
          <p:cNvPr id="18" name="PAM ↑↑"/>
          <p:cNvSpPr txBox="1"/>
          <p:nvPr/>
        </p:nvSpPr>
        <p:spPr>
          <a:xfrm>
            <a:off x="1066800" y="423250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PAM</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19" name="DC ↑↑"/>
          <p:cNvSpPr txBox="1"/>
          <p:nvPr/>
        </p:nvSpPr>
        <p:spPr>
          <a:xfrm>
            <a:off x="2413000" y="423250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DC</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20" name="FC ↑↑"/>
          <p:cNvSpPr txBox="1"/>
          <p:nvPr/>
        </p:nvSpPr>
        <p:spPr>
          <a:xfrm>
            <a:off x="1066800" y="4557547"/>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FC</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21" name="RVS ↓ ou ↑"/>
          <p:cNvSpPr txBox="1"/>
          <p:nvPr/>
        </p:nvSpPr>
        <p:spPr>
          <a:xfrm>
            <a:off x="2413000" y="4557547"/>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RVS</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 ou ↑</a:t>
            </a:r>
            <a:endParaRPr lang="en-US" sz="1400" dirty="0"/>
          </a:p>
        </p:txBody>
      </p:sp>
      <p:sp>
        <p:nvSpPr>
          <p:cNvPr id="22" name="Cartão"/>
          <p:cNvSpPr/>
          <p:nvPr/>
        </p:nvSpPr>
        <p:spPr>
          <a:xfrm>
            <a:off x="4064000" y="1879501"/>
            <a:ext cx="3556000" cy="3194844"/>
          </a:xfrm>
          <a:prstGeom prst="roundRect">
            <a:avLst>
              <a:gd name="adj" fmla="val 2385"/>
            </a:avLst>
          </a:prstGeom>
          <a:solidFill>
            <a:srgbClr val="FFFDF8"/>
          </a:solidFill>
          <a:ln w="6350">
            <a:solidFill>
              <a:srgbClr val="E2DDD2"/>
            </a:solidFill>
            <a:prstDash val="solid"/>
          </a:ln>
        </p:spPr>
      </p:sp>
      <p:sp>
        <p:nvSpPr>
          <p:cNvPr id="23" name="Ação e uso"/>
          <p:cNvSpPr txBox="1"/>
          <p:nvPr/>
        </p:nvSpPr>
        <p:spPr>
          <a:xfrm>
            <a:off x="4324350" y="2135857"/>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Ação e uso</a:t>
            </a:r>
            <a:endParaRPr lang="en-US" sz="1700" dirty="0"/>
          </a:p>
        </p:txBody>
      </p:sp>
      <p:sp>
        <p:nvSpPr>
          <p:cNvPr id="24" name="Dose-dependente: em dose baixa predomina"/>
          <p:cNvSpPr txBox="1"/>
          <p:nvPr/>
        </p:nvSpPr>
        <p:spPr>
          <a:xfrm>
            <a:off x="4324350" y="2484480"/>
            <a:ext cx="3054350" cy="1491258"/>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Dose-dependente: em dose baixa predomina β (↑DC; a RVS pode cair); em dose alta, α1. Droga de escolha na anafilaxia; no choque séptico, entra se a PAM seguir inadequada com NA + vasopressina.</a:t>
            </a:r>
            <a:endParaRPr lang="en-US" sz="1350" dirty="0"/>
          </a:p>
        </p:txBody>
      </p:sp>
      <p:sp>
        <p:nvSpPr>
          <p:cNvPr id="25" name="Cartão"/>
          <p:cNvSpPr/>
          <p:nvPr/>
        </p:nvSpPr>
        <p:spPr>
          <a:xfrm>
            <a:off x="7823200" y="1879501"/>
            <a:ext cx="3556000" cy="3194844"/>
          </a:xfrm>
          <a:prstGeom prst="roundRect">
            <a:avLst>
              <a:gd name="adj" fmla="val 2385"/>
            </a:avLst>
          </a:prstGeom>
          <a:solidFill>
            <a:srgbClr val="FFFDF8"/>
          </a:solidFill>
          <a:ln w="6350">
            <a:solidFill>
              <a:srgbClr val="E2DDD2"/>
            </a:solidFill>
            <a:prstDash val="solid"/>
          </a:ln>
        </p:spPr>
      </p:sp>
      <p:sp>
        <p:nvSpPr>
          <p:cNvPr id="26" name="Dose e cuidados"/>
          <p:cNvSpPr txBox="1"/>
          <p:nvPr/>
        </p:nvSpPr>
        <p:spPr>
          <a:xfrm>
            <a:off x="8083550" y="2135857"/>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Dose e cuidados</a:t>
            </a:r>
            <a:endParaRPr lang="en-US" sz="1700" dirty="0"/>
          </a:p>
        </p:txBody>
      </p:sp>
      <p:sp>
        <p:nvSpPr>
          <p:cNvPr id="27" name="0,01–0,1 mcg/kg/min, mais no refratário."/>
          <p:cNvSpPr txBox="1"/>
          <p:nvPr/>
        </p:nvSpPr>
        <p:spPr>
          <a:xfrm>
            <a:off x="8083550" y="2484480"/>
            <a:ext cx="3054350" cy="1739801"/>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0,01–0,1 mcg/kg/min, mais no refratário. Na anafilaxia durante a anestesia, bolus titulado: 10–20 mcg EV no grau 2, 50–100 mcg no grau 3. Taquicardia, arritmia e hiperglicemia; o lactato pode subir por efeito β2; ainda assim, excluir hipoperfusão.</a:t>
            </a:r>
            <a:endParaRPr lang="en-US" sz="1350" dirty="0"/>
          </a:p>
        </p:txBody>
      </p:sp>
      <p:sp>
        <p:nvSpPr>
          <p:cNvPr id="28" name="ANZCA/ANZAAG 2022 · SSC 2026 · barras: e"/>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ANZCA/ANZAAG 2022 · SSC 2026 · barras: escala qualitativa</a:t>
            </a:r>
            <a:endParaRPr lang="en-US" sz="1200" dirty="0"/>
          </a:p>
        </p:txBody>
      </p:sp>
      <p:pic>
        <p:nvPicPr>
          <p:cNvPr id="29"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E"/>
        </a:solidFill>
      </p:bgPr>
    </p:bg>
    <p:spTree>
      <p:nvGrpSpPr>
        <p:cNvPr id="1" name=""/>
        <p:cNvGrpSpPr/>
        <p:nvPr/>
      </p:nvGrpSpPr>
      <p:grpSpPr>
        <a:xfrm>
          <a:off x="0" y="0"/>
          <a:ext cx="0" cy="0"/>
          <a:chOff x="0" y="0"/>
          <a:chExt cx="0" cy="0"/>
        </a:xfrm>
      </p:grpSpPr>
      <p:sp>
        <p:nvSpPr>
          <p:cNvPr id="2" name="03 · DROGAS · DOPAMINA E DOBUTAMINA"/>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03 · DROGAS · DOPAMINA E DOBUTAMINA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Dopamina e dobutamina</a:t>
            </a:r>
            <a:endParaRPr lang="en-US" sz="3200" dirty="0"/>
          </a:p>
        </p:txBody>
      </p:sp>
      <p:sp>
        <p:nvSpPr>
          <p:cNvPr id="4" name="Cartão"/>
          <p:cNvSpPr/>
          <p:nvPr/>
        </p:nvSpPr>
        <p:spPr>
          <a:xfrm>
            <a:off x="812800" y="1879501"/>
            <a:ext cx="5181600" cy="1206401"/>
          </a:xfrm>
          <a:prstGeom prst="roundRect">
            <a:avLst>
              <a:gd name="adj" fmla="val 6316"/>
            </a:avLst>
          </a:prstGeom>
          <a:solidFill>
            <a:srgbClr val="1B2A3A"/>
          </a:solidFill>
          <a:ln/>
        </p:spPr>
      </p:sp>
      <p:sp>
        <p:nvSpPr>
          <p:cNvPr id="5" name="Dopamina"/>
          <p:cNvSpPr txBox="1"/>
          <p:nvPr/>
        </p:nvSpPr>
        <p:spPr>
          <a:xfrm>
            <a:off x="1066800" y="2053307"/>
            <a:ext cx="944761"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F5F3EE"/>
                </a:solidFill>
                <a:latin typeface="Calibri" pitchFamily="34" charset="0"/>
                <a:ea typeface="Calibri" pitchFamily="34" charset="-122"/>
                <a:cs typeface="Calibri" pitchFamily="34" charset="-120"/>
              </a:rPr>
              <a:t>Dopamina</a:t>
            </a:r>
            <a:endParaRPr lang="en-US" sz="1700" dirty="0"/>
          </a:p>
        </p:txBody>
      </p:sp>
      <p:sp>
        <p:nvSpPr>
          <p:cNvPr id="6" name="PAM ↑ · DC ↑ · FC ↑↑"/>
          <p:cNvSpPr txBox="1"/>
          <p:nvPr/>
        </p:nvSpPr>
        <p:spPr>
          <a:xfrm>
            <a:off x="4106069" y="2069740"/>
            <a:ext cx="1653381"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E49A5C"/>
                </a:solidFill>
                <a:latin typeface="Calibri" pitchFamily="34" charset="0"/>
                <a:ea typeface="Calibri" pitchFamily="34" charset="-122"/>
                <a:cs typeface="Calibri" pitchFamily="34" charset="-120"/>
              </a:rPr>
              <a:t>PAM ↑ · DC ↑ · FC ↑↑</a:t>
            </a:r>
            <a:endParaRPr lang="en-US" sz="1300" dirty="0"/>
          </a:p>
        </p:txBody>
      </p:sp>
      <p:sp>
        <p:nvSpPr>
          <p:cNvPr id="7" name="α1"/>
          <p:cNvSpPr txBox="1"/>
          <p:nvPr/>
        </p:nvSpPr>
        <p:spPr>
          <a:xfrm>
            <a:off x="1066800" y="2405998"/>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α1</a:t>
            </a:r>
            <a:endParaRPr lang="en-US" sz="1200" dirty="0"/>
          </a:p>
        </p:txBody>
      </p:sp>
      <p:sp>
        <p:nvSpPr>
          <p:cNvPr id="8" name="Cartão"/>
          <p:cNvSpPr/>
          <p:nvPr/>
        </p:nvSpPr>
        <p:spPr>
          <a:xfrm>
            <a:off x="1473200" y="2473821"/>
            <a:ext cx="1524000" cy="101600"/>
          </a:xfrm>
          <a:prstGeom prst="roundRect">
            <a:avLst>
              <a:gd name="adj" fmla="val 50000"/>
            </a:avLst>
          </a:prstGeom>
          <a:solidFill>
            <a:srgbClr val="33475E"/>
          </a:solidFill>
          <a:ln/>
        </p:spPr>
      </p:sp>
      <p:sp>
        <p:nvSpPr>
          <p:cNvPr id="9" name="Cartão"/>
          <p:cNvSpPr/>
          <p:nvPr/>
        </p:nvSpPr>
        <p:spPr>
          <a:xfrm>
            <a:off x="1473200" y="2473821"/>
            <a:ext cx="1143000" cy="101600"/>
          </a:xfrm>
          <a:prstGeom prst="roundRect">
            <a:avLst>
              <a:gd name="adj" fmla="val 50000"/>
            </a:avLst>
          </a:prstGeom>
          <a:solidFill>
            <a:srgbClr val="E49A5C"/>
          </a:solidFill>
          <a:ln/>
        </p:spPr>
      </p:sp>
      <p:sp>
        <p:nvSpPr>
          <p:cNvPr id="10" name="β1"/>
          <p:cNvSpPr txBox="1"/>
          <p:nvPr/>
        </p:nvSpPr>
        <p:spPr>
          <a:xfrm>
            <a:off x="3530600" y="2405998"/>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β1</a:t>
            </a:r>
            <a:endParaRPr lang="en-US" sz="1200" dirty="0"/>
          </a:p>
        </p:txBody>
      </p:sp>
      <p:sp>
        <p:nvSpPr>
          <p:cNvPr id="11" name="Cartão"/>
          <p:cNvSpPr/>
          <p:nvPr/>
        </p:nvSpPr>
        <p:spPr>
          <a:xfrm>
            <a:off x="3937000" y="2473821"/>
            <a:ext cx="1524000" cy="101600"/>
          </a:xfrm>
          <a:prstGeom prst="roundRect">
            <a:avLst>
              <a:gd name="adj" fmla="val 50000"/>
            </a:avLst>
          </a:prstGeom>
          <a:solidFill>
            <a:srgbClr val="33475E"/>
          </a:solidFill>
          <a:ln/>
        </p:spPr>
      </p:sp>
      <p:sp>
        <p:nvSpPr>
          <p:cNvPr id="12" name="Cartão"/>
          <p:cNvSpPr/>
          <p:nvPr/>
        </p:nvSpPr>
        <p:spPr>
          <a:xfrm>
            <a:off x="3937000" y="2473821"/>
            <a:ext cx="1143000" cy="101600"/>
          </a:xfrm>
          <a:prstGeom prst="roundRect">
            <a:avLst>
              <a:gd name="adj" fmla="val 50000"/>
            </a:avLst>
          </a:prstGeom>
          <a:solidFill>
            <a:srgbClr val="E49A5C"/>
          </a:solidFill>
          <a:ln/>
        </p:spPr>
      </p:sp>
      <p:sp>
        <p:nvSpPr>
          <p:cNvPr id="13" name="β2"/>
          <p:cNvSpPr txBox="1"/>
          <p:nvPr/>
        </p:nvSpPr>
        <p:spPr>
          <a:xfrm>
            <a:off x="1066800" y="2682818"/>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β2</a:t>
            </a:r>
            <a:endParaRPr lang="en-US" sz="1200" dirty="0"/>
          </a:p>
        </p:txBody>
      </p:sp>
      <p:sp>
        <p:nvSpPr>
          <p:cNvPr id="14" name="Cartão"/>
          <p:cNvSpPr/>
          <p:nvPr/>
        </p:nvSpPr>
        <p:spPr>
          <a:xfrm>
            <a:off x="1473200" y="2750641"/>
            <a:ext cx="1524000" cy="101600"/>
          </a:xfrm>
          <a:prstGeom prst="roundRect">
            <a:avLst>
              <a:gd name="adj" fmla="val 50000"/>
            </a:avLst>
          </a:prstGeom>
          <a:solidFill>
            <a:srgbClr val="33475E"/>
          </a:solidFill>
          <a:ln/>
        </p:spPr>
      </p:sp>
      <p:sp>
        <p:nvSpPr>
          <p:cNvPr id="15" name="Cartão"/>
          <p:cNvSpPr/>
          <p:nvPr/>
        </p:nvSpPr>
        <p:spPr>
          <a:xfrm>
            <a:off x="1473200" y="2750641"/>
            <a:ext cx="381000" cy="101600"/>
          </a:xfrm>
          <a:prstGeom prst="roundRect">
            <a:avLst>
              <a:gd name="adj" fmla="val 50000"/>
            </a:avLst>
          </a:prstGeom>
          <a:solidFill>
            <a:srgbClr val="E49A5C"/>
          </a:solidFill>
          <a:ln/>
        </p:spPr>
      </p:sp>
      <p:sp>
        <p:nvSpPr>
          <p:cNvPr id="16" name="D1"/>
          <p:cNvSpPr txBox="1"/>
          <p:nvPr/>
        </p:nvSpPr>
        <p:spPr>
          <a:xfrm>
            <a:off x="3530600" y="2682818"/>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D1</a:t>
            </a:r>
            <a:endParaRPr lang="en-US" sz="1200" dirty="0"/>
          </a:p>
        </p:txBody>
      </p:sp>
      <p:sp>
        <p:nvSpPr>
          <p:cNvPr id="17" name="Cartão"/>
          <p:cNvSpPr/>
          <p:nvPr/>
        </p:nvSpPr>
        <p:spPr>
          <a:xfrm>
            <a:off x="3937000" y="2750641"/>
            <a:ext cx="1524000" cy="101600"/>
          </a:xfrm>
          <a:prstGeom prst="roundRect">
            <a:avLst>
              <a:gd name="adj" fmla="val 50000"/>
            </a:avLst>
          </a:prstGeom>
          <a:solidFill>
            <a:srgbClr val="33475E"/>
          </a:solidFill>
          <a:ln/>
        </p:spPr>
      </p:sp>
      <p:sp>
        <p:nvSpPr>
          <p:cNvPr id="18" name="Cartão"/>
          <p:cNvSpPr/>
          <p:nvPr/>
        </p:nvSpPr>
        <p:spPr>
          <a:xfrm>
            <a:off x="3937000" y="2750641"/>
            <a:ext cx="1524000" cy="101600"/>
          </a:xfrm>
          <a:prstGeom prst="roundRect">
            <a:avLst>
              <a:gd name="adj" fmla="val 50000"/>
            </a:avLst>
          </a:prstGeom>
          <a:solidFill>
            <a:srgbClr val="E49A5C"/>
          </a:solidFill>
          <a:ln/>
        </p:spPr>
      </p:sp>
      <p:sp>
        <p:nvSpPr>
          <p:cNvPr id="19" name="Cartão"/>
          <p:cNvSpPr/>
          <p:nvPr/>
        </p:nvSpPr>
        <p:spPr>
          <a:xfrm>
            <a:off x="812800" y="3162102"/>
            <a:ext cx="5181600" cy="1413272"/>
          </a:xfrm>
          <a:prstGeom prst="roundRect">
            <a:avLst>
              <a:gd name="adj" fmla="val 5392"/>
            </a:avLst>
          </a:prstGeom>
          <a:solidFill>
            <a:srgbClr val="FFFDF8"/>
          </a:solidFill>
          <a:ln w="6350">
            <a:solidFill>
              <a:srgbClr val="E2DDD2"/>
            </a:solidFill>
            <a:prstDash val="solid"/>
          </a:ln>
        </p:spPr>
      </p:sp>
      <p:sp>
        <p:nvSpPr>
          <p:cNvPr id="20" name="Efeito dose-dependente e imprevisível: D"/>
          <p:cNvSpPr txBox="1"/>
          <p:nvPr/>
        </p:nvSpPr>
        <p:spPr>
          <a:xfrm>
            <a:off x="1073150" y="3355621"/>
            <a:ext cx="4679950" cy="994172"/>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Efeito dose-dependente e imprevisível: D1, depois β1 (em parte por liberar noradrenalina) e, em doses altas, α1. Dose “renal” não protege o rim. Mais arritmia que a NA: fora da primeira linha no choque.</a:t>
            </a:r>
            <a:endParaRPr lang="en-US" sz="1350" dirty="0"/>
          </a:p>
        </p:txBody>
      </p:sp>
      <p:sp>
        <p:nvSpPr>
          <p:cNvPr id="21" name="Cartão"/>
          <p:cNvSpPr/>
          <p:nvPr/>
        </p:nvSpPr>
        <p:spPr>
          <a:xfrm>
            <a:off x="6197600" y="1879501"/>
            <a:ext cx="5181600" cy="1206401"/>
          </a:xfrm>
          <a:prstGeom prst="roundRect">
            <a:avLst>
              <a:gd name="adj" fmla="val 6316"/>
            </a:avLst>
          </a:prstGeom>
          <a:solidFill>
            <a:srgbClr val="1B2A3A"/>
          </a:solidFill>
          <a:ln/>
        </p:spPr>
      </p:sp>
      <p:sp>
        <p:nvSpPr>
          <p:cNvPr id="22" name="Dobutamina"/>
          <p:cNvSpPr txBox="1"/>
          <p:nvPr/>
        </p:nvSpPr>
        <p:spPr>
          <a:xfrm>
            <a:off x="6451600" y="2053307"/>
            <a:ext cx="1135459"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F5F3EE"/>
                </a:solidFill>
                <a:latin typeface="Calibri" pitchFamily="34" charset="0"/>
                <a:ea typeface="Calibri" pitchFamily="34" charset="-122"/>
                <a:cs typeface="Calibri" pitchFamily="34" charset="-120"/>
              </a:rPr>
              <a:t>Dobutamina</a:t>
            </a:r>
            <a:endParaRPr lang="en-US" sz="1700" dirty="0"/>
          </a:p>
        </p:txBody>
      </p:sp>
      <p:sp>
        <p:nvSpPr>
          <p:cNvPr id="23" name="DC ↑↑ · FC ↑ · RVS ↓"/>
          <p:cNvSpPr txBox="1"/>
          <p:nvPr/>
        </p:nvSpPr>
        <p:spPr>
          <a:xfrm>
            <a:off x="9554468" y="2069740"/>
            <a:ext cx="1589782"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E49A5C"/>
                </a:solidFill>
                <a:latin typeface="Calibri" pitchFamily="34" charset="0"/>
                <a:ea typeface="Calibri" pitchFamily="34" charset="-122"/>
                <a:cs typeface="Calibri" pitchFamily="34" charset="-120"/>
              </a:rPr>
              <a:t>DC ↑↑ · FC ↑ · RVS ↓</a:t>
            </a:r>
            <a:endParaRPr lang="en-US" sz="1300" dirty="0"/>
          </a:p>
        </p:txBody>
      </p:sp>
      <p:sp>
        <p:nvSpPr>
          <p:cNvPr id="24" name="α1"/>
          <p:cNvSpPr txBox="1"/>
          <p:nvPr/>
        </p:nvSpPr>
        <p:spPr>
          <a:xfrm>
            <a:off x="6451600" y="2405998"/>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α1</a:t>
            </a:r>
            <a:endParaRPr lang="en-US" sz="1200" dirty="0"/>
          </a:p>
        </p:txBody>
      </p:sp>
      <p:sp>
        <p:nvSpPr>
          <p:cNvPr id="25" name="Cartão"/>
          <p:cNvSpPr/>
          <p:nvPr/>
        </p:nvSpPr>
        <p:spPr>
          <a:xfrm>
            <a:off x="6858000" y="2473821"/>
            <a:ext cx="1524000" cy="101600"/>
          </a:xfrm>
          <a:prstGeom prst="roundRect">
            <a:avLst>
              <a:gd name="adj" fmla="val 50000"/>
            </a:avLst>
          </a:prstGeom>
          <a:solidFill>
            <a:srgbClr val="33475E"/>
          </a:solidFill>
          <a:ln/>
        </p:spPr>
      </p:sp>
      <p:sp>
        <p:nvSpPr>
          <p:cNvPr id="26" name="Cartão"/>
          <p:cNvSpPr/>
          <p:nvPr/>
        </p:nvSpPr>
        <p:spPr>
          <a:xfrm>
            <a:off x="6858000" y="2473821"/>
            <a:ext cx="381000" cy="101600"/>
          </a:xfrm>
          <a:prstGeom prst="roundRect">
            <a:avLst>
              <a:gd name="adj" fmla="val 50000"/>
            </a:avLst>
          </a:prstGeom>
          <a:solidFill>
            <a:srgbClr val="E49A5C"/>
          </a:solidFill>
          <a:ln/>
        </p:spPr>
      </p:sp>
      <p:sp>
        <p:nvSpPr>
          <p:cNvPr id="27" name="β1"/>
          <p:cNvSpPr txBox="1"/>
          <p:nvPr/>
        </p:nvSpPr>
        <p:spPr>
          <a:xfrm>
            <a:off x="8915400" y="2405998"/>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β1</a:t>
            </a:r>
            <a:endParaRPr lang="en-US" sz="1200" dirty="0"/>
          </a:p>
        </p:txBody>
      </p:sp>
      <p:sp>
        <p:nvSpPr>
          <p:cNvPr id="28" name="Cartão"/>
          <p:cNvSpPr/>
          <p:nvPr/>
        </p:nvSpPr>
        <p:spPr>
          <a:xfrm>
            <a:off x="9321800" y="2473821"/>
            <a:ext cx="1524000" cy="101600"/>
          </a:xfrm>
          <a:prstGeom prst="roundRect">
            <a:avLst>
              <a:gd name="adj" fmla="val 50000"/>
            </a:avLst>
          </a:prstGeom>
          <a:solidFill>
            <a:srgbClr val="33475E"/>
          </a:solidFill>
          <a:ln/>
        </p:spPr>
      </p:sp>
      <p:sp>
        <p:nvSpPr>
          <p:cNvPr id="29" name="Cartão"/>
          <p:cNvSpPr/>
          <p:nvPr/>
        </p:nvSpPr>
        <p:spPr>
          <a:xfrm>
            <a:off x="9321800" y="2473821"/>
            <a:ext cx="1524000" cy="101600"/>
          </a:xfrm>
          <a:prstGeom prst="roundRect">
            <a:avLst>
              <a:gd name="adj" fmla="val 50000"/>
            </a:avLst>
          </a:prstGeom>
          <a:solidFill>
            <a:srgbClr val="E49A5C"/>
          </a:solidFill>
          <a:ln/>
        </p:spPr>
      </p:sp>
      <p:sp>
        <p:nvSpPr>
          <p:cNvPr id="30" name="β2"/>
          <p:cNvSpPr txBox="1"/>
          <p:nvPr/>
        </p:nvSpPr>
        <p:spPr>
          <a:xfrm>
            <a:off x="6451600" y="2682818"/>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β2</a:t>
            </a:r>
            <a:endParaRPr lang="en-US" sz="1200" dirty="0"/>
          </a:p>
        </p:txBody>
      </p:sp>
      <p:sp>
        <p:nvSpPr>
          <p:cNvPr id="31" name="Cartão"/>
          <p:cNvSpPr/>
          <p:nvPr/>
        </p:nvSpPr>
        <p:spPr>
          <a:xfrm>
            <a:off x="6858000" y="2750641"/>
            <a:ext cx="1524000" cy="101600"/>
          </a:xfrm>
          <a:prstGeom prst="roundRect">
            <a:avLst>
              <a:gd name="adj" fmla="val 50000"/>
            </a:avLst>
          </a:prstGeom>
          <a:solidFill>
            <a:srgbClr val="33475E"/>
          </a:solidFill>
          <a:ln/>
        </p:spPr>
      </p:sp>
      <p:sp>
        <p:nvSpPr>
          <p:cNvPr id="32" name="Cartão"/>
          <p:cNvSpPr/>
          <p:nvPr/>
        </p:nvSpPr>
        <p:spPr>
          <a:xfrm>
            <a:off x="6858000" y="2750641"/>
            <a:ext cx="762000" cy="101600"/>
          </a:xfrm>
          <a:prstGeom prst="roundRect">
            <a:avLst>
              <a:gd name="adj" fmla="val 50000"/>
            </a:avLst>
          </a:prstGeom>
          <a:solidFill>
            <a:srgbClr val="E49A5C"/>
          </a:solidFill>
          <a:ln/>
        </p:spPr>
      </p:sp>
      <p:sp>
        <p:nvSpPr>
          <p:cNvPr id="33" name="D1"/>
          <p:cNvSpPr txBox="1"/>
          <p:nvPr/>
        </p:nvSpPr>
        <p:spPr>
          <a:xfrm>
            <a:off x="8915400" y="2682818"/>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D1</a:t>
            </a:r>
            <a:endParaRPr lang="en-US" sz="1200" dirty="0"/>
          </a:p>
        </p:txBody>
      </p:sp>
      <p:sp>
        <p:nvSpPr>
          <p:cNvPr id="34" name="Cartão"/>
          <p:cNvSpPr/>
          <p:nvPr/>
        </p:nvSpPr>
        <p:spPr>
          <a:xfrm>
            <a:off x="9321800" y="2750641"/>
            <a:ext cx="1524000" cy="101600"/>
          </a:xfrm>
          <a:prstGeom prst="roundRect">
            <a:avLst>
              <a:gd name="adj" fmla="val 50000"/>
            </a:avLst>
          </a:prstGeom>
          <a:solidFill>
            <a:srgbClr val="33475E"/>
          </a:solidFill>
          <a:ln/>
        </p:spPr>
      </p:sp>
      <p:sp>
        <p:nvSpPr>
          <p:cNvPr id="35" name="Cartão"/>
          <p:cNvSpPr/>
          <p:nvPr/>
        </p:nvSpPr>
        <p:spPr>
          <a:xfrm>
            <a:off x="6197600" y="3162102"/>
            <a:ext cx="5181600" cy="1413272"/>
          </a:xfrm>
          <a:prstGeom prst="roundRect">
            <a:avLst>
              <a:gd name="adj" fmla="val 5392"/>
            </a:avLst>
          </a:prstGeom>
          <a:solidFill>
            <a:srgbClr val="FFFDF8"/>
          </a:solidFill>
          <a:ln w="6350">
            <a:solidFill>
              <a:srgbClr val="E2DDD2"/>
            </a:solidFill>
            <a:prstDash val="solid"/>
          </a:ln>
        </p:spPr>
      </p:sp>
      <p:sp>
        <p:nvSpPr>
          <p:cNvPr id="36" name="Inotrópico β1 com vasodilatação β2: pode"/>
          <p:cNvSpPr txBox="1"/>
          <p:nvPr/>
        </p:nvSpPr>
        <p:spPr>
          <a:xfrm>
            <a:off x="6457950" y="3355621"/>
            <a:ext cx="4679950" cy="994172"/>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Inotrópico β1 com vasodilatação β2: pode baixar a PAM; no paciente hipotenso, entra com o vasopressor, nunca no lugar dele. Indicada no baixo débito com hipoperfusão. Taquicardia e arritmia limitam a dose.</a:t>
            </a:r>
            <a:endParaRPr lang="en-US" sz="1350" dirty="0"/>
          </a:p>
        </p:txBody>
      </p:sp>
      <p:sp>
        <p:nvSpPr>
          <p:cNvPr id="37" name="Bellomo, Lancet 2000 (ANZICS) · De Backe"/>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Bellomo, Lancet 2000 (ANZICS) · De Backer, N Engl J Med 2010 (SOAP II) · SSC 2026 · barras: escala qualitativa</a:t>
            </a:r>
            <a:endParaRPr lang="en-US" sz="1200" dirty="0"/>
          </a:p>
        </p:txBody>
      </p:sp>
      <p:pic>
        <p:nvPicPr>
          <p:cNvPr id="38"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3EE"/>
        </a:solidFill>
      </p:bgPr>
    </p:bg>
    <p:spTree>
      <p:nvGrpSpPr>
        <p:cNvPr id="1" name=""/>
        <p:cNvGrpSpPr/>
        <p:nvPr/>
      </p:nvGrpSpPr>
      <p:grpSpPr>
        <a:xfrm>
          <a:off x="0" y="0"/>
          <a:ext cx="0" cy="0"/>
          <a:chOff x="0" y="0"/>
          <a:chExt cx="0" cy="0"/>
        </a:xfrm>
      </p:grpSpPr>
      <p:sp>
        <p:nvSpPr>
          <p:cNvPr id="2" name="03 · DROGAS · MILRINONA"/>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03 · DROGAS · MILRINONA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Milrinona</a:t>
            </a:r>
            <a:endParaRPr lang="en-US" sz="3200" dirty="0"/>
          </a:p>
        </p:txBody>
      </p:sp>
      <p:sp>
        <p:nvSpPr>
          <p:cNvPr id="4" name="Cartão"/>
          <p:cNvSpPr/>
          <p:nvPr/>
        </p:nvSpPr>
        <p:spPr>
          <a:xfrm>
            <a:off x="812800" y="1879501"/>
            <a:ext cx="3048000" cy="3443684"/>
          </a:xfrm>
          <a:prstGeom prst="roundRect">
            <a:avLst>
              <a:gd name="adj" fmla="val 2500"/>
            </a:avLst>
          </a:prstGeom>
          <a:solidFill>
            <a:srgbClr val="1B2A3A"/>
          </a:solidFill>
          <a:ln/>
        </p:spPr>
      </p:sp>
      <p:sp>
        <p:nvSpPr>
          <p:cNvPr id="5" name="MECANISMO"/>
          <p:cNvSpPr txBox="1"/>
          <p:nvPr/>
        </p:nvSpPr>
        <p:spPr>
          <a:xfrm>
            <a:off x="1066800" y="2121537"/>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MECANISMO</a:t>
            </a:r>
            <a:endParaRPr lang="en-US" sz="1200" dirty="0"/>
          </a:p>
        </p:txBody>
      </p:sp>
      <p:sp>
        <p:nvSpPr>
          <p:cNvPr id="6" name="Inibe a PDE3 e aumenta o AMPc sem passar"/>
          <p:cNvSpPr txBox="1"/>
          <p:nvPr/>
        </p:nvSpPr>
        <p:spPr>
          <a:xfrm>
            <a:off x="1066800" y="2465198"/>
            <a:ext cx="2559050" cy="462161"/>
          </a:xfrm>
          <a:prstGeom prst="rect">
            <a:avLst/>
          </a:prstGeom>
          <a:noFill/>
          <a:ln/>
        </p:spPr>
        <p:txBody>
          <a:bodyPr wrap="square" lIns="0" tIns="0" rIns="0" bIns="0" rtlCol="0" anchor="t"/>
          <a:lstStyle/>
          <a:p>
            <a:pPr algn="l" indent="0" marL="0">
              <a:lnSpc>
                <a:spcPts val="1820"/>
              </a:lnSpc>
              <a:buNone/>
            </a:pPr>
            <a:r>
              <a:rPr lang="pt-BR" altLang="en-US" sz="1400" b="1" dirty="0">
                <a:solidFill>
                  <a:srgbClr val="F5F3EE"/>
                </a:solidFill>
                <a:latin typeface="Calibri" pitchFamily="34" charset="0"/>
                <a:ea typeface="Calibri" pitchFamily="34" charset="-122"/>
                <a:cs typeface="Calibri" pitchFamily="34" charset="-120"/>
              </a:rPr>
              <a:t>Inibe a PDE3 e aumenta o AMPc sem passar pelo receptor β</a:t>
            </a:r>
            <a:endParaRPr lang="en-US" sz="1400" dirty="0"/>
          </a:p>
        </p:txBody>
      </p:sp>
      <p:sp>
        <p:nvSpPr>
          <p:cNvPr id="7" name="Coração: inotropismo e lusitropismo. Vas"/>
          <p:cNvSpPr txBox="1"/>
          <p:nvPr/>
        </p:nvSpPr>
        <p:spPr>
          <a:xfrm>
            <a:off x="1066800" y="3051019"/>
            <a:ext cx="2559050" cy="639961"/>
          </a:xfrm>
          <a:prstGeom prst="rect">
            <a:avLst/>
          </a:prstGeom>
          <a:noFill/>
          <a:ln/>
        </p:spPr>
        <p:txBody>
          <a:bodyPr wrap="square" lIns="0" tIns="0" rIns="0" bIns="0" rtlCol="0" anchor="t"/>
          <a:lstStyle/>
          <a:p>
            <a:pPr algn="l" indent="0" marL="0">
              <a:lnSpc>
                <a:spcPts val="1680"/>
              </a:lnSpc>
              <a:buNone/>
            </a:pPr>
            <a:r>
              <a:rPr lang="pt-BR" altLang="en-US" sz="1200" dirty="0">
                <a:solidFill>
                  <a:srgbClr val="C9CFD6"/>
                </a:solidFill>
                <a:latin typeface="Calibri" pitchFamily="34" charset="0"/>
                <a:ea typeface="Calibri" pitchFamily="34" charset="-122"/>
                <a:cs typeface="Calibri" pitchFamily="34" charset="-120"/>
              </a:rPr>
              <a:t>Coração: inotropismo e lusitropismo. Vasos: vasodilatação sistêmica e pulmonar.</a:t>
            </a:r>
            <a:endParaRPr lang="en-US" sz="1200" dirty="0"/>
          </a:p>
        </p:txBody>
      </p:sp>
      <p:sp>
        <p:nvSpPr>
          <p:cNvPr id="8" name="EFEITO HEMODINÂMICO"/>
          <p:cNvSpPr txBox="1"/>
          <p:nvPr/>
        </p:nvSpPr>
        <p:spPr>
          <a:xfrm>
            <a:off x="1066800" y="3817980"/>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EFEITO HEMODINÂMICO</a:t>
            </a:r>
            <a:endParaRPr lang="en-US" sz="1200" dirty="0"/>
          </a:p>
        </p:txBody>
      </p:sp>
      <p:sp>
        <p:nvSpPr>
          <p:cNvPr id="9" name="DC ↑↑"/>
          <p:cNvSpPr txBox="1"/>
          <p:nvPr/>
        </p:nvSpPr>
        <p:spPr>
          <a:xfrm>
            <a:off x="1066800" y="415630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DC</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10" name="FC ↔/↑"/>
          <p:cNvSpPr txBox="1"/>
          <p:nvPr/>
        </p:nvSpPr>
        <p:spPr>
          <a:xfrm>
            <a:off x="2413000" y="415630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FC</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11" name="RVS ↓"/>
          <p:cNvSpPr txBox="1"/>
          <p:nvPr/>
        </p:nvSpPr>
        <p:spPr>
          <a:xfrm>
            <a:off x="1066800" y="4481347"/>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RVS</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12" name="RVP ↓"/>
          <p:cNvSpPr txBox="1"/>
          <p:nvPr/>
        </p:nvSpPr>
        <p:spPr>
          <a:xfrm>
            <a:off x="2413000" y="4481347"/>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RVP</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13" name="PAM ↔/↓"/>
          <p:cNvSpPr txBox="1"/>
          <p:nvPr/>
        </p:nvSpPr>
        <p:spPr>
          <a:xfrm>
            <a:off x="1066800" y="4806387"/>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PAM</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14" name="POAP ↓"/>
          <p:cNvSpPr txBox="1"/>
          <p:nvPr/>
        </p:nvSpPr>
        <p:spPr>
          <a:xfrm>
            <a:off x="2413000" y="4806387"/>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POAP</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15" name="Cartão"/>
          <p:cNvSpPr/>
          <p:nvPr/>
        </p:nvSpPr>
        <p:spPr>
          <a:xfrm>
            <a:off x="4064000" y="1879501"/>
            <a:ext cx="7315200" cy="1671042"/>
          </a:xfrm>
          <a:prstGeom prst="roundRect">
            <a:avLst>
              <a:gd name="adj" fmla="val 4560"/>
            </a:avLst>
          </a:prstGeom>
          <a:solidFill>
            <a:srgbClr val="FFFDF8"/>
          </a:solidFill>
          <a:ln w="6350">
            <a:solidFill>
              <a:srgbClr val="E2DDD2"/>
            </a:solidFill>
            <a:prstDash val="solid"/>
          </a:ln>
        </p:spPr>
      </p:sp>
      <p:sp>
        <p:nvSpPr>
          <p:cNvPr id="16" name="Indicações"/>
          <p:cNvSpPr txBox="1"/>
          <p:nvPr/>
        </p:nvSpPr>
        <p:spPr>
          <a:xfrm>
            <a:off x="4324350" y="2135857"/>
            <a:ext cx="68135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Indicações</a:t>
            </a:r>
            <a:endParaRPr lang="en-US" sz="1700" dirty="0"/>
          </a:p>
        </p:txBody>
      </p:sp>
      <p:sp>
        <p:nvSpPr>
          <p:cNvPr id="17" name="Só com baixo débito e hipoperfusão: IC d"/>
          <p:cNvSpPr txBox="1"/>
          <p:nvPr/>
        </p:nvSpPr>
        <p:spPr>
          <a:xfrm>
            <a:off x="4324350" y="2484480"/>
            <a:ext cx="6813550" cy="497086"/>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Só com baixo débito e hipoperfusão: IC descompensada, síndrome de baixo débito após CEC, disfunção de VD com hipertensão pulmonar, ponte para transplante ou assistência ventricular.</a:t>
            </a:r>
            <a:endParaRPr lang="en-US" sz="1350" dirty="0"/>
          </a:p>
        </p:txBody>
      </p:sp>
      <p:sp>
        <p:nvSpPr>
          <p:cNvPr id="18" name="Cartão"/>
          <p:cNvSpPr/>
          <p:nvPr/>
        </p:nvSpPr>
        <p:spPr>
          <a:xfrm>
            <a:off x="4064000" y="3652143"/>
            <a:ext cx="7315200" cy="1671042"/>
          </a:xfrm>
          <a:prstGeom prst="roundRect">
            <a:avLst>
              <a:gd name="adj" fmla="val 4560"/>
            </a:avLst>
          </a:prstGeom>
          <a:solidFill>
            <a:srgbClr val="FFFDF8"/>
          </a:solidFill>
          <a:ln w="6350">
            <a:solidFill>
              <a:srgbClr val="E2DDD2"/>
            </a:solidFill>
            <a:prstDash val="solid"/>
          </a:ln>
        </p:spPr>
      </p:sp>
      <p:sp>
        <p:nvSpPr>
          <p:cNvPr id="19" name="Dose e cuidados"/>
          <p:cNvSpPr txBox="1"/>
          <p:nvPr/>
        </p:nvSpPr>
        <p:spPr>
          <a:xfrm>
            <a:off x="4324350" y="3908499"/>
            <a:ext cx="68135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Dose e cuidados</a:t>
            </a:r>
            <a:endParaRPr lang="en-US" sz="1700" dirty="0"/>
          </a:p>
        </p:txBody>
      </p:sp>
      <p:sp>
        <p:nvSpPr>
          <p:cNvPr id="20" name="Ataque de 50 mcg/kg em 10 min, muitas ve"/>
          <p:cNvSpPr txBox="1"/>
          <p:nvPr/>
        </p:nvSpPr>
        <p:spPr>
          <a:xfrm>
            <a:off x="4324350" y="4257123"/>
            <a:ext cx="6813550" cy="745629"/>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Ataque de 50 mcg/kg em 10 min, muitas vezes omitido; manutenção de 0,375–0,75 mcg/kg/min. Eliminação renal: reduzir na insuficiência renal. Hipotensão (associar NA) e arritmias. No choque cardiogênico, sem diferença significativa vs. dobutamina (DOREMI).</a:t>
            </a:r>
            <a:endParaRPr lang="en-US" sz="1350" dirty="0"/>
          </a:p>
        </p:txBody>
      </p:sp>
      <p:sp>
        <p:nvSpPr>
          <p:cNvPr id="21" name="Mathew, N Engl J Med 2021 (DOREMI) · Cuf"/>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Mathew, N Engl J Med 2021 (DOREMI) · Cuffe, JAMA 2002 (OPTIME-CHF) · Miller’s Anesthesia, 10ª ed. · [cap./pág.]</a:t>
            </a:r>
            <a:endParaRPr lang="en-US" sz="1200" dirty="0"/>
          </a:p>
        </p:txBody>
      </p:sp>
      <p:pic>
        <p:nvPicPr>
          <p:cNvPr id="22"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E"/>
        </a:solidFill>
      </p:bgPr>
    </p:bg>
    <p:spTree>
      <p:nvGrpSpPr>
        <p:cNvPr id="1" name=""/>
        <p:cNvGrpSpPr/>
        <p:nvPr/>
      </p:nvGrpSpPr>
      <p:grpSpPr>
        <a:xfrm>
          <a:off x="0" y="0"/>
          <a:ext cx="0" cy="0"/>
          <a:chOff x="0" y="0"/>
          <a:chExt cx="0" cy="0"/>
        </a:xfrm>
      </p:grpSpPr>
      <p:sp>
        <p:nvSpPr>
          <p:cNvPr id="2" name="03 · DROGAS · MILRINONA OU DOBUTAMINA"/>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03 · DROGAS · MILRINONA OU DOBUTAMINA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Milrinona ou dobutamina: quando escolher</a:t>
            </a:r>
            <a:endParaRPr lang="en-US" sz="3200" dirty="0"/>
          </a:p>
        </p:txBody>
      </p:sp>
      <p:sp>
        <p:nvSpPr>
          <p:cNvPr id="4" name="Antes da escolha: inotrópico só com baix"/>
          <p:cNvSpPr txBox="1"/>
          <p:nvPr/>
        </p:nvSpPr>
        <p:spPr>
          <a:xfrm>
            <a:off x="812800" y="1763943"/>
            <a:ext cx="105854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1B2A3A"/>
                </a:solidFill>
                <a:latin typeface="Calibri" pitchFamily="34" charset="0"/>
                <a:ea typeface="Calibri" pitchFamily="34" charset="-122"/>
                <a:cs typeface="Calibri" pitchFamily="34" charset="-120"/>
              </a:rPr>
              <a:t>Antes da escolha:</a:t>
            </a:r>
            <a:pPr algn="l" indent="0" marL="0">
              <a:lnSpc>
                <a:spcPts val="1960"/>
              </a:lnSpc>
              <a:buNone/>
            </a:pPr>
            <a:r>
              <a:rPr lang="pt-BR" altLang="en-US" sz="1400" dirty="0">
                <a:solidFill>
                  <a:srgbClr val="1B2A3A"/>
                </a:solidFill>
                <a:latin typeface="Calibri" pitchFamily="34" charset="0"/>
                <a:ea typeface="Calibri" pitchFamily="34" charset="-122"/>
                <a:cs typeface="Calibri" pitchFamily="34" charset="-120"/>
              </a:rPr>
              <a:t> inotrópico só com baixo débito e hipoperfusão, depois de corrigir volume e PAM.</a:t>
            </a:r>
            <a:endParaRPr lang="en-US" sz="1400" dirty="0"/>
          </a:p>
        </p:txBody>
      </p:sp>
      <p:graphicFrame>
        <p:nvGraphicFramePr>
          <p:cNvPr id="11" name="Tabela"/>
          <p:cNvGraphicFramePr>
            <a:graphicFrameLocks noGrp="1"/>
          </p:cNvGraphicFramePr>
          <p:nvPr>
            <p:extLst>
              <p:ext uri="{D42A27DB-BD31-4B8C-83A1-F6EECF244321}">
                <p14:modId xmlns:p14="http://schemas.microsoft.com/office/powerpoint/2010/main" val="1579011935"/>
              </p:ext>
            </p:extLst>
          </p:nvPr>
        </p:nvGraphicFramePr>
        <p:xfrm>
          <a:off x="812800" y="2229941"/>
          <a:ext cx="10566400" cy="914400"/>
        </p:xfrm>
        <a:graphic>
          <a:graphicData uri="http://schemas.openxmlformats.org/drawingml/2006/table">
            <a:tbl>
              <a:tblPr/>
              <a:tblGrid>
                <a:gridCol w="2324596"/>
                <a:gridCol w="3803848"/>
                <a:gridCol w="4437955"/>
              </a:tblGrid>
              <a:tr h="365720">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Critério</a:t>
                      </a:r>
                      <a:endParaRPr lang="en-US" sz="1200" dirty="0"/>
                    </a:p>
                  </a:txBody>
                  <a:tcPr marL="127000" marR="127000" marT="76200" marB="762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Dobutamina</a:t>
                      </a:r>
                      <a:endParaRPr lang="en-US" sz="1200" dirty="0"/>
                    </a:p>
                  </a:txBody>
                  <a:tcPr marL="127000" marR="127000" marT="76200" marB="762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Milrinona</a:t>
                      </a:r>
                      <a:endParaRPr lang="en-US" sz="1200" dirty="0"/>
                    </a:p>
                  </a:txBody>
                  <a:tcPr marL="127000" marR="127000" marT="76200" marB="76200" anchor="ctr">
                    <a:lnL w="0" cap="flat" cmpd="sng" algn="ctr">
                      <a:noFill/>
                    </a:lnL>
                    <a:lnR w="0" cap="flat" cmpd="sng" algn="ctr">
                      <a:noFill/>
                    </a:lnR>
                    <a:lnT w="0" cap="flat" cmpd="sng" algn="ctr">
                      <a:noFill/>
                    </a:lnT>
                    <a:lnB w="0" cap="flat" cmpd="sng" algn="ctr">
                      <a:noFill/>
                    </a:lnB>
                    <a:solidFill>
                      <a:srgbClr val="1B2A3A"/>
                    </a:solidFill>
                  </a:tcPr>
                </a:tc>
              </a:tr>
              <a:tr h="368895">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Meia-vida</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Cerca de 2 min: início e fim rápidos, fácil de titular</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Cerca de 2,4 h na IC; maior na insuficiência renal</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720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VD e circulação pulmonar</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Efeito modesto na RVP</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↓RVP e ↓POAP: útil no VD com hipertensão pulmonar</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720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FC e PAM</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Mais taquicardia; vasodilatação discreta</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Menos taquicardia; mais hipotensão (associar NA)</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585391">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Com betabloqueador</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Resposta atenuada; pode exigir dose maior</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Age depois do receptor β; no DOREMI, sem diferença de desfecho nesse subgrupo</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bl>
          </a:graphicData>
        </a:graphic>
      </p:graphicFrame>
      <p:sp>
        <p:nvSpPr>
          <p:cNvPr id="6" name="Cartão"/>
          <p:cNvSpPr/>
          <p:nvPr/>
        </p:nvSpPr>
        <p:spPr>
          <a:xfrm>
            <a:off x="812800" y="4500463"/>
            <a:ext cx="5181600" cy="1059061"/>
          </a:xfrm>
          <a:prstGeom prst="roundRect">
            <a:avLst>
              <a:gd name="adj" fmla="val 7195"/>
            </a:avLst>
          </a:prstGeom>
          <a:solidFill>
            <a:srgbClr val="FFFDF8"/>
          </a:solidFill>
          <a:ln w="6350">
            <a:solidFill>
              <a:srgbClr val="E2DDD2"/>
            </a:solidFill>
            <a:prstDash val="solid"/>
          </a:ln>
        </p:spPr>
      </p:sp>
      <p:sp>
        <p:nvSpPr>
          <p:cNvPr id="7" name="Prefira milrinona"/>
          <p:cNvSpPr txBox="1"/>
          <p:nvPr/>
        </p:nvSpPr>
        <p:spPr>
          <a:xfrm>
            <a:off x="1022350" y="4655689"/>
            <a:ext cx="4781550" cy="228600"/>
          </a:xfrm>
          <a:prstGeom prst="rect">
            <a:avLst/>
          </a:prstGeom>
          <a:noFill/>
          <a:ln/>
        </p:spPr>
        <p:txBody>
          <a:bodyPr wrap="none" lIns="0" tIns="0" rIns="0" bIns="0" rtlCol="0" anchor="t"/>
          <a:lstStyle/>
          <a:p>
            <a:pPr algn="l" indent="0" marL="0">
              <a:lnSpc>
                <a:spcPts val="1800"/>
              </a:lnSpc>
              <a:buNone/>
            </a:pPr>
            <a:r>
              <a:rPr lang="pt-BR" altLang="en-US" sz="1500" b="1" dirty="0">
                <a:solidFill>
                  <a:srgbClr val="1B2A3A"/>
                </a:solidFill>
                <a:latin typeface="Calibri" pitchFamily="34" charset="0"/>
                <a:ea typeface="Calibri" pitchFamily="34" charset="-122"/>
                <a:cs typeface="Calibri" pitchFamily="34" charset="-120"/>
              </a:rPr>
              <a:t>Prefira milrinona</a:t>
            </a:r>
            <a:endParaRPr lang="en-US" sz="1500" dirty="0"/>
          </a:p>
        </p:txBody>
      </p:sp>
      <p:sp>
        <p:nvSpPr>
          <p:cNvPr id="8" name="Disfunção de VD com hipertensão pulmonar"/>
          <p:cNvSpPr txBox="1"/>
          <p:nvPr/>
        </p:nvSpPr>
        <p:spPr>
          <a:xfrm>
            <a:off x="1022350" y="4925653"/>
            <a:ext cx="4781550"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2C3A48"/>
                </a:solidFill>
                <a:latin typeface="Calibri" pitchFamily="34" charset="0"/>
                <a:ea typeface="Calibri" pitchFamily="34" charset="-122"/>
                <a:cs typeface="Calibri" pitchFamily="34" charset="-120"/>
              </a:rPr>
              <a:t>Disfunção de VD com hipertensão pulmonar, inclusive após CEC; betabloqueador ou taquicardia limitando a dobutamina.</a:t>
            </a:r>
            <a:endParaRPr lang="en-US" sz="1300" dirty="0"/>
          </a:p>
        </p:txBody>
      </p:sp>
      <p:sp>
        <p:nvSpPr>
          <p:cNvPr id="9" name="Cartão"/>
          <p:cNvSpPr/>
          <p:nvPr/>
        </p:nvSpPr>
        <p:spPr>
          <a:xfrm>
            <a:off x="6197600" y="4500463"/>
            <a:ext cx="5181600" cy="1059061"/>
          </a:xfrm>
          <a:prstGeom prst="roundRect">
            <a:avLst>
              <a:gd name="adj" fmla="val 7195"/>
            </a:avLst>
          </a:prstGeom>
          <a:solidFill>
            <a:srgbClr val="FFFDF8"/>
          </a:solidFill>
          <a:ln w="6350">
            <a:solidFill>
              <a:srgbClr val="E2DDD2"/>
            </a:solidFill>
            <a:prstDash val="solid"/>
          </a:ln>
        </p:spPr>
      </p:sp>
      <p:sp>
        <p:nvSpPr>
          <p:cNvPr id="10" name="Prefira dobutamina"/>
          <p:cNvSpPr txBox="1"/>
          <p:nvPr/>
        </p:nvSpPr>
        <p:spPr>
          <a:xfrm>
            <a:off x="6407150" y="4655689"/>
            <a:ext cx="4781550" cy="228600"/>
          </a:xfrm>
          <a:prstGeom prst="rect">
            <a:avLst/>
          </a:prstGeom>
          <a:noFill/>
          <a:ln/>
        </p:spPr>
        <p:txBody>
          <a:bodyPr wrap="none" lIns="0" tIns="0" rIns="0" bIns="0" rtlCol="0" anchor="t"/>
          <a:lstStyle/>
          <a:p>
            <a:pPr algn="l" indent="0" marL="0">
              <a:lnSpc>
                <a:spcPts val="1800"/>
              </a:lnSpc>
              <a:buNone/>
            </a:pPr>
            <a:r>
              <a:rPr lang="pt-BR" altLang="en-US" sz="1500" b="1" dirty="0">
                <a:solidFill>
                  <a:srgbClr val="1B2A3A"/>
                </a:solidFill>
                <a:latin typeface="Calibri" pitchFamily="34" charset="0"/>
                <a:ea typeface="Calibri" pitchFamily="34" charset="-122"/>
                <a:cs typeface="Calibri" pitchFamily="34" charset="-120"/>
              </a:rPr>
              <a:t>Prefira dobutamina</a:t>
            </a:r>
            <a:endParaRPr lang="en-US" sz="1500" dirty="0"/>
          </a:p>
        </p:txBody>
      </p:sp>
      <p:sp>
        <p:nvSpPr>
          <p:cNvPr id="11" name="Hipotensão ou vasoplegia; insuficiência "/>
          <p:cNvSpPr txBox="1"/>
          <p:nvPr/>
        </p:nvSpPr>
        <p:spPr>
          <a:xfrm>
            <a:off x="6407150" y="4925653"/>
            <a:ext cx="4781550"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2C3A48"/>
                </a:solidFill>
                <a:latin typeface="Calibri" pitchFamily="34" charset="0"/>
                <a:ea typeface="Calibri" pitchFamily="34" charset="-122"/>
                <a:cs typeface="Calibri" pitchFamily="34" charset="-120"/>
              </a:rPr>
              <a:t>Hipotensão ou vasoplegia; insuficiência renal; necessidade de titular rápido; disfunção miocárdica da sepse (droga citada pela SSC 2026).</a:t>
            </a:r>
            <a:endParaRPr lang="en-US" sz="1300" dirty="0"/>
          </a:p>
        </p:txBody>
      </p:sp>
      <p:sp>
        <p:nvSpPr>
          <p:cNvPr id="12" name="Mathew, N Engl J Med 2021 (DOREMI) · Di "/>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Mathew, N Engl J Med 2021 (DOREMI) · Di Santo, Crit Care 2021 (DOREMI, betabloqueador) · bula da milrinona · SSC 2026</a:t>
            </a:r>
            <a:endParaRPr lang="en-US" sz="1200" dirty="0"/>
          </a:p>
        </p:txBody>
      </p:sp>
      <p:pic>
        <p:nvPicPr>
          <p:cNvPr id="13"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E"/>
        </a:solidFill>
      </p:bgPr>
    </p:bg>
    <p:spTree>
      <p:nvGrpSpPr>
        <p:cNvPr id="1" name=""/>
        <p:cNvGrpSpPr/>
        <p:nvPr/>
      </p:nvGrpSpPr>
      <p:grpSpPr>
        <a:xfrm>
          <a:off x="0" y="0"/>
          <a:ext cx="0" cy="0"/>
          <a:chOff x="0" y="0"/>
          <a:chExt cx="0" cy="0"/>
        </a:xfrm>
      </p:grpSpPr>
      <p:sp>
        <p:nvSpPr>
          <p:cNvPr id="2" name="03 · DROGAS · FENILEFRINA E EFEDRINA"/>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03 · DROGAS · FENILEFRINA E EFEDRINA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Fenilefrina e efedrina</a:t>
            </a:r>
            <a:endParaRPr lang="en-US" sz="3200" dirty="0"/>
          </a:p>
        </p:txBody>
      </p:sp>
      <p:sp>
        <p:nvSpPr>
          <p:cNvPr id="4" name="Cartão"/>
          <p:cNvSpPr/>
          <p:nvPr/>
        </p:nvSpPr>
        <p:spPr>
          <a:xfrm>
            <a:off x="812800" y="1879501"/>
            <a:ext cx="5181600" cy="1206401"/>
          </a:xfrm>
          <a:prstGeom prst="roundRect">
            <a:avLst>
              <a:gd name="adj" fmla="val 6316"/>
            </a:avLst>
          </a:prstGeom>
          <a:solidFill>
            <a:srgbClr val="1B2A3A"/>
          </a:solidFill>
          <a:ln/>
        </p:spPr>
      </p:sp>
      <p:sp>
        <p:nvSpPr>
          <p:cNvPr id="5" name="Fenilefrina"/>
          <p:cNvSpPr txBox="1"/>
          <p:nvPr/>
        </p:nvSpPr>
        <p:spPr>
          <a:xfrm>
            <a:off x="1066800" y="2053307"/>
            <a:ext cx="977999"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F5F3EE"/>
                </a:solidFill>
                <a:latin typeface="Calibri" pitchFamily="34" charset="0"/>
                <a:ea typeface="Calibri" pitchFamily="34" charset="-122"/>
                <a:cs typeface="Calibri" pitchFamily="34" charset="-120"/>
              </a:rPr>
              <a:t>Fenilefrina</a:t>
            </a:r>
            <a:endParaRPr lang="en-US" sz="1700" dirty="0"/>
          </a:p>
        </p:txBody>
      </p:sp>
      <p:sp>
        <p:nvSpPr>
          <p:cNvPr id="6" name="RVS ↑↑ · FC ↓ · DC ↔/↓"/>
          <p:cNvSpPr txBox="1"/>
          <p:nvPr/>
        </p:nvSpPr>
        <p:spPr>
          <a:xfrm>
            <a:off x="3882430" y="2069740"/>
            <a:ext cx="187702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E49A5C"/>
                </a:solidFill>
                <a:latin typeface="Calibri" pitchFamily="34" charset="0"/>
                <a:ea typeface="Calibri" pitchFamily="34" charset="-122"/>
                <a:cs typeface="Calibri" pitchFamily="34" charset="-120"/>
              </a:rPr>
              <a:t>RVS ↑↑ · FC ↓ · DC ↔/↓</a:t>
            </a:r>
            <a:endParaRPr lang="en-US" sz="1300" dirty="0"/>
          </a:p>
        </p:txBody>
      </p:sp>
      <p:sp>
        <p:nvSpPr>
          <p:cNvPr id="7" name="α1"/>
          <p:cNvSpPr txBox="1"/>
          <p:nvPr/>
        </p:nvSpPr>
        <p:spPr>
          <a:xfrm>
            <a:off x="1066800" y="2405998"/>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α1</a:t>
            </a:r>
            <a:endParaRPr lang="en-US" sz="1200" dirty="0"/>
          </a:p>
        </p:txBody>
      </p:sp>
      <p:sp>
        <p:nvSpPr>
          <p:cNvPr id="8" name="Cartão"/>
          <p:cNvSpPr/>
          <p:nvPr/>
        </p:nvSpPr>
        <p:spPr>
          <a:xfrm>
            <a:off x="1473200" y="2473821"/>
            <a:ext cx="1524000" cy="101600"/>
          </a:xfrm>
          <a:prstGeom prst="roundRect">
            <a:avLst>
              <a:gd name="adj" fmla="val 50000"/>
            </a:avLst>
          </a:prstGeom>
          <a:solidFill>
            <a:srgbClr val="33475E"/>
          </a:solidFill>
          <a:ln/>
        </p:spPr>
      </p:sp>
      <p:sp>
        <p:nvSpPr>
          <p:cNvPr id="9" name="Cartão"/>
          <p:cNvSpPr/>
          <p:nvPr/>
        </p:nvSpPr>
        <p:spPr>
          <a:xfrm>
            <a:off x="1473200" y="2473821"/>
            <a:ext cx="1524000" cy="101600"/>
          </a:xfrm>
          <a:prstGeom prst="roundRect">
            <a:avLst>
              <a:gd name="adj" fmla="val 50000"/>
            </a:avLst>
          </a:prstGeom>
          <a:solidFill>
            <a:srgbClr val="E49A5C"/>
          </a:solidFill>
          <a:ln/>
        </p:spPr>
      </p:sp>
      <p:sp>
        <p:nvSpPr>
          <p:cNvPr id="10" name="β1"/>
          <p:cNvSpPr txBox="1"/>
          <p:nvPr/>
        </p:nvSpPr>
        <p:spPr>
          <a:xfrm>
            <a:off x="3530600" y="2405998"/>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β1</a:t>
            </a:r>
            <a:endParaRPr lang="en-US" sz="1200" dirty="0"/>
          </a:p>
        </p:txBody>
      </p:sp>
      <p:sp>
        <p:nvSpPr>
          <p:cNvPr id="11" name="Cartão"/>
          <p:cNvSpPr/>
          <p:nvPr/>
        </p:nvSpPr>
        <p:spPr>
          <a:xfrm>
            <a:off x="3937000" y="2473821"/>
            <a:ext cx="1524000" cy="101600"/>
          </a:xfrm>
          <a:prstGeom prst="roundRect">
            <a:avLst>
              <a:gd name="adj" fmla="val 50000"/>
            </a:avLst>
          </a:prstGeom>
          <a:solidFill>
            <a:srgbClr val="33475E"/>
          </a:solidFill>
          <a:ln/>
        </p:spPr>
      </p:sp>
      <p:sp>
        <p:nvSpPr>
          <p:cNvPr id="12" name="β2"/>
          <p:cNvSpPr txBox="1"/>
          <p:nvPr/>
        </p:nvSpPr>
        <p:spPr>
          <a:xfrm>
            <a:off x="1066800" y="2682818"/>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β2</a:t>
            </a:r>
            <a:endParaRPr lang="en-US" sz="1200" dirty="0"/>
          </a:p>
        </p:txBody>
      </p:sp>
      <p:sp>
        <p:nvSpPr>
          <p:cNvPr id="13" name="Cartão"/>
          <p:cNvSpPr/>
          <p:nvPr/>
        </p:nvSpPr>
        <p:spPr>
          <a:xfrm>
            <a:off x="1473200" y="2750641"/>
            <a:ext cx="1524000" cy="101600"/>
          </a:xfrm>
          <a:prstGeom prst="roundRect">
            <a:avLst>
              <a:gd name="adj" fmla="val 50000"/>
            </a:avLst>
          </a:prstGeom>
          <a:solidFill>
            <a:srgbClr val="33475E"/>
          </a:solidFill>
          <a:ln/>
        </p:spPr>
      </p:sp>
      <p:sp>
        <p:nvSpPr>
          <p:cNvPr id="14" name="D1"/>
          <p:cNvSpPr txBox="1"/>
          <p:nvPr/>
        </p:nvSpPr>
        <p:spPr>
          <a:xfrm>
            <a:off x="3530600" y="2682818"/>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D1</a:t>
            </a:r>
            <a:endParaRPr lang="en-US" sz="1200" dirty="0"/>
          </a:p>
        </p:txBody>
      </p:sp>
      <p:sp>
        <p:nvSpPr>
          <p:cNvPr id="15" name="Cartão"/>
          <p:cNvSpPr/>
          <p:nvPr/>
        </p:nvSpPr>
        <p:spPr>
          <a:xfrm>
            <a:off x="3937000" y="2750641"/>
            <a:ext cx="1524000" cy="101600"/>
          </a:xfrm>
          <a:prstGeom prst="roundRect">
            <a:avLst>
              <a:gd name="adj" fmla="val 50000"/>
            </a:avLst>
          </a:prstGeom>
          <a:solidFill>
            <a:srgbClr val="33475E"/>
          </a:solidFill>
          <a:ln/>
        </p:spPr>
      </p:sp>
      <p:sp>
        <p:nvSpPr>
          <p:cNvPr id="16" name="Cartão"/>
          <p:cNvSpPr/>
          <p:nvPr/>
        </p:nvSpPr>
        <p:spPr>
          <a:xfrm>
            <a:off x="812800" y="3162102"/>
            <a:ext cx="5181600" cy="1413272"/>
          </a:xfrm>
          <a:prstGeom prst="roundRect">
            <a:avLst>
              <a:gd name="adj" fmla="val 5392"/>
            </a:avLst>
          </a:prstGeom>
          <a:solidFill>
            <a:srgbClr val="FFFDF8"/>
          </a:solidFill>
          <a:ln w="6350">
            <a:solidFill>
              <a:srgbClr val="E2DDD2"/>
            </a:solidFill>
            <a:prstDash val="solid"/>
          </a:ln>
        </p:spPr>
      </p:sp>
      <p:sp>
        <p:nvSpPr>
          <p:cNvPr id="17" name="Agonista α1 direto, em bolus de 50–100 m"/>
          <p:cNvSpPr txBox="1"/>
          <p:nvPr/>
        </p:nvSpPr>
        <p:spPr>
          <a:xfrm>
            <a:off x="1073150" y="3355621"/>
            <a:ext cx="4679950" cy="994172"/>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Agonista α1 direto, em bolus de 50–100 mcg. A bradicardia reflexa pode reduzir o DC; ajuda quando a taquicardia é o problema (por exemplo, na estenose aórtica, conforme o contexto). Cesárea: infusão profilática de 25–50 mcg/min.</a:t>
            </a:r>
            <a:endParaRPr lang="en-US" sz="1350" dirty="0"/>
          </a:p>
        </p:txBody>
      </p:sp>
      <p:sp>
        <p:nvSpPr>
          <p:cNvPr id="18" name="Cartão"/>
          <p:cNvSpPr/>
          <p:nvPr/>
        </p:nvSpPr>
        <p:spPr>
          <a:xfrm>
            <a:off x="6197600" y="1879501"/>
            <a:ext cx="5181600" cy="1206401"/>
          </a:xfrm>
          <a:prstGeom prst="roundRect">
            <a:avLst>
              <a:gd name="adj" fmla="val 6316"/>
            </a:avLst>
          </a:prstGeom>
          <a:solidFill>
            <a:srgbClr val="1B2A3A"/>
          </a:solidFill>
          <a:ln/>
        </p:spPr>
      </p:sp>
      <p:sp>
        <p:nvSpPr>
          <p:cNvPr id="19" name="Efedrina"/>
          <p:cNvSpPr txBox="1"/>
          <p:nvPr/>
        </p:nvSpPr>
        <p:spPr>
          <a:xfrm>
            <a:off x="6451600" y="2053307"/>
            <a:ext cx="769441"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F5F3EE"/>
                </a:solidFill>
                <a:latin typeface="Calibri" pitchFamily="34" charset="0"/>
                <a:ea typeface="Calibri" pitchFamily="34" charset="-122"/>
                <a:cs typeface="Calibri" pitchFamily="34" charset="-120"/>
              </a:rPr>
              <a:t>Efedrina</a:t>
            </a:r>
            <a:endParaRPr lang="en-US" sz="1700" dirty="0"/>
          </a:p>
        </p:txBody>
      </p:sp>
      <p:sp>
        <p:nvSpPr>
          <p:cNvPr id="20" name="PAM ↑ · FC ↑ · DC ↑"/>
          <p:cNvSpPr txBox="1"/>
          <p:nvPr/>
        </p:nvSpPr>
        <p:spPr>
          <a:xfrm>
            <a:off x="9640292" y="2069740"/>
            <a:ext cx="1503958"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E49A5C"/>
                </a:solidFill>
                <a:latin typeface="Calibri" pitchFamily="34" charset="0"/>
                <a:ea typeface="Calibri" pitchFamily="34" charset="-122"/>
                <a:cs typeface="Calibri" pitchFamily="34" charset="-120"/>
              </a:rPr>
              <a:t>PAM ↑ · FC ↑ · DC ↑</a:t>
            </a:r>
            <a:endParaRPr lang="en-US" sz="1300" dirty="0"/>
          </a:p>
        </p:txBody>
      </p:sp>
      <p:sp>
        <p:nvSpPr>
          <p:cNvPr id="21" name="α1"/>
          <p:cNvSpPr txBox="1"/>
          <p:nvPr/>
        </p:nvSpPr>
        <p:spPr>
          <a:xfrm>
            <a:off x="6451600" y="2405998"/>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α1</a:t>
            </a:r>
            <a:endParaRPr lang="en-US" sz="1200" dirty="0"/>
          </a:p>
        </p:txBody>
      </p:sp>
      <p:sp>
        <p:nvSpPr>
          <p:cNvPr id="22" name="Cartão"/>
          <p:cNvSpPr/>
          <p:nvPr/>
        </p:nvSpPr>
        <p:spPr>
          <a:xfrm>
            <a:off x="6858000" y="2473821"/>
            <a:ext cx="1524000" cy="101600"/>
          </a:xfrm>
          <a:prstGeom prst="roundRect">
            <a:avLst>
              <a:gd name="adj" fmla="val 50000"/>
            </a:avLst>
          </a:prstGeom>
          <a:solidFill>
            <a:srgbClr val="33475E"/>
          </a:solidFill>
          <a:ln/>
        </p:spPr>
      </p:sp>
      <p:sp>
        <p:nvSpPr>
          <p:cNvPr id="23" name="Cartão"/>
          <p:cNvSpPr/>
          <p:nvPr/>
        </p:nvSpPr>
        <p:spPr>
          <a:xfrm>
            <a:off x="6858000" y="2473821"/>
            <a:ext cx="762000" cy="101600"/>
          </a:xfrm>
          <a:prstGeom prst="roundRect">
            <a:avLst>
              <a:gd name="adj" fmla="val 50000"/>
            </a:avLst>
          </a:prstGeom>
          <a:solidFill>
            <a:srgbClr val="E49A5C"/>
          </a:solidFill>
          <a:ln/>
        </p:spPr>
      </p:sp>
      <p:sp>
        <p:nvSpPr>
          <p:cNvPr id="24" name="β1"/>
          <p:cNvSpPr txBox="1"/>
          <p:nvPr/>
        </p:nvSpPr>
        <p:spPr>
          <a:xfrm>
            <a:off x="8915400" y="2405998"/>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β1</a:t>
            </a:r>
            <a:endParaRPr lang="en-US" sz="1200" dirty="0"/>
          </a:p>
        </p:txBody>
      </p:sp>
      <p:sp>
        <p:nvSpPr>
          <p:cNvPr id="25" name="Cartão"/>
          <p:cNvSpPr/>
          <p:nvPr/>
        </p:nvSpPr>
        <p:spPr>
          <a:xfrm>
            <a:off x="9321800" y="2473821"/>
            <a:ext cx="1524000" cy="101600"/>
          </a:xfrm>
          <a:prstGeom prst="roundRect">
            <a:avLst>
              <a:gd name="adj" fmla="val 50000"/>
            </a:avLst>
          </a:prstGeom>
          <a:solidFill>
            <a:srgbClr val="33475E"/>
          </a:solidFill>
          <a:ln/>
        </p:spPr>
      </p:sp>
      <p:sp>
        <p:nvSpPr>
          <p:cNvPr id="26" name="Cartão"/>
          <p:cNvSpPr/>
          <p:nvPr/>
        </p:nvSpPr>
        <p:spPr>
          <a:xfrm>
            <a:off x="9321800" y="2473821"/>
            <a:ext cx="762000" cy="101600"/>
          </a:xfrm>
          <a:prstGeom prst="roundRect">
            <a:avLst>
              <a:gd name="adj" fmla="val 50000"/>
            </a:avLst>
          </a:prstGeom>
          <a:solidFill>
            <a:srgbClr val="E49A5C"/>
          </a:solidFill>
          <a:ln/>
        </p:spPr>
      </p:sp>
      <p:sp>
        <p:nvSpPr>
          <p:cNvPr id="27" name="β2"/>
          <p:cNvSpPr txBox="1"/>
          <p:nvPr/>
        </p:nvSpPr>
        <p:spPr>
          <a:xfrm>
            <a:off x="6451600" y="2682818"/>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β2</a:t>
            </a:r>
            <a:endParaRPr lang="en-US" sz="1200" dirty="0"/>
          </a:p>
        </p:txBody>
      </p:sp>
      <p:sp>
        <p:nvSpPr>
          <p:cNvPr id="28" name="Cartão"/>
          <p:cNvSpPr/>
          <p:nvPr/>
        </p:nvSpPr>
        <p:spPr>
          <a:xfrm>
            <a:off x="6858000" y="2750641"/>
            <a:ext cx="1524000" cy="101600"/>
          </a:xfrm>
          <a:prstGeom prst="roundRect">
            <a:avLst>
              <a:gd name="adj" fmla="val 50000"/>
            </a:avLst>
          </a:prstGeom>
          <a:solidFill>
            <a:srgbClr val="33475E"/>
          </a:solidFill>
          <a:ln/>
        </p:spPr>
      </p:sp>
      <p:sp>
        <p:nvSpPr>
          <p:cNvPr id="29" name="Cartão"/>
          <p:cNvSpPr/>
          <p:nvPr/>
        </p:nvSpPr>
        <p:spPr>
          <a:xfrm>
            <a:off x="6858000" y="2750641"/>
            <a:ext cx="381000" cy="101600"/>
          </a:xfrm>
          <a:prstGeom prst="roundRect">
            <a:avLst>
              <a:gd name="adj" fmla="val 50000"/>
            </a:avLst>
          </a:prstGeom>
          <a:solidFill>
            <a:srgbClr val="E49A5C"/>
          </a:solidFill>
          <a:ln/>
        </p:spPr>
      </p:sp>
      <p:sp>
        <p:nvSpPr>
          <p:cNvPr id="30" name="D1"/>
          <p:cNvSpPr txBox="1"/>
          <p:nvPr/>
        </p:nvSpPr>
        <p:spPr>
          <a:xfrm>
            <a:off x="8915400" y="2682818"/>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D1</a:t>
            </a:r>
            <a:endParaRPr lang="en-US" sz="1200" dirty="0"/>
          </a:p>
        </p:txBody>
      </p:sp>
      <p:sp>
        <p:nvSpPr>
          <p:cNvPr id="31" name="Cartão"/>
          <p:cNvSpPr/>
          <p:nvPr/>
        </p:nvSpPr>
        <p:spPr>
          <a:xfrm>
            <a:off x="9321800" y="2750641"/>
            <a:ext cx="1524000" cy="101600"/>
          </a:xfrm>
          <a:prstGeom prst="roundRect">
            <a:avLst>
              <a:gd name="adj" fmla="val 50000"/>
            </a:avLst>
          </a:prstGeom>
          <a:solidFill>
            <a:srgbClr val="33475E"/>
          </a:solidFill>
          <a:ln/>
        </p:spPr>
      </p:sp>
      <p:sp>
        <p:nvSpPr>
          <p:cNvPr id="32" name="Cartão"/>
          <p:cNvSpPr/>
          <p:nvPr/>
        </p:nvSpPr>
        <p:spPr>
          <a:xfrm>
            <a:off x="6197600" y="3162102"/>
            <a:ext cx="5181600" cy="1413272"/>
          </a:xfrm>
          <a:prstGeom prst="roundRect">
            <a:avLst>
              <a:gd name="adj" fmla="val 5392"/>
            </a:avLst>
          </a:prstGeom>
          <a:solidFill>
            <a:srgbClr val="FFFDF8"/>
          </a:solidFill>
          <a:ln w="6350">
            <a:solidFill>
              <a:srgbClr val="E2DDD2"/>
            </a:solidFill>
            <a:prstDash val="solid"/>
          </a:ln>
        </p:spPr>
      </p:sp>
      <p:sp>
        <p:nvSpPr>
          <p:cNvPr id="33" name="Ação mista: direta em α e β e indireta, "/>
          <p:cNvSpPr txBox="1"/>
          <p:nvPr/>
        </p:nvSpPr>
        <p:spPr>
          <a:xfrm>
            <a:off x="6457950" y="3355621"/>
            <a:ext cx="4679950" cy="994172"/>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Ação mista: direta em α e β e indireta, liberando noradrenalina. Bolus de 5–10 mg, boa na hipotensão com bradicardia. Taquifilaxia com doses repetidas; na cesárea, mais acidose fetal que a fenilefrina.</a:t>
            </a:r>
            <a:endParaRPr lang="en-US" sz="1350" dirty="0"/>
          </a:p>
        </p:txBody>
      </p:sp>
      <p:sp>
        <p:nvSpPr>
          <p:cNvPr id="34" name="Kinsella, Anaesthesia 2018 · Park &amp; Choi"/>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Kinsella, Anaesthesia 2018 · Park &amp; Choi, Anesth Pain Med 2024 · Miller’s Anesthesia, 10ª ed. · [cap./pág.] · barras: escala qualitativa</a:t>
            </a:r>
            <a:endParaRPr lang="en-US" sz="1200" dirty="0"/>
          </a:p>
        </p:txBody>
      </p:sp>
      <p:pic>
        <p:nvPicPr>
          <p:cNvPr id="35"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E"/>
        </a:solidFill>
      </p:bgPr>
    </p:bg>
    <p:spTree>
      <p:nvGrpSpPr>
        <p:cNvPr id="1" name=""/>
        <p:cNvGrpSpPr/>
        <p:nvPr/>
      </p:nvGrpSpPr>
      <p:grpSpPr>
        <a:xfrm>
          <a:off x="0" y="0"/>
          <a:ext cx="0" cy="0"/>
          <a:chOff x="0" y="0"/>
          <a:chExt cx="0" cy="0"/>
        </a:xfrm>
      </p:grpSpPr>
      <p:sp>
        <p:nvSpPr>
          <p:cNvPr id="2" name="04 · ALÉM DAS AMINAS"/>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04 · ALÉM DAS AMINAS</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Vasopressina e adjuvantes</a:t>
            </a:r>
            <a:endParaRPr lang="en-US" sz="3200" dirty="0"/>
          </a:p>
        </p:txBody>
      </p:sp>
      <p:sp>
        <p:nvSpPr>
          <p:cNvPr id="4" name="Cartão"/>
          <p:cNvSpPr/>
          <p:nvPr/>
        </p:nvSpPr>
        <p:spPr>
          <a:xfrm>
            <a:off x="812800" y="1879501"/>
            <a:ext cx="4064000" cy="3380383"/>
          </a:xfrm>
          <a:prstGeom prst="roundRect">
            <a:avLst>
              <a:gd name="adj" fmla="val 2254"/>
            </a:avLst>
          </a:prstGeom>
          <a:solidFill>
            <a:srgbClr val="1B2A3A"/>
          </a:solidFill>
          <a:ln/>
        </p:spPr>
      </p:sp>
      <p:sp>
        <p:nvSpPr>
          <p:cNvPr id="5" name="VASOPRESSINA · RECEPTOR V1"/>
          <p:cNvSpPr txBox="1"/>
          <p:nvPr/>
        </p:nvSpPr>
        <p:spPr>
          <a:xfrm>
            <a:off x="1066800" y="2121537"/>
            <a:ext cx="3575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VASOPRESSINA · RECEPTOR V1</a:t>
            </a:r>
            <a:endParaRPr lang="en-US" sz="1200" dirty="0"/>
          </a:p>
        </p:txBody>
      </p:sp>
      <p:sp>
        <p:nvSpPr>
          <p:cNvPr id="6" name="0,03 U/min"/>
          <p:cNvSpPr txBox="1"/>
          <p:nvPr/>
        </p:nvSpPr>
        <p:spPr>
          <a:xfrm>
            <a:off x="1066800" y="2457108"/>
            <a:ext cx="3575050" cy="502841"/>
          </a:xfrm>
          <a:prstGeom prst="rect">
            <a:avLst/>
          </a:prstGeom>
          <a:noFill/>
          <a:ln/>
        </p:spPr>
        <p:txBody>
          <a:bodyPr wrap="none" lIns="0" tIns="0" rIns="0" bIns="0" rtlCol="0" anchor="t"/>
          <a:lstStyle/>
          <a:p>
            <a:pPr algn="l" indent="0" marL="0">
              <a:lnSpc>
                <a:spcPts val="3960"/>
              </a:lnSpc>
              <a:buNone/>
            </a:pPr>
            <a:r>
              <a:rPr lang="pt-BR" altLang="en-US" sz="3600" dirty="0">
                <a:solidFill>
                  <a:srgbClr val="F5F3EE"/>
                </a:solidFill>
                <a:latin typeface="Georgia" pitchFamily="34" charset="0"/>
                <a:ea typeface="Georgia" pitchFamily="34" charset="-122"/>
                <a:cs typeface="Georgia" pitchFamily="34" charset="-120"/>
              </a:rPr>
              <a:t>0,03 U/min</a:t>
            </a:r>
            <a:endParaRPr lang="en-US" sz="3600" dirty="0"/>
          </a:p>
        </p:txBody>
      </p:sp>
      <p:sp>
        <p:nvSpPr>
          <p:cNvPr id="7" name="Dose fixa (até 0,04 U/min), sem titulaçã"/>
          <p:cNvSpPr txBox="1"/>
          <p:nvPr/>
        </p:nvSpPr>
        <p:spPr>
          <a:xfrm>
            <a:off x="1066800" y="3036831"/>
            <a:ext cx="3575050" cy="745629"/>
          </a:xfrm>
          <a:prstGeom prst="rect">
            <a:avLst/>
          </a:prstGeom>
          <a:noFill/>
          <a:ln/>
        </p:spPr>
        <p:txBody>
          <a:bodyPr wrap="square" lIns="0" tIns="0" rIns="0" bIns="0" rtlCol="0" anchor="t"/>
          <a:lstStyle/>
          <a:p>
            <a:pPr algn="l" indent="0" marL="0">
              <a:lnSpc>
                <a:spcPts val="1957"/>
              </a:lnSpc>
              <a:buNone/>
            </a:pPr>
            <a:r>
              <a:rPr lang="pt-BR" altLang="en-US" sz="1350" dirty="0">
                <a:solidFill>
                  <a:srgbClr val="DFE3E8"/>
                </a:solidFill>
                <a:latin typeface="Calibri" pitchFamily="34" charset="0"/>
                <a:ea typeface="Calibri" pitchFamily="34" charset="-122"/>
                <a:cs typeface="Calibri" pitchFamily="34" charset="-120"/>
              </a:rPr>
              <a:t>Dose fixa (até 0,04 U/min), sem titulação; age mesmo com acidose e dessensibilização adrenérgica.</a:t>
            </a:r>
            <a:endParaRPr lang="en-US" sz="1350" dirty="0"/>
          </a:p>
        </p:txBody>
      </p:sp>
      <p:sp>
        <p:nvSpPr>
          <p:cNvPr id="8" name="Indicações: choque séptico com NA em esc"/>
          <p:cNvSpPr txBox="1"/>
          <p:nvPr/>
        </p:nvSpPr>
        <p:spPr>
          <a:xfrm>
            <a:off x="1066800" y="3884060"/>
            <a:ext cx="3575050" cy="745629"/>
          </a:xfrm>
          <a:prstGeom prst="rect">
            <a:avLst/>
          </a:prstGeom>
          <a:noFill/>
          <a:ln/>
        </p:spPr>
        <p:txBody>
          <a:bodyPr wrap="square" lIns="0" tIns="0" rIns="0" bIns="0" rtlCol="0" anchor="t"/>
          <a:lstStyle/>
          <a:p>
            <a:pPr algn="l" indent="0" marL="0">
              <a:lnSpc>
                <a:spcPts val="1957"/>
              </a:lnSpc>
              <a:buNone/>
            </a:pPr>
            <a:r>
              <a:rPr lang="pt-BR" altLang="en-US" sz="1350" dirty="0">
                <a:solidFill>
                  <a:srgbClr val="DFE3E8"/>
                </a:solidFill>
                <a:latin typeface="Calibri" pitchFamily="34" charset="0"/>
                <a:ea typeface="Calibri" pitchFamily="34" charset="-122"/>
                <a:cs typeface="Calibri" pitchFamily="34" charset="-120"/>
              </a:rPr>
              <a:t>Indicações: choque séptico com NA em escalada, vasoplegia pós-CEC e hipotensão refratária com IECA/BRA.</a:t>
            </a:r>
            <a:endParaRPr lang="en-US" sz="1350" dirty="0"/>
          </a:p>
        </p:txBody>
      </p:sp>
      <p:sp>
        <p:nvSpPr>
          <p:cNvPr id="9" name="Cartão"/>
          <p:cNvSpPr/>
          <p:nvPr/>
        </p:nvSpPr>
        <p:spPr>
          <a:xfrm>
            <a:off x="5080000" y="1879501"/>
            <a:ext cx="6299200" cy="1059061"/>
          </a:xfrm>
          <a:prstGeom prst="roundRect">
            <a:avLst>
              <a:gd name="adj" fmla="val 7195"/>
            </a:avLst>
          </a:prstGeom>
          <a:solidFill>
            <a:srgbClr val="FFFDF8"/>
          </a:solidFill>
          <a:ln w="6350">
            <a:solidFill>
              <a:srgbClr val="E2DDD2"/>
            </a:solidFill>
            <a:prstDash val="solid"/>
          </a:ln>
        </p:spPr>
      </p:sp>
      <p:sp>
        <p:nvSpPr>
          <p:cNvPr id="10" name="Hidrocortisona"/>
          <p:cNvSpPr txBox="1"/>
          <p:nvPr/>
        </p:nvSpPr>
        <p:spPr>
          <a:xfrm>
            <a:off x="5289550" y="2034727"/>
            <a:ext cx="5899150" cy="228600"/>
          </a:xfrm>
          <a:prstGeom prst="rect">
            <a:avLst/>
          </a:prstGeom>
          <a:noFill/>
          <a:ln/>
        </p:spPr>
        <p:txBody>
          <a:bodyPr wrap="none" lIns="0" tIns="0" rIns="0" bIns="0" rtlCol="0" anchor="t"/>
          <a:lstStyle/>
          <a:p>
            <a:pPr algn="l" indent="0" marL="0">
              <a:lnSpc>
                <a:spcPts val="1800"/>
              </a:lnSpc>
              <a:buNone/>
            </a:pPr>
            <a:r>
              <a:rPr lang="pt-BR" altLang="en-US" sz="1500" b="1" dirty="0">
                <a:solidFill>
                  <a:srgbClr val="1B2A3A"/>
                </a:solidFill>
                <a:latin typeface="Calibri" pitchFamily="34" charset="0"/>
                <a:ea typeface="Calibri" pitchFamily="34" charset="-122"/>
                <a:cs typeface="Calibri" pitchFamily="34" charset="-120"/>
              </a:rPr>
              <a:t>Hidrocortisona</a:t>
            </a:r>
            <a:endParaRPr lang="en-US" sz="1500" dirty="0"/>
          </a:p>
        </p:txBody>
      </p:sp>
      <p:sp>
        <p:nvSpPr>
          <p:cNvPr id="11" name="Restaura a resposta vascular às catecola"/>
          <p:cNvSpPr txBox="1"/>
          <p:nvPr/>
        </p:nvSpPr>
        <p:spPr>
          <a:xfrm>
            <a:off x="5289550" y="2304690"/>
            <a:ext cx="5899150"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2C3A48"/>
                </a:solidFill>
                <a:latin typeface="Calibri" pitchFamily="34" charset="0"/>
                <a:ea typeface="Calibri" pitchFamily="34" charset="-122"/>
                <a:cs typeface="Calibri" pitchFamily="34" charset="-120"/>
              </a:rPr>
              <a:t>Restaura a resposta vascular às catecolaminas. No choque séptico, 200 mg/dia (sugerida pela SSC 2026).</a:t>
            </a:r>
            <a:endParaRPr lang="en-US" sz="1300" dirty="0"/>
          </a:p>
        </p:txBody>
      </p:sp>
      <p:sp>
        <p:nvSpPr>
          <p:cNvPr id="12" name="Cartão"/>
          <p:cNvSpPr/>
          <p:nvPr/>
        </p:nvSpPr>
        <p:spPr>
          <a:xfrm>
            <a:off x="5080000" y="3040162"/>
            <a:ext cx="6299200" cy="1059061"/>
          </a:xfrm>
          <a:prstGeom prst="roundRect">
            <a:avLst>
              <a:gd name="adj" fmla="val 7195"/>
            </a:avLst>
          </a:prstGeom>
          <a:solidFill>
            <a:srgbClr val="FFFDF8"/>
          </a:solidFill>
          <a:ln w="6350">
            <a:solidFill>
              <a:srgbClr val="E2DDD2"/>
            </a:solidFill>
            <a:prstDash val="solid"/>
          </a:ln>
        </p:spPr>
      </p:sp>
      <p:sp>
        <p:nvSpPr>
          <p:cNvPr id="13" name="Angiotensina II"/>
          <p:cNvSpPr txBox="1"/>
          <p:nvPr/>
        </p:nvSpPr>
        <p:spPr>
          <a:xfrm>
            <a:off x="5289550" y="3195387"/>
            <a:ext cx="5899150" cy="228600"/>
          </a:xfrm>
          <a:prstGeom prst="rect">
            <a:avLst/>
          </a:prstGeom>
          <a:noFill/>
          <a:ln/>
        </p:spPr>
        <p:txBody>
          <a:bodyPr wrap="none" lIns="0" tIns="0" rIns="0" bIns="0" rtlCol="0" anchor="t"/>
          <a:lstStyle/>
          <a:p>
            <a:pPr algn="l" indent="0" marL="0">
              <a:lnSpc>
                <a:spcPts val="1800"/>
              </a:lnSpc>
              <a:buNone/>
            </a:pPr>
            <a:r>
              <a:rPr lang="pt-BR" altLang="en-US" sz="1500" b="1" dirty="0">
                <a:solidFill>
                  <a:srgbClr val="1B2A3A"/>
                </a:solidFill>
                <a:latin typeface="Calibri" pitchFamily="34" charset="0"/>
                <a:ea typeface="Calibri" pitchFamily="34" charset="-122"/>
                <a:cs typeface="Calibri" pitchFamily="34" charset="-120"/>
              </a:rPr>
              <a:t>Angiotensina II</a:t>
            </a:r>
            <a:endParaRPr lang="en-US" sz="1500" dirty="0"/>
          </a:p>
        </p:txBody>
      </p:sp>
      <p:sp>
        <p:nvSpPr>
          <p:cNvPr id="14" name="Agonista AT1: eleva a PAM rapidamente e "/>
          <p:cNvSpPr txBox="1"/>
          <p:nvPr/>
        </p:nvSpPr>
        <p:spPr>
          <a:xfrm>
            <a:off x="5289550" y="3465351"/>
            <a:ext cx="5899150"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2C3A48"/>
                </a:solidFill>
                <a:latin typeface="Calibri" pitchFamily="34" charset="0"/>
                <a:ea typeface="Calibri" pitchFamily="34" charset="-122"/>
                <a:cs typeface="Calibri" pitchFamily="34" charset="-120"/>
              </a:rPr>
              <a:t>Agonista AT1: eleva a PAM rapidamente e poupa catecolamina. Pouco disponível; a NA continua preferida.</a:t>
            </a:r>
            <a:endParaRPr lang="en-US" sz="1300" dirty="0"/>
          </a:p>
        </p:txBody>
      </p:sp>
      <p:sp>
        <p:nvSpPr>
          <p:cNvPr id="15" name="Cartão"/>
          <p:cNvSpPr/>
          <p:nvPr/>
        </p:nvSpPr>
        <p:spPr>
          <a:xfrm>
            <a:off x="5080000" y="4200823"/>
            <a:ext cx="6299200" cy="1059061"/>
          </a:xfrm>
          <a:prstGeom prst="roundRect">
            <a:avLst>
              <a:gd name="adj" fmla="val 7195"/>
            </a:avLst>
          </a:prstGeom>
          <a:solidFill>
            <a:srgbClr val="FFFDF8"/>
          </a:solidFill>
          <a:ln w="6350">
            <a:solidFill>
              <a:srgbClr val="E2DDD2"/>
            </a:solidFill>
            <a:prstDash val="solid"/>
          </a:ln>
        </p:spPr>
      </p:sp>
      <p:sp>
        <p:nvSpPr>
          <p:cNvPr id="16" name="Azul de metileno"/>
          <p:cNvSpPr txBox="1"/>
          <p:nvPr/>
        </p:nvSpPr>
        <p:spPr>
          <a:xfrm>
            <a:off x="5289550" y="4356048"/>
            <a:ext cx="5899150" cy="228600"/>
          </a:xfrm>
          <a:prstGeom prst="rect">
            <a:avLst/>
          </a:prstGeom>
          <a:noFill/>
          <a:ln/>
        </p:spPr>
        <p:txBody>
          <a:bodyPr wrap="none" lIns="0" tIns="0" rIns="0" bIns="0" rtlCol="0" anchor="t"/>
          <a:lstStyle/>
          <a:p>
            <a:pPr algn="l" indent="0" marL="0">
              <a:lnSpc>
                <a:spcPts val="1800"/>
              </a:lnSpc>
              <a:buNone/>
            </a:pPr>
            <a:r>
              <a:rPr lang="pt-BR" altLang="en-US" sz="1500" b="1" dirty="0">
                <a:solidFill>
                  <a:srgbClr val="1B2A3A"/>
                </a:solidFill>
                <a:latin typeface="Calibri" pitchFamily="34" charset="0"/>
                <a:ea typeface="Calibri" pitchFamily="34" charset="-122"/>
                <a:cs typeface="Calibri" pitchFamily="34" charset="-120"/>
              </a:rPr>
              <a:t>Azul de metileno</a:t>
            </a:r>
            <a:endParaRPr lang="en-US" sz="1500" dirty="0"/>
          </a:p>
        </p:txBody>
      </p:sp>
      <p:sp>
        <p:nvSpPr>
          <p:cNvPr id="17" name="Bloqueia a via óxido nítrico–GMPc: resga"/>
          <p:cNvSpPr txBox="1"/>
          <p:nvPr/>
        </p:nvSpPr>
        <p:spPr>
          <a:xfrm>
            <a:off x="5289550" y="4626012"/>
            <a:ext cx="5899150"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2C3A48"/>
                </a:solidFill>
                <a:latin typeface="Calibri" pitchFamily="34" charset="0"/>
                <a:ea typeface="Calibri" pitchFamily="34" charset="-122"/>
                <a:cs typeface="Calibri" pitchFamily="34" charset="-120"/>
              </a:rPr>
              <a:t>Bloqueia a via óxido nítrico–GMPc: resgate na vasoplegia refratária (pós-CEC, reperfusão hepática). Evitar com ISRS e na deficiência de G6PD.</a:t>
            </a:r>
            <a:endParaRPr lang="en-US" sz="1300" dirty="0"/>
          </a:p>
        </p:txBody>
      </p:sp>
      <p:sp>
        <p:nvSpPr>
          <p:cNvPr id="18" name="SSC 2026 · Hajjar, Anesthesiology 2017 ("/>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SSC 2026 · Hajjar, Anesthesiology 2017 (VANCS) · Khanna, N Engl J Med 2017 (ATHOS-3)</a:t>
            </a:r>
            <a:endParaRPr lang="en-US" sz="1200" dirty="0"/>
          </a:p>
        </p:txBody>
      </p:sp>
      <p:pic>
        <p:nvPicPr>
          <p:cNvPr id="19"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3EE"/>
        </a:solidFill>
      </p:bgPr>
    </p:bg>
    <p:spTree>
      <p:nvGrpSpPr>
        <p:cNvPr id="1" name=""/>
        <p:cNvGrpSpPr/>
        <p:nvPr/>
      </p:nvGrpSpPr>
      <p:grpSpPr>
        <a:xfrm>
          <a:off x="0" y="0"/>
          <a:ext cx="0" cy="0"/>
          <a:chOff x="0" y="0"/>
          <a:chExt cx="0" cy="0"/>
        </a:xfrm>
      </p:grpSpPr>
      <p:sp>
        <p:nvSpPr>
          <p:cNvPr id="2" name="05 · CHOQUE SÉPTICO"/>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05 · CHOQUE SÉPTICO</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Choque séptico: recomendações da SSC 2026</a:t>
            </a:r>
            <a:endParaRPr lang="en-US" sz="3200" dirty="0"/>
          </a:p>
        </p:txBody>
      </p:sp>
      <p:sp>
        <p:nvSpPr>
          <p:cNvPr id="4" name="Cartão"/>
          <p:cNvSpPr/>
          <p:nvPr/>
        </p:nvSpPr>
        <p:spPr>
          <a:xfrm>
            <a:off x="812800" y="1879501"/>
            <a:ext cx="3081834" cy="1457722"/>
          </a:xfrm>
          <a:prstGeom prst="roundRect">
            <a:avLst>
              <a:gd name="adj" fmla="val 5227"/>
            </a:avLst>
          </a:prstGeom>
          <a:solidFill>
            <a:srgbClr val="1B2A3A"/>
          </a:solidFill>
          <a:ln/>
        </p:spPr>
      </p:sp>
      <p:sp>
        <p:nvSpPr>
          <p:cNvPr id="5" name="PASSO 1"/>
          <p:cNvSpPr txBox="1"/>
          <p:nvPr/>
        </p:nvSpPr>
        <p:spPr>
          <a:xfrm>
            <a:off x="1016000" y="2070737"/>
            <a:ext cx="2694484"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PASSO 1</a:t>
            </a:r>
            <a:endParaRPr lang="en-US" sz="1200" dirty="0"/>
          </a:p>
        </p:txBody>
      </p:sp>
      <p:sp>
        <p:nvSpPr>
          <p:cNvPr id="6" name="Noradrenalina"/>
          <p:cNvSpPr txBox="1"/>
          <p:nvPr/>
        </p:nvSpPr>
        <p:spPr>
          <a:xfrm>
            <a:off x="1016000" y="2342592"/>
            <a:ext cx="2694484" cy="274241"/>
          </a:xfrm>
          <a:prstGeom prst="rect">
            <a:avLst/>
          </a:prstGeom>
          <a:noFill/>
          <a:ln/>
        </p:spPr>
        <p:txBody>
          <a:bodyPr wrap="none" lIns="0" tIns="0" rIns="0" bIns="0" rtlCol="0" anchor="t"/>
          <a:lstStyle/>
          <a:p>
            <a:pPr algn="l" indent="0" marL="0">
              <a:lnSpc>
                <a:spcPts val="2160"/>
              </a:lnSpc>
              <a:buNone/>
            </a:pPr>
            <a:r>
              <a:rPr lang="pt-BR" altLang="en-US" sz="1800" b="1" dirty="0">
                <a:solidFill>
                  <a:srgbClr val="F5F3EE"/>
                </a:solidFill>
                <a:latin typeface="Calibri" pitchFamily="34" charset="0"/>
                <a:ea typeface="Calibri" pitchFamily="34" charset="-122"/>
                <a:cs typeface="Calibri" pitchFamily="34" charset="-120"/>
              </a:rPr>
              <a:t>Noradrenalina</a:t>
            </a:r>
            <a:endParaRPr lang="en-US" sz="1800" dirty="0"/>
          </a:p>
        </p:txBody>
      </p:sp>
      <p:sp>
        <p:nvSpPr>
          <p:cNvPr id="7" name="1ª linha, cedo; pode começar em veia per"/>
          <p:cNvSpPr txBox="1"/>
          <p:nvPr/>
        </p:nvSpPr>
        <p:spPr>
          <a:xfrm>
            <a:off x="1016000" y="2658901"/>
            <a:ext cx="2694484"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C9CFD6"/>
                </a:solidFill>
                <a:latin typeface="Calibri" pitchFamily="34" charset="0"/>
                <a:ea typeface="Calibri" pitchFamily="34" charset="-122"/>
                <a:cs typeface="Calibri" pitchFamily="34" charset="-120"/>
              </a:rPr>
              <a:t>1ª linha, cedo; pode começar em veia periférica.</a:t>
            </a:r>
            <a:endParaRPr lang="en-US" sz="1300" dirty="0"/>
          </a:p>
        </p:txBody>
      </p:sp>
      <p:sp>
        <p:nvSpPr>
          <p:cNvPr id="8" name="Seta"/>
          <p:cNvSpPr/>
          <p:nvPr/>
        </p:nvSpPr>
        <p:spPr>
          <a:xfrm>
            <a:off x="4021634" y="2494062"/>
            <a:ext cx="406400" cy="228600"/>
          </a:xfrm>
          <a:prstGeom prst="rightArrow">
            <a:avLst/>
          </a:prstGeom>
          <a:solidFill>
            <a:srgbClr val="B9581A"/>
          </a:solidFill>
          <a:ln/>
        </p:spPr>
      </p:sp>
      <p:sp>
        <p:nvSpPr>
          <p:cNvPr id="9" name="Cartão"/>
          <p:cNvSpPr/>
          <p:nvPr/>
        </p:nvSpPr>
        <p:spPr>
          <a:xfrm>
            <a:off x="4555034" y="1879501"/>
            <a:ext cx="3081834" cy="1457722"/>
          </a:xfrm>
          <a:prstGeom prst="roundRect">
            <a:avLst>
              <a:gd name="adj" fmla="val 5227"/>
            </a:avLst>
          </a:prstGeom>
          <a:solidFill>
            <a:srgbClr val="1B2A3A"/>
          </a:solidFill>
          <a:ln/>
        </p:spPr>
      </p:sp>
      <p:sp>
        <p:nvSpPr>
          <p:cNvPr id="10" name="PASSO 2"/>
          <p:cNvSpPr txBox="1"/>
          <p:nvPr/>
        </p:nvSpPr>
        <p:spPr>
          <a:xfrm>
            <a:off x="4758234" y="2070737"/>
            <a:ext cx="2694484"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PASSO 2</a:t>
            </a:r>
            <a:endParaRPr lang="en-US" sz="1200" dirty="0"/>
          </a:p>
        </p:txBody>
      </p:sp>
      <p:sp>
        <p:nvSpPr>
          <p:cNvPr id="11" name="+ Vasopressina"/>
          <p:cNvSpPr txBox="1"/>
          <p:nvPr/>
        </p:nvSpPr>
        <p:spPr>
          <a:xfrm>
            <a:off x="4758234" y="2342592"/>
            <a:ext cx="2694484" cy="274241"/>
          </a:xfrm>
          <a:prstGeom prst="rect">
            <a:avLst/>
          </a:prstGeom>
          <a:noFill/>
          <a:ln/>
        </p:spPr>
        <p:txBody>
          <a:bodyPr wrap="none" lIns="0" tIns="0" rIns="0" bIns="0" rtlCol="0" anchor="t"/>
          <a:lstStyle/>
          <a:p>
            <a:pPr algn="l" indent="0" marL="0">
              <a:lnSpc>
                <a:spcPts val="2160"/>
              </a:lnSpc>
              <a:buNone/>
            </a:pPr>
            <a:r>
              <a:rPr lang="pt-BR" altLang="en-US" sz="1800" b="1" dirty="0">
                <a:solidFill>
                  <a:srgbClr val="F5F3EE"/>
                </a:solidFill>
                <a:latin typeface="Calibri" pitchFamily="34" charset="0"/>
                <a:ea typeface="Calibri" pitchFamily="34" charset="-122"/>
                <a:cs typeface="Calibri" pitchFamily="34" charset="-120"/>
              </a:rPr>
              <a:t>+ Vasopressina</a:t>
            </a:r>
            <a:endParaRPr lang="en-US" sz="1800" dirty="0"/>
          </a:p>
        </p:txBody>
      </p:sp>
      <p:sp>
        <p:nvSpPr>
          <p:cNvPr id="12" name="Quando a dose de NA está subindo."/>
          <p:cNvSpPr txBox="1"/>
          <p:nvPr/>
        </p:nvSpPr>
        <p:spPr>
          <a:xfrm>
            <a:off x="4758234" y="2658901"/>
            <a:ext cx="2694484" cy="231080"/>
          </a:xfrm>
          <a:prstGeom prst="rect">
            <a:avLst/>
          </a:prstGeom>
          <a:noFill/>
          <a:ln/>
        </p:spPr>
        <p:txBody>
          <a:bodyPr wrap="none" lIns="0" tIns="0" rIns="0" bIns="0" rtlCol="0" anchor="t"/>
          <a:lstStyle/>
          <a:p>
            <a:pPr algn="l" indent="0" marL="0">
              <a:lnSpc>
                <a:spcPts val="1820"/>
              </a:lnSpc>
              <a:buNone/>
            </a:pPr>
            <a:r>
              <a:rPr lang="pt-BR" altLang="en-US" sz="1300" dirty="0">
                <a:solidFill>
                  <a:srgbClr val="C9CFD6"/>
                </a:solidFill>
                <a:latin typeface="Calibri" pitchFamily="34" charset="0"/>
                <a:ea typeface="Calibri" pitchFamily="34" charset="-122"/>
                <a:cs typeface="Calibri" pitchFamily="34" charset="-120"/>
              </a:rPr>
              <a:t>Quando a dose de NA está subindo.</a:t>
            </a:r>
            <a:endParaRPr lang="en-US" sz="1300" dirty="0"/>
          </a:p>
        </p:txBody>
      </p:sp>
      <p:sp>
        <p:nvSpPr>
          <p:cNvPr id="13" name="Seta"/>
          <p:cNvSpPr/>
          <p:nvPr/>
        </p:nvSpPr>
        <p:spPr>
          <a:xfrm>
            <a:off x="7763867" y="2494062"/>
            <a:ext cx="406400" cy="228600"/>
          </a:xfrm>
          <a:prstGeom prst="rightArrow">
            <a:avLst/>
          </a:prstGeom>
          <a:solidFill>
            <a:srgbClr val="B9581A"/>
          </a:solidFill>
          <a:ln/>
        </p:spPr>
      </p:sp>
      <p:sp>
        <p:nvSpPr>
          <p:cNvPr id="14" name="Cartão"/>
          <p:cNvSpPr/>
          <p:nvPr/>
        </p:nvSpPr>
        <p:spPr>
          <a:xfrm>
            <a:off x="8297267" y="1879501"/>
            <a:ext cx="3081834" cy="1457722"/>
          </a:xfrm>
          <a:prstGeom prst="roundRect">
            <a:avLst>
              <a:gd name="adj" fmla="val 5227"/>
            </a:avLst>
          </a:prstGeom>
          <a:solidFill>
            <a:srgbClr val="1B2A3A"/>
          </a:solidFill>
          <a:ln/>
        </p:spPr>
      </p:sp>
      <p:sp>
        <p:nvSpPr>
          <p:cNvPr id="15" name="PASSO 3"/>
          <p:cNvSpPr txBox="1"/>
          <p:nvPr/>
        </p:nvSpPr>
        <p:spPr>
          <a:xfrm>
            <a:off x="8500467" y="2070737"/>
            <a:ext cx="2694484"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PASSO 3</a:t>
            </a:r>
            <a:endParaRPr lang="en-US" sz="1200" dirty="0"/>
          </a:p>
        </p:txBody>
      </p:sp>
      <p:sp>
        <p:nvSpPr>
          <p:cNvPr id="16" name="+ Adrenalina"/>
          <p:cNvSpPr txBox="1"/>
          <p:nvPr/>
        </p:nvSpPr>
        <p:spPr>
          <a:xfrm>
            <a:off x="8500467" y="2342592"/>
            <a:ext cx="2694484" cy="274241"/>
          </a:xfrm>
          <a:prstGeom prst="rect">
            <a:avLst/>
          </a:prstGeom>
          <a:noFill/>
          <a:ln/>
        </p:spPr>
        <p:txBody>
          <a:bodyPr wrap="none" lIns="0" tIns="0" rIns="0" bIns="0" rtlCol="0" anchor="t"/>
          <a:lstStyle/>
          <a:p>
            <a:pPr algn="l" indent="0" marL="0">
              <a:lnSpc>
                <a:spcPts val="2160"/>
              </a:lnSpc>
              <a:buNone/>
            </a:pPr>
            <a:r>
              <a:rPr lang="pt-BR" altLang="en-US" sz="1800" b="1" dirty="0">
                <a:solidFill>
                  <a:srgbClr val="F5F3EE"/>
                </a:solidFill>
                <a:latin typeface="Calibri" pitchFamily="34" charset="0"/>
                <a:ea typeface="Calibri" pitchFamily="34" charset="-122"/>
                <a:cs typeface="Calibri" pitchFamily="34" charset="-120"/>
              </a:rPr>
              <a:t>+ Adrenalina</a:t>
            </a:r>
            <a:endParaRPr lang="en-US" sz="1800" dirty="0"/>
          </a:p>
        </p:txBody>
      </p:sp>
      <p:sp>
        <p:nvSpPr>
          <p:cNvPr id="17" name="Se a PAM continuar inadequada."/>
          <p:cNvSpPr txBox="1"/>
          <p:nvPr/>
        </p:nvSpPr>
        <p:spPr>
          <a:xfrm>
            <a:off x="8500467" y="2658901"/>
            <a:ext cx="2694484" cy="231080"/>
          </a:xfrm>
          <a:prstGeom prst="rect">
            <a:avLst/>
          </a:prstGeom>
          <a:noFill/>
          <a:ln/>
        </p:spPr>
        <p:txBody>
          <a:bodyPr wrap="none" lIns="0" tIns="0" rIns="0" bIns="0" rtlCol="0" anchor="t"/>
          <a:lstStyle/>
          <a:p>
            <a:pPr algn="l" indent="0" marL="0">
              <a:lnSpc>
                <a:spcPts val="1820"/>
              </a:lnSpc>
              <a:buNone/>
            </a:pPr>
            <a:r>
              <a:rPr lang="pt-BR" altLang="en-US" sz="1300" dirty="0">
                <a:solidFill>
                  <a:srgbClr val="C9CFD6"/>
                </a:solidFill>
                <a:latin typeface="Calibri" pitchFamily="34" charset="0"/>
                <a:ea typeface="Calibri" pitchFamily="34" charset="-122"/>
                <a:cs typeface="Calibri" pitchFamily="34" charset="-120"/>
              </a:rPr>
              <a:t>Se a PAM continuar inadequada.</a:t>
            </a:r>
            <a:endParaRPr lang="en-US" sz="1300" dirty="0"/>
          </a:p>
        </p:txBody>
      </p:sp>
      <p:sp>
        <p:nvSpPr>
          <p:cNvPr id="18" name="Cartão"/>
          <p:cNvSpPr/>
          <p:nvPr/>
        </p:nvSpPr>
        <p:spPr>
          <a:xfrm>
            <a:off x="812800" y="3540423"/>
            <a:ext cx="5181600" cy="1626989"/>
          </a:xfrm>
          <a:prstGeom prst="roundRect">
            <a:avLst>
              <a:gd name="adj" fmla="val 4683"/>
            </a:avLst>
          </a:prstGeom>
          <a:solidFill>
            <a:srgbClr val="FFFDF8"/>
          </a:solidFill>
          <a:ln w="6350">
            <a:solidFill>
              <a:srgbClr val="E2DDD2"/>
            </a:solidFill>
            <a:prstDash val="solid"/>
          </a:ln>
        </p:spPr>
      </p:sp>
      <p:sp>
        <p:nvSpPr>
          <p:cNvPr id="19" name="Alvo e momento"/>
          <p:cNvSpPr txBox="1"/>
          <p:nvPr/>
        </p:nvSpPr>
        <p:spPr>
          <a:xfrm>
            <a:off x="1073150" y="3796779"/>
            <a:ext cx="46799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Alvo e momento</a:t>
            </a:r>
            <a:endParaRPr lang="en-US" sz="1700" dirty="0"/>
          </a:p>
        </p:txBody>
      </p:sp>
      <p:sp>
        <p:nvSpPr>
          <p:cNvPr id="20" name="PAM 65 mmHg para começar (60–65 a partir"/>
          <p:cNvSpPr txBox="1"/>
          <p:nvPr/>
        </p:nvSpPr>
        <p:spPr>
          <a:xfrm>
            <a:off x="1073150" y="4145402"/>
            <a:ext cx="4679950" cy="745629"/>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PAM 65 mmHg para começar (60–65 a partir dos 65 anos). Iniciar a vasopressina mais cedo como regra não reduziu a mortalidade (VASSPR).</a:t>
            </a:r>
            <a:endParaRPr lang="en-US" sz="1350" dirty="0"/>
          </a:p>
        </p:txBody>
      </p:sp>
      <p:sp>
        <p:nvSpPr>
          <p:cNvPr id="21" name="Cartão"/>
          <p:cNvSpPr/>
          <p:nvPr/>
        </p:nvSpPr>
        <p:spPr>
          <a:xfrm>
            <a:off x="6197600" y="3540423"/>
            <a:ext cx="5181600" cy="1626989"/>
          </a:xfrm>
          <a:prstGeom prst="roundRect">
            <a:avLst>
              <a:gd name="adj" fmla="val 4683"/>
            </a:avLst>
          </a:prstGeom>
          <a:solidFill>
            <a:srgbClr val="FFFDF8"/>
          </a:solidFill>
          <a:ln w="6350">
            <a:solidFill>
              <a:srgbClr val="E2DDD2"/>
            </a:solidFill>
            <a:prstDash val="solid"/>
          </a:ln>
        </p:spPr>
      </p:sp>
      <p:sp>
        <p:nvSpPr>
          <p:cNvPr id="22" name="Disfunção cardíaca e adjuvantes"/>
          <p:cNvSpPr txBox="1"/>
          <p:nvPr/>
        </p:nvSpPr>
        <p:spPr>
          <a:xfrm>
            <a:off x="6457950" y="3796779"/>
            <a:ext cx="46799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Disfunção cardíaca e adjuvantes</a:t>
            </a:r>
            <a:endParaRPr lang="en-US" sz="1700" dirty="0"/>
          </a:p>
        </p:txBody>
      </p:sp>
      <p:sp>
        <p:nvSpPr>
          <p:cNvPr id="23" name="Hipoperfusão com volume e PAM adequados:"/>
          <p:cNvSpPr txBox="1"/>
          <p:nvPr/>
        </p:nvSpPr>
        <p:spPr>
          <a:xfrm>
            <a:off x="6457950" y="4145402"/>
            <a:ext cx="4679950" cy="745629"/>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Hipoperfusão com volume e PAM adequados: dobutamina com NA, ou adrenalina. Hidrocortisona EV sugerida. Levosimendana e terlipressina: contra.</a:t>
            </a:r>
            <a:endParaRPr lang="en-US" sz="1350" dirty="0"/>
          </a:p>
        </p:txBody>
      </p:sp>
      <p:sp>
        <p:nvSpPr>
          <p:cNvPr id="24" name="Prescott, Crit Care Med 2026 (SSC) · Pel"/>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Prescott, Crit Care Med 2026 (SSC) · Peltan, JAMA 2026 (VASSPR)</a:t>
            </a:r>
            <a:endParaRPr lang="en-US" sz="1200" dirty="0"/>
          </a:p>
        </p:txBody>
      </p:sp>
      <p:pic>
        <p:nvPicPr>
          <p:cNvPr id="25"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E"/>
        </a:solidFill>
      </p:bgPr>
    </p:bg>
    <p:spTree>
      <p:nvGrpSpPr>
        <p:cNvPr id="1" name=""/>
        <p:cNvGrpSpPr/>
        <p:nvPr/>
      </p:nvGrpSpPr>
      <p:grpSpPr>
        <a:xfrm>
          <a:off x="0" y="0"/>
          <a:ext cx="0" cy="0"/>
          <a:chOff x="0" y="0"/>
          <a:chExt cx="0" cy="0"/>
        </a:xfrm>
      </p:grpSpPr>
      <p:sp>
        <p:nvSpPr>
          <p:cNvPr id="2" name="06 · PERIOPERATÓRIO"/>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06 · PERIOPERATÓRIO</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Escolha da droga no intraoperatório</a:t>
            </a:r>
            <a:endParaRPr lang="en-US" sz="3200" dirty="0"/>
          </a:p>
        </p:txBody>
      </p:sp>
      <p:graphicFrame>
        <p:nvGraphicFramePr>
          <p:cNvPr id="15" name="Tabela"/>
          <p:cNvGraphicFramePr>
            <a:graphicFrameLocks noGrp="1"/>
          </p:cNvGraphicFramePr>
          <p:nvPr>
            <p:extLst>
              <p:ext uri="{D42A27DB-BD31-4B8C-83A1-F6EECF244321}">
                <p14:modId xmlns:p14="http://schemas.microsoft.com/office/powerpoint/2010/main" val="1579011935"/>
              </p:ext>
            </p:extLst>
          </p:nvPr>
        </p:nvGraphicFramePr>
        <p:xfrm>
          <a:off x="812800" y="1879501"/>
          <a:ext cx="10566400" cy="914400"/>
        </p:xfrm>
        <a:graphic>
          <a:graphicData uri="http://schemas.openxmlformats.org/drawingml/2006/table">
            <a:tbl>
              <a:tblPr/>
              <a:tblGrid>
                <a:gridCol w="3381177"/>
                <a:gridCol w="4015184"/>
                <a:gridCol w="3170039"/>
              </a:tblGrid>
              <a:tr h="391120">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Cenário</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Primeira escolha</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Racional</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r>
              <a:tr h="607616">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Vasodilatação após indução ou neuroeixo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Fenilefrina 50–100 mcg ou NA 5–10 mcg em bolus; NA em infusão se persistir</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Corrige o tônus sem taquicardia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Hipotensão com bradicardia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Efedrina 5–10 mg</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β1 e liberação de noradrenalina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610791">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Baixo débito com hipoperfusão (inclusive VD com hipertensão pulmonar)</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Dobutamina; milrinona se VD com hipertensão pulmonar; NA se a PAM cair</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Inotropismo; a milrinona também reduz a RVP</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610791">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Vasoplegia refratária: pós-CEC, IECA/BRA, reperfusão hepática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Vasopressina; azul de metileno como resgate</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Outras vias: V1 e óxido nítrico–GMPc</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Raquianestesia na cesárea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Fenilefrina profilática 25–50 mcg/min; NA como alternativa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PAS ≥90% da basal; NA com menos bradicardia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bl>
          </a:graphicData>
        </a:graphic>
      </p:graphicFrame>
      <p:sp>
        <p:nvSpPr>
          <p:cNvPr id="5" name="Antes da droga, afastar plano anestésico"/>
          <p:cNvSpPr txBox="1"/>
          <p:nvPr/>
        </p:nvSpPr>
        <p:spPr>
          <a:xfrm>
            <a:off x="812800" y="5188776"/>
            <a:ext cx="10585450" cy="248841"/>
          </a:xfrm>
          <a:prstGeom prst="rect">
            <a:avLst/>
          </a:prstGeom>
          <a:noFill/>
          <a:ln/>
        </p:spPr>
        <p:txBody>
          <a:bodyPr wrap="none" lIns="0" tIns="0" rIns="0" bIns="0" rtlCol="0" anchor="t"/>
          <a:lstStyle/>
          <a:p>
            <a:pPr algn="l" indent="0" marL="0">
              <a:lnSpc>
                <a:spcPts val="1960"/>
              </a:lnSpc>
              <a:buNone/>
            </a:pPr>
            <a:r>
              <a:rPr lang="pt-BR" altLang="en-US" sz="1400" dirty="0">
                <a:solidFill>
                  <a:srgbClr val="2C3A48"/>
                </a:solidFill>
                <a:latin typeface="Calibri" pitchFamily="34" charset="0"/>
                <a:ea typeface="Calibri" pitchFamily="34" charset="-122"/>
                <a:cs typeface="Calibri" pitchFamily="34" charset="-120"/>
              </a:rPr>
              <a:t>Antes da droga, afastar plano anestésico profundo, hipovolemia, compressão aortocava, pneumotórax e anafilaxia.</a:t>
            </a:r>
            <a:endParaRPr lang="en-US" sz="1400" dirty="0"/>
          </a:p>
        </p:txBody>
      </p:sp>
      <p:sp>
        <p:nvSpPr>
          <p:cNvPr id="6" name="Kinsella, Anaesthesia 2018 · Hajjar, Ane"/>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Kinsella, Anaesthesia 2018 · Hajjar, Anesthesiology 2017 (VANCS) · Miller’s Anesthesia, 10ª ed. · [cap./pág.]</a:t>
            </a:r>
            <a:endParaRPr lang="en-US" sz="1200" dirty="0"/>
          </a:p>
        </p:txBody>
      </p:sp>
      <p:pic>
        <p:nvPicPr>
          <p:cNvPr id="7"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E"/>
        </a:solidFill>
      </p:bgPr>
    </p:bg>
    <p:spTree>
      <p:nvGrpSpPr>
        <p:cNvPr id="1" name=""/>
        <p:cNvGrpSpPr/>
        <p:nvPr/>
      </p:nvGrpSpPr>
      <p:grpSpPr>
        <a:xfrm>
          <a:off x="0" y="0"/>
          <a:ext cx="0" cy="0"/>
          <a:chOff x="0" y="0"/>
          <a:chExt cx="0" cy="0"/>
        </a:xfrm>
      </p:grpSpPr>
      <p:sp>
        <p:nvSpPr>
          <p:cNvPr id="2" name="06 · PERIOPERATÓRIO · HIPOTENSÃO"/>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06 · PERIOPERATÓRIO · HIPOTENSÃO</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Hipotensão intraoperatória e alvo de pressão</a:t>
            </a:r>
            <a:endParaRPr lang="en-US" sz="3200" dirty="0"/>
          </a:p>
        </p:txBody>
      </p:sp>
      <p:sp>
        <p:nvSpPr>
          <p:cNvPr id="4" name="Cartão"/>
          <p:cNvSpPr/>
          <p:nvPr/>
        </p:nvSpPr>
        <p:spPr>
          <a:xfrm>
            <a:off x="812800" y="1879501"/>
            <a:ext cx="3556000" cy="3380383"/>
          </a:xfrm>
          <a:prstGeom prst="roundRect">
            <a:avLst>
              <a:gd name="adj" fmla="val 2254"/>
            </a:avLst>
          </a:prstGeom>
          <a:solidFill>
            <a:srgbClr val="1B2A3A"/>
          </a:solidFill>
          <a:ln/>
        </p:spPr>
      </p:sp>
      <p:sp>
        <p:nvSpPr>
          <p:cNvPr id="5" name="RISCO"/>
          <p:cNvSpPr txBox="1"/>
          <p:nvPr/>
        </p:nvSpPr>
        <p:spPr>
          <a:xfrm>
            <a:off x="1066800" y="2121537"/>
            <a:ext cx="3067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RISCO</a:t>
            </a:r>
            <a:endParaRPr lang="en-US" sz="1200" dirty="0"/>
          </a:p>
        </p:txBody>
      </p:sp>
      <p:sp>
        <p:nvSpPr>
          <p:cNvPr id="6" name="PAM &lt; 65"/>
          <p:cNvSpPr txBox="1"/>
          <p:nvPr/>
        </p:nvSpPr>
        <p:spPr>
          <a:xfrm>
            <a:off x="1066800" y="2459038"/>
            <a:ext cx="3067050" cy="614660"/>
          </a:xfrm>
          <a:prstGeom prst="rect">
            <a:avLst/>
          </a:prstGeom>
          <a:noFill/>
          <a:ln/>
        </p:spPr>
        <p:txBody>
          <a:bodyPr wrap="none" lIns="0" tIns="0" rIns="0" bIns="0" rtlCol="0" anchor="t"/>
          <a:lstStyle/>
          <a:p>
            <a:pPr algn="l" indent="0" marL="0">
              <a:lnSpc>
                <a:spcPts val="4840"/>
              </a:lnSpc>
              <a:buNone/>
            </a:pPr>
            <a:r>
              <a:rPr lang="pt-BR" altLang="en-US" sz="4400" dirty="0">
                <a:solidFill>
                  <a:srgbClr val="F5F3EE"/>
                </a:solidFill>
                <a:latin typeface="Georgia" pitchFamily="34" charset="0"/>
                <a:ea typeface="Georgia" pitchFamily="34" charset="-122"/>
                <a:cs typeface="Georgia" pitchFamily="34" charset="-120"/>
              </a:rPr>
              <a:t>PAM &lt; 65</a:t>
            </a:r>
            <a:endParaRPr lang="en-US" sz="4400" dirty="0"/>
          </a:p>
        </p:txBody>
      </p:sp>
      <p:sp>
        <p:nvSpPr>
          <p:cNvPr id="7" name="Mesmo por pouco tempo, PAM abaixo de 65 "/>
          <p:cNvSpPr txBox="1"/>
          <p:nvPr/>
        </p:nvSpPr>
        <p:spPr>
          <a:xfrm>
            <a:off x="1066800" y="3148651"/>
            <a:ext cx="3067050" cy="745629"/>
          </a:xfrm>
          <a:prstGeom prst="rect">
            <a:avLst/>
          </a:prstGeom>
          <a:noFill/>
          <a:ln/>
        </p:spPr>
        <p:txBody>
          <a:bodyPr wrap="square" lIns="0" tIns="0" rIns="0" bIns="0" rtlCol="0" anchor="t"/>
          <a:lstStyle/>
          <a:p>
            <a:pPr algn="l" indent="0" marL="0">
              <a:lnSpc>
                <a:spcPts val="1957"/>
              </a:lnSpc>
              <a:buNone/>
            </a:pPr>
            <a:r>
              <a:rPr lang="pt-BR" altLang="en-US" sz="1350" dirty="0">
                <a:solidFill>
                  <a:srgbClr val="DFE3E8"/>
                </a:solidFill>
                <a:latin typeface="Calibri" pitchFamily="34" charset="0"/>
                <a:ea typeface="Calibri" pitchFamily="34" charset="-122"/>
                <a:cs typeface="Calibri" pitchFamily="34" charset="-120"/>
              </a:rPr>
              <a:t>Mesmo por pouco tempo, PAM abaixo de 65 mmHg se associa a lesão renal aguda, lesão miocárdica e delirium.</a:t>
            </a:r>
            <a:endParaRPr lang="en-US" sz="1350" dirty="0"/>
          </a:p>
        </p:txBody>
      </p:sp>
      <p:sp>
        <p:nvSpPr>
          <p:cNvPr id="8" name="Cartão"/>
          <p:cNvSpPr/>
          <p:nvPr/>
        </p:nvSpPr>
        <p:spPr>
          <a:xfrm>
            <a:off x="4572000" y="1879501"/>
            <a:ext cx="6807200" cy="1059061"/>
          </a:xfrm>
          <a:prstGeom prst="roundRect">
            <a:avLst>
              <a:gd name="adj" fmla="val 7195"/>
            </a:avLst>
          </a:prstGeom>
          <a:solidFill>
            <a:srgbClr val="FFFDF8"/>
          </a:solidFill>
          <a:ln w="6350">
            <a:solidFill>
              <a:srgbClr val="E2DDD2"/>
            </a:solidFill>
            <a:prstDash val="solid"/>
          </a:ln>
        </p:spPr>
      </p:sp>
      <p:sp>
        <p:nvSpPr>
          <p:cNvPr id="9" name="Limite mínimo"/>
          <p:cNvSpPr txBox="1"/>
          <p:nvPr/>
        </p:nvSpPr>
        <p:spPr>
          <a:xfrm>
            <a:off x="4781550" y="2034727"/>
            <a:ext cx="6407150" cy="228600"/>
          </a:xfrm>
          <a:prstGeom prst="rect">
            <a:avLst/>
          </a:prstGeom>
          <a:noFill/>
          <a:ln/>
        </p:spPr>
        <p:txBody>
          <a:bodyPr wrap="none" lIns="0" tIns="0" rIns="0" bIns="0" rtlCol="0" anchor="t"/>
          <a:lstStyle/>
          <a:p>
            <a:pPr algn="l" indent="0" marL="0">
              <a:lnSpc>
                <a:spcPts val="1800"/>
              </a:lnSpc>
              <a:buNone/>
            </a:pPr>
            <a:r>
              <a:rPr lang="pt-BR" altLang="en-US" sz="1500" b="1" dirty="0">
                <a:solidFill>
                  <a:srgbClr val="1B2A3A"/>
                </a:solidFill>
                <a:latin typeface="Calibri" pitchFamily="34" charset="0"/>
                <a:ea typeface="Calibri" pitchFamily="34" charset="-122"/>
                <a:cs typeface="Calibri" pitchFamily="34" charset="-120"/>
              </a:rPr>
              <a:t>Limite mínimo</a:t>
            </a:r>
            <a:endParaRPr lang="en-US" sz="1500" dirty="0"/>
          </a:p>
        </p:txBody>
      </p:sp>
      <p:sp>
        <p:nvSpPr>
          <p:cNvPr id="10" name="PAM ≥60 em pacientes de risco (POQI 2024"/>
          <p:cNvSpPr txBox="1"/>
          <p:nvPr/>
        </p:nvSpPr>
        <p:spPr>
          <a:xfrm>
            <a:off x="4781550" y="2304690"/>
            <a:ext cx="6407150"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2C3A48"/>
                </a:solidFill>
                <a:latin typeface="Calibri" pitchFamily="34" charset="0"/>
                <a:ea typeface="Calibri" pitchFamily="34" charset="-122"/>
                <a:cs typeface="Calibri" pitchFamily="34" charset="-120"/>
              </a:rPr>
              <a:t>PAM ≥60 em pacientes de risco (POQI 2024). Não é garantia de perfusão; com pressão venosa ou compartimental alta, o alvo é maior.</a:t>
            </a:r>
            <a:endParaRPr lang="en-US" sz="1300" dirty="0"/>
          </a:p>
        </p:txBody>
      </p:sp>
      <p:sp>
        <p:nvSpPr>
          <p:cNvPr id="11" name="Cartão"/>
          <p:cNvSpPr/>
          <p:nvPr/>
        </p:nvSpPr>
        <p:spPr>
          <a:xfrm>
            <a:off x="4572000" y="3040162"/>
            <a:ext cx="6807200" cy="1059061"/>
          </a:xfrm>
          <a:prstGeom prst="roundRect">
            <a:avLst>
              <a:gd name="adj" fmla="val 7195"/>
            </a:avLst>
          </a:prstGeom>
          <a:solidFill>
            <a:srgbClr val="FFFDF8"/>
          </a:solidFill>
          <a:ln w="6350">
            <a:solidFill>
              <a:srgbClr val="E2DDD2"/>
            </a:solidFill>
            <a:prstDash val="solid"/>
          </a:ln>
        </p:spPr>
      </p:sp>
      <p:sp>
        <p:nvSpPr>
          <p:cNvPr id="12" name="Alvo maior em selecionados"/>
          <p:cNvSpPr txBox="1"/>
          <p:nvPr/>
        </p:nvSpPr>
        <p:spPr>
          <a:xfrm>
            <a:off x="4781550" y="3195387"/>
            <a:ext cx="6407150" cy="228600"/>
          </a:xfrm>
          <a:prstGeom prst="rect">
            <a:avLst/>
          </a:prstGeom>
          <a:noFill/>
          <a:ln/>
        </p:spPr>
        <p:txBody>
          <a:bodyPr wrap="none" lIns="0" tIns="0" rIns="0" bIns="0" rtlCol="0" anchor="t"/>
          <a:lstStyle/>
          <a:p>
            <a:pPr algn="l" indent="0" marL="0">
              <a:lnSpc>
                <a:spcPts val="1800"/>
              </a:lnSpc>
              <a:buNone/>
            </a:pPr>
            <a:r>
              <a:rPr lang="pt-BR" altLang="en-US" sz="1500" b="1" dirty="0">
                <a:solidFill>
                  <a:srgbClr val="1B2A3A"/>
                </a:solidFill>
                <a:latin typeface="Calibri" pitchFamily="34" charset="0"/>
                <a:ea typeface="Calibri" pitchFamily="34" charset="-122"/>
                <a:cs typeface="Calibri" pitchFamily="34" charset="-120"/>
              </a:rPr>
              <a:t>Alvo maior em selecionados</a:t>
            </a:r>
            <a:endParaRPr lang="en-US" sz="1500" dirty="0"/>
          </a:p>
        </p:txBody>
      </p:sp>
      <p:sp>
        <p:nvSpPr>
          <p:cNvPr id="13" name="PAM ≥80 reduziu morte ou disfunção orgân"/>
          <p:cNvSpPr txBox="1"/>
          <p:nvPr/>
        </p:nvSpPr>
        <p:spPr>
          <a:xfrm>
            <a:off x="4781550" y="3465351"/>
            <a:ext cx="6407150"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2C3A48"/>
                </a:solidFill>
                <a:latin typeface="Calibri" pitchFamily="34" charset="0"/>
                <a:ea typeface="Calibri" pitchFamily="34" charset="-122"/>
                <a:cs typeface="Calibri" pitchFamily="34" charset="-120"/>
              </a:rPr>
              <a:t>PAM ≥80 reduziu morte ou disfunção orgânica, sobretudo lesão renal aguda, em hipertensos de alto risco (HISTAP).</a:t>
            </a:r>
            <a:endParaRPr lang="en-US" sz="1300" dirty="0"/>
          </a:p>
        </p:txBody>
      </p:sp>
      <p:sp>
        <p:nvSpPr>
          <p:cNvPr id="14" name="Cartão"/>
          <p:cNvSpPr/>
          <p:nvPr/>
        </p:nvSpPr>
        <p:spPr>
          <a:xfrm>
            <a:off x="4572000" y="4200823"/>
            <a:ext cx="6807200" cy="1059061"/>
          </a:xfrm>
          <a:prstGeom prst="roundRect">
            <a:avLst>
              <a:gd name="adj" fmla="val 7195"/>
            </a:avLst>
          </a:prstGeom>
          <a:solidFill>
            <a:srgbClr val="FFFDF8"/>
          </a:solidFill>
          <a:ln w="6350">
            <a:solidFill>
              <a:srgbClr val="E2DDD2"/>
            </a:solidFill>
            <a:prstDash val="solid"/>
          </a:ln>
        </p:spPr>
      </p:sp>
      <p:sp>
        <p:nvSpPr>
          <p:cNvPr id="15" name="Manejo proativo"/>
          <p:cNvSpPr txBox="1"/>
          <p:nvPr/>
        </p:nvSpPr>
        <p:spPr>
          <a:xfrm>
            <a:off x="4781550" y="4356048"/>
            <a:ext cx="6407150" cy="228600"/>
          </a:xfrm>
          <a:prstGeom prst="rect">
            <a:avLst/>
          </a:prstGeom>
          <a:noFill/>
          <a:ln/>
        </p:spPr>
        <p:txBody>
          <a:bodyPr wrap="none" lIns="0" tIns="0" rIns="0" bIns="0" rtlCol="0" anchor="t"/>
          <a:lstStyle/>
          <a:p>
            <a:pPr algn="l" indent="0" marL="0">
              <a:lnSpc>
                <a:spcPts val="1800"/>
              </a:lnSpc>
              <a:buNone/>
            </a:pPr>
            <a:r>
              <a:rPr lang="pt-BR" altLang="en-US" sz="1500" b="1" dirty="0">
                <a:solidFill>
                  <a:srgbClr val="1B2A3A"/>
                </a:solidFill>
                <a:latin typeface="Calibri" pitchFamily="34" charset="0"/>
                <a:ea typeface="Calibri" pitchFamily="34" charset="-122"/>
                <a:cs typeface="Calibri" pitchFamily="34" charset="-120"/>
              </a:rPr>
              <a:t>Manejo proativo</a:t>
            </a:r>
            <a:endParaRPr lang="en-US" sz="1500" dirty="0"/>
          </a:p>
        </p:txBody>
      </p:sp>
      <p:sp>
        <p:nvSpPr>
          <p:cNvPr id="16" name="Antecipar e tratar cedo; monitorização f"/>
          <p:cNvSpPr txBox="1"/>
          <p:nvPr/>
        </p:nvSpPr>
        <p:spPr>
          <a:xfrm>
            <a:off x="4781550" y="4626012"/>
            <a:ext cx="6407150"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2C3A48"/>
                </a:solidFill>
                <a:latin typeface="Calibri" pitchFamily="34" charset="0"/>
                <a:ea typeface="Calibri" pitchFamily="34" charset="-122"/>
                <a:cs typeface="Calibri" pitchFamily="34" charset="-120"/>
              </a:rPr>
              <a:t>Antecipar e tratar cedo; monitorização funcional (VPP, volume sistólico, eco) decide entre volume, vasopressor e inotrópico.</a:t>
            </a:r>
            <a:endParaRPr lang="en-US" sz="1300" dirty="0"/>
          </a:p>
        </p:txBody>
      </p:sp>
      <p:sp>
        <p:nvSpPr>
          <p:cNvPr id="17" name="Lineburger, Braz J Anesthesiol 2025 · Sa"/>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Lineburger, Braz J Anesthesiol 2025 · Saugel, Br J Anaesth 2024 (POQI) · SIAARTI, Intensive Care Med 2026 (HISTAP)</a:t>
            </a:r>
            <a:endParaRPr lang="en-US" sz="1200" dirty="0"/>
          </a:p>
        </p:txBody>
      </p:sp>
      <p:pic>
        <p:nvPicPr>
          <p:cNvPr id="18"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E"/>
        </a:solidFill>
      </p:bgPr>
    </p:bg>
    <p:spTree>
      <p:nvGrpSpPr>
        <p:cNvPr id="1" name=""/>
        <p:cNvGrpSpPr/>
        <p:nvPr/>
      </p:nvGrpSpPr>
      <p:grpSpPr>
        <a:xfrm>
          <a:off x="0" y="0"/>
          <a:ext cx="0" cy="0"/>
          <a:chOff x="0" y="0"/>
          <a:chExt cx="0" cy="0"/>
        </a:xfrm>
      </p:grpSpPr>
      <p:sp>
        <p:nvSpPr>
          <p:cNvPr id="2" name="07 · MENSAGENS FINAIS"/>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07 · MENSAGENS FINAIS</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Problema hemodinâmico e droga de escolha</a:t>
            </a:r>
            <a:endParaRPr lang="en-US" sz="3200" dirty="0"/>
          </a:p>
        </p:txBody>
      </p:sp>
      <p:graphicFrame>
        <p:nvGraphicFramePr>
          <p:cNvPr id="17" name="Tabela"/>
          <p:cNvGraphicFramePr>
            <a:graphicFrameLocks noGrp="1"/>
          </p:cNvGraphicFramePr>
          <p:nvPr>
            <p:extLst>
              <p:ext uri="{D42A27DB-BD31-4B8C-83A1-F6EECF244321}">
                <p14:modId xmlns:p14="http://schemas.microsoft.com/office/powerpoint/2010/main" val="1579011935"/>
              </p:ext>
            </p:extLst>
          </p:nvPr>
        </p:nvGraphicFramePr>
        <p:xfrm>
          <a:off x="812800" y="1879501"/>
          <a:ext cx="10566400" cy="914400"/>
        </p:xfrm>
        <a:graphic>
          <a:graphicData uri="http://schemas.openxmlformats.org/drawingml/2006/table">
            <a:tbl>
              <a:tblPr/>
              <a:tblGrid>
                <a:gridCol w="3592513"/>
                <a:gridCol w="6973888"/>
              </a:tblGrid>
              <a:tr h="417810">
                <a:tc>
                  <a:txBody>
                    <a:bodyPr/>
                    <a:lstStyle/>
                    <a:p>
                      <a:pPr algn="l" indent="0" marL="0">
                        <a:lnSpc>
                          <a:spcPts val="1890"/>
                        </a:lnSpc>
                        <a:buNone/>
                      </a:pPr>
                      <a:r>
                        <a:rPr lang="pt-BR" altLang="en-US" sz="1350" b="1" dirty="0">
                          <a:solidFill>
                            <a:srgbClr val="F5F3EE"/>
                          </a:solidFill>
                          <a:latin typeface="Calibri" pitchFamily="34" charset="0"/>
                          <a:ea typeface="Calibri" pitchFamily="34" charset="-122"/>
                          <a:cs typeface="Calibri" pitchFamily="34" charset="-120"/>
                        </a:rPr>
                        <a:t>Problema</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890"/>
                        </a:lnSpc>
                        <a:buNone/>
                      </a:pPr>
                      <a:r>
                        <a:rPr lang="pt-BR" altLang="en-US" sz="1350" b="1" dirty="0">
                          <a:solidFill>
                            <a:srgbClr val="F5F3EE"/>
                          </a:solidFill>
                          <a:latin typeface="Calibri" pitchFamily="34" charset="0"/>
                          <a:ea typeface="Calibri" pitchFamily="34" charset="-122"/>
                          <a:cs typeface="Calibri" pitchFamily="34" charset="-120"/>
                        </a:rPr>
                        <a:t>Droga</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r>
              <a:tr h="420985">
                <a:tc>
                  <a:txBody>
                    <a:bodyPr/>
                    <a:lstStyle/>
                    <a:p>
                      <a:pPr algn="l" indent="0" marL="0">
                        <a:lnSpc>
                          <a:spcPts val="1890"/>
                        </a:lnSpc>
                        <a:buNone/>
                      </a:pPr>
                      <a:r>
                        <a:rPr lang="pt-BR" altLang="en-US" sz="1350" b="1" dirty="0">
                          <a:solidFill>
                            <a:srgbClr val="1B2A3A"/>
                          </a:solidFill>
                          <a:latin typeface="Calibri" pitchFamily="34" charset="0"/>
                          <a:ea typeface="Calibri" pitchFamily="34" charset="-122"/>
                          <a:cs typeface="Calibri" pitchFamily="34" charset="-120"/>
                        </a:rPr>
                        <a:t>Vasoplegia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890"/>
                        </a:lnSpc>
                        <a:buNone/>
                      </a:pPr>
                      <a:r>
                        <a:rPr lang="pt-BR" altLang="en-US" sz="1350" dirty="0">
                          <a:solidFill>
                            <a:srgbClr val="1B2A3A"/>
                          </a:solidFill>
                          <a:latin typeface="Calibri" pitchFamily="34" charset="0"/>
                          <a:ea typeface="Calibri" pitchFamily="34" charset="-122"/>
                          <a:cs typeface="Calibri" pitchFamily="34" charset="-120"/>
                        </a:rPr>
                        <a:t>Noradrenalina; vasopressina quando a dose sobe</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424160">
                <a:tc>
                  <a:txBody>
                    <a:bodyPr/>
                    <a:lstStyle/>
                    <a:p>
                      <a:pPr algn="l" indent="0" marL="0">
                        <a:lnSpc>
                          <a:spcPts val="1890"/>
                        </a:lnSpc>
                        <a:buNone/>
                      </a:pPr>
                      <a:r>
                        <a:rPr lang="pt-BR" altLang="en-US" sz="1350" b="1" dirty="0">
                          <a:solidFill>
                            <a:srgbClr val="1B2A3A"/>
                          </a:solidFill>
                          <a:latin typeface="Calibri" pitchFamily="34" charset="0"/>
                          <a:ea typeface="Calibri" pitchFamily="34" charset="-122"/>
                          <a:cs typeface="Calibri" pitchFamily="34" charset="-120"/>
                        </a:rPr>
                        <a:t>Baixo débito com hipoperfusão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890"/>
                        </a:lnSpc>
                        <a:buNone/>
                      </a:pPr>
                      <a:r>
                        <a:rPr lang="pt-BR" altLang="en-US" sz="1350" dirty="0">
                          <a:solidFill>
                            <a:srgbClr val="1B2A3A"/>
                          </a:solidFill>
                          <a:latin typeface="Calibri" pitchFamily="34" charset="0"/>
                          <a:ea typeface="Calibri" pitchFamily="34" charset="-122"/>
                          <a:cs typeface="Calibri" pitchFamily="34" charset="-120"/>
                        </a:rPr>
                        <a:t>Dobutamina ou adrenalina; milrinona no VD com hipertensão pulmonar; NA se a PAM cair</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424160">
                <a:tc>
                  <a:txBody>
                    <a:bodyPr/>
                    <a:lstStyle/>
                    <a:p>
                      <a:pPr algn="l" indent="0" marL="0">
                        <a:lnSpc>
                          <a:spcPts val="1890"/>
                        </a:lnSpc>
                        <a:buNone/>
                      </a:pPr>
                      <a:r>
                        <a:rPr lang="pt-BR" altLang="en-US" sz="1350" b="1" dirty="0">
                          <a:solidFill>
                            <a:srgbClr val="1B2A3A"/>
                          </a:solidFill>
                          <a:latin typeface="Calibri" pitchFamily="34" charset="0"/>
                          <a:ea typeface="Calibri" pitchFamily="34" charset="-122"/>
                          <a:cs typeface="Calibri" pitchFamily="34" charset="-120"/>
                        </a:rPr>
                        <a:t>Hipotensão com bradicardia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890"/>
                        </a:lnSpc>
                        <a:buNone/>
                      </a:pPr>
                      <a:r>
                        <a:rPr lang="pt-BR" altLang="en-US" sz="1350" dirty="0">
                          <a:solidFill>
                            <a:srgbClr val="1B2A3A"/>
                          </a:solidFill>
                          <a:latin typeface="Calibri" pitchFamily="34" charset="0"/>
                          <a:ea typeface="Calibri" pitchFamily="34" charset="-122"/>
                          <a:cs typeface="Calibri" pitchFamily="34" charset="-120"/>
                        </a:rPr>
                        <a:t>Efedrina; adrenalina se grave</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424160">
                <a:tc>
                  <a:txBody>
                    <a:bodyPr/>
                    <a:lstStyle/>
                    <a:p>
                      <a:pPr algn="l" indent="0" marL="0">
                        <a:lnSpc>
                          <a:spcPts val="1890"/>
                        </a:lnSpc>
                        <a:buNone/>
                      </a:pPr>
                      <a:r>
                        <a:rPr lang="pt-BR" altLang="en-US" sz="1350" b="1" dirty="0">
                          <a:solidFill>
                            <a:srgbClr val="1B2A3A"/>
                          </a:solidFill>
                          <a:latin typeface="Calibri" pitchFamily="34" charset="0"/>
                          <a:ea typeface="Calibri" pitchFamily="34" charset="-122"/>
                          <a:cs typeface="Calibri" pitchFamily="34" charset="-120"/>
                        </a:rPr>
                        <a:t>Vasodilatação com taquicardia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890"/>
                        </a:lnSpc>
                        <a:buNone/>
                      </a:pPr>
                      <a:r>
                        <a:rPr lang="pt-BR" altLang="en-US" sz="1350" dirty="0">
                          <a:solidFill>
                            <a:srgbClr val="1B2A3A"/>
                          </a:solidFill>
                          <a:latin typeface="Calibri" pitchFamily="34" charset="0"/>
                          <a:ea typeface="Calibri" pitchFamily="34" charset="-122"/>
                          <a:cs typeface="Calibri" pitchFamily="34" charset="-120"/>
                        </a:rPr>
                        <a:t>Fenilefrina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424160">
                <a:tc>
                  <a:txBody>
                    <a:bodyPr/>
                    <a:lstStyle/>
                    <a:p>
                      <a:pPr algn="l" indent="0" marL="0">
                        <a:lnSpc>
                          <a:spcPts val="1890"/>
                        </a:lnSpc>
                        <a:buNone/>
                      </a:pPr>
                      <a:r>
                        <a:rPr lang="pt-BR" altLang="en-US" sz="1350" b="1" dirty="0">
                          <a:solidFill>
                            <a:srgbClr val="1B2A3A"/>
                          </a:solidFill>
                          <a:latin typeface="Calibri" pitchFamily="34" charset="0"/>
                          <a:ea typeface="Calibri" pitchFamily="34" charset="-122"/>
                          <a:cs typeface="Calibri" pitchFamily="34" charset="-120"/>
                        </a:rPr>
                        <a:t>Anafilaxia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890"/>
                        </a:lnSpc>
                        <a:buNone/>
                      </a:pPr>
                      <a:r>
                        <a:rPr lang="pt-BR" altLang="en-US" sz="1350" dirty="0">
                          <a:solidFill>
                            <a:srgbClr val="1B2A3A"/>
                          </a:solidFill>
                          <a:latin typeface="Calibri" pitchFamily="34" charset="0"/>
                          <a:ea typeface="Calibri" pitchFamily="34" charset="-122"/>
                          <a:cs typeface="Calibri" pitchFamily="34" charset="-120"/>
                        </a:rPr>
                        <a:t>Adrenalina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424160">
                <a:tc>
                  <a:txBody>
                    <a:bodyPr/>
                    <a:lstStyle/>
                    <a:p>
                      <a:pPr algn="l" indent="0" marL="0">
                        <a:lnSpc>
                          <a:spcPts val="1890"/>
                        </a:lnSpc>
                        <a:buNone/>
                      </a:pPr>
                      <a:r>
                        <a:rPr lang="pt-BR" altLang="en-US" sz="1350" b="1" dirty="0">
                          <a:solidFill>
                            <a:srgbClr val="1B2A3A"/>
                          </a:solidFill>
                          <a:latin typeface="Calibri" pitchFamily="34" charset="0"/>
                          <a:ea typeface="Calibri" pitchFamily="34" charset="-122"/>
                          <a:cs typeface="Calibri" pitchFamily="34" charset="-120"/>
                        </a:rPr>
                        <a:t>Hipotensão intraoperatória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890"/>
                        </a:lnSpc>
                        <a:buNone/>
                      </a:pPr>
                      <a:r>
                        <a:rPr lang="pt-BR" altLang="en-US" sz="1350" dirty="0">
                          <a:solidFill>
                            <a:srgbClr val="1B2A3A"/>
                          </a:solidFill>
                          <a:latin typeface="Calibri" pitchFamily="34" charset="0"/>
                          <a:ea typeface="Calibri" pitchFamily="34" charset="-122"/>
                          <a:cs typeface="Calibri" pitchFamily="34" charset="-120"/>
                        </a:rPr>
                        <a:t>Tratar cedo: PAM ≥60–65 como piso, alvo individual em selecionados</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bl>
          </a:graphicData>
        </a:graphic>
      </p:graphicFrame>
      <p:sp>
        <p:nvSpPr>
          <p:cNvPr id="5" name="Para discutir: no nosso serviço, quando "/>
          <p:cNvSpPr txBox="1"/>
          <p:nvPr/>
        </p:nvSpPr>
        <p:spPr>
          <a:xfrm>
            <a:off x="812800" y="5133115"/>
            <a:ext cx="10585450" cy="248841"/>
          </a:xfrm>
          <a:prstGeom prst="rect">
            <a:avLst/>
          </a:prstGeom>
          <a:noFill/>
          <a:ln/>
        </p:spPr>
        <p:txBody>
          <a:bodyPr wrap="none" lIns="0" tIns="0" rIns="0" bIns="0" rtlCol="0" anchor="t"/>
          <a:lstStyle/>
          <a:p>
            <a:pPr algn="l" indent="0" marL="0">
              <a:lnSpc>
                <a:spcPts val="1960"/>
              </a:lnSpc>
              <a:buNone/>
            </a:pPr>
            <a:r>
              <a:rPr lang="pt-BR" altLang="en-US" sz="1400" dirty="0">
                <a:solidFill>
                  <a:srgbClr val="56606B"/>
                </a:solidFill>
                <a:latin typeface="Calibri" pitchFamily="34" charset="0"/>
                <a:ea typeface="Calibri" pitchFamily="34" charset="-122"/>
                <a:cs typeface="Calibri" pitchFamily="34" charset="-120"/>
              </a:rPr>
              <a:t>Para discutir: no nosso serviço, quando preferimos milrinona a dobutamina e quando associamos vasopressina?</a:t>
            </a:r>
            <a:endParaRPr lang="en-US" sz="1400" dirty="0"/>
          </a:p>
        </p:txBody>
      </p:sp>
      <p:sp>
        <p:nvSpPr>
          <p:cNvPr id="6" name="Surviving Sepsis Campaign 2026 · ESICM 2"/>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Surviving Sepsis Campaign 2026 · ESICM 2025 · Saugel, Br J Anaesth 2024 (POQI) · Lineburger, Braz J Anesthesiol 2025</a:t>
            </a:r>
            <a:endParaRPr lang="en-US" sz="1200" dirty="0"/>
          </a:p>
        </p:txBody>
      </p:sp>
      <p:pic>
        <p:nvPicPr>
          <p:cNvPr id="7"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3A"/>
        </a:solidFill>
      </p:bgPr>
    </p:bg>
    <p:spTree>
      <p:nvGrpSpPr>
        <p:cNvPr id="1" name=""/>
        <p:cNvGrpSpPr/>
        <p:nvPr/>
      </p:nvGrpSpPr>
      <p:grpSpPr>
        <a:xfrm>
          <a:off x="0" y="0"/>
          <a:ext cx="0" cy="0"/>
          <a:chOff x="0" y="0"/>
          <a:chExt cx="0" cy="0"/>
        </a:xfrm>
      </p:grpSpPr>
      <p:sp>
        <p:nvSpPr>
          <p:cNvPr id="2" name="Text 0"/>
          <p:cNvSpPr/>
          <p:nvPr>
            <p:ph type="title"/>
          </p:nvPr>
        </p:nvSpPr>
        <p:spPr>
          <a:xfrm>
            <a:off x="812800" y="1847982"/>
            <a:ext cx="10718800" cy="497840"/>
          </a:xfrm>
          <a:prstGeom prst="rect">
            <a:avLst/>
          </a:prstGeom>
          <a:noFill/>
          <a:ln/>
        </p:spPr>
        <p:txBody>
          <a:bodyPr wrap="square" lIns="0" tIns="0" rIns="0" bIns="0" rtlCol="0" anchor="t"/>
          <a:lstStyle/>
          <a:p>
            <a:pPr algn="l" indent="0" marL="0">
              <a:lnSpc>
                <a:spcPts val="1960"/>
              </a:lnSpc>
              <a:buNone/>
            </a:pPr>
            <a:r>
              <a:rPr lang="pt-BR" altLang="en-US" sz="1400" b="1" spc="100" kern="0" dirty="0">
                <a:solidFill>
                  <a:srgbClr val="E49A5C"/>
                </a:solidFill>
                <a:latin typeface="Calibri" pitchFamily="34" charset="0"/>
                <a:ea typeface="Calibri" pitchFamily="34" charset="-122"/>
                <a:cs typeface="Calibri" pitchFamily="34" charset="-120"/>
              </a:rPr>
              <a:t>RESERVA</a:t>
            </a:r>
            <a:endParaRPr lang="en-US" sz="1400" dirty="0"/>
          </a:p>
        </p:txBody>
      </p:sp>
      <p:sp>
        <p:nvSpPr>
          <p:cNvPr id="3" name="Slides de reserva para perguntas"/>
          <p:cNvSpPr txBox="1"/>
          <p:nvPr/>
        </p:nvSpPr>
        <p:spPr>
          <a:xfrm>
            <a:off x="812800" y="2410271"/>
            <a:ext cx="10179050" cy="579041"/>
          </a:xfrm>
          <a:prstGeom prst="rect">
            <a:avLst/>
          </a:prstGeom>
          <a:noFill/>
          <a:ln/>
        </p:spPr>
        <p:txBody>
          <a:bodyPr wrap="none" lIns="0" tIns="0" rIns="0" bIns="0" rtlCol="0" anchor="t"/>
          <a:lstStyle/>
          <a:p>
            <a:pPr algn="l" indent="0" marL="0">
              <a:lnSpc>
                <a:spcPts val="4560"/>
              </a:lnSpc>
              <a:buNone/>
            </a:pPr>
            <a:r>
              <a:rPr lang="pt-BR" altLang="en-US" sz="3800" dirty="0">
                <a:solidFill>
                  <a:srgbClr val="F5F3EE"/>
                </a:solidFill>
                <a:latin typeface="Georgia" pitchFamily="34" charset="0"/>
                <a:ea typeface="Georgia" pitchFamily="34" charset="-122"/>
                <a:cs typeface="Georgia" pitchFamily="34" charset="-120"/>
              </a:rPr>
              <a:t>Slides de reserva para perguntas</a:t>
            </a:r>
            <a:endParaRPr lang="en-US" sz="3800" dirty="0"/>
          </a:p>
        </p:txBody>
      </p:sp>
      <p:sp>
        <p:nvSpPr>
          <p:cNvPr id="4" name="Material de apoio: detalhes, tabelas e r"/>
          <p:cNvSpPr txBox="1"/>
          <p:nvPr/>
        </p:nvSpPr>
        <p:spPr>
          <a:xfrm>
            <a:off x="812800" y="3283469"/>
            <a:ext cx="9544050" cy="284460"/>
          </a:xfrm>
          <a:prstGeom prst="rect">
            <a:avLst/>
          </a:prstGeom>
          <a:noFill/>
          <a:ln/>
        </p:spPr>
        <p:txBody>
          <a:bodyPr wrap="none" lIns="0" tIns="0" rIns="0" bIns="0" rtlCol="0" anchor="t"/>
          <a:lstStyle/>
          <a:p>
            <a:pPr algn="l" indent="0" marL="0">
              <a:lnSpc>
                <a:spcPts val="2240"/>
              </a:lnSpc>
              <a:buNone/>
            </a:pPr>
            <a:r>
              <a:rPr lang="pt-BR" altLang="en-US" sz="1600" dirty="0">
                <a:solidFill>
                  <a:srgbClr val="C9CFD6"/>
                </a:solidFill>
                <a:latin typeface="Calibri" pitchFamily="34" charset="0"/>
                <a:ea typeface="Calibri" pitchFamily="34" charset="-122"/>
                <a:cs typeface="Calibri" pitchFamily="34" charset="-120"/>
              </a:rPr>
              <a:t>Material de apoio: detalhes, tabelas e referências. Não entra nos 15 minutos.</a:t>
            </a:r>
            <a:endParaRPr lang="en-US" sz="1600" dirty="0"/>
          </a:p>
        </p:txBody>
      </p:sp>
      <p:sp>
        <p:nvSpPr>
          <p:cNvPr id="5" name="Síntese das drogas"/>
          <p:cNvSpPr/>
          <p:nvPr/>
        </p:nvSpPr>
        <p:spPr>
          <a:xfrm>
            <a:off x="812800" y="3888680"/>
            <a:ext cx="1722041"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Síntese das drogas</a:t>
            </a:r>
            <a:endParaRPr lang="en-US" sz="1400" dirty="0"/>
          </a:p>
        </p:txBody>
      </p:sp>
      <p:sp>
        <p:nvSpPr>
          <p:cNvPr id="6" name="Dopamina"/>
          <p:cNvSpPr/>
          <p:nvPr/>
        </p:nvSpPr>
        <p:spPr>
          <a:xfrm>
            <a:off x="2636441" y="3888680"/>
            <a:ext cx="1117997"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Dopamina</a:t>
            </a:r>
            <a:endParaRPr lang="en-US" sz="1400" dirty="0"/>
          </a:p>
        </p:txBody>
      </p:sp>
      <p:sp>
        <p:nvSpPr>
          <p:cNvPr id="7" name="Dobutamina"/>
          <p:cNvSpPr/>
          <p:nvPr/>
        </p:nvSpPr>
        <p:spPr>
          <a:xfrm>
            <a:off x="3856037" y="3888680"/>
            <a:ext cx="1275060"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Dobutamina</a:t>
            </a:r>
            <a:endParaRPr lang="en-US" sz="1400" dirty="0"/>
          </a:p>
        </p:txBody>
      </p:sp>
      <p:sp>
        <p:nvSpPr>
          <p:cNvPr id="8" name="Fenilefrina"/>
          <p:cNvSpPr/>
          <p:nvPr/>
        </p:nvSpPr>
        <p:spPr>
          <a:xfrm>
            <a:off x="5232698" y="3888680"/>
            <a:ext cx="1145282"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Fenilefrina</a:t>
            </a:r>
            <a:endParaRPr lang="en-US" sz="1400" dirty="0"/>
          </a:p>
        </p:txBody>
      </p:sp>
      <p:sp>
        <p:nvSpPr>
          <p:cNvPr id="9" name="Efedrina"/>
          <p:cNvSpPr/>
          <p:nvPr/>
        </p:nvSpPr>
        <p:spPr>
          <a:xfrm>
            <a:off x="6479580" y="3888680"/>
            <a:ext cx="973634"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Efedrina</a:t>
            </a:r>
            <a:endParaRPr lang="en-US" sz="1400" dirty="0"/>
          </a:p>
        </p:txBody>
      </p:sp>
      <p:sp>
        <p:nvSpPr>
          <p:cNvPr id="10" name="Vasopressina"/>
          <p:cNvSpPr/>
          <p:nvPr/>
        </p:nvSpPr>
        <p:spPr>
          <a:xfrm>
            <a:off x="7554813" y="3888680"/>
            <a:ext cx="1331913"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Vasopressina</a:t>
            </a:r>
            <a:endParaRPr lang="en-US" sz="1400" dirty="0"/>
          </a:p>
        </p:txBody>
      </p:sp>
      <p:sp>
        <p:nvSpPr>
          <p:cNvPr id="11" name="Choque refratário"/>
          <p:cNvSpPr/>
          <p:nvPr/>
        </p:nvSpPr>
        <p:spPr>
          <a:xfrm>
            <a:off x="8988326" y="3888680"/>
            <a:ext cx="1673126"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Choque refratário</a:t>
            </a:r>
            <a:endParaRPr lang="en-US" sz="1400" dirty="0"/>
          </a:p>
        </p:txBody>
      </p:sp>
      <p:sp>
        <p:nvSpPr>
          <p:cNvPr id="12" name="Sequência SSC"/>
          <p:cNvSpPr/>
          <p:nvPr/>
        </p:nvSpPr>
        <p:spPr>
          <a:xfrm>
            <a:off x="812800" y="4391521"/>
            <a:ext cx="1413173"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Sequência SSC</a:t>
            </a:r>
            <a:endParaRPr lang="en-US" sz="1400" dirty="0"/>
          </a:p>
        </p:txBody>
      </p:sp>
      <p:sp>
        <p:nvSpPr>
          <p:cNvPr id="13" name="Alvo de PAM"/>
          <p:cNvSpPr/>
          <p:nvPr/>
        </p:nvSpPr>
        <p:spPr>
          <a:xfrm>
            <a:off x="2327573" y="4391521"/>
            <a:ext cx="1309886"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Alvo de PAM</a:t>
            </a:r>
            <a:endParaRPr lang="en-US" sz="1400" dirty="0"/>
          </a:p>
        </p:txBody>
      </p:sp>
      <p:sp>
        <p:nvSpPr>
          <p:cNvPr id="14" name="Início e via"/>
          <p:cNvSpPr/>
          <p:nvPr/>
        </p:nvSpPr>
        <p:spPr>
          <a:xfrm>
            <a:off x="3739059" y="4391521"/>
            <a:ext cx="1141214"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Início e via</a:t>
            </a:r>
            <a:endParaRPr lang="en-US" sz="1400" dirty="0"/>
          </a:p>
        </p:txBody>
      </p:sp>
      <p:sp>
        <p:nvSpPr>
          <p:cNvPr id="15" name="Alvo intraoperatório"/>
          <p:cNvSpPr/>
          <p:nvPr/>
        </p:nvSpPr>
        <p:spPr>
          <a:xfrm>
            <a:off x="4981873" y="4391521"/>
            <a:ext cx="1869777"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Alvo intraoperatório</a:t>
            </a:r>
            <a:endParaRPr lang="en-US" sz="1400" dirty="0"/>
          </a:p>
        </p:txBody>
      </p:sp>
      <p:sp>
        <p:nvSpPr>
          <p:cNvPr id="16" name="Roteiro"/>
          <p:cNvSpPr/>
          <p:nvPr/>
        </p:nvSpPr>
        <p:spPr>
          <a:xfrm>
            <a:off x="6953250" y="4391521"/>
            <a:ext cx="904974"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Roteiro</a:t>
            </a:r>
            <a:endParaRPr lang="en-US" sz="1400" dirty="0"/>
          </a:p>
        </p:txBody>
      </p:sp>
      <p:sp>
        <p:nvSpPr>
          <p:cNvPr id="17" name="Referências"/>
          <p:cNvSpPr/>
          <p:nvPr/>
        </p:nvSpPr>
        <p:spPr>
          <a:xfrm>
            <a:off x="7959824" y="4391521"/>
            <a:ext cx="1215926"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Referências</a:t>
            </a:r>
            <a:endParaRPr lang="en-US" sz="1400" dirty="0"/>
          </a:p>
        </p:txBody>
      </p:sp>
      <p:pic>
        <p:nvPicPr>
          <p:cNvPr id="18"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E"/>
        </a:solidFill>
      </p:bgPr>
    </p:bg>
    <p:spTree>
      <p:nvGrpSpPr>
        <p:cNvPr id="1" name=""/>
        <p:cNvGrpSpPr/>
        <p:nvPr/>
      </p:nvGrpSpPr>
      <p:grpSpPr>
        <a:xfrm>
          <a:off x="0" y="0"/>
          <a:ext cx="0" cy="0"/>
          <a:chOff x="0" y="0"/>
          <a:chExt cx="0" cy="0"/>
        </a:xfrm>
      </p:grpSpPr>
      <p:sp>
        <p:nvSpPr>
          <p:cNvPr id="2" name="RESERVA · SÍNTESE DAS DROGAS"/>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RESERVA · SÍNTESE DAS DROGAS</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Síntese das drogas</a:t>
            </a:r>
            <a:endParaRPr lang="en-US" sz="3200" dirty="0"/>
          </a:p>
        </p:txBody>
      </p:sp>
      <p:graphicFrame>
        <p:nvGraphicFramePr>
          <p:cNvPr id="19" name="Tabela"/>
          <p:cNvGraphicFramePr>
            <a:graphicFrameLocks noGrp="1"/>
          </p:cNvGraphicFramePr>
          <p:nvPr>
            <p:extLst>
              <p:ext uri="{D42A27DB-BD31-4B8C-83A1-F6EECF244321}">
                <p14:modId xmlns:p14="http://schemas.microsoft.com/office/powerpoint/2010/main" val="1579011935"/>
              </p:ext>
            </p:extLst>
          </p:nvPr>
        </p:nvGraphicFramePr>
        <p:xfrm>
          <a:off x="812800" y="1879501"/>
          <a:ext cx="10566400" cy="914400"/>
        </p:xfrm>
        <a:graphic>
          <a:graphicData uri="http://schemas.openxmlformats.org/drawingml/2006/table">
            <a:tbl>
              <a:tblPr/>
              <a:tblGrid>
                <a:gridCol w="1796256"/>
                <a:gridCol w="845245"/>
                <a:gridCol w="845245"/>
                <a:gridCol w="845245"/>
                <a:gridCol w="845245"/>
                <a:gridCol w="2324596"/>
                <a:gridCol w="3064570"/>
              </a:tblGrid>
              <a:tr h="365720">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Droga</a:t>
                      </a:r>
                      <a:endParaRPr lang="en-US" sz="1200" dirty="0"/>
                    </a:p>
                  </a:txBody>
                  <a:tcPr marL="127000" marR="127000" marT="76200" marB="762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α1</a:t>
                      </a:r>
                      <a:endParaRPr lang="en-US" sz="1200" dirty="0"/>
                    </a:p>
                  </a:txBody>
                  <a:tcPr marL="127000" marR="127000" marT="76200" marB="762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β1</a:t>
                      </a:r>
                      <a:endParaRPr lang="en-US" sz="1200" dirty="0"/>
                    </a:p>
                  </a:txBody>
                  <a:tcPr marL="127000" marR="127000" marT="76200" marB="762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β2</a:t>
                      </a:r>
                      <a:endParaRPr lang="en-US" sz="1200" dirty="0"/>
                    </a:p>
                  </a:txBody>
                  <a:tcPr marL="127000" marR="127000" marT="76200" marB="762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D1</a:t>
                      </a:r>
                      <a:endParaRPr lang="en-US" sz="1200" dirty="0"/>
                    </a:p>
                  </a:txBody>
                  <a:tcPr marL="127000" marR="127000" marT="76200" marB="762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Dose usual (adulto)</a:t>
                      </a:r>
                      <a:endParaRPr lang="en-US" sz="1200" dirty="0"/>
                    </a:p>
                  </a:txBody>
                  <a:tcPr marL="127000" marR="127000" marT="76200" marB="762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Papel principal</a:t>
                      </a:r>
                      <a:endParaRPr lang="en-US" sz="1200" dirty="0"/>
                    </a:p>
                  </a:txBody>
                  <a:tcPr marL="127000" marR="127000" marT="76200" marB="76200" anchor="ctr">
                    <a:lnL w="0" cap="flat" cmpd="sng" algn="ctr">
                      <a:noFill/>
                    </a:lnL>
                    <a:lnR w="0" cap="flat" cmpd="sng" algn="ctr">
                      <a:noFill/>
                    </a:lnR>
                    <a:lnT w="0" cap="flat" cmpd="sng" algn="ctr">
                      <a:noFill/>
                    </a:lnT>
                    <a:lnB w="0" cap="flat" cmpd="sng" algn="ctr">
                      <a:noFill/>
                    </a:lnB>
                    <a:solidFill>
                      <a:srgbClr val="1B2A3A"/>
                    </a:solidFill>
                  </a:tcPr>
                </a:tc>
              </a:tr>
              <a:tr h="368895">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Noradrenalina</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0,01–0,5 mcg/kg/min</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1ª linha no choque vasoplégico</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720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Adrenalina</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0,01–0,1 mcg/kg/min</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Refratário; anafilaxia; PCR</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720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Dopamina</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2–20 mcg/kg/min</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Bradicardia sem alternativa</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720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Dobutamina</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2,5–20 mcg/kg/min</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Baixo débito com PAM sustentada</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720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Milrinona</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0,375–0,75 mcg/kg/min</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Inodilatador: baixo débito, VD</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720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Vasopressina</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0,03 U/min (até 0,04)</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Adjuvante no choque vasoplégico</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720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Fenilefrina</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Bolus 50–100 mcg</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Vasodilatação com FC alta</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720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Efedrina</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Bolus 5–10 mg</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Hipotensão com bradicardia</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720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Isoproterenol</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0</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2–10 mcg/min</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Bradicardia refratária</a:t>
                      </a:r>
                      <a:endParaRPr lang="en-US" sz="1200" dirty="0"/>
                    </a:p>
                  </a:txBody>
                  <a:tcPr marL="127000" marR="127000" marT="76200" marB="762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bl>
          </a:graphicData>
        </a:graphic>
      </p:graphicFrame>
      <p:sp>
        <p:nvSpPr>
          <p:cNvPr id="5" name="Escala qualitativa (0 a ++++), não afini"/>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Escala qualitativa (0 a ++++), não afinidade medida · faixas usuais, titular pelo efeito · Overgaard &amp; Džavík, Circulation 2008</a:t>
            </a:r>
            <a:endParaRPr lang="en-US" sz="1200" dirty="0"/>
          </a:p>
        </p:txBody>
      </p:sp>
      <p:pic>
        <p:nvPicPr>
          <p:cNvPr id="6"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E"/>
        </a:solidFill>
      </p:bgPr>
    </p:bg>
    <p:spTree>
      <p:nvGrpSpPr>
        <p:cNvPr id="1" name=""/>
        <p:cNvGrpSpPr/>
        <p:nvPr/>
      </p:nvGrpSpPr>
      <p:grpSpPr>
        <a:xfrm>
          <a:off x="0" y="0"/>
          <a:ext cx="0" cy="0"/>
          <a:chOff x="0" y="0"/>
          <a:chExt cx="0" cy="0"/>
        </a:xfrm>
      </p:grpSpPr>
      <p:sp>
        <p:nvSpPr>
          <p:cNvPr id="2" name="RESERVA · DOPAMINA"/>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RESERVA · DOPAMINA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Dopamina</a:t>
            </a:r>
            <a:endParaRPr lang="en-US" sz="3200" dirty="0"/>
          </a:p>
        </p:txBody>
      </p:sp>
      <p:sp>
        <p:nvSpPr>
          <p:cNvPr id="4" name="Cartão"/>
          <p:cNvSpPr/>
          <p:nvPr/>
        </p:nvSpPr>
        <p:spPr>
          <a:xfrm>
            <a:off x="812800" y="1879501"/>
            <a:ext cx="3048000" cy="3194844"/>
          </a:xfrm>
          <a:prstGeom prst="roundRect">
            <a:avLst>
              <a:gd name="adj" fmla="val 2500"/>
            </a:avLst>
          </a:prstGeom>
          <a:solidFill>
            <a:srgbClr val="1B2A3A"/>
          </a:solidFill>
          <a:ln/>
        </p:spPr>
      </p:sp>
      <p:sp>
        <p:nvSpPr>
          <p:cNvPr id="5" name="RECEPTORES"/>
          <p:cNvSpPr txBox="1"/>
          <p:nvPr/>
        </p:nvSpPr>
        <p:spPr>
          <a:xfrm>
            <a:off x="1066800" y="2121537"/>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RECEPTORES</a:t>
            </a:r>
            <a:endParaRPr lang="en-US" sz="1200" dirty="0"/>
          </a:p>
        </p:txBody>
      </p:sp>
      <p:sp>
        <p:nvSpPr>
          <p:cNvPr id="6" name="α1"/>
          <p:cNvSpPr txBox="1"/>
          <p:nvPr/>
        </p:nvSpPr>
        <p:spPr>
          <a:xfrm>
            <a:off x="1066800" y="2460861"/>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α1</a:t>
            </a:r>
            <a:endParaRPr lang="en-US" sz="1300" dirty="0"/>
          </a:p>
        </p:txBody>
      </p:sp>
      <p:sp>
        <p:nvSpPr>
          <p:cNvPr id="7" name="Cartão"/>
          <p:cNvSpPr/>
          <p:nvPr/>
        </p:nvSpPr>
        <p:spPr>
          <a:xfrm>
            <a:off x="1524000" y="2532162"/>
            <a:ext cx="1778000" cy="114300"/>
          </a:xfrm>
          <a:prstGeom prst="roundRect">
            <a:avLst>
              <a:gd name="adj" fmla="val 50000"/>
            </a:avLst>
          </a:prstGeom>
          <a:solidFill>
            <a:srgbClr val="33475E"/>
          </a:solidFill>
          <a:ln/>
        </p:spPr>
      </p:sp>
      <p:sp>
        <p:nvSpPr>
          <p:cNvPr id="8" name="Cartão"/>
          <p:cNvSpPr/>
          <p:nvPr/>
        </p:nvSpPr>
        <p:spPr>
          <a:xfrm>
            <a:off x="1524000" y="2532162"/>
            <a:ext cx="1333500" cy="114300"/>
          </a:xfrm>
          <a:prstGeom prst="roundRect">
            <a:avLst>
              <a:gd name="adj" fmla="val 50000"/>
            </a:avLst>
          </a:prstGeom>
          <a:solidFill>
            <a:srgbClr val="E49A5C"/>
          </a:solidFill>
          <a:ln/>
        </p:spPr>
      </p:sp>
      <p:sp>
        <p:nvSpPr>
          <p:cNvPr id="9" name="β1"/>
          <p:cNvSpPr txBox="1"/>
          <p:nvPr/>
        </p:nvSpPr>
        <p:spPr>
          <a:xfrm>
            <a:off x="1066800" y="2818941"/>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β1</a:t>
            </a:r>
            <a:endParaRPr lang="en-US" sz="1300" dirty="0"/>
          </a:p>
        </p:txBody>
      </p:sp>
      <p:sp>
        <p:nvSpPr>
          <p:cNvPr id="10" name="Cartão"/>
          <p:cNvSpPr/>
          <p:nvPr/>
        </p:nvSpPr>
        <p:spPr>
          <a:xfrm>
            <a:off x="1524000" y="2890242"/>
            <a:ext cx="1778000" cy="114300"/>
          </a:xfrm>
          <a:prstGeom prst="roundRect">
            <a:avLst>
              <a:gd name="adj" fmla="val 50000"/>
            </a:avLst>
          </a:prstGeom>
          <a:solidFill>
            <a:srgbClr val="33475E"/>
          </a:solidFill>
          <a:ln/>
        </p:spPr>
      </p:sp>
      <p:sp>
        <p:nvSpPr>
          <p:cNvPr id="11" name="Cartão"/>
          <p:cNvSpPr/>
          <p:nvPr/>
        </p:nvSpPr>
        <p:spPr>
          <a:xfrm>
            <a:off x="1524000" y="2890242"/>
            <a:ext cx="1333500" cy="114300"/>
          </a:xfrm>
          <a:prstGeom prst="roundRect">
            <a:avLst>
              <a:gd name="adj" fmla="val 50000"/>
            </a:avLst>
          </a:prstGeom>
          <a:solidFill>
            <a:srgbClr val="E49A5C"/>
          </a:solidFill>
          <a:ln/>
        </p:spPr>
      </p:sp>
      <p:sp>
        <p:nvSpPr>
          <p:cNvPr id="12" name="β2"/>
          <p:cNvSpPr txBox="1"/>
          <p:nvPr/>
        </p:nvSpPr>
        <p:spPr>
          <a:xfrm>
            <a:off x="1066800" y="3177022"/>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β2</a:t>
            </a:r>
            <a:endParaRPr lang="en-US" sz="1300" dirty="0"/>
          </a:p>
        </p:txBody>
      </p:sp>
      <p:sp>
        <p:nvSpPr>
          <p:cNvPr id="13" name="Cartão"/>
          <p:cNvSpPr/>
          <p:nvPr/>
        </p:nvSpPr>
        <p:spPr>
          <a:xfrm>
            <a:off x="1524000" y="3248323"/>
            <a:ext cx="1778000" cy="114300"/>
          </a:xfrm>
          <a:prstGeom prst="roundRect">
            <a:avLst>
              <a:gd name="adj" fmla="val 50000"/>
            </a:avLst>
          </a:prstGeom>
          <a:solidFill>
            <a:srgbClr val="33475E"/>
          </a:solidFill>
          <a:ln/>
        </p:spPr>
      </p:sp>
      <p:sp>
        <p:nvSpPr>
          <p:cNvPr id="14" name="Cartão"/>
          <p:cNvSpPr/>
          <p:nvPr/>
        </p:nvSpPr>
        <p:spPr>
          <a:xfrm>
            <a:off x="1524000" y="3248323"/>
            <a:ext cx="444500" cy="114300"/>
          </a:xfrm>
          <a:prstGeom prst="roundRect">
            <a:avLst>
              <a:gd name="adj" fmla="val 50000"/>
            </a:avLst>
          </a:prstGeom>
          <a:solidFill>
            <a:srgbClr val="E49A5C"/>
          </a:solidFill>
          <a:ln/>
        </p:spPr>
      </p:sp>
      <p:sp>
        <p:nvSpPr>
          <p:cNvPr id="15" name="D1"/>
          <p:cNvSpPr txBox="1"/>
          <p:nvPr/>
        </p:nvSpPr>
        <p:spPr>
          <a:xfrm>
            <a:off x="1066800" y="3535102"/>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D1</a:t>
            </a:r>
            <a:endParaRPr lang="en-US" sz="1300" dirty="0"/>
          </a:p>
        </p:txBody>
      </p:sp>
      <p:sp>
        <p:nvSpPr>
          <p:cNvPr id="16" name="Cartão"/>
          <p:cNvSpPr/>
          <p:nvPr/>
        </p:nvSpPr>
        <p:spPr>
          <a:xfrm>
            <a:off x="1524000" y="3606403"/>
            <a:ext cx="1778000" cy="114300"/>
          </a:xfrm>
          <a:prstGeom prst="roundRect">
            <a:avLst>
              <a:gd name="adj" fmla="val 50000"/>
            </a:avLst>
          </a:prstGeom>
          <a:solidFill>
            <a:srgbClr val="33475E"/>
          </a:solidFill>
          <a:ln/>
        </p:spPr>
      </p:sp>
      <p:sp>
        <p:nvSpPr>
          <p:cNvPr id="17" name="Cartão"/>
          <p:cNvSpPr/>
          <p:nvPr/>
        </p:nvSpPr>
        <p:spPr>
          <a:xfrm>
            <a:off x="1524000" y="3606403"/>
            <a:ext cx="1778000" cy="114300"/>
          </a:xfrm>
          <a:prstGeom prst="roundRect">
            <a:avLst>
              <a:gd name="adj" fmla="val 50000"/>
            </a:avLst>
          </a:prstGeom>
          <a:solidFill>
            <a:srgbClr val="E49A5C"/>
          </a:solidFill>
          <a:ln/>
        </p:spPr>
      </p:sp>
      <p:sp>
        <p:nvSpPr>
          <p:cNvPr id="18" name="EFEITO HEMODINÂMICO"/>
          <p:cNvSpPr txBox="1"/>
          <p:nvPr/>
        </p:nvSpPr>
        <p:spPr>
          <a:xfrm>
            <a:off x="1066800" y="3894180"/>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EFEITO HEMODINÂMICO</a:t>
            </a:r>
            <a:endParaRPr lang="en-US" sz="1200" dirty="0"/>
          </a:p>
        </p:txBody>
      </p:sp>
      <p:sp>
        <p:nvSpPr>
          <p:cNvPr id="19" name="PAM ↑"/>
          <p:cNvSpPr txBox="1"/>
          <p:nvPr/>
        </p:nvSpPr>
        <p:spPr>
          <a:xfrm>
            <a:off x="1066800" y="423250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PAM</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20" name="DC ↑"/>
          <p:cNvSpPr txBox="1"/>
          <p:nvPr/>
        </p:nvSpPr>
        <p:spPr>
          <a:xfrm>
            <a:off x="2413000" y="423250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DC</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21" name="FC ↑↑"/>
          <p:cNvSpPr txBox="1"/>
          <p:nvPr/>
        </p:nvSpPr>
        <p:spPr>
          <a:xfrm>
            <a:off x="1066800" y="4557547"/>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FC</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22" name="RVS ↔/↑"/>
          <p:cNvSpPr txBox="1"/>
          <p:nvPr/>
        </p:nvSpPr>
        <p:spPr>
          <a:xfrm>
            <a:off x="2413000" y="4557547"/>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RVS</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23" name="Cartão"/>
          <p:cNvSpPr/>
          <p:nvPr/>
        </p:nvSpPr>
        <p:spPr>
          <a:xfrm>
            <a:off x="4064000" y="1879501"/>
            <a:ext cx="3556000" cy="3194844"/>
          </a:xfrm>
          <a:prstGeom prst="roundRect">
            <a:avLst>
              <a:gd name="adj" fmla="val 2385"/>
            </a:avLst>
          </a:prstGeom>
          <a:solidFill>
            <a:srgbClr val="FFFDF8"/>
          </a:solidFill>
          <a:ln w="6350">
            <a:solidFill>
              <a:srgbClr val="E2DDD2"/>
            </a:solidFill>
            <a:prstDash val="solid"/>
          </a:ln>
        </p:spPr>
      </p:sp>
      <p:sp>
        <p:nvSpPr>
          <p:cNvPr id="24" name="Dose e uso"/>
          <p:cNvSpPr txBox="1"/>
          <p:nvPr/>
        </p:nvSpPr>
        <p:spPr>
          <a:xfrm>
            <a:off x="4324350" y="2135857"/>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Dose e uso</a:t>
            </a:r>
            <a:endParaRPr lang="en-US" sz="1700" dirty="0"/>
          </a:p>
        </p:txBody>
      </p:sp>
      <p:sp>
        <p:nvSpPr>
          <p:cNvPr id="25" name="Faixa de 2 a 20 mcg/kg/min. Até ~3: D1 ("/>
          <p:cNvSpPr txBox="1"/>
          <p:nvPr/>
        </p:nvSpPr>
        <p:spPr>
          <a:xfrm>
            <a:off x="4324350" y="2484480"/>
            <a:ext cx="3054350" cy="1242715"/>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Faixa de 2 a 20 mcg/kg/min. Até ~3: D1 (vasodilatação renal e mesentérica). De 3 a 10: β1, em parte por liberação de noradrenalina. Acima de 10: α1. Os limiares variam muito entre pacientes.</a:t>
            </a:r>
            <a:endParaRPr lang="en-US" sz="1350" dirty="0"/>
          </a:p>
        </p:txBody>
      </p:sp>
      <p:sp>
        <p:nvSpPr>
          <p:cNvPr id="26" name="Cartão"/>
          <p:cNvSpPr/>
          <p:nvPr/>
        </p:nvSpPr>
        <p:spPr>
          <a:xfrm>
            <a:off x="7823200" y="1879501"/>
            <a:ext cx="3556000" cy="3194844"/>
          </a:xfrm>
          <a:prstGeom prst="roundRect">
            <a:avLst>
              <a:gd name="adj" fmla="val 2385"/>
            </a:avLst>
          </a:prstGeom>
          <a:solidFill>
            <a:srgbClr val="FFFDF8"/>
          </a:solidFill>
          <a:ln w="6350">
            <a:solidFill>
              <a:srgbClr val="E2DDD2"/>
            </a:solidFill>
            <a:prstDash val="solid"/>
          </a:ln>
        </p:spPr>
      </p:sp>
      <p:sp>
        <p:nvSpPr>
          <p:cNvPr id="27" name="Evidência e cuidados"/>
          <p:cNvSpPr txBox="1"/>
          <p:nvPr/>
        </p:nvSpPr>
        <p:spPr>
          <a:xfrm>
            <a:off x="8083550" y="2135857"/>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Evidência e cuidados</a:t>
            </a:r>
            <a:endParaRPr lang="en-US" sz="1700" dirty="0"/>
          </a:p>
        </p:txBody>
      </p:sp>
      <p:sp>
        <p:nvSpPr>
          <p:cNvPr id="28" name="Dose “renal” não protege o rim (ANZICS, "/>
          <p:cNvSpPr txBox="1"/>
          <p:nvPr/>
        </p:nvSpPr>
        <p:spPr>
          <a:xfrm>
            <a:off x="8083550" y="2484480"/>
            <a:ext cx="3054350" cy="1491258"/>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Dose “renal” não protege o rim (ANZICS, Lancet 2000). SOAP II: arritmias 24,1% vs. 12,4% com NA e maior mortalidade no subgrupo cardiogênico. SSC 2026: recomendação forte contra como primeira linha (certeza alta).</a:t>
            </a:r>
            <a:endParaRPr lang="en-US" sz="1350" dirty="0"/>
          </a:p>
        </p:txBody>
      </p:sp>
      <p:sp>
        <p:nvSpPr>
          <p:cNvPr id="29" name="Bellomo, Lancet 2000 (ANZICS) · De Backe"/>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Bellomo, Lancet 2000 (ANZICS) · De Backer, N Engl J Med 2010 (SOAP II) · SSC 2026 · barras: escala qualitativa</a:t>
            </a:r>
            <a:endParaRPr lang="en-US" sz="1200" dirty="0"/>
          </a:p>
        </p:txBody>
      </p:sp>
      <p:pic>
        <p:nvPicPr>
          <p:cNvPr id="30"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3EE"/>
        </a:solidFill>
      </p:bgPr>
    </p:bg>
    <p:spTree>
      <p:nvGrpSpPr>
        <p:cNvPr id="1" name=""/>
        <p:cNvGrpSpPr/>
        <p:nvPr/>
      </p:nvGrpSpPr>
      <p:grpSpPr>
        <a:xfrm>
          <a:off x="0" y="0"/>
          <a:ext cx="0" cy="0"/>
          <a:chOff x="0" y="0"/>
          <a:chExt cx="0" cy="0"/>
        </a:xfrm>
      </p:grpSpPr>
      <p:sp>
        <p:nvSpPr>
          <p:cNvPr id="2" name="RESERVA · DOBUTAMINA"/>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RESERVA · DOBUTAMINA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Dobutamina</a:t>
            </a:r>
            <a:endParaRPr lang="en-US" sz="3200" dirty="0"/>
          </a:p>
        </p:txBody>
      </p:sp>
      <p:sp>
        <p:nvSpPr>
          <p:cNvPr id="4" name="Cartão"/>
          <p:cNvSpPr/>
          <p:nvPr/>
        </p:nvSpPr>
        <p:spPr>
          <a:xfrm>
            <a:off x="812800" y="1879501"/>
            <a:ext cx="3048000" cy="3194844"/>
          </a:xfrm>
          <a:prstGeom prst="roundRect">
            <a:avLst>
              <a:gd name="adj" fmla="val 2500"/>
            </a:avLst>
          </a:prstGeom>
          <a:solidFill>
            <a:srgbClr val="1B2A3A"/>
          </a:solidFill>
          <a:ln/>
        </p:spPr>
      </p:sp>
      <p:sp>
        <p:nvSpPr>
          <p:cNvPr id="5" name="RECEPTORES"/>
          <p:cNvSpPr txBox="1"/>
          <p:nvPr/>
        </p:nvSpPr>
        <p:spPr>
          <a:xfrm>
            <a:off x="1066800" y="2121537"/>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RECEPTORES</a:t>
            </a:r>
            <a:endParaRPr lang="en-US" sz="1200" dirty="0"/>
          </a:p>
        </p:txBody>
      </p:sp>
      <p:sp>
        <p:nvSpPr>
          <p:cNvPr id="6" name="α1"/>
          <p:cNvSpPr txBox="1"/>
          <p:nvPr/>
        </p:nvSpPr>
        <p:spPr>
          <a:xfrm>
            <a:off x="1066800" y="2460861"/>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α1</a:t>
            </a:r>
            <a:endParaRPr lang="en-US" sz="1300" dirty="0"/>
          </a:p>
        </p:txBody>
      </p:sp>
      <p:sp>
        <p:nvSpPr>
          <p:cNvPr id="7" name="Cartão"/>
          <p:cNvSpPr/>
          <p:nvPr/>
        </p:nvSpPr>
        <p:spPr>
          <a:xfrm>
            <a:off x="1524000" y="2532162"/>
            <a:ext cx="1778000" cy="114300"/>
          </a:xfrm>
          <a:prstGeom prst="roundRect">
            <a:avLst>
              <a:gd name="adj" fmla="val 50000"/>
            </a:avLst>
          </a:prstGeom>
          <a:solidFill>
            <a:srgbClr val="33475E"/>
          </a:solidFill>
          <a:ln/>
        </p:spPr>
      </p:sp>
      <p:sp>
        <p:nvSpPr>
          <p:cNvPr id="8" name="Cartão"/>
          <p:cNvSpPr/>
          <p:nvPr/>
        </p:nvSpPr>
        <p:spPr>
          <a:xfrm>
            <a:off x="1524000" y="2532162"/>
            <a:ext cx="444500" cy="114300"/>
          </a:xfrm>
          <a:prstGeom prst="roundRect">
            <a:avLst>
              <a:gd name="adj" fmla="val 50000"/>
            </a:avLst>
          </a:prstGeom>
          <a:solidFill>
            <a:srgbClr val="E49A5C"/>
          </a:solidFill>
          <a:ln/>
        </p:spPr>
      </p:sp>
      <p:sp>
        <p:nvSpPr>
          <p:cNvPr id="9" name="β1"/>
          <p:cNvSpPr txBox="1"/>
          <p:nvPr/>
        </p:nvSpPr>
        <p:spPr>
          <a:xfrm>
            <a:off x="1066800" y="2818941"/>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β1</a:t>
            </a:r>
            <a:endParaRPr lang="en-US" sz="1300" dirty="0"/>
          </a:p>
        </p:txBody>
      </p:sp>
      <p:sp>
        <p:nvSpPr>
          <p:cNvPr id="10" name="Cartão"/>
          <p:cNvSpPr/>
          <p:nvPr/>
        </p:nvSpPr>
        <p:spPr>
          <a:xfrm>
            <a:off x="1524000" y="2890242"/>
            <a:ext cx="1778000" cy="114300"/>
          </a:xfrm>
          <a:prstGeom prst="roundRect">
            <a:avLst>
              <a:gd name="adj" fmla="val 50000"/>
            </a:avLst>
          </a:prstGeom>
          <a:solidFill>
            <a:srgbClr val="33475E"/>
          </a:solidFill>
          <a:ln/>
        </p:spPr>
      </p:sp>
      <p:sp>
        <p:nvSpPr>
          <p:cNvPr id="11" name="Cartão"/>
          <p:cNvSpPr/>
          <p:nvPr/>
        </p:nvSpPr>
        <p:spPr>
          <a:xfrm>
            <a:off x="1524000" y="2890242"/>
            <a:ext cx="1778000" cy="114300"/>
          </a:xfrm>
          <a:prstGeom prst="roundRect">
            <a:avLst>
              <a:gd name="adj" fmla="val 50000"/>
            </a:avLst>
          </a:prstGeom>
          <a:solidFill>
            <a:srgbClr val="E49A5C"/>
          </a:solidFill>
          <a:ln/>
        </p:spPr>
      </p:sp>
      <p:sp>
        <p:nvSpPr>
          <p:cNvPr id="12" name="β2"/>
          <p:cNvSpPr txBox="1"/>
          <p:nvPr/>
        </p:nvSpPr>
        <p:spPr>
          <a:xfrm>
            <a:off x="1066800" y="3177022"/>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β2</a:t>
            </a:r>
            <a:endParaRPr lang="en-US" sz="1300" dirty="0"/>
          </a:p>
        </p:txBody>
      </p:sp>
      <p:sp>
        <p:nvSpPr>
          <p:cNvPr id="13" name="Cartão"/>
          <p:cNvSpPr/>
          <p:nvPr/>
        </p:nvSpPr>
        <p:spPr>
          <a:xfrm>
            <a:off x="1524000" y="3248323"/>
            <a:ext cx="1778000" cy="114300"/>
          </a:xfrm>
          <a:prstGeom prst="roundRect">
            <a:avLst>
              <a:gd name="adj" fmla="val 50000"/>
            </a:avLst>
          </a:prstGeom>
          <a:solidFill>
            <a:srgbClr val="33475E"/>
          </a:solidFill>
          <a:ln/>
        </p:spPr>
      </p:sp>
      <p:sp>
        <p:nvSpPr>
          <p:cNvPr id="14" name="Cartão"/>
          <p:cNvSpPr/>
          <p:nvPr/>
        </p:nvSpPr>
        <p:spPr>
          <a:xfrm>
            <a:off x="1524000" y="3248323"/>
            <a:ext cx="889000" cy="114300"/>
          </a:xfrm>
          <a:prstGeom prst="roundRect">
            <a:avLst>
              <a:gd name="adj" fmla="val 50000"/>
            </a:avLst>
          </a:prstGeom>
          <a:solidFill>
            <a:srgbClr val="E49A5C"/>
          </a:solidFill>
          <a:ln/>
        </p:spPr>
      </p:sp>
      <p:sp>
        <p:nvSpPr>
          <p:cNvPr id="15" name="D1"/>
          <p:cNvSpPr txBox="1"/>
          <p:nvPr/>
        </p:nvSpPr>
        <p:spPr>
          <a:xfrm>
            <a:off x="1066800" y="3535102"/>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D1</a:t>
            </a:r>
            <a:endParaRPr lang="en-US" sz="1300" dirty="0"/>
          </a:p>
        </p:txBody>
      </p:sp>
      <p:sp>
        <p:nvSpPr>
          <p:cNvPr id="16" name="Cartão"/>
          <p:cNvSpPr/>
          <p:nvPr/>
        </p:nvSpPr>
        <p:spPr>
          <a:xfrm>
            <a:off x="1524000" y="3606403"/>
            <a:ext cx="1778000" cy="114300"/>
          </a:xfrm>
          <a:prstGeom prst="roundRect">
            <a:avLst>
              <a:gd name="adj" fmla="val 50000"/>
            </a:avLst>
          </a:prstGeom>
          <a:solidFill>
            <a:srgbClr val="33475E"/>
          </a:solidFill>
          <a:ln/>
        </p:spPr>
      </p:sp>
      <p:sp>
        <p:nvSpPr>
          <p:cNvPr id="17" name="EFEITO HEMODINÂMICO"/>
          <p:cNvSpPr txBox="1"/>
          <p:nvPr/>
        </p:nvSpPr>
        <p:spPr>
          <a:xfrm>
            <a:off x="1066800" y="3894180"/>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EFEITO HEMODINÂMICO</a:t>
            </a:r>
            <a:endParaRPr lang="en-US" sz="1200" dirty="0"/>
          </a:p>
        </p:txBody>
      </p:sp>
      <p:sp>
        <p:nvSpPr>
          <p:cNvPr id="18" name="DC ↑↑"/>
          <p:cNvSpPr txBox="1"/>
          <p:nvPr/>
        </p:nvSpPr>
        <p:spPr>
          <a:xfrm>
            <a:off x="1066800" y="423250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DC</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19" name="FC ↑"/>
          <p:cNvSpPr txBox="1"/>
          <p:nvPr/>
        </p:nvSpPr>
        <p:spPr>
          <a:xfrm>
            <a:off x="2413000" y="423250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FC</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20" name="RVS ↓"/>
          <p:cNvSpPr txBox="1"/>
          <p:nvPr/>
        </p:nvSpPr>
        <p:spPr>
          <a:xfrm>
            <a:off x="1066800" y="4557547"/>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RVS</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21" name="PAM ↔/↓"/>
          <p:cNvSpPr txBox="1"/>
          <p:nvPr/>
        </p:nvSpPr>
        <p:spPr>
          <a:xfrm>
            <a:off x="2413000" y="4557547"/>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PAM</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22" name="Cartão"/>
          <p:cNvSpPr/>
          <p:nvPr/>
        </p:nvSpPr>
        <p:spPr>
          <a:xfrm>
            <a:off x="4064000" y="1879501"/>
            <a:ext cx="3556000" cy="3194844"/>
          </a:xfrm>
          <a:prstGeom prst="roundRect">
            <a:avLst>
              <a:gd name="adj" fmla="val 2385"/>
            </a:avLst>
          </a:prstGeom>
          <a:solidFill>
            <a:srgbClr val="FFFDF8"/>
          </a:solidFill>
          <a:ln w="6350">
            <a:solidFill>
              <a:srgbClr val="E2DDD2"/>
            </a:solidFill>
            <a:prstDash val="solid"/>
          </a:ln>
        </p:spPr>
      </p:sp>
      <p:sp>
        <p:nvSpPr>
          <p:cNvPr id="23" name="Dose e uso"/>
          <p:cNvSpPr txBox="1"/>
          <p:nvPr/>
        </p:nvSpPr>
        <p:spPr>
          <a:xfrm>
            <a:off x="4324350" y="2135857"/>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Dose e uso</a:t>
            </a:r>
            <a:endParaRPr lang="en-US" sz="1700" dirty="0"/>
          </a:p>
        </p:txBody>
      </p:sp>
      <p:sp>
        <p:nvSpPr>
          <p:cNvPr id="24" name="Infusão de 2,5 a 20 mcg/kg/min. Mistura "/>
          <p:cNvSpPr txBox="1"/>
          <p:nvPr/>
        </p:nvSpPr>
        <p:spPr>
          <a:xfrm>
            <a:off x="4324350" y="2484480"/>
            <a:ext cx="3054350" cy="1491258"/>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Infusão de 2,5 a 20 mcg/kg/min. Mistura racêmica cujos efeitos α1 se anulam: efeito líquido β1, com vasodilatação β2. SSC 2026: com disfunção cardíaca e hipoperfusão persistente, associar à NA ou usar adrenalina isolada.</a:t>
            </a:r>
            <a:endParaRPr lang="en-US" sz="1350" dirty="0"/>
          </a:p>
        </p:txBody>
      </p:sp>
      <p:sp>
        <p:nvSpPr>
          <p:cNvPr id="25" name="Cartão"/>
          <p:cNvSpPr/>
          <p:nvPr/>
        </p:nvSpPr>
        <p:spPr>
          <a:xfrm>
            <a:off x="7823200" y="1879501"/>
            <a:ext cx="3556000" cy="3194844"/>
          </a:xfrm>
          <a:prstGeom prst="roundRect">
            <a:avLst>
              <a:gd name="adj" fmla="val 2385"/>
            </a:avLst>
          </a:prstGeom>
          <a:solidFill>
            <a:srgbClr val="FFFDF8"/>
          </a:solidFill>
          <a:ln w="6350">
            <a:solidFill>
              <a:srgbClr val="E2DDD2"/>
            </a:solidFill>
            <a:prstDash val="solid"/>
          </a:ln>
        </p:spPr>
      </p:sp>
      <p:sp>
        <p:nvSpPr>
          <p:cNvPr id="26" name="Evidência e cuidados"/>
          <p:cNvSpPr txBox="1"/>
          <p:nvPr/>
        </p:nvSpPr>
        <p:spPr>
          <a:xfrm>
            <a:off x="8083550" y="2135857"/>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Evidência e cuidados</a:t>
            </a:r>
            <a:endParaRPr lang="en-US" sz="1700" dirty="0"/>
          </a:p>
        </p:txBody>
      </p:sp>
      <p:sp>
        <p:nvSpPr>
          <p:cNvPr id="27" name="Taquicardia, arritmia e maior consumo mi"/>
          <p:cNvSpPr txBox="1"/>
          <p:nvPr/>
        </p:nvSpPr>
        <p:spPr>
          <a:xfrm>
            <a:off x="8083550" y="2484480"/>
            <a:ext cx="3054350" cy="1739801"/>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Taquicardia, arritmia e maior consumo miocárdico de oxigênio; tolerância após uso prolongado. Hipotensão se hipovolêmico ou vasoplégico. DOREMI (choque cardiogênico): sem diferença estatisticamente significativa vs. milrinona no desfecho composto (54% vs. 49%).</a:t>
            </a:r>
            <a:endParaRPr lang="en-US" sz="1350" dirty="0"/>
          </a:p>
        </p:txBody>
      </p:sp>
      <p:sp>
        <p:nvSpPr>
          <p:cNvPr id="28" name="Mathew, N Engl J Med 2021 (DOREMI) · SSC"/>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Mathew, N Engl J Med 2021 (DOREMI) · SSC 2026 · barras: escala qualitativa</a:t>
            </a:r>
            <a:endParaRPr lang="en-US" sz="1200" dirty="0"/>
          </a:p>
        </p:txBody>
      </p:sp>
      <p:pic>
        <p:nvPicPr>
          <p:cNvPr id="29"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3EE"/>
        </a:solidFill>
      </p:bgPr>
    </p:bg>
    <p:spTree>
      <p:nvGrpSpPr>
        <p:cNvPr id="1" name=""/>
        <p:cNvGrpSpPr/>
        <p:nvPr/>
      </p:nvGrpSpPr>
      <p:grpSpPr>
        <a:xfrm>
          <a:off x="0" y="0"/>
          <a:ext cx="0" cy="0"/>
          <a:chOff x="0" y="0"/>
          <a:chExt cx="0" cy="0"/>
        </a:xfrm>
      </p:grpSpPr>
      <p:sp>
        <p:nvSpPr>
          <p:cNvPr id="2" name="RESERVA · FENILEFRINA"/>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RESERVA · FENILEFRINA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Fenilefrina</a:t>
            </a:r>
            <a:endParaRPr lang="en-US" sz="3200" dirty="0"/>
          </a:p>
        </p:txBody>
      </p:sp>
      <p:sp>
        <p:nvSpPr>
          <p:cNvPr id="4" name="Cartão"/>
          <p:cNvSpPr/>
          <p:nvPr/>
        </p:nvSpPr>
        <p:spPr>
          <a:xfrm>
            <a:off x="812800" y="1879501"/>
            <a:ext cx="3048000" cy="3194844"/>
          </a:xfrm>
          <a:prstGeom prst="roundRect">
            <a:avLst>
              <a:gd name="adj" fmla="val 2500"/>
            </a:avLst>
          </a:prstGeom>
          <a:solidFill>
            <a:srgbClr val="1B2A3A"/>
          </a:solidFill>
          <a:ln/>
        </p:spPr>
      </p:sp>
      <p:sp>
        <p:nvSpPr>
          <p:cNvPr id="5" name="RECEPTORES"/>
          <p:cNvSpPr txBox="1"/>
          <p:nvPr/>
        </p:nvSpPr>
        <p:spPr>
          <a:xfrm>
            <a:off x="1066800" y="2121537"/>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RECEPTORES</a:t>
            </a:r>
            <a:endParaRPr lang="en-US" sz="1200" dirty="0"/>
          </a:p>
        </p:txBody>
      </p:sp>
      <p:sp>
        <p:nvSpPr>
          <p:cNvPr id="6" name="α1"/>
          <p:cNvSpPr txBox="1"/>
          <p:nvPr/>
        </p:nvSpPr>
        <p:spPr>
          <a:xfrm>
            <a:off x="1066800" y="2460861"/>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α1</a:t>
            </a:r>
            <a:endParaRPr lang="en-US" sz="1300" dirty="0"/>
          </a:p>
        </p:txBody>
      </p:sp>
      <p:sp>
        <p:nvSpPr>
          <p:cNvPr id="7" name="Cartão"/>
          <p:cNvSpPr/>
          <p:nvPr/>
        </p:nvSpPr>
        <p:spPr>
          <a:xfrm>
            <a:off x="1524000" y="2532162"/>
            <a:ext cx="1778000" cy="114300"/>
          </a:xfrm>
          <a:prstGeom prst="roundRect">
            <a:avLst>
              <a:gd name="adj" fmla="val 50000"/>
            </a:avLst>
          </a:prstGeom>
          <a:solidFill>
            <a:srgbClr val="33475E"/>
          </a:solidFill>
          <a:ln/>
        </p:spPr>
      </p:sp>
      <p:sp>
        <p:nvSpPr>
          <p:cNvPr id="8" name="Cartão"/>
          <p:cNvSpPr/>
          <p:nvPr/>
        </p:nvSpPr>
        <p:spPr>
          <a:xfrm>
            <a:off x="1524000" y="2532162"/>
            <a:ext cx="1778000" cy="114300"/>
          </a:xfrm>
          <a:prstGeom prst="roundRect">
            <a:avLst>
              <a:gd name="adj" fmla="val 50000"/>
            </a:avLst>
          </a:prstGeom>
          <a:solidFill>
            <a:srgbClr val="E49A5C"/>
          </a:solidFill>
          <a:ln/>
        </p:spPr>
      </p:sp>
      <p:sp>
        <p:nvSpPr>
          <p:cNvPr id="9" name="β1"/>
          <p:cNvSpPr txBox="1"/>
          <p:nvPr/>
        </p:nvSpPr>
        <p:spPr>
          <a:xfrm>
            <a:off x="1066800" y="2818941"/>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β1</a:t>
            </a:r>
            <a:endParaRPr lang="en-US" sz="1300" dirty="0"/>
          </a:p>
        </p:txBody>
      </p:sp>
      <p:sp>
        <p:nvSpPr>
          <p:cNvPr id="10" name="Cartão"/>
          <p:cNvSpPr/>
          <p:nvPr/>
        </p:nvSpPr>
        <p:spPr>
          <a:xfrm>
            <a:off x="1524000" y="2890242"/>
            <a:ext cx="1778000" cy="114300"/>
          </a:xfrm>
          <a:prstGeom prst="roundRect">
            <a:avLst>
              <a:gd name="adj" fmla="val 50000"/>
            </a:avLst>
          </a:prstGeom>
          <a:solidFill>
            <a:srgbClr val="33475E"/>
          </a:solidFill>
          <a:ln/>
        </p:spPr>
      </p:sp>
      <p:sp>
        <p:nvSpPr>
          <p:cNvPr id="11" name="β2"/>
          <p:cNvSpPr txBox="1"/>
          <p:nvPr/>
        </p:nvSpPr>
        <p:spPr>
          <a:xfrm>
            <a:off x="1066800" y="3177022"/>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β2</a:t>
            </a:r>
            <a:endParaRPr lang="en-US" sz="1300" dirty="0"/>
          </a:p>
        </p:txBody>
      </p:sp>
      <p:sp>
        <p:nvSpPr>
          <p:cNvPr id="12" name="Cartão"/>
          <p:cNvSpPr/>
          <p:nvPr/>
        </p:nvSpPr>
        <p:spPr>
          <a:xfrm>
            <a:off x="1524000" y="3248323"/>
            <a:ext cx="1778000" cy="114300"/>
          </a:xfrm>
          <a:prstGeom prst="roundRect">
            <a:avLst>
              <a:gd name="adj" fmla="val 50000"/>
            </a:avLst>
          </a:prstGeom>
          <a:solidFill>
            <a:srgbClr val="33475E"/>
          </a:solidFill>
          <a:ln/>
        </p:spPr>
      </p:sp>
      <p:sp>
        <p:nvSpPr>
          <p:cNvPr id="13" name="D1"/>
          <p:cNvSpPr txBox="1"/>
          <p:nvPr/>
        </p:nvSpPr>
        <p:spPr>
          <a:xfrm>
            <a:off x="1066800" y="3535102"/>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D1</a:t>
            </a:r>
            <a:endParaRPr lang="en-US" sz="1300" dirty="0"/>
          </a:p>
        </p:txBody>
      </p:sp>
      <p:sp>
        <p:nvSpPr>
          <p:cNvPr id="14" name="Cartão"/>
          <p:cNvSpPr/>
          <p:nvPr/>
        </p:nvSpPr>
        <p:spPr>
          <a:xfrm>
            <a:off x="1524000" y="3606403"/>
            <a:ext cx="1778000" cy="114300"/>
          </a:xfrm>
          <a:prstGeom prst="roundRect">
            <a:avLst>
              <a:gd name="adj" fmla="val 50000"/>
            </a:avLst>
          </a:prstGeom>
          <a:solidFill>
            <a:srgbClr val="33475E"/>
          </a:solidFill>
          <a:ln/>
        </p:spPr>
      </p:sp>
      <p:sp>
        <p:nvSpPr>
          <p:cNvPr id="15" name="EFEITO HEMODINÂMICO"/>
          <p:cNvSpPr txBox="1"/>
          <p:nvPr/>
        </p:nvSpPr>
        <p:spPr>
          <a:xfrm>
            <a:off x="1066800" y="3894180"/>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EFEITO HEMODINÂMICO</a:t>
            </a:r>
            <a:endParaRPr lang="en-US" sz="1200" dirty="0"/>
          </a:p>
        </p:txBody>
      </p:sp>
      <p:sp>
        <p:nvSpPr>
          <p:cNvPr id="16" name="PAM ↑"/>
          <p:cNvSpPr txBox="1"/>
          <p:nvPr/>
        </p:nvSpPr>
        <p:spPr>
          <a:xfrm>
            <a:off x="1066800" y="423250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PAM</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17" name="RVS ↑↑"/>
          <p:cNvSpPr txBox="1"/>
          <p:nvPr/>
        </p:nvSpPr>
        <p:spPr>
          <a:xfrm>
            <a:off x="2413000" y="423250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RVS</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18" name="FC ↓"/>
          <p:cNvSpPr txBox="1"/>
          <p:nvPr/>
        </p:nvSpPr>
        <p:spPr>
          <a:xfrm>
            <a:off x="1066800" y="4557547"/>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FC</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19" name="DC ↔/↓"/>
          <p:cNvSpPr txBox="1"/>
          <p:nvPr/>
        </p:nvSpPr>
        <p:spPr>
          <a:xfrm>
            <a:off x="2413000" y="4557547"/>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DC</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20" name="Cartão"/>
          <p:cNvSpPr/>
          <p:nvPr/>
        </p:nvSpPr>
        <p:spPr>
          <a:xfrm>
            <a:off x="4064000" y="1879501"/>
            <a:ext cx="3556000" cy="3194844"/>
          </a:xfrm>
          <a:prstGeom prst="roundRect">
            <a:avLst>
              <a:gd name="adj" fmla="val 2385"/>
            </a:avLst>
          </a:prstGeom>
          <a:solidFill>
            <a:srgbClr val="FFFDF8"/>
          </a:solidFill>
          <a:ln w="6350">
            <a:solidFill>
              <a:srgbClr val="E2DDD2"/>
            </a:solidFill>
            <a:prstDash val="solid"/>
          </a:ln>
        </p:spPr>
      </p:sp>
      <p:sp>
        <p:nvSpPr>
          <p:cNvPr id="21" name="Dose e uso"/>
          <p:cNvSpPr txBox="1"/>
          <p:nvPr/>
        </p:nvSpPr>
        <p:spPr>
          <a:xfrm>
            <a:off x="4324350" y="2135857"/>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Dose e uso</a:t>
            </a:r>
            <a:endParaRPr lang="en-US" sz="1700" dirty="0"/>
          </a:p>
        </p:txBody>
      </p:sp>
      <p:sp>
        <p:nvSpPr>
          <p:cNvPr id="22" name="Bolus de 50–100 mcg, início imediato e e"/>
          <p:cNvSpPr txBox="1"/>
          <p:nvPr/>
        </p:nvSpPr>
        <p:spPr>
          <a:xfrm>
            <a:off x="4324350" y="2484480"/>
            <a:ext cx="3054350" cy="1739801"/>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Bolus de 50–100 mcg, início imediato e efeito curto. Na cesárea sob raqui, infusão profilática de 25–50 mcg/min, mantendo a PAS ≥90% da basal. Útil na vasodilatação com FC normal ou alta e, conforme o contexto, na estenose aórtica ou na obstrução dinâmica da via de saída do VE.</a:t>
            </a:r>
            <a:endParaRPr lang="en-US" sz="1350" dirty="0"/>
          </a:p>
        </p:txBody>
      </p:sp>
      <p:sp>
        <p:nvSpPr>
          <p:cNvPr id="23" name="Cartão"/>
          <p:cNvSpPr/>
          <p:nvPr/>
        </p:nvSpPr>
        <p:spPr>
          <a:xfrm>
            <a:off x="7823200" y="1879501"/>
            <a:ext cx="3556000" cy="3194844"/>
          </a:xfrm>
          <a:prstGeom prst="roundRect">
            <a:avLst>
              <a:gd name="adj" fmla="val 2385"/>
            </a:avLst>
          </a:prstGeom>
          <a:solidFill>
            <a:srgbClr val="FFFDF8"/>
          </a:solidFill>
          <a:ln w="6350">
            <a:solidFill>
              <a:srgbClr val="E2DDD2"/>
            </a:solidFill>
            <a:prstDash val="solid"/>
          </a:ln>
        </p:spPr>
      </p:sp>
      <p:sp>
        <p:nvSpPr>
          <p:cNvPr id="24" name="Evidência e cuidados"/>
          <p:cNvSpPr txBox="1"/>
          <p:nvPr/>
        </p:nvSpPr>
        <p:spPr>
          <a:xfrm>
            <a:off x="8083550" y="2135857"/>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Evidência e cuidados</a:t>
            </a:r>
            <a:endParaRPr lang="en-US" sz="1700" dirty="0"/>
          </a:p>
        </p:txBody>
      </p:sp>
      <p:sp>
        <p:nvSpPr>
          <p:cNvPr id="25" name="O barorreflexo reduz a FC e pode reduzir"/>
          <p:cNvSpPr txBox="1"/>
          <p:nvPr/>
        </p:nvSpPr>
        <p:spPr>
          <a:xfrm>
            <a:off x="8083550" y="2484480"/>
            <a:ext cx="3054350" cy="1491258"/>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O barorreflexo reduz a FC e pode reduzir o DC, sobretudo com disfunção de VE. Na cesárea, NA 6 mcg em bolus causou menos bradicardia que fenilefrina 100 mcg (10,7% vs. 37,5%). No choque séptico, sem evidência para uso como primeira linha.</a:t>
            </a:r>
            <a:endParaRPr lang="en-US" sz="1350" dirty="0"/>
          </a:p>
        </p:txBody>
      </p:sp>
      <p:sp>
        <p:nvSpPr>
          <p:cNvPr id="26" name="Kinsella, Anaesthesia 2018 · Sharkey, An"/>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Kinsella, Anaesthesia 2018 · Sharkey, Anesth Analg 2019 · Park &amp; Choi, Anesth Pain Med 2024 · barras: escala qualitativa</a:t>
            </a:r>
            <a:endParaRPr lang="en-US" sz="1200" dirty="0"/>
          </a:p>
        </p:txBody>
      </p:sp>
      <p:pic>
        <p:nvPicPr>
          <p:cNvPr id="27"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E"/>
        </a:solidFill>
      </p:bgPr>
    </p:bg>
    <p:spTree>
      <p:nvGrpSpPr>
        <p:cNvPr id="1" name=""/>
        <p:cNvGrpSpPr/>
        <p:nvPr/>
      </p:nvGrpSpPr>
      <p:grpSpPr>
        <a:xfrm>
          <a:off x="0" y="0"/>
          <a:ext cx="0" cy="0"/>
          <a:chOff x="0" y="0"/>
          <a:chExt cx="0" cy="0"/>
        </a:xfrm>
      </p:grpSpPr>
      <p:sp>
        <p:nvSpPr>
          <p:cNvPr id="2" name="RESERVA · EFEDRINA"/>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RESERVA · EFEDRINA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Efedrina</a:t>
            </a:r>
            <a:endParaRPr lang="en-US" sz="3200" dirty="0"/>
          </a:p>
        </p:txBody>
      </p:sp>
      <p:sp>
        <p:nvSpPr>
          <p:cNvPr id="4" name="Cartão"/>
          <p:cNvSpPr/>
          <p:nvPr/>
        </p:nvSpPr>
        <p:spPr>
          <a:xfrm>
            <a:off x="812800" y="1879501"/>
            <a:ext cx="3048000" cy="3194844"/>
          </a:xfrm>
          <a:prstGeom prst="roundRect">
            <a:avLst>
              <a:gd name="adj" fmla="val 2500"/>
            </a:avLst>
          </a:prstGeom>
          <a:solidFill>
            <a:srgbClr val="1B2A3A"/>
          </a:solidFill>
          <a:ln/>
        </p:spPr>
      </p:sp>
      <p:sp>
        <p:nvSpPr>
          <p:cNvPr id="5" name="RECEPTORES"/>
          <p:cNvSpPr txBox="1"/>
          <p:nvPr/>
        </p:nvSpPr>
        <p:spPr>
          <a:xfrm>
            <a:off x="1066800" y="2121537"/>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RECEPTORES</a:t>
            </a:r>
            <a:endParaRPr lang="en-US" sz="1200" dirty="0"/>
          </a:p>
        </p:txBody>
      </p:sp>
      <p:sp>
        <p:nvSpPr>
          <p:cNvPr id="6" name="α1"/>
          <p:cNvSpPr txBox="1"/>
          <p:nvPr/>
        </p:nvSpPr>
        <p:spPr>
          <a:xfrm>
            <a:off x="1066800" y="2460861"/>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α1</a:t>
            </a:r>
            <a:endParaRPr lang="en-US" sz="1300" dirty="0"/>
          </a:p>
        </p:txBody>
      </p:sp>
      <p:sp>
        <p:nvSpPr>
          <p:cNvPr id="7" name="Cartão"/>
          <p:cNvSpPr/>
          <p:nvPr/>
        </p:nvSpPr>
        <p:spPr>
          <a:xfrm>
            <a:off x="1524000" y="2532162"/>
            <a:ext cx="1778000" cy="114300"/>
          </a:xfrm>
          <a:prstGeom prst="roundRect">
            <a:avLst>
              <a:gd name="adj" fmla="val 50000"/>
            </a:avLst>
          </a:prstGeom>
          <a:solidFill>
            <a:srgbClr val="33475E"/>
          </a:solidFill>
          <a:ln/>
        </p:spPr>
      </p:sp>
      <p:sp>
        <p:nvSpPr>
          <p:cNvPr id="8" name="Cartão"/>
          <p:cNvSpPr/>
          <p:nvPr/>
        </p:nvSpPr>
        <p:spPr>
          <a:xfrm>
            <a:off x="1524000" y="2532162"/>
            <a:ext cx="889000" cy="114300"/>
          </a:xfrm>
          <a:prstGeom prst="roundRect">
            <a:avLst>
              <a:gd name="adj" fmla="val 50000"/>
            </a:avLst>
          </a:prstGeom>
          <a:solidFill>
            <a:srgbClr val="E49A5C"/>
          </a:solidFill>
          <a:ln/>
        </p:spPr>
      </p:sp>
      <p:sp>
        <p:nvSpPr>
          <p:cNvPr id="9" name="β1"/>
          <p:cNvSpPr txBox="1"/>
          <p:nvPr/>
        </p:nvSpPr>
        <p:spPr>
          <a:xfrm>
            <a:off x="1066800" y="2818941"/>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β1</a:t>
            </a:r>
            <a:endParaRPr lang="en-US" sz="1300" dirty="0"/>
          </a:p>
        </p:txBody>
      </p:sp>
      <p:sp>
        <p:nvSpPr>
          <p:cNvPr id="10" name="Cartão"/>
          <p:cNvSpPr/>
          <p:nvPr/>
        </p:nvSpPr>
        <p:spPr>
          <a:xfrm>
            <a:off x="1524000" y="2890242"/>
            <a:ext cx="1778000" cy="114300"/>
          </a:xfrm>
          <a:prstGeom prst="roundRect">
            <a:avLst>
              <a:gd name="adj" fmla="val 50000"/>
            </a:avLst>
          </a:prstGeom>
          <a:solidFill>
            <a:srgbClr val="33475E"/>
          </a:solidFill>
          <a:ln/>
        </p:spPr>
      </p:sp>
      <p:sp>
        <p:nvSpPr>
          <p:cNvPr id="11" name="Cartão"/>
          <p:cNvSpPr/>
          <p:nvPr/>
        </p:nvSpPr>
        <p:spPr>
          <a:xfrm>
            <a:off x="1524000" y="2890242"/>
            <a:ext cx="889000" cy="114300"/>
          </a:xfrm>
          <a:prstGeom prst="roundRect">
            <a:avLst>
              <a:gd name="adj" fmla="val 50000"/>
            </a:avLst>
          </a:prstGeom>
          <a:solidFill>
            <a:srgbClr val="E49A5C"/>
          </a:solidFill>
          <a:ln/>
        </p:spPr>
      </p:sp>
      <p:sp>
        <p:nvSpPr>
          <p:cNvPr id="12" name="β2"/>
          <p:cNvSpPr txBox="1"/>
          <p:nvPr/>
        </p:nvSpPr>
        <p:spPr>
          <a:xfrm>
            <a:off x="1066800" y="3177022"/>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β2</a:t>
            </a:r>
            <a:endParaRPr lang="en-US" sz="1300" dirty="0"/>
          </a:p>
        </p:txBody>
      </p:sp>
      <p:sp>
        <p:nvSpPr>
          <p:cNvPr id="13" name="Cartão"/>
          <p:cNvSpPr/>
          <p:nvPr/>
        </p:nvSpPr>
        <p:spPr>
          <a:xfrm>
            <a:off x="1524000" y="3248323"/>
            <a:ext cx="1778000" cy="114300"/>
          </a:xfrm>
          <a:prstGeom prst="roundRect">
            <a:avLst>
              <a:gd name="adj" fmla="val 50000"/>
            </a:avLst>
          </a:prstGeom>
          <a:solidFill>
            <a:srgbClr val="33475E"/>
          </a:solidFill>
          <a:ln/>
        </p:spPr>
      </p:sp>
      <p:sp>
        <p:nvSpPr>
          <p:cNvPr id="14" name="Cartão"/>
          <p:cNvSpPr/>
          <p:nvPr/>
        </p:nvSpPr>
        <p:spPr>
          <a:xfrm>
            <a:off x="1524000" y="3248323"/>
            <a:ext cx="444500" cy="114300"/>
          </a:xfrm>
          <a:prstGeom prst="roundRect">
            <a:avLst>
              <a:gd name="adj" fmla="val 50000"/>
            </a:avLst>
          </a:prstGeom>
          <a:solidFill>
            <a:srgbClr val="E49A5C"/>
          </a:solidFill>
          <a:ln/>
        </p:spPr>
      </p:sp>
      <p:sp>
        <p:nvSpPr>
          <p:cNvPr id="15" name="D1"/>
          <p:cNvSpPr txBox="1"/>
          <p:nvPr/>
        </p:nvSpPr>
        <p:spPr>
          <a:xfrm>
            <a:off x="1066800" y="3535102"/>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Calibri" pitchFamily="34" charset="0"/>
                <a:ea typeface="Calibri" pitchFamily="34" charset="-122"/>
                <a:cs typeface="Calibri" pitchFamily="34" charset="-120"/>
              </a:rPr>
              <a:t>D1</a:t>
            </a:r>
            <a:endParaRPr lang="en-US" sz="1300" dirty="0"/>
          </a:p>
        </p:txBody>
      </p:sp>
      <p:sp>
        <p:nvSpPr>
          <p:cNvPr id="16" name="Cartão"/>
          <p:cNvSpPr/>
          <p:nvPr/>
        </p:nvSpPr>
        <p:spPr>
          <a:xfrm>
            <a:off x="1524000" y="3606403"/>
            <a:ext cx="1778000" cy="114300"/>
          </a:xfrm>
          <a:prstGeom prst="roundRect">
            <a:avLst>
              <a:gd name="adj" fmla="val 50000"/>
            </a:avLst>
          </a:prstGeom>
          <a:solidFill>
            <a:srgbClr val="33475E"/>
          </a:solidFill>
          <a:ln/>
        </p:spPr>
      </p:sp>
      <p:sp>
        <p:nvSpPr>
          <p:cNvPr id="17" name="EFEITO HEMODINÂMICO"/>
          <p:cNvSpPr txBox="1"/>
          <p:nvPr/>
        </p:nvSpPr>
        <p:spPr>
          <a:xfrm>
            <a:off x="1066800" y="3894180"/>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EFEITO HEMODINÂMICO</a:t>
            </a:r>
            <a:endParaRPr lang="en-US" sz="1200" dirty="0"/>
          </a:p>
        </p:txBody>
      </p:sp>
      <p:sp>
        <p:nvSpPr>
          <p:cNvPr id="18" name="PAM ↑"/>
          <p:cNvSpPr txBox="1"/>
          <p:nvPr/>
        </p:nvSpPr>
        <p:spPr>
          <a:xfrm>
            <a:off x="1066800" y="423250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PAM</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19" name="FC ↑"/>
          <p:cNvSpPr txBox="1"/>
          <p:nvPr/>
        </p:nvSpPr>
        <p:spPr>
          <a:xfrm>
            <a:off x="2413000" y="423250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FC</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20" name="DC ↑"/>
          <p:cNvSpPr txBox="1"/>
          <p:nvPr/>
        </p:nvSpPr>
        <p:spPr>
          <a:xfrm>
            <a:off x="1066800" y="4557547"/>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DC</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21" name="RVS ↔/↑"/>
          <p:cNvSpPr txBox="1"/>
          <p:nvPr/>
        </p:nvSpPr>
        <p:spPr>
          <a:xfrm>
            <a:off x="2413000" y="4557547"/>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Calibri" pitchFamily="34" charset="0"/>
                <a:ea typeface="Calibri" pitchFamily="34" charset="-122"/>
                <a:cs typeface="Calibri" pitchFamily="34" charset="-120"/>
              </a:rPr>
              <a:t>RVS</a:t>
            </a:r>
            <a:pPr algn="l" indent="0" marL="0">
              <a:lnSpc>
                <a:spcPts val="1960"/>
              </a:lnSpc>
              <a:buNone/>
            </a:pPr>
            <a:r>
              <a:rPr lang="pt-BR" altLang="en-US" sz="1400" dirty="0">
                <a:solidFill>
                  <a:srgbClr val="F5F3EE"/>
                </a:solidFill>
                <a:latin typeface="Calibri" pitchFamily="34" charset="0"/>
                <a:ea typeface="Calibri" pitchFamily="34" charset="-122"/>
                <a:cs typeface="Calibri" pitchFamily="34" charset="-120"/>
              </a:rPr>
              <a:t> ↔/↑</a:t>
            </a:r>
            <a:endParaRPr lang="en-US" sz="1400" dirty="0"/>
          </a:p>
        </p:txBody>
      </p:sp>
      <p:sp>
        <p:nvSpPr>
          <p:cNvPr id="22" name="Cartão"/>
          <p:cNvSpPr/>
          <p:nvPr/>
        </p:nvSpPr>
        <p:spPr>
          <a:xfrm>
            <a:off x="4064000" y="1879501"/>
            <a:ext cx="3556000" cy="3194844"/>
          </a:xfrm>
          <a:prstGeom prst="roundRect">
            <a:avLst>
              <a:gd name="adj" fmla="val 2385"/>
            </a:avLst>
          </a:prstGeom>
          <a:solidFill>
            <a:srgbClr val="FFFDF8"/>
          </a:solidFill>
          <a:ln w="6350">
            <a:solidFill>
              <a:srgbClr val="E2DDD2"/>
            </a:solidFill>
            <a:prstDash val="solid"/>
          </a:ln>
        </p:spPr>
      </p:sp>
      <p:sp>
        <p:nvSpPr>
          <p:cNvPr id="23" name="Dose e uso"/>
          <p:cNvSpPr txBox="1"/>
          <p:nvPr/>
        </p:nvSpPr>
        <p:spPr>
          <a:xfrm>
            <a:off x="4324350" y="2135857"/>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Dose e uso</a:t>
            </a:r>
            <a:endParaRPr lang="en-US" sz="1700" dirty="0"/>
          </a:p>
        </p:txBody>
      </p:sp>
      <p:sp>
        <p:nvSpPr>
          <p:cNvPr id="24" name="Bolus de 5–10 mg EV, repetível. Agonista"/>
          <p:cNvSpPr txBox="1"/>
          <p:nvPr/>
        </p:nvSpPr>
        <p:spPr>
          <a:xfrm>
            <a:off x="4324350" y="2484480"/>
            <a:ext cx="3054350" cy="1739801"/>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Bolus de 5–10 mg EV, repetível. Agonista direto α e β e indireto, liberando noradrenalina das terminações. Sem catecol, resiste à MAO e à COMT e dura mais que as catecolaminas. Boa opção na hipotensão com bradicardia após indução ou raqui.</a:t>
            </a:r>
            <a:endParaRPr lang="en-US" sz="1350" dirty="0"/>
          </a:p>
        </p:txBody>
      </p:sp>
      <p:sp>
        <p:nvSpPr>
          <p:cNvPr id="25" name="Cartão"/>
          <p:cNvSpPr/>
          <p:nvPr/>
        </p:nvSpPr>
        <p:spPr>
          <a:xfrm>
            <a:off x="7823200" y="1879501"/>
            <a:ext cx="3556000" cy="3194844"/>
          </a:xfrm>
          <a:prstGeom prst="roundRect">
            <a:avLst>
              <a:gd name="adj" fmla="val 2385"/>
            </a:avLst>
          </a:prstGeom>
          <a:solidFill>
            <a:srgbClr val="FFFDF8"/>
          </a:solidFill>
          <a:ln w="6350">
            <a:solidFill>
              <a:srgbClr val="E2DDD2"/>
            </a:solidFill>
            <a:prstDash val="solid"/>
          </a:ln>
        </p:spPr>
      </p:sp>
      <p:sp>
        <p:nvSpPr>
          <p:cNvPr id="26" name="Evidência e cuidados"/>
          <p:cNvSpPr txBox="1"/>
          <p:nvPr/>
        </p:nvSpPr>
        <p:spPr>
          <a:xfrm>
            <a:off x="8083550" y="2135857"/>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Evidência e cuidados</a:t>
            </a:r>
            <a:endParaRPr lang="en-US" sz="1700" dirty="0"/>
          </a:p>
        </p:txBody>
      </p:sp>
      <p:sp>
        <p:nvSpPr>
          <p:cNvPr id="27" name="Taquifilaxia por depleção dos estoques d"/>
          <p:cNvSpPr txBox="1"/>
          <p:nvPr/>
        </p:nvSpPr>
        <p:spPr>
          <a:xfrm>
            <a:off x="8083550" y="2484480"/>
            <a:ext cx="3054350" cy="1491258"/>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Taquifilaxia por depleção dos estoques de noradrenalina: doses repetidas perdem efeito. Interação grave com IMAO. Na cesárea, atravessa a placenta e se associa a mais acidose fetal que a fenilefrina; fica como resgate.</a:t>
            </a:r>
            <a:endParaRPr lang="en-US" sz="1350" dirty="0"/>
          </a:p>
        </p:txBody>
      </p:sp>
      <p:sp>
        <p:nvSpPr>
          <p:cNvPr id="28" name="Kinsella, Anaesthesia 2018 · Park &amp; Choi"/>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Kinsella, Anaesthesia 2018 · Park &amp; Choi, Anesth Pain Med 2024 · Miller’s Anesthesia, 10ª ed. · [cap./pág.] · barras: escala qualitativa</a:t>
            </a:r>
            <a:endParaRPr lang="en-US" sz="1200" dirty="0"/>
          </a:p>
        </p:txBody>
      </p:sp>
      <p:pic>
        <p:nvPicPr>
          <p:cNvPr id="29"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E"/>
        </a:solidFill>
      </p:bgPr>
    </p:bg>
    <p:spTree>
      <p:nvGrpSpPr>
        <p:cNvPr id="1" name=""/>
        <p:cNvGrpSpPr/>
        <p:nvPr/>
      </p:nvGrpSpPr>
      <p:grpSpPr>
        <a:xfrm>
          <a:off x="0" y="0"/>
          <a:ext cx="0" cy="0"/>
          <a:chOff x="0" y="0"/>
          <a:chExt cx="0" cy="0"/>
        </a:xfrm>
      </p:grpSpPr>
      <p:sp>
        <p:nvSpPr>
          <p:cNvPr id="2" name="RESERVA · VASOPRESSINA"/>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RESERVA · VASOPRESSINA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Vasopressina</a:t>
            </a:r>
            <a:endParaRPr lang="en-US" sz="3200" dirty="0"/>
          </a:p>
        </p:txBody>
      </p:sp>
      <p:sp>
        <p:nvSpPr>
          <p:cNvPr id="4" name="Cartão"/>
          <p:cNvSpPr/>
          <p:nvPr/>
        </p:nvSpPr>
        <p:spPr>
          <a:xfrm>
            <a:off x="812800" y="1879501"/>
            <a:ext cx="3386634" cy="2621161"/>
          </a:xfrm>
          <a:prstGeom prst="roundRect">
            <a:avLst>
              <a:gd name="adj" fmla="val 2907"/>
            </a:avLst>
          </a:prstGeom>
          <a:solidFill>
            <a:srgbClr val="FFFDF8"/>
          </a:solidFill>
          <a:ln w="6350">
            <a:solidFill>
              <a:srgbClr val="E2DDD2"/>
            </a:solidFill>
            <a:prstDash val="solid"/>
          </a:ln>
        </p:spPr>
      </p:sp>
      <p:sp>
        <p:nvSpPr>
          <p:cNvPr id="5" name="Mecanismo"/>
          <p:cNvSpPr txBox="1"/>
          <p:nvPr/>
        </p:nvSpPr>
        <p:spPr>
          <a:xfrm>
            <a:off x="1073150" y="2135857"/>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Mecanismo</a:t>
            </a:r>
            <a:endParaRPr lang="en-US" sz="1700" dirty="0"/>
          </a:p>
        </p:txBody>
      </p:sp>
      <p:sp>
        <p:nvSpPr>
          <p:cNvPr id="6" name="Hormônio não adrenérgico: receptor V1 no"/>
          <p:cNvSpPr txBox="1"/>
          <p:nvPr/>
        </p:nvSpPr>
        <p:spPr>
          <a:xfrm>
            <a:off x="1073150" y="2484480"/>
            <a:ext cx="2884984" cy="1491258"/>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Hormônio não adrenérgico: receptor V1 no músculo liso vascular. Mantém efeito em acidose e com adrenoceptores dessensibilizados. No choque séptico há deficiência relativa de vasopressina endógena.</a:t>
            </a:r>
            <a:endParaRPr lang="en-US" sz="1350" dirty="0"/>
          </a:p>
        </p:txBody>
      </p:sp>
      <p:sp>
        <p:nvSpPr>
          <p:cNvPr id="7" name="Cartão"/>
          <p:cNvSpPr/>
          <p:nvPr/>
        </p:nvSpPr>
        <p:spPr>
          <a:xfrm>
            <a:off x="4402634" y="1879501"/>
            <a:ext cx="3386634" cy="2621161"/>
          </a:xfrm>
          <a:prstGeom prst="roundRect">
            <a:avLst>
              <a:gd name="adj" fmla="val 2907"/>
            </a:avLst>
          </a:prstGeom>
          <a:solidFill>
            <a:srgbClr val="FFFDF8"/>
          </a:solidFill>
          <a:ln w="6350">
            <a:solidFill>
              <a:srgbClr val="E2DDD2"/>
            </a:solidFill>
            <a:prstDash val="solid"/>
          </a:ln>
        </p:spPr>
      </p:sp>
      <p:sp>
        <p:nvSpPr>
          <p:cNvPr id="8" name="Uso"/>
          <p:cNvSpPr txBox="1"/>
          <p:nvPr/>
        </p:nvSpPr>
        <p:spPr>
          <a:xfrm>
            <a:off x="4662984" y="2135857"/>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Uso</a:t>
            </a:r>
            <a:endParaRPr lang="en-US" sz="1700" dirty="0"/>
          </a:p>
        </p:txBody>
      </p:sp>
      <p:sp>
        <p:nvSpPr>
          <p:cNvPr id="9" name="Dose fixa de 0,03 U/min (até 0,04 U/min)"/>
          <p:cNvSpPr txBox="1"/>
          <p:nvPr/>
        </p:nvSpPr>
        <p:spPr>
          <a:xfrm>
            <a:off x="4662984" y="2484480"/>
            <a:ext cx="2884984" cy="1739801"/>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Dose fixa de 0,03 U/min (até 0,04 U/min), sem titulação, ao contrário da NA. SSC 2026: associar quando a NA está em escalada (condicional, certeza moderada); na enquete dos painelistas, a mediana de NA para associar foi 0,3 mcg/kg/min.</a:t>
            </a:r>
            <a:endParaRPr lang="en-US" sz="1350" dirty="0"/>
          </a:p>
        </p:txBody>
      </p:sp>
      <p:sp>
        <p:nvSpPr>
          <p:cNvPr id="10" name="Cartão"/>
          <p:cNvSpPr/>
          <p:nvPr/>
        </p:nvSpPr>
        <p:spPr>
          <a:xfrm>
            <a:off x="7992467" y="1879501"/>
            <a:ext cx="3386634" cy="2621161"/>
          </a:xfrm>
          <a:prstGeom prst="roundRect">
            <a:avLst>
              <a:gd name="adj" fmla="val 2907"/>
            </a:avLst>
          </a:prstGeom>
          <a:solidFill>
            <a:srgbClr val="FFFDF8"/>
          </a:solidFill>
          <a:ln w="6350">
            <a:solidFill>
              <a:srgbClr val="E2DDD2"/>
            </a:solidFill>
            <a:prstDash val="solid"/>
          </a:ln>
        </p:spPr>
      </p:sp>
      <p:sp>
        <p:nvSpPr>
          <p:cNvPr id="11" name="Evidência"/>
          <p:cNvSpPr txBox="1"/>
          <p:nvPr/>
        </p:nvSpPr>
        <p:spPr>
          <a:xfrm>
            <a:off x="8252817" y="2135857"/>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Evidência</a:t>
            </a:r>
            <a:endParaRPr lang="en-US" sz="1700" dirty="0"/>
          </a:p>
        </p:txBody>
      </p:sp>
      <p:sp>
        <p:nvSpPr>
          <p:cNvPr id="12" name="VASST: sem redução de mortalidade em 28 "/>
          <p:cNvSpPr txBox="1"/>
          <p:nvPr/>
        </p:nvSpPr>
        <p:spPr>
          <a:xfrm>
            <a:off x="8252817" y="2484480"/>
            <a:ext cx="2884984" cy="1491258"/>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VASST: sem redução de mortalidade em 28 dias (35,4% vs. 39,3%). VASSPR (JAMA 2026; n = 3.959): políticas por hospital de iniciar com NA 0,1 vs. 0,4 mcg/kg/min não mudaram a mortalidade (31,8% vs. 33,0%).</a:t>
            </a:r>
            <a:endParaRPr lang="en-US" sz="1350" dirty="0"/>
          </a:p>
        </p:txBody>
      </p:sp>
      <p:sp>
        <p:nvSpPr>
          <p:cNvPr id="13" name="Russell, N Engl J Med 2008 (VASST) · Pel"/>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Russell, N Engl J Med 2008 (VASST) · Peltan, JAMA 2026 (VASSPR) · SSC 2026</a:t>
            </a:r>
            <a:endParaRPr lang="en-US" sz="1200" dirty="0"/>
          </a:p>
        </p:txBody>
      </p:sp>
      <p:pic>
        <p:nvPicPr>
          <p:cNvPr id="14"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E"/>
        </a:solidFill>
      </p:bgPr>
    </p:bg>
    <p:spTree>
      <p:nvGrpSpPr>
        <p:cNvPr id="1" name=""/>
        <p:cNvGrpSpPr/>
        <p:nvPr/>
      </p:nvGrpSpPr>
      <p:grpSpPr>
        <a:xfrm>
          <a:off x="0" y="0"/>
          <a:ext cx="0" cy="0"/>
          <a:chOff x="0" y="0"/>
          <a:chExt cx="0" cy="0"/>
        </a:xfrm>
      </p:grpSpPr>
      <p:sp>
        <p:nvSpPr>
          <p:cNvPr id="2" name="RESERVA · CHOQUE REFRATÁRIO"/>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RESERVA · CHOQUE REFRATÁRIO</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Choque refratário: adjuvantes</a:t>
            </a:r>
            <a:endParaRPr lang="en-US" sz="3200" dirty="0"/>
          </a:p>
        </p:txBody>
      </p:sp>
      <p:graphicFrame>
        <p:nvGraphicFramePr>
          <p:cNvPr id="25" name="Tabela"/>
          <p:cNvGraphicFramePr>
            <a:graphicFrameLocks noGrp="1"/>
          </p:cNvGraphicFramePr>
          <p:nvPr>
            <p:extLst>
              <p:ext uri="{D42A27DB-BD31-4B8C-83A1-F6EECF244321}">
                <p14:modId xmlns:p14="http://schemas.microsoft.com/office/powerpoint/2010/main" val="1579011935"/>
              </p:ext>
            </p:extLst>
          </p:nvPr>
        </p:nvGraphicFramePr>
        <p:xfrm>
          <a:off x="812800" y="1879501"/>
          <a:ext cx="10566400" cy="914400"/>
        </p:xfrm>
        <a:graphic>
          <a:graphicData uri="http://schemas.openxmlformats.org/drawingml/2006/table">
            <a:tbl>
              <a:tblPr/>
              <a:tblGrid>
                <a:gridCol w="1901924"/>
                <a:gridCol w="2747169"/>
                <a:gridCol w="3592513"/>
                <a:gridCol w="2324795"/>
              </a:tblGrid>
              <a:tr h="391120">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Agente</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Mecanismo</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Evidência-chave</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SSC 2026</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r>
              <a:tr h="820936">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Hidrocortisona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Restaura a resposta vascular às catecolaminas</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ADRENAL: choque resolve mais rápido, sem ↓ mortalidade. APROCCHSS: ↓ mortalidade com hidrocortisona + fludrocortisona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Sugere usar (condicional, certeza baixa)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610791">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Angiotensina II</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Agonista AT1</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ATHOS-3: resposta da PAM em 3 h 69,9% vs. 23,4%; mortalidade sem diferença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NA preferida como 1ª linha (condicional)</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Azul de metileno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Inibe a via NO–GMPc</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ECRs pequenos, sem desfecho clínico robusto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Evidência insuficiente</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610791">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Milrinona, levosimendana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Inodilatadores não adrenérgicos (PDE3; sensibilização ao Ca</a:t>
                      </a:r>
                      <a:pPr algn="l" indent="0" marL="0">
                        <a:lnSpc>
                          <a:spcPts val="1680"/>
                        </a:lnSpc>
                        <a:buNone/>
                      </a:pPr>
                      <a:r>
                        <a:rPr lang="pt-BR" altLang="en-US" sz="1200" baseline="30000" dirty="0">
                          <a:solidFill>
                            <a:srgbClr val="1B2A3A"/>
                          </a:solidFill>
                          <a:latin typeface="Calibri" pitchFamily="34" charset="0"/>
                          <a:ea typeface="Calibri" pitchFamily="34" charset="-122"/>
                          <a:cs typeface="Calibri" pitchFamily="34" charset="-120"/>
                        </a:rPr>
                        <a:t>2+</a:t>
                      </a:r>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DOREMI: sem diferença significativa vs. dobutamina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Contra a levosimendana (condicional)</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bl>
          </a:graphicData>
        </a:graphic>
      </p:graphicFrame>
      <p:sp>
        <p:nvSpPr>
          <p:cNvPr id="5" name="Venkatesh, N Engl J Med 2018 (ADRENAL) ·"/>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Venkatesh, N Engl J Med 2018 (ADRENAL) · Annane, N Engl J Med 2018 (APROCCHSS) · Khanna, N Engl J Med 2017 (ATHOS-3) · SSC 2026</a:t>
            </a:r>
            <a:endParaRPr lang="en-US" sz="1200" dirty="0"/>
          </a:p>
        </p:txBody>
      </p:sp>
      <p:pic>
        <p:nvPicPr>
          <p:cNvPr id="6"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E"/>
        </a:solidFill>
      </p:bgPr>
    </p:bg>
    <p:spTree>
      <p:nvGrpSpPr>
        <p:cNvPr id="1" name=""/>
        <p:cNvGrpSpPr/>
        <p:nvPr/>
      </p:nvGrpSpPr>
      <p:grpSpPr>
        <a:xfrm>
          <a:off x="0" y="0"/>
          <a:ext cx="0" cy="0"/>
          <a:chOff x="0" y="0"/>
          <a:chExt cx="0" cy="0"/>
        </a:xfrm>
      </p:grpSpPr>
      <p:sp>
        <p:nvSpPr>
          <p:cNvPr id="2" name="RESERVA · SEQUÊNCIA SSC 2026"/>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RESERVA · SEQUÊNCIA SSC 2026</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Sequência de vasopressores na SSC 2026</a:t>
            </a:r>
            <a:endParaRPr lang="en-US" sz="3200" dirty="0"/>
          </a:p>
        </p:txBody>
      </p:sp>
      <p:sp>
        <p:nvSpPr>
          <p:cNvPr id="4" name="Cartão"/>
          <p:cNvSpPr/>
          <p:nvPr/>
        </p:nvSpPr>
        <p:spPr>
          <a:xfrm>
            <a:off x="812800" y="1879501"/>
            <a:ext cx="3081834" cy="1457722"/>
          </a:xfrm>
          <a:prstGeom prst="roundRect">
            <a:avLst>
              <a:gd name="adj" fmla="val 5227"/>
            </a:avLst>
          </a:prstGeom>
          <a:solidFill>
            <a:srgbClr val="1B2A3A"/>
          </a:solidFill>
          <a:ln/>
        </p:spPr>
      </p:sp>
      <p:sp>
        <p:nvSpPr>
          <p:cNvPr id="5" name="PASSO 1"/>
          <p:cNvSpPr txBox="1"/>
          <p:nvPr/>
        </p:nvSpPr>
        <p:spPr>
          <a:xfrm>
            <a:off x="1016000" y="2070737"/>
            <a:ext cx="2694484"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PASSO 1</a:t>
            </a:r>
            <a:endParaRPr lang="en-US" sz="1200" dirty="0"/>
          </a:p>
        </p:txBody>
      </p:sp>
      <p:sp>
        <p:nvSpPr>
          <p:cNvPr id="6" name="Noradrenalina"/>
          <p:cNvSpPr txBox="1"/>
          <p:nvPr/>
        </p:nvSpPr>
        <p:spPr>
          <a:xfrm>
            <a:off x="1016000" y="2342592"/>
            <a:ext cx="2694484" cy="274241"/>
          </a:xfrm>
          <a:prstGeom prst="rect">
            <a:avLst/>
          </a:prstGeom>
          <a:noFill/>
          <a:ln/>
        </p:spPr>
        <p:txBody>
          <a:bodyPr wrap="none" lIns="0" tIns="0" rIns="0" bIns="0" rtlCol="0" anchor="t"/>
          <a:lstStyle/>
          <a:p>
            <a:pPr algn="l" indent="0" marL="0">
              <a:lnSpc>
                <a:spcPts val="2160"/>
              </a:lnSpc>
              <a:buNone/>
            </a:pPr>
            <a:r>
              <a:rPr lang="pt-BR" altLang="en-US" sz="1800" b="1" dirty="0">
                <a:solidFill>
                  <a:srgbClr val="F5F3EE"/>
                </a:solidFill>
                <a:latin typeface="Calibri" pitchFamily="34" charset="0"/>
                <a:ea typeface="Calibri" pitchFamily="34" charset="-122"/>
                <a:cs typeface="Calibri" pitchFamily="34" charset="-120"/>
              </a:rPr>
              <a:t>Noradrenalina</a:t>
            </a:r>
            <a:endParaRPr lang="en-US" sz="1800" dirty="0"/>
          </a:p>
        </p:txBody>
      </p:sp>
      <p:sp>
        <p:nvSpPr>
          <p:cNvPr id="7" name="1ª linha (forte); iniciar cedo, até por "/>
          <p:cNvSpPr txBox="1"/>
          <p:nvPr/>
        </p:nvSpPr>
        <p:spPr>
          <a:xfrm>
            <a:off x="1016000" y="2658901"/>
            <a:ext cx="2694484"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C9CFD6"/>
                </a:solidFill>
                <a:latin typeface="Calibri" pitchFamily="34" charset="0"/>
                <a:ea typeface="Calibri" pitchFamily="34" charset="-122"/>
                <a:cs typeface="Calibri" pitchFamily="34" charset="-120"/>
              </a:rPr>
              <a:t>1ª linha (forte); iniciar cedo, até por veia periférica.</a:t>
            </a:r>
            <a:endParaRPr lang="en-US" sz="1300" dirty="0"/>
          </a:p>
        </p:txBody>
      </p:sp>
      <p:sp>
        <p:nvSpPr>
          <p:cNvPr id="8" name="Seta"/>
          <p:cNvSpPr/>
          <p:nvPr/>
        </p:nvSpPr>
        <p:spPr>
          <a:xfrm>
            <a:off x="4021634" y="2494062"/>
            <a:ext cx="406400" cy="228600"/>
          </a:xfrm>
          <a:prstGeom prst="rightArrow">
            <a:avLst/>
          </a:prstGeom>
          <a:solidFill>
            <a:srgbClr val="B9581A"/>
          </a:solidFill>
          <a:ln/>
        </p:spPr>
      </p:sp>
      <p:sp>
        <p:nvSpPr>
          <p:cNvPr id="9" name="Cartão"/>
          <p:cNvSpPr/>
          <p:nvPr/>
        </p:nvSpPr>
        <p:spPr>
          <a:xfrm>
            <a:off x="4555034" y="1879501"/>
            <a:ext cx="3081834" cy="1457722"/>
          </a:xfrm>
          <a:prstGeom prst="roundRect">
            <a:avLst>
              <a:gd name="adj" fmla="val 5227"/>
            </a:avLst>
          </a:prstGeom>
          <a:solidFill>
            <a:srgbClr val="1B2A3A"/>
          </a:solidFill>
          <a:ln/>
        </p:spPr>
      </p:sp>
      <p:sp>
        <p:nvSpPr>
          <p:cNvPr id="10" name="PASSO 2"/>
          <p:cNvSpPr txBox="1"/>
          <p:nvPr/>
        </p:nvSpPr>
        <p:spPr>
          <a:xfrm>
            <a:off x="4758234" y="2070737"/>
            <a:ext cx="2694484"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PASSO 2</a:t>
            </a:r>
            <a:endParaRPr lang="en-US" sz="1200" dirty="0"/>
          </a:p>
        </p:txBody>
      </p:sp>
      <p:sp>
        <p:nvSpPr>
          <p:cNvPr id="11" name="+ Vasopressina"/>
          <p:cNvSpPr txBox="1"/>
          <p:nvPr/>
        </p:nvSpPr>
        <p:spPr>
          <a:xfrm>
            <a:off x="4758234" y="2342592"/>
            <a:ext cx="2694484" cy="274241"/>
          </a:xfrm>
          <a:prstGeom prst="rect">
            <a:avLst/>
          </a:prstGeom>
          <a:noFill/>
          <a:ln/>
        </p:spPr>
        <p:txBody>
          <a:bodyPr wrap="none" lIns="0" tIns="0" rIns="0" bIns="0" rtlCol="0" anchor="t"/>
          <a:lstStyle/>
          <a:p>
            <a:pPr algn="l" indent="0" marL="0">
              <a:lnSpc>
                <a:spcPts val="2160"/>
              </a:lnSpc>
              <a:buNone/>
            </a:pPr>
            <a:r>
              <a:rPr lang="pt-BR" altLang="en-US" sz="1800" b="1" dirty="0">
                <a:solidFill>
                  <a:srgbClr val="F5F3EE"/>
                </a:solidFill>
                <a:latin typeface="Calibri" pitchFamily="34" charset="0"/>
                <a:ea typeface="Calibri" pitchFamily="34" charset="-122"/>
                <a:cs typeface="Calibri" pitchFamily="34" charset="-120"/>
              </a:rPr>
              <a:t>+ Vasopressina</a:t>
            </a:r>
            <a:endParaRPr lang="en-US" sz="1800" dirty="0"/>
          </a:p>
        </p:txBody>
      </p:sp>
      <p:sp>
        <p:nvSpPr>
          <p:cNvPr id="12" name="NA em escalada (condicional, certeza mod"/>
          <p:cNvSpPr txBox="1"/>
          <p:nvPr/>
        </p:nvSpPr>
        <p:spPr>
          <a:xfrm>
            <a:off x="4758234" y="2658901"/>
            <a:ext cx="2694484"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C9CFD6"/>
                </a:solidFill>
                <a:latin typeface="Calibri" pitchFamily="34" charset="0"/>
                <a:ea typeface="Calibri" pitchFamily="34" charset="-122"/>
                <a:cs typeface="Calibri" pitchFamily="34" charset="-120"/>
              </a:rPr>
              <a:t>NA em escalada (condicional, certeza moderada).</a:t>
            </a:r>
            <a:endParaRPr lang="en-US" sz="1300" dirty="0"/>
          </a:p>
        </p:txBody>
      </p:sp>
      <p:sp>
        <p:nvSpPr>
          <p:cNvPr id="13" name="Seta"/>
          <p:cNvSpPr/>
          <p:nvPr/>
        </p:nvSpPr>
        <p:spPr>
          <a:xfrm>
            <a:off x="7763867" y="2494062"/>
            <a:ext cx="406400" cy="228600"/>
          </a:xfrm>
          <a:prstGeom prst="rightArrow">
            <a:avLst/>
          </a:prstGeom>
          <a:solidFill>
            <a:srgbClr val="B9581A"/>
          </a:solidFill>
          <a:ln/>
        </p:spPr>
      </p:sp>
      <p:sp>
        <p:nvSpPr>
          <p:cNvPr id="14" name="Cartão"/>
          <p:cNvSpPr/>
          <p:nvPr/>
        </p:nvSpPr>
        <p:spPr>
          <a:xfrm>
            <a:off x="8297267" y="1879501"/>
            <a:ext cx="3081834" cy="1457722"/>
          </a:xfrm>
          <a:prstGeom prst="roundRect">
            <a:avLst>
              <a:gd name="adj" fmla="val 5227"/>
            </a:avLst>
          </a:prstGeom>
          <a:solidFill>
            <a:srgbClr val="1B2A3A"/>
          </a:solidFill>
          <a:ln/>
        </p:spPr>
      </p:sp>
      <p:sp>
        <p:nvSpPr>
          <p:cNvPr id="15" name="PASSO 3"/>
          <p:cNvSpPr txBox="1"/>
          <p:nvPr/>
        </p:nvSpPr>
        <p:spPr>
          <a:xfrm>
            <a:off x="8500467" y="2070737"/>
            <a:ext cx="2694484"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Calibri" pitchFamily="34" charset="0"/>
                <a:ea typeface="Calibri" pitchFamily="34" charset="-122"/>
                <a:cs typeface="Calibri" pitchFamily="34" charset="-120"/>
              </a:rPr>
              <a:t>PASSO 3</a:t>
            </a:r>
            <a:endParaRPr lang="en-US" sz="1200" dirty="0"/>
          </a:p>
        </p:txBody>
      </p:sp>
      <p:sp>
        <p:nvSpPr>
          <p:cNvPr id="16" name="+ Adrenalina"/>
          <p:cNvSpPr txBox="1"/>
          <p:nvPr/>
        </p:nvSpPr>
        <p:spPr>
          <a:xfrm>
            <a:off x="8500467" y="2342592"/>
            <a:ext cx="2694484" cy="274241"/>
          </a:xfrm>
          <a:prstGeom prst="rect">
            <a:avLst/>
          </a:prstGeom>
          <a:noFill/>
          <a:ln/>
        </p:spPr>
        <p:txBody>
          <a:bodyPr wrap="none" lIns="0" tIns="0" rIns="0" bIns="0" rtlCol="0" anchor="t"/>
          <a:lstStyle/>
          <a:p>
            <a:pPr algn="l" indent="0" marL="0">
              <a:lnSpc>
                <a:spcPts val="2160"/>
              </a:lnSpc>
              <a:buNone/>
            </a:pPr>
            <a:r>
              <a:rPr lang="pt-BR" altLang="en-US" sz="1800" b="1" dirty="0">
                <a:solidFill>
                  <a:srgbClr val="F5F3EE"/>
                </a:solidFill>
                <a:latin typeface="Calibri" pitchFamily="34" charset="0"/>
                <a:ea typeface="Calibri" pitchFamily="34" charset="-122"/>
                <a:cs typeface="Calibri" pitchFamily="34" charset="-120"/>
              </a:rPr>
              <a:t>+ Adrenalina</a:t>
            </a:r>
            <a:endParaRPr lang="en-US" sz="1800" dirty="0"/>
          </a:p>
        </p:txBody>
      </p:sp>
      <p:sp>
        <p:nvSpPr>
          <p:cNvPr id="17" name="PAM ainda inadequada (condicional, certe"/>
          <p:cNvSpPr txBox="1"/>
          <p:nvPr/>
        </p:nvSpPr>
        <p:spPr>
          <a:xfrm>
            <a:off x="8500467" y="2658901"/>
            <a:ext cx="2694484"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C9CFD6"/>
                </a:solidFill>
                <a:latin typeface="Calibri" pitchFamily="34" charset="0"/>
                <a:ea typeface="Calibri" pitchFamily="34" charset="-122"/>
                <a:cs typeface="Calibri" pitchFamily="34" charset="-120"/>
              </a:rPr>
              <a:t>PAM ainda inadequada (condicional, certeza muito baixa).</a:t>
            </a:r>
            <a:endParaRPr lang="en-US" sz="1300" dirty="0"/>
          </a:p>
        </p:txBody>
      </p:sp>
      <p:sp>
        <p:nvSpPr>
          <p:cNvPr id="18" name="Cartão"/>
          <p:cNvSpPr/>
          <p:nvPr/>
        </p:nvSpPr>
        <p:spPr>
          <a:xfrm>
            <a:off x="812800" y="3540423"/>
            <a:ext cx="5181600" cy="1626989"/>
          </a:xfrm>
          <a:prstGeom prst="roundRect">
            <a:avLst>
              <a:gd name="adj" fmla="val 4683"/>
            </a:avLst>
          </a:prstGeom>
          <a:solidFill>
            <a:srgbClr val="FFFDF8"/>
          </a:solidFill>
          <a:ln w="6350">
            <a:solidFill>
              <a:srgbClr val="E2DDD2"/>
            </a:solidFill>
            <a:prstDash val="solid"/>
          </a:ln>
        </p:spPr>
      </p:sp>
      <p:sp>
        <p:nvSpPr>
          <p:cNvPr id="19" name="Disfunção cardíaca"/>
          <p:cNvSpPr txBox="1"/>
          <p:nvPr/>
        </p:nvSpPr>
        <p:spPr>
          <a:xfrm>
            <a:off x="1073150" y="3796779"/>
            <a:ext cx="46799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Disfunção cardíaca</a:t>
            </a:r>
            <a:endParaRPr lang="en-US" sz="1700" dirty="0"/>
          </a:p>
        </p:txBody>
      </p:sp>
      <p:sp>
        <p:nvSpPr>
          <p:cNvPr id="20" name="Hipoperfusão apesar de volume e PAM adeq"/>
          <p:cNvSpPr txBox="1"/>
          <p:nvPr/>
        </p:nvSpPr>
        <p:spPr>
          <a:xfrm>
            <a:off x="1073150" y="4145402"/>
            <a:ext cx="4679950" cy="745629"/>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Hipoperfusão apesar de volume e PAM adequados: dobutamina + NA, ou adrenalina isolada. Na escolha inicial, NA se taquiarritmia, adrenalina se bradiarritmia. Levosimendana: contra.</a:t>
            </a:r>
            <a:endParaRPr lang="en-US" sz="1350" dirty="0"/>
          </a:p>
        </p:txBody>
      </p:sp>
      <p:sp>
        <p:nvSpPr>
          <p:cNvPr id="21" name="Cartão"/>
          <p:cNvSpPr/>
          <p:nvPr/>
        </p:nvSpPr>
        <p:spPr>
          <a:xfrm>
            <a:off x="6197600" y="3540423"/>
            <a:ext cx="5181600" cy="1626989"/>
          </a:xfrm>
          <a:prstGeom prst="roundRect">
            <a:avLst>
              <a:gd name="adj" fmla="val 4683"/>
            </a:avLst>
          </a:prstGeom>
          <a:solidFill>
            <a:srgbClr val="FFFDF8"/>
          </a:solidFill>
          <a:ln w="6350">
            <a:solidFill>
              <a:srgbClr val="E2DDD2"/>
            </a:solidFill>
            <a:prstDash val="solid"/>
          </a:ln>
        </p:spPr>
      </p:sp>
      <p:sp>
        <p:nvSpPr>
          <p:cNvPr id="22" name="Adjuvantes e o que evitar"/>
          <p:cNvSpPr txBox="1"/>
          <p:nvPr/>
        </p:nvSpPr>
        <p:spPr>
          <a:xfrm>
            <a:off x="6457950" y="3796779"/>
            <a:ext cx="46799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Adjuvantes e o que evitar</a:t>
            </a:r>
            <a:endParaRPr lang="en-US" sz="1700" dirty="0"/>
          </a:p>
        </p:txBody>
      </p:sp>
      <p:sp>
        <p:nvSpPr>
          <p:cNvPr id="23" name="Hidrocortisona EV sugerida (condicional,"/>
          <p:cNvSpPr txBox="1"/>
          <p:nvPr/>
        </p:nvSpPr>
        <p:spPr>
          <a:xfrm>
            <a:off x="6457950" y="4145402"/>
            <a:ext cx="4679950" cy="745629"/>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Hidrocortisona EV sugerida (condicional, baixa). Dopamina como primeira linha: contra (forte). Terlipressina: contra. Azul de metileno: evidência insuficiente.</a:t>
            </a:r>
            <a:endParaRPr lang="en-US" sz="1350" dirty="0"/>
          </a:p>
        </p:txBody>
      </p:sp>
      <p:sp>
        <p:nvSpPr>
          <p:cNvPr id="24" name="Prescott, Antonelli et al., Crit Care Me"/>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Prescott, Antonelli et al., Crit Care Med 2026;54(4):725–812 (Surviving Sepsis Campaign 2026)</a:t>
            </a:r>
            <a:endParaRPr lang="en-US" sz="1200" dirty="0"/>
          </a:p>
        </p:txBody>
      </p:sp>
      <p:pic>
        <p:nvPicPr>
          <p:cNvPr id="25"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E"/>
        </a:solidFill>
      </p:bgPr>
    </p:bg>
    <p:spTree>
      <p:nvGrpSpPr>
        <p:cNvPr id="1" name=""/>
        <p:cNvGrpSpPr/>
        <p:nvPr/>
      </p:nvGrpSpPr>
      <p:grpSpPr>
        <a:xfrm>
          <a:off x="0" y="0"/>
          <a:ext cx="0" cy="0"/>
          <a:chOff x="0" y="0"/>
          <a:chExt cx="0" cy="0"/>
        </a:xfrm>
      </p:grpSpPr>
      <p:sp>
        <p:nvSpPr>
          <p:cNvPr id="2" name="RESERVA · ALVO DE PAM"/>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RESERVA · ALVO DE PAM</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Alvo de PAM no choque séptico</a:t>
            </a:r>
            <a:endParaRPr lang="en-US" sz="3200" dirty="0"/>
          </a:p>
        </p:txBody>
      </p:sp>
      <p:sp>
        <p:nvSpPr>
          <p:cNvPr id="4" name="Cartão"/>
          <p:cNvSpPr/>
          <p:nvPr/>
        </p:nvSpPr>
        <p:spPr>
          <a:xfrm>
            <a:off x="812800" y="1879501"/>
            <a:ext cx="3556000" cy="3380383"/>
          </a:xfrm>
          <a:prstGeom prst="roundRect">
            <a:avLst>
              <a:gd name="adj" fmla="val 2254"/>
            </a:avLst>
          </a:prstGeom>
          <a:solidFill>
            <a:srgbClr val="1B2A3A"/>
          </a:solidFill>
          <a:ln/>
        </p:spPr>
      </p:sp>
      <p:sp>
        <p:nvSpPr>
          <p:cNvPr id="5" name="SSC 2026"/>
          <p:cNvSpPr txBox="1"/>
          <p:nvPr/>
        </p:nvSpPr>
        <p:spPr>
          <a:xfrm>
            <a:off x="1117600" y="2170343"/>
            <a:ext cx="29654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E49A5C"/>
                </a:solidFill>
                <a:latin typeface="Calibri" pitchFamily="34" charset="0"/>
                <a:ea typeface="Calibri" pitchFamily="34" charset="-122"/>
                <a:cs typeface="Calibri" pitchFamily="34" charset="-120"/>
              </a:rPr>
              <a:t>SSC 2026</a:t>
            </a:r>
            <a:endParaRPr lang="en-US" sz="1400" dirty="0"/>
          </a:p>
        </p:txBody>
      </p:sp>
      <p:sp>
        <p:nvSpPr>
          <p:cNvPr id="6" name="65"/>
          <p:cNvSpPr txBox="1"/>
          <p:nvPr/>
        </p:nvSpPr>
        <p:spPr>
          <a:xfrm>
            <a:off x="1117600" y="2635325"/>
            <a:ext cx="2965450" cy="1016000"/>
          </a:xfrm>
          <a:prstGeom prst="rect">
            <a:avLst/>
          </a:prstGeom>
          <a:noFill/>
          <a:ln/>
        </p:spPr>
        <p:txBody>
          <a:bodyPr wrap="none" lIns="0" tIns="0" rIns="0" bIns="0" rtlCol="0" anchor="t"/>
          <a:lstStyle/>
          <a:p>
            <a:pPr algn="l" indent="0" marL="0">
              <a:lnSpc>
                <a:spcPts val="8000"/>
              </a:lnSpc>
              <a:buNone/>
            </a:pPr>
            <a:r>
              <a:rPr lang="pt-BR" altLang="en-US" sz="8000" dirty="0">
                <a:solidFill>
                  <a:srgbClr val="F5F3EE"/>
                </a:solidFill>
                <a:latin typeface="Georgia" pitchFamily="34" charset="0"/>
                <a:ea typeface="Georgia" pitchFamily="34" charset="-122"/>
                <a:cs typeface="Georgia" pitchFamily="34" charset="-120"/>
              </a:rPr>
              <a:t>65</a:t>
            </a:r>
            <a:endParaRPr lang="en-US" sz="8000" dirty="0"/>
          </a:p>
        </p:txBody>
      </p:sp>
      <p:sp>
        <p:nvSpPr>
          <p:cNvPr id="7" name="mmHg como alvo inicial no choque séptico"/>
          <p:cNvSpPr txBox="1"/>
          <p:nvPr/>
        </p:nvSpPr>
        <p:spPr>
          <a:xfrm>
            <a:off x="1117600" y="3737317"/>
            <a:ext cx="2965450" cy="1031081"/>
          </a:xfrm>
          <a:prstGeom prst="rect">
            <a:avLst/>
          </a:prstGeom>
          <a:noFill/>
          <a:ln/>
        </p:spPr>
        <p:txBody>
          <a:bodyPr wrap="square" lIns="0" tIns="0" rIns="0" bIns="0" rtlCol="0" anchor="t"/>
          <a:lstStyle/>
          <a:p>
            <a:pPr algn="l" indent="0" marL="0">
              <a:lnSpc>
                <a:spcPts val="2030"/>
              </a:lnSpc>
              <a:buNone/>
            </a:pPr>
            <a:r>
              <a:rPr lang="pt-BR" altLang="en-US" sz="1400" dirty="0">
                <a:solidFill>
                  <a:srgbClr val="DFE3E8"/>
                </a:solidFill>
                <a:latin typeface="Calibri" pitchFamily="34" charset="0"/>
                <a:ea typeface="Calibri" pitchFamily="34" charset="-122"/>
                <a:cs typeface="Calibri" pitchFamily="34" charset="-120"/>
              </a:rPr>
              <a:t>mmHg como alvo inicial no choque séptico (forte, certeza moderada). A partir dos 65 anos: 60–65 mmHg (condicional, certeza baixa).</a:t>
            </a:r>
            <a:endParaRPr lang="en-US" sz="1400" dirty="0"/>
          </a:p>
        </p:txBody>
      </p:sp>
      <p:sp>
        <p:nvSpPr>
          <p:cNvPr id="8" name="Cartão"/>
          <p:cNvSpPr/>
          <p:nvPr/>
        </p:nvSpPr>
        <p:spPr>
          <a:xfrm>
            <a:off x="4572000" y="1879501"/>
            <a:ext cx="6807200" cy="1059061"/>
          </a:xfrm>
          <a:prstGeom prst="roundRect">
            <a:avLst>
              <a:gd name="adj" fmla="val 7195"/>
            </a:avLst>
          </a:prstGeom>
          <a:solidFill>
            <a:srgbClr val="FFFDF8"/>
          </a:solidFill>
          <a:ln w="6350">
            <a:solidFill>
              <a:srgbClr val="E2DDD2"/>
            </a:solidFill>
            <a:prstDash val="solid"/>
          </a:ln>
        </p:spPr>
      </p:sp>
      <p:sp>
        <p:nvSpPr>
          <p:cNvPr id="9" name="65 trial · JAMA 2020"/>
          <p:cNvSpPr txBox="1"/>
          <p:nvPr/>
        </p:nvSpPr>
        <p:spPr>
          <a:xfrm>
            <a:off x="4781550" y="2034727"/>
            <a:ext cx="6407150" cy="228600"/>
          </a:xfrm>
          <a:prstGeom prst="rect">
            <a:avLst/>
          </a:prstGeom>
          <a:noFill/>
          <a:ln/>
        </p:spPr>
        <p:txBody>
          <a:bodyPr wrap="none" lIns="0" tIns="0" rIns="0" bIns="0" rtlCol="0" anchor="t"/>
          <a:lstStyle/>
          <a:p>
            <a:pPr algn="l" indent="0" marL="0">
              <a:lnSpc>
                <a:spcPts val="1800"/>
              </a:lnSpc>
              <a:buNone/>
            </a:pPr>
            <a:r>
              <a:rPr lang="pt-BR" altLang="en-US" sz="1500" b="1" dirty="0">
                <a:solidFill>
                  <a:srgbClr val="1B2A3A"/>
                </a:solidFill>
                <a:latin typeface="Calibri" pitchFamily="34" charset="0"/>
                <a:ea typeface="Calibri" pitchFamily="34" charset="-122"/>
                <a:cs typeface="Calibri" pitchFamily="34" charset="-120"/>
              </a:rPr>
              <a:t>65 trial · JAMA 2020</a:t>
            </a:r>
            <a:endParaRPr lang="en-US" sz="1500" dirty="0"/>
          </a:p>
        </p:txBody>
      </p:sp>
      <p:sp>
        <p:nvSpPr>
          <p:cNvPr id="10" name="≥65 anos, PAM 60–65 vs. cuidado usual: m"/>
          <p:cNvSpPr txBox="1"/>
          <p:nvPr/>
        </p:nvSpPr>
        <p:spPr>
          <a:xfrm>
            <a:off x="4781550" y="2304690"/>
            <a:ext cx="6407150"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2C3A48"/>
                </a:solidFill>
                <a:latin typeface="Calibri" pitchFamily="34" charset="0"/>
                <a:ea typeface="Calibri" pitchFamily="34" charset="-122"/>
                <a:cs typeface="Calibri" pitchFamily="34" charset="-120"/>
              </a:rPr>
              <a:t>≥65 anos, PAM 60–65 vs. cuidado usual: mortalidade em 90 dias 41,0% vs. 43,8% (NS), com menor dose e menor duração de vasopressor.</a:t>
            </a:r>
            <a:endParaRPr lang="en-US" sz="1300" dirty="0"/>
          </a:p>
        </p:txBody>
      </p:sp>
      <p:sp>
        <p:nvSpPr>
          <p:cNvPr id="11" name="Cartão"/>
          <p:cNvSpPr/>
          <p:nvPr/>
        </p:nvSpPr>
        <p:spPr>
          <a:xfrm>
            <a:off x="4572000" y="3040162"/>
            <a:ext cx="6807200" cy="1059061"/>
          </a:xfrm>
          <a:prstGeom prst="roundRect">
            <a:avLst>
              <a:gd name="adj" fmla="val 7195"/>
            </a:avLst>
          </a:prstGeom>
          <a:solidFill>
            <a:srgbClr val="FFFDF8"/>
          </a:solidFill>
          <a:ln w="6350">
            <a:solidFill>
              <a:srgbClr val="E2DDD2"/>
            </a:solidFill>
            <a:prstDash val="solid"/>
          </a:ln>
        </p:spPr>
      </p:sp>
      <p:sp>
        <p:nvSpPr>
          <p:cNvPr id="12" name="OPTPRESS · Intensive Care Med 2025"/>
          <p:cNvSpPr txBox="1"/>
          <p:nvPr/>
        </p:nvSpPr>
        <p:spPr>
          <a:xfrm>
            <a:off x="4781550" y="3195387"/>
            <a:ext cx="6407150" cy="228600"/>
          </a:xfrm>
          <a:prstGeom prst="rect">
            <a:avLst/>
          </a:prstGeom>
          <a:noFill/>
          <a:ln/>
        </p:spPr>
        <p:txBody>
          <a:bodyPr wrap="none" lIns="0" tIns="0" rIns="0" bIns="0" rtlCol="0" anchor="t"/>
          <a:lstStyle/>
          <a:p>
            <a:pPr algn="l" indent="0" marL="0">
              <a:lnSpc>
                <a:spcPts val="1800"/>
              </a:lnSpc>
              <a:buNone/>
            </a:pPr>
            <a:r>
              <a:rPr lang="pt-BR" altLang="en-US" sz="1500" b="1" dirty="0">
                <a:solidFill>
                  <a:srgbClr val="1B2A3A"/>
                </a:solidFill>
                <a:latin typeface="Calibri" pitchFamily="34" charset="0"/>
                <a:ea typeface="Calibri" pitchFamily="34" charset="-122"/>
                <a:cs typeface="Calibri" pitchFamily="34" charset="-120"/>
              </a:rPr>
              <a:t>OPTPRESS · Intensive Care Med 2025</a:t>
            </a:r>
            <a:endParaRPr lang="en-US" sz="1500" dirty="0"/>
          </a:p>
        </p:txBody>
      </p:sp>
      <p:sp>
        <p:nvSpPr>
          <p:cNvPr id="13" name="≥65 anos com choque séptico, alvo 80–85 "/>
          <p:cNvSpPr txBox="1"/>
          <p:nvPr/>
        </p:nvSpPr>
        <p:spPr>
          <a:xfrm>
            <a:off x="4781550" y="3465351"/>
            <a:ext cx="6407150"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2C3A48"/>
                </a:solidFill>
                <a:latin typeface="Calibri" pitchFamily="34" charset="0"/>
                <a:ea typeface="Calibri" pitchFamily="34" charset="-122"/>
                <a:cs typeface="Calibri" pitchFamily="34" charset="-120"/>
              </a:rPr>
              <a:t>≥65 anos com choque séptico, alvo 80–85 vs. 65–70 mmHg: interrompido por dano (mortalidade em 90 dias 39,3% vs. 28,6%; n = 518).</a:t>
            </a:r>
            <a:endParaRPr lang="en-US" sz="1300" dirty="0"/>
          </a:p>
        </p:txBody>
      </p:sp>
      <p:sp>
        <p:nvSpPr>
          <p:cNvPr id="14" name="Cartão"/>
          <p:cNvSpPr/>
          <p:nvPr/>
        </p:nvSpPr>
        <p:spPr>
          <a:xfrm>
            <a:off x="4572000" y="4200823"/>
            <a:ext cx="6807200" cy="1059061"/>
          </a:xfrm>
          <a:prstGeom prst="roundRect">
            <a:avLst>
              <a:gd name="adj" fmla="val 7195"/>
            </a:avLst>
          </a:prstGeom>
          <a:solidFill>
            <a:srgbClr val="FFFDF8"/>
          </a:solidFill>
          <a:ln w="6350">
            <a:solidFill>
              <a:srgbClr val="E2DDD2"/>
            </a:solidFill>
            <a:prstDash val="solid"/>
          </a:ln>
        </p:spPr>
      </p:sp>
      <p:sp>
        <p:nvSpPr>
          <p:cNvPr id="15" name="ESICM 2025"/>
          <p:cNvSpPr txBox="1"/>
          <p:nvPr/>
        </p:nvSpPr>
        <p:spPr>
          <a:xfrm>
            <a:off x="4781550" y="4356048"/>
            <a:ext cx="6407150" cy="228600"/>
          </a:xfrm>
          <a:prstGeom prst="rect">
            <a:avLst/>
          </a:prstGeom>
          <a:noFill/>
          <a:ln/>
        </p:spPr>
        <p:txBody>
          <a:bodyPr wrap="none" lIns="0" tIns="0" rIns="0" bIns="0" rtlCol="0" anchor="t"/>
          <a:lstStyle/>
          <a:p>
            <a:pPr algn="l" indent="0" marL="0">
              <a:lnSpc>
                <a:spcPts val="1800"/>
              </a:lnSpc>
              <a:buNone/>
            </a:pPr>
            <a:r>
              <a:rPr lang="pt-BR" altLang="en-US" sz="1500" b="1" dirty="0">
                <a:solidFill>
                  <a:srgbClr val="1B2A3A"/>
                </a:solidFill>
                <a:latin typeface="Calibri" pitchFamily="34" charset="0"/>
                <a:ea typeface="Calibri" pitchFamily="34" charset="-122"/>
                <a:cs typeface="Calibri" pitchFamily="34" charset="-120"/>
              </a:rPr>
              <a:t>ESICM 2025</a:t>
            </a:r>
            <a:endParaRPr lang="en-US" sz="1500" dirty="0"/>
          </a:p>
        </p:txBody>
      </p:sp>
      <p:sp>
        <p:nvSpPr>
          <p:cNvPr id="16" name="Individualizar: considerar alvo maior em"/>
          <p:cNvSpPr txBox="1"/>
          <p:nvPr/>
        </p:nvSpPr>
        <p:spPr>
          <a:xfrm>
            <a:off x="4781550" y="4626012"/>
            <a:ext cx="6407150"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2C3A48"/>
                </a:solidFill>
                <a:latin typeface="Calibri" pitchFamily="34" charset="0"/>
                <a:ea typeface="Calibri" pitchFamily="34" charset="-122"/>
                <a:cs typeface="Calibri" pitchFamily="34" charset="-120"/>
              </a:rPr>
              <a:t>Individualizar: considerar alvo maior em hipertensão crônica ou PVC alta, se houver melhora clínica com PA mais alta.</a:t>
            </a:r>
            <a:endParaRPr lang="en-US" sz="1300" dirty="0"/>
          </a:p>
        </p:txBody>
      </p:sp>
      <p:sp>
        <p:nvSpPr>
          <p:cNvPr id="17" name="Lamontagne, JAMA 2020 (65 trial) · Endo,"/>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Lamontagne, JAMA 2020 (65 trial) · Endo, Intensive Care Med 2025 (OPTPRESS) · Monnet, Intensive Care Med 2025 (ESICM) · SSC 2026</a:t>
            </a:r>
            <a:endParaRPr lang="en-US" sz="1200" dirty="0"/>
          </a:p>
        </p:txBody>
      </p:sp>
      <p:pic>
        <p:nvPicPr>
          <p:cNvPr id="18"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3EE"/>
        </a:solidFill>
      </p:bgPr>
    </p:bg>
    <p:spTree>
      <p:nvGrpSpPr>
        <p:cNvPr id="1" name=""/>
        <p:cNvGrpSpPr/>
        <p:nvPr/>
      </p:nvGrpSpPr>
      <p:grpSpPr>
        <a:xfrm>
          <a:off x="0" y="0"/>
          <a:ext cx="0" cy="0"/>
          <a:chOff x="0" y="0"/>
          <a:chExt cx="0" cy="0"/>
        </a:xfrm>
      </p:grpSpPr>
      <p:sp>
        <p:nvSpPr>
          <p:cNvPr id="2" name="RESERVA · INÍCIO E VIA"/>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RESERVA · INÍCIO E VIA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Início precoce e via periférica</a:t>
            </a:r>
            <a:endParaRPr lang="en-US" sz="3200" dirty="0"/>
          </a:p>
        </p:txBody>
      </p:sp>
      <p:sp>
        <p:nvSpPr>
          <p:cNvPr id="4" name="Cartão"/>
          <p:cNvSpPr/>
          <p:nvPr/>
        </p:nvSpPr>
        <p:spPr>
          <a:xfrm>
            <a:off x="812800" y="1879501"/>
            <a:ext cx="3386634" cy="2372618"/>
          </a:xfrm>
          <a:prstGeom prst="roundRect">
            <a:avLst>
              <a:gd name="adj" fmla="val 3212"/>
            </a:avLst>
          </a:prstGeom>
          <a:solidFill>
            <a:srgbClr val="FFFDF8"/>
          </a:solidFill>
          <a:ln w="6350">
            <a:solidFill>
              <a:srgbClr val="E2DDD2"/>
            </a:solidFill>
            <a:prstDash val="solid"/>
          </a:ln>
        </p:spPr>
      </p:sp>
      <p:sp>
        <p:nvSpPr>
          <p:cNvPr id="5" name="Precoce"/>
          <p:cNvSpPr txBox="1"/>
          <p:nvPr/>
        </p:nvSpPr>
        <p:spPr>
          <a:xfrm>
            <a:off x="1073150" y="2135857"/>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Precoce</a:t>
            </a:r>
            <a:endParaRPr lang="en-US" sz="1700" dirty="0"/>
          </a:p>
        </p:txBody>
      </p:sp>
      <p:sp>
        <p:nvSpPr>
          <p:cNvPr id="6" name="CENSER: NA 0,05 mcg/kg/min desde a admis"/>
          <p:cNvSpPr txBox="1"/>
          <p:nvPr/>
        </p:nvSpPr>
        <p:spPr>
          <a:xfrm>
            <a:off x="1073150" y="2484480"/>
            <a:ext cx="2884984" cy="1242715"/>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CENSER: NA 0,05 mcg/kg/min desde a admissão controlou o choque em 6 h em 76,1% vs. 48,4%, com menos edema pulmonar (14,4% vs. 27,7%) e arritmia. Mortalidade sem diferença.</a:t>
            </a:r>
            <a:endParaRPr lang="en-US" sz="1350" dirty="0"/>
          </a:p>
        </p:txBody>
      </p:sp>
      <p:sp>
        <p:nvSpPr>
          <p:cNvPr id="7" name="Cartão"/>
          <p:cNvSpPr/>
          <p:nvPr/>
        </p:nvSpPr>
        <p:spPr>
          <a:xfrm>
            <a:off x="4402634" y="1879501"/>
            <a:ext cx="3386634" cy="2372618"/>
          </a:xfrm>
          <a:prstGeom prst="roundRect">
            <a:avLst>
              <a:gd name="adj" fmla="val 3212"/>
            </a:avLst>
          </a:prstGeom>
          <a:solidFill>
            <a:srgbClr val="FFFDF8"/>
          </a:solidFill>
          <a:ln w="6350">
            <a:solidFill>
              <a:srgbClr val="E2DDD2"/>
            </a:solidFill>
            <a:prstDash val="solid"/>
          </a:ln>
        </p:spPr>
      </p:sp>
      <p:sp>
        <p:nvSpPr>
          <p:cNvPr id="8" name="Periférico"/>
          <p:cNvSpPr txBox="1"/>
          <p:nvPr/>
        </p:nvSpPr>
        <p:spPr>
          <a:xfrm>
            <a:off x="4662984" y="2135857"/>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Periférico</a:t>
            </a:r>
            <a:endParaRPr lang="en-US" sz="1700" dirty="0"/>
          </a:p>
        </p:txBody>
      </p:sp>
      <p:sp>
        <p:nvSpPr>
          <p:cNvPr id="9" name="Metanálise de Tran (n = 1.835): complica"/>
          <p:cNvSpPr txBox="1"/>
          <p:nvPr/>
        </p:nvSpPr>
        <p:spPr>
          <a:xfrm>
            <a:off x="4662984" y="2484480"/>
            <a:ext cx="2884984" cy="1491258"/>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Metanálise de Tran (n = 1.835): complicações em 7% (prevalência combinada de 8,6%), 96% leves; menos com protocolo de segurança (2,9% vs. 12%). SSC 2026: iniciar por via periférica em vez de esperar o acesso central.</a:t>
            </a:r>
            <a:endParaRPr lang="en-US" sz="1350" dirty="0"/>
          </a:p>
        </p:txBody>
      </p:sp>
      <p:sp>
        <p:nvSpPr>
          <p:cNvPr id="10" name="Cartão"/>
          <p:cNvSpPr/>
          <p:nvPr/>
        </p:nvSpPr>
        <p:spPr>
          <a:xfrm>
            <a:off x="7992467" y="1879501"/>
            <a:ext cx="3386634" cy="2372618"/>
          </a:xfrm>
          <a:prstGeom prst="roundRect">
            <a:avLst>
              <a:gd name="adj" fmla="val 3212"/>
            </a:avLst>
          </a:prstGeom>
          <a:solidFill>
            <a:srgbClr val="FFFDF8"/>
          </a:solidFill>
          <a:ln w="6350">
            <a:solidFill>
              <a:srgbClr val="E2DDD2"/>
            </a:solidFill>
            <a:prstDash val="solid"/>
          </a:ln>
        </p:spPr>
      </p:sp>
      <p:sp>
        <p:nvSpPr>
          <p:cNvPr id="11" name="Prescrição"/>
          <p:cNvSpPr txBox="1"/>
          <p:nvPr/>
        </p:nvSpPr>
        <p:spPr>
          <a:xfrm>
            <a:off x="8252817" y="2135857"/>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Calibri" pitchFamily="34" charset="0"/>
                <a:ea typeface="Calibri" pitchFamily="34" charset="-122"/>
                <a:cs typeface="Calibri" pitchFamily="34" charset="-120"/>
              </a:rPr>
              <a:t>Prescrição</a:t>
            </a:r>
            <a:endParaRPr lang="en-US" sz="1700" dirty="0"/>
          </a:p>
        </p:txBody>
      </p:sp>
      <p:sp>
        <p:nvSpPr>
          <p:cNvPr id="12" name="No Brasil, a ampola de hemitartarato 2 m"/>
          <p:cNvSpPr txBox="1"/>
          <p:nvPr/>
        </p:nvSpPr>
        <p:spPr>
          <a:xfrm>
            <a:off x="8252817" y="2484480"/>
            <a:ext cx="2884984" cy="1491258"/>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Calibri" pitchFamily="34" charset="0"/>
                <a:ea typeface="Calibri" pitchFamily="34" charset="-122"/>
                <a:cs typeface="Calibri" pitchFamily="34" charset="-120"/>
              </a:rPr>
              <a:t>No Brasil, a ampola de hemitartarato 2 mg/mL equivale a 1 mg/mL de noradrenalina base. A mesma infusão expressa em sal tem o dobro do valor em base: especificar a forma na prescrição e ao comparar com estudos.</a:t>
            </a:r>
            <a:endParaRPr lang="en-US" sz="1350" dirty="0"/>
          </a:p>
        </p:txBody>
      </p:sp>
      <p:sp>
        <p:nvSpPr>
          <p:cNvPr id="13" name="Permpikul, Am J Respir Crit Care Med 201"/>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Permpikul, Am J Respir Crit Care Med 2019 (CENSER) · Tran, Am J Emerg Med 2020 · Ibarra-Estrada, Intensive Care Med 2024 · SSC 2026</a:t>
            </a:r>
            <a:endParaRPr lang="en-US" sz="1200" dirty="0"/>
          </a:p>
        </p:txBody>
      </p:sp>
      <p:pic>
        <p:nvPicPr>
          <p:cNvPr id="14"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E"/>
        </a:solidFill>
      </p:bgPr>
    </p:bg>
    <p:spTree>
      <p:nvGrpSpPr>
        <p:cNvPr id="1" name=""/>
        <p:cNvGrpSpPr/>
        <p:nvPr/>
      </p:nvGrpSpPr>
      <p:grpSpPr>
        <a:xfrm>
          <a:off x="0" y="0"/>
          <a:ext cx="0" cy="0"/>
          <a:chOff x="0" y="0"/>
          <a:chExt cx="0" cy="0"/>
        </a:xfrm>
      </p:grpSpPr>
      <p:sp>
        <p:nvSpPr>
          <p:cNvPr id="2" name="RESERVA · ALVO INTRAOPERATÓRIO"/>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RESERVA · ALVO INTRAOPERATÓRIO</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Alvo de PAM no intraoperatório: ensaios</a:t>
            </a:r>
            <a:endParaRPr lang="en-US" sz="3200" dirty="0"/>
          </a:p>
        </p:txBody>
      </p:sp>
      <p:graphicFrame>
        <p:nvGraphicFramePr>
          <p:cNvPr id="29" name="Tabela"/>
          <p:cNvGraphicFramePr>
            <a:graphicFrameLocks noGrp="1"/>
          </p:cNvGraphicFramePr>
          <p:nvPr>
            <p:extLst>
              <p:ext uri="{D42A27DB-BD31-4B8C-83A1-F6EECF244321}">
                <p14:modId xmlns:p14="http://schemas.microsoft.com/office/powerpoint/2010/main" val="1579011935"/>
              </p:ext>
            </p:extLst>
          </p:nvPr>
        </p:nvGraphicFramePr>
        <p:xfrm>
          <a:off x="812800" y="1879501"/>
          <a:ext cx="10566400" cy="914400"/>
        </p:xfrm>
        <a:graphic>
          <a:graphicData uri="http://schemas.openxmlformats.org/drawingml/2006/table">
            <a:tbl>
              <a:tblPr/>
              <a:tblGrid>
                <a:gridCol w="2113260"/>
                <a:gridCol w="2747169"/>
                <a:gridCol w="2535932"/>
                <a:gridCol w="3170039"/>
              </a:tblGrid>
              <a:tr h="391120">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Estudo</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População</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Alvos</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Calibri" pitchFamily="34" charset="0"/>
                          <a:ea typeface="Calibri" pitchFamily="34" charset="-122"/>
                          <a:cs typeface="Calibri" pitchFamily="34" charset="-120"/>
                        </a:rPr>
                        <a:t>Resultado</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r>
              <a:tr h="607616">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POISE-3 · Ann Intern Med 2023</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7.490; cirurgia não cardíaca, risco cardiovascular</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PAM ≥80 suspendendo anti-hipertensivos vs. ≥60 mantendo-os</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Eventos vasculares em 30 dias: 13,9% vs. 14,0% (NS)</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610791">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IMPROVE-multi · JAMA 2025</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1.134; cirurgia abdominal maior</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PAM individualizada pela basal noturna vs. ≥65</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Composto em 7 dias: 33,5% vs. 30,5% (NS)</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610791">
                <a:tc>
                  <a:txBody>
                    <a:bodyPr/>
                    <a:lstStyle/>
                    <a:p>
                      <a:pPr algn="l" indent="0" marL="0">
                        <a:lnSpc>
                          <a:spcPts val="1680"/>
                        </a:lnSpc>
                        <a:buNone/>
                      </a:pPr>
                      <a:r>
                        <a:rPr lang="pt-BR" altLang="en-US" sz="1200" b="1" dirty="0">
                          <a:solidFill>
                            <a:srgbClr val="1B2A3A"/>
                          </a:solidFill>
                          <a:latin typeface="Calibri" pitchFamily="34" charset="0"/>
                          <a:ea typeface="Calibri" pitchFamily="34" charset="-122"/>
                          <a:cs typeface="Calibri" pitchFamily="34" charset="-120"/>
                        </a:rPr>
                        <a:t>HISTAP · Intensive Care Med 2026</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630; ≥60 anos, hipertensos, abdominal maior</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PAM ≥80 vs. ≥65</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Calibri" pitchFamily="34" charset="0"/>
                          <a:ea typeface="Calibri" pitchFamily="34" charset="-122"/>
                          <a:cs typeface="Calibri" pitchFamily="34" charset="-120"/>
                        </a:rPr>
                        <a:t>Morte ou disfunção orgânica: 38,1% vs. 48,9% (RR 0,78), sobretudo lesão renal aguda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bl>
          </a:graphicData>
        </a:graphic>
      </p:graphicFrame>
      <p:sp>
        <p:nvSpPr>
          <p:cNvPr id="5" name="POQI 2024: PAM ≥60 em pacientes de risco"/>
          <p:cNvSpPr txBox="1"/>
          <p:nvPr/>
        </p:nvSpPr>
        <p:spPr>
          <a:xfrm>
            <a:off x="812800" y="4393836"/>
            <a:ext cx="10585450" cy="497681"/>
          </a:xfrm>
          <a:prstGeom prst="rect">
            <a:avLst/>
          </a:prstGeom>
          <a:noFill/>
          <a:ln/>
        </p:spPr>
        <p:txBody>
          <a:bodyPr wrap="square" lIns="0" tIns="0" rIns="0" bIns="0" rtlCol="0" anchor="t"/>
          <a:lstStyle/>
          <a:p>
            <a:pPr algn="l" indent="0" marL="0">
              <a:lnSpc>
                <a:spcPts val="1960"/>
              </a:lnSpc>
              <a:buNone/>
            </a:pPr>
            <a:r>
              <a:rPr lang="pt-BR" altLang="en-US" sz="1400" dirty="0">
                <a:solidFill>
                  <a:srgbClr val="2C3A48"/>
                </a:solidFill>
                <a:latin typeface="Calibri" pitchFamily="34" charset="0"/>
                <a:ea typeface="Calibri" pitchFamily="34" charset="-122"/>
                <a:cs typeface="Calibri" pitchFamily="34" charset="-120"/>
              </a:rPr>
              <a:t>POQI 2024: PAM ≥60 em pacientes de risco é limite mínimo, não garantia de perfusão; com pressão venosa ou compartimental alta, o alvo é maior. Acima do piso, benefício só em hipertensos de alto risco, e os ECRs divergem.</a:t>
            </a:r>
            <a:endParaRPr lang="en-US" sz="1400" dirty="0"/>
          </a:p>
        </p:txBody>
      </p:sp>
      <p:sp>
        <p:nvSpPr>
          <p:cNvPr id="6" name="Marcucci, Ann Intern Med 2023 (POISE-3) "/>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Marcucci, Ann Intern Med 2023 (POISE-3) · Saugel, JAMA 2025 (IMPROVE-multi) · SIAARTI, Intensive Care Med 2026 (HISTAP) · POQI 2024</a:t>
            </a:r>
            <a:endParaRPr lang="en-US" sz="1200" dirty="0"/>
          </a:p>
        </p:txBody>
      </p:sp>
      <p:pic>
        <p:nvPicPr>
          <p:cNvPr id="7"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E"/>
        </a:solidFill>
      </p:bgPr>
    </p:bg>
    <p:spTree>
      <p:nvGrpSpPr>
        <p:cNvPr id="1" name=""/>
        <p:cNvGrpSpPr/>
        <p:nvPr/>
      </p:nvGrpSpPr>
      <p:grpSpPr>
        <a:xfrm>
          <a:off x="0" y="0"/>
          <a:ext cx="0" cy="0"/>
          <a:chOff x="0" y="0"/>
          <a:chExt cx="0" cy="0"/>
        </a:xfrm>
      </p:grpSpPr>
      <p:sp>
        <p:nvSpPr>
          <p:cNvPr id="2" name="RESERVA · ROTEIRO"/>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RESERVA · ROTEIRO</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Roteiro</a:t>
            </a:r>
            <a:endParaRPr lang="en-US" sz="3200" dirty="0"/>
          </a:p>
        </p:txBody>
      </p:sp>
      <p:sp>
        <p:nvSpPr>
          <p:cNvPr id="4" name="01"/>
          <p:cNvSpPr txBox="1"/>
          <p:nvPr/>
        </p:nvSpPr>
        <p:spPr>
          <a:xfrm>
            <a:off x="812800" y="1857860"/>
            <a:ext cx="425450"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01</a:t>
            </a:r>
            <a:endParaRPr lang="en-US" sz="2400" dirty="0"/>
          </a:p>
        </p:txBody>
      </p:sp>
      <p:sp>
        <p:nvSpPr>
          <p:cNvPr id="5" name="Fisiologia: PAM, débito cardíaco e resis"/>
          <p:cNvSpPr txBox="1"/>
          <p:nvPr/>
        </p:nvSpPr>
        <p:spPr>
          <a:xfrm>
            <a:off x="1371600" y="1964280"/>
            <a:ext cx="4540250" cy="561181"/>
          </a:xfrm>
          <a:prstGeom prst="rect">
            <a:avLst/>
          </a:prstGeom>
          <a:noFill/>
          <a:ln/>
        </p:spPr>
        <p:txBody>
          <a:bodyPr wrap="square" lIns="0" tIns="0" rIns="0" bIns="0" rtlCol="0" anchor="t"/>
          <a:lstStyle/>
          <a:p>
            <a:pPr algn="l" indent="0" marL="0">
              <a:lnSpc>
                <a:spcPts val="2210"/>
              </a:lnSpc>
              <a:buNone/>
            </a:pPr>
            <a:r>
              <a:rPr lang="pt-BR" altLang="en-US" sz="1700" dirty="0">
                <a:solidFill>
                  <a:srgbClr val="1B2A3A"/>
                </a:solidFill>
                <a:latin typeface="Calibri" pitchFamily="34" charset="0"/>
                <a:ea typeface="Calibri" pitchFamily="34" charset="-122"/>
                <a:cs typeface="Calibri" pitchFamily="34" charset="-120"/>
              </a:rPr>
              <a:t>Fisiologia: PAM, débito cardíaco e resistência vascular</a:t>
            </a:r>
            <a:endParaRPr lang="en-US" sz="1700" dirty="0"/>
          </a:p>
        </p:txBody>
      </p:sp>
      <p:sp>
        <p:nvSpPr>
          <p:cNvPr id="6" name="02"/>
          <p:cNvSpPr txBox="1"/>
          <p:nvPr/>
        </p:nvSpPr>
        <p:spPr>
          <a:xfrm>
            <a:off x="6299200" y="1857860"/>
            <a:ext cx="425450"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02</a:t>
            </a:r>
            <a:endParaRPr lang="en-US" sz="2400" dirty="0"/>
          </a:p>
        </p:txBody>
      </p:sp>
      <p:sp>
        <p:nvSpPr>
          <p:cNvPr id="7" name="Receptores e classificação das aminas"/>
          <p:cNvSpPr txBox="1"/>
          <p:nvPr/>
        </p:nvSpPr>
        <p:spPr>
          <a:xfrm>
            <a:off x="6858000" y="1964280"/>
            <a:ext cx="3321248" cy="280591"/>
          </a:xfrm>
          <a:prstGeom prst="rect">
            <a:avLst/>
          </a:prstGeom>
          <a:noFill/>
          <a:ln/>
        </p:spPr>
        <p:txBody>
          <a:bodyPr wrap="none" lIns="0" tIns="0" rIns="0" bIns="0" rtlCol="0" anchor="t"/>
          <a:lstStyle/>
          <a:p>
            <a:pPr algn="l" indent="0" marL="0">
              <a:lnSpc>
                <a:spcPts val="2210"/>
              </a:lnSpc>
              <a:buNone/>
            </a:pPr>
            <a:r>
              <a:rPr lang="pt-BR" altLang="en-US" sz="1700" dirty="0">
                <a:solidFill>
                  <a:srgbClr val="1B2A3A"/>
                </a:solidFill>
                <a:latin typeface="Calibri" pitchFamily="34" charset="0"/>
                <a:ea typeface="Calibri" pitchFamily="34" charset="-122"/>
                <a:cs typeface="Calibri" pitchFamily="34" charset="-120"/>
              </a:rPr>
              <a:t>Receptores e classificação das aminas</a:t>
            </a:r>
            <a:endParaRPr lang="en-US" sz="1700" dirty="0"/>
          </a:p>
        </p:txBody>
      </p:sp>
      <p:sp>
        <p:nvSpPr>
          <p:cNvPr id="8" name="03"/>
          <p:cNvSpPr txBox="1"/>
          <p:nvPr/>
        </p:nvSpPr>
        <p:spPr>
          <a:xfrm>
            <a:off x="812800" y="2666691"/>
            <a:ext cx="425450"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03</a:t>
            </a:r>
            <a:endParaRPr lang="en-US" sz="2400" dirty="0"/>
          </a:p>
        </p:txBody>
      </p:sp>
      <p:sp>
        <p:nvSpPr>
          <p:cNvPr id="9" name="Drogas: noradrenalina, adrenalina, dopam"/>
          <p:cNvSpPr txBox="1"/>
          <p:nvPr/>
        </p:nvSpPr>
        <p:spPr>
          <a:xfrm>
            <a:off x="1371600" y="2773111"/>
            <a:ext cx="4540250" cy="841772"/>
          </a:xfrm>
          <a:prstGeom prst="rect">
            <a:avLst/>
          </a:prstGeom>
          <a:noFill/>
          <a:ln/>
        </p:spPr>
        <p:txBody>
          <a:bodyPr wrap="square" lIns="0" tIns="0" rIns="0" bIns="0" rtlCol="0" anchor="t"/>
          <a:lstStyle/>
          <a:p>
            <a:pPr algn="l" indent="0" marL="0">
              <a:lnSpc>
                <a:spcPts val="2210"/>
              </a:lnSpc>
              <a:buNone/>
            </a:pPr>
            <a:r>
              <a:rPr lang="pt-BR" altLang="en-US" sz="1700" dirty="0">
                <a:solidFill>
                  <a:srgbClr val="1B2A3A"/>
                </a:solidFill>
                <a:latin typeface="Calibri" pitchFamily="34" charset="0"/>
                <a:ea typeface="Calibri" pitchFamily="34" charset="-122"/>
                <a:cs typeface="Calibri" pitchFamily="34" charset="-120"/>
              </a:rPr>
              <a:t>Drogas: noradrenalina, adrenalina, dopamina, dobutamina, milrinona, fenilefrina e efedrina; quando preferir milrinona</a:t>
            </a:r>
            <a:endParaRPr lang="en-US" sz="1700" dirty="0"/>
          </a:p>
        </p:txBody>
      </p:sp>
      <p:sp>
        <p:nvSpPr>
          <p:cNvPr id="10" name="04"/>
          <p:cNvSpPr txBox="1"/>
          <p:nvPr/>
        </p:nvSpPr>
        <p:spPr>
          <a:xfrm>
            <a:off x="6299200" y="2666691"/>
            <a:ext cx="425450"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04</a:t>
            </a:r>
            <a:endParaRPr lang="en-US" sz="2400" dirty="0"/>
          </a:p>
        </p:txBody>
      </p:sp>
      <p:sp>
        <p:nvSpPr>
          <p:cNvPr id="11" name="Além das aminas: vasopressina e adjuvant"/>
          <p:cNvSpPr txBox="1"/>
          <p:nvPr/>
        </p:nvSpPr>
        <p:spPr>
          <a:xfrm>
            <a:off x="6858000" y="2773111"/>
            <a:ext cx="4540250" cy="561181"/>
          </a:xfrm>
          <a:prstGeom prst="rect">
            <a:avLst/>
          </a:prstGeom>
          <a:noFill/>
          <a:ln/>
        </p:spPr>
        <p:txBody>
          <a:bodyPr wrap="square" lIns="0" tIns="0" rIns="0" bIns="0" rtlCol="0" anchor="t"/>
          <a:lstStyle/>
          <a:p>
            <a:pPr algn="l" indent="0" marL="0">
              <a:lnSpc>
                <a:spcPts val="2210"/>
              </a:lnSpc>
              <a:buNone/>
            </a:pPr>
            <a:r>
              <a:rPr lang="pt-BR" altLang="en-US" sz="1700" dirty="0">
                <a:solidFill>
                  <a:srgbClr val="1B2A3A"/>
                </a:solidFill>
                <a:latin typeface="Calibri" pitchFamily="34" charset="0"/>
                <a:ea typeface="Calibri" pitchFamily="34" charset="-122"/>
                <a:cs typeface="Calibri" pitchFamily="34" charset="-120"/>
              </a:rPr>
              <a:t>Além das aminas: vasopressina e adjuvantes do choque refratário</a:t>
            </a:r>
            <a:endParaRPr lang="en-US" sz="1700" dirty="0"/>
          </a:p>
        </p:txBody>
      </p:sp>
      <p:sp>
        <p:nvSpPr>
          <p:cNvPr id="12" name="05"/>
          <p:cNvSpPr txBox="1"/>
          <p:nvPr/>
        </p:nvSpPr>
        <p:spPr>
          <a:xfrm>
            <a:off x="812800" y="3756113"/>
            <a:ext cx="425450"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05</a:t>
            </a:r>
            <a:endParaRPr lang="en-US" sz="2400" dirty="0"/>
          </a:p>
        </p:txBody>
      </p:sp>
      <p:sp>
        <p:nvSpPr>
          <p:cNvPr id="13" name="Choque séptico: a sequência da SSC 2026"/>
          <p:cNvSpPr txBox="1"/>
          <p:nvPr/>
        </p:nvSpPr>
        <p:spPr>
          <a:xfrm>
            <a:off x="1371600" y="3862533"/>
            <a:ext cx="3634085" cy="280591"/>
          </a:xfrm>
          <a:prstGeom prst="rect">
            <a:avLst/>
          </a:prstGeom>
          <a:noFill/>
          <a:ln/>
        </p:spPr>
        <p:txBody>
          <a:bodyPr wrap="none" lIns="0" tIns="0" rIns="0" bIns="0" rtlCol="0" anchor="t"/>
          <a:lstStyle/>
          <a:p>
            <a:pPr algn="l" indent="0" marL="0">
              <a:lnSpc>
                <a:spcPts val="2210"/>
              </a:lnSpc>
              <a:buNone/>
            </a:pPr>
            <a:r>
              <a:rPr lang="pt-BR" altLang="en-US" sz="1700" dirty="0">
                <a:solidFill>
                  <a:srgbClr val="1B2A3A"/>
                </a:solidFill>
                <a:latin typeface="Calibri" pitchFamily="34" charset="0"/>
                <a:ea typeface="Calibri" pitchFamily="34" charset="-122"/>
                <a:cs typeface="Calibri" pitchFamily="34" charset="-120"/>
              </a:rPr>
              <a:t>Choque séptico: a sequência da SSC 2026</a:t>
            </a:r>
            <a:endParaRPr lang="en-US" sz="1700" dirty="0"/>
          </a:p>
        </p:txBody>
      </p:sp>
      <p:sp>
        <p:nvSpPr>
          <p:cNvPr id="14" name="06"/>
          <p:cNvSpPr txBox="1"/>
          <p:nvPr/>
        </p:nvSpPr>
        <p:spPr>
          <a:xfrm>
            <a:off x="6299200" y="3756113"/>
            <a:ext cx="425450"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06</a:t>
            </a:r>
            <a:endParaRPr lang="en-US" sz="2400" dirty="0"/>
          </a:p>
        </p:txBody>
      </p:sp>
      <p:sp>
        <p:nvSpPr>
          <p:cNvPr id="15" name="Perioperatório: escolha da droga e alvo "/>
          <p:cNvSpPr txBox="1"/>
          <p:nvPr/>
        </p:nvSpPr>
        <p:spPr>
          <a:xfrm>
            <a:off x="6858000" y="3862533"/>
            <a:ext cx="4463256" cy="280591"/>
          </a:xfrm>
          <a:prstGeom prst="rect">
            <a:avLst/>
          </a:prstGeom>
          <a:noFill/>
          <a:ln/>
        </p:spPr>
        <p:txBody>
          <a:bodyPr wrap="none" lIns="0" tIns="0" rIns="0" bIns="0" rtlCol="0" anchor="t"/>
          <a:lstStyle/>
          <a:p>
            <a:pPr algn="l" indent="0" marL="0">
              <a:lnSpc>
                <a:spcPts val="2210"/>
              </a:lnSpc>
              <a:buNone/>
            </a:pPr>
            <a:r>
              <a:rPr lang="pt-BR" altLang="en-US" sz="1700" dirty="0">
                <a:solidFill>
                  <a:srgbClr val="1B2A3A"/>
                </a:solidFill>
                <a:latin typeface="Calibri" pitchFamily="34" charset="0"/>
                <a:ea typeface="Calibri" pitchFamily="34" charset="-122"/>
                <a:cs typeface="Calibri" pitchFamily="34" charset="-120"/>
              </a:rPr>
              <a:t>Perioperatório: escolha da droga e alvo de pressão</a:t>
            </a:r>
            <a:endParaRPr lang="en-US" sz="1700" dirty="0"/>
          </a:p>
        </p:txBody>
      </p:sp>
      <p:sp>
        <p:nvSpPr>
          <p:cNvPr id="16" name="07"/>
          <p:cNvSpPr txBox="1"/>
          <p:nvPr/>
        </p:nvSpPr>
        <p:spPr>
          <a:xfrm>
            <a:off x="812800" y="4335154"/>
            <a:ext cx="425450"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07</a:t>
            </a:r>
            <a:endParaRPr lang="en-US" sz="2400" dirty="0"/>
          </a:p>
        </p:txBody>
      </p:sp>
      <p:sp>
        <p:nvSpPr>
          <p:cNvPr id="17" name="Mensagens finais"/>
          <p:cNvSpPr txBox="1"/>
          <p:nvPr/>
        </p:nvSpPr>
        <p:spPr>
          <a:xfrm>
            <a:off x="1371600" y="4441573"/>
            <a:ext cx="1534418" cy="280591"/>
          </a:xfrm>
          <a:prstGeom prst="rect">
            <a:avLst/>
          </a:prstGeom>
          <a:noFill/>
          <a:ln/>
        </p:spPr>
        <p:txBody>
          <a:bodyPr wrap="none" lIns="0" tIns="0" rIns="0" bIns="0" rtlCol="0" anchor="t"/>
          <a:lstStyle/>
          <a:p>
            <a:pPr algn="l" indent="0" marL="0">
              <a:lnSpc>
                <a:spcPts val="2210"/>
              </a:lnSpc>
              <a:buNone/>
            </a:pPr>
            <a:r>
              <a:rPr lang="pt-BR" altLang="en-US" sz="1700" dirty="0">
                <a:solidFill>
                  <a:srgbClr val="1B2A3A"/>
                </a:solidFill>
                <a:latin typeface="Calibri" pitchFamily="34" charset="0"/>
                <a:ea typeface="Calibri" pitchFamily="34" charset="-122"/>
                <a:cs typeface="Calibri" pitchFamily="34" charset="-120"/>
              </a:rPr>
              <a:t>Mensagens finais</a:t>
            </a:r>
            <a:endParaRPr lang="en-US" sz="1700" dirty="0"/>
          </a:p>
        </p:txBody>
      </p:sp>
      <p:sp>
        <p:nvSpPr>
          <p:cNvPr id="18" name="Surviving Sepsis Campaign 2026 · ESICM 2"/>
          <p:cNvSpPr txBox="1"/>
          <p:nvPr/>
        </p:nvSpPr>
        <p:spPr>
          <a:xfrm>
            <a:off x="812800" y="6226316"/>
            <a:ext cx="104330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Calibri" pitchFamily="34" charset="0"/>
                <a:ea typeface="Calibri" pitchFamily="34" charset="-122"/>
                <a:cs typeface="Calibri" pitchFamily="34" charset="-120"/>
              </a:rPr>
              <a:t>Surviving Sepsis Campaign 2026 · ESICM 2025 · Miller’s Anesthesia, 10ª ed. (2024)</a:t>
            </a:r>
            <a:endParaRPr lang="en-US" sz="1200" dirty="0"/>
          </a:p>
        </p:txBody>
      </p:sp>
      <p:pic>
        <p:nvPicPr>
          <p:cNvPr id="19"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3EE"/>
        </a:solidFill>
      </p:bgPr>
    </p:bg>
    <p:spTree>
      <p:nvGrpSpPr>
        <p:cNvPr id="1" name=""/>
        <p:cNvGrpSpPr/>
        <p:nvPr/>
      </p:nvGrpSpPr>
      <p:grpSpPr>
        <a:xfrm>
          <a:off x="0" y="0"/>
          <a:ext cx="0" cy="0"/>
          <a:chOff x="0" y="0"/>
          <a:chExt cx="0" cy="0"/>
        </a:xfrm>
      </p:grpSpPr>
      <p:sp>
        <p:nvSpPr>
          <p:cNvPr id="2" name="RESERVA · REFERÊNCIAS"/>
          <p:cNvSpPr txBox="1"/>
          <p:nvPr/>
        </p:nvSpPr>
        <p:spPr>
          <a:xfrm>
            <a:off x="812800" y="800837"/>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Calibri" pitchFamily="34" charset="0"/>
                <a:ea typeface="Calibri" pitchFamily="34" charset="-122"/>
                <a:cs typeface="Calibri" pitchFamily="34" charset="-120"/>
              </a:rPr>
              <a:t>RESERVA · REFERÊNCIAS</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Referências</a:t>
            </a:r>
            <a:endParaRPr lang="en-US" sz="3200" dirty="0"/>
          </a:p>
        </p:txBody>
      </p:sp>
      <p:sp>
        <p:nvSpPr>
          <p:cNvPr id="4" name="Prescott, Antonelli · SSC 2026 · Crit Ca"/>
          <p:cNvSpPr txBox="1"/>
          <p:nvPr/>
        </p:nvSpPr>
        <p:spPr>
          <a:xfrm>
            <a:off x="812800" y="1869823"/>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Prescott, Antonelli · SSC 2026 · Crit Care Med 2026</a:t>
            </a:r>
            <a:endParaRPr lang="en-US" sz="1200" dirty="0"/>
          </a:p>
        </p:txBody>
      </p:sp>
      <p:sp>
        <p:nvSpPr>
          <p:cNvPr id="5" name="Monnet, Messina · ESICM 2025 · Intensive"/>
          <p:cNvSpPr txBox="1"/>
          <p:nvPr/>
        </p:nvSpPr>
        <p:spPr>
          <a:xfrm>
            <a:off x="812800" y="2088204"/>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Monnet, Messina · ESICM 2025 · Intensive Care Med 2025</a:t>
            </a:r>
            <a:endParaRPr lang="en-US" sz="1200" dirty="0"/>
          </a:p>
        </p:txBody>
      </p:sp>
      <p:sp>
        <p:nvSpPr>
          <p:cNvPr id="6" name="Miller’s Anesthesia, 10ª ed. · Elsevier "/>
          <p:cNvSpPr txBox="1"/>
          <p:nvPr/>
        </p:nvSpPr>
        <p:spPr>
          <a:xfrm>
            <a:off x="812800" y="2306584"/>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Miller’s Anesthesia, 10ª ed. · Elsevier 2024 · [caps.]</a:t>
            </a:r>
            <a:endParaRPr lang="en-US" sz="1200" dirty="0"/>
          </a:p>
        </p:txBody>
      </p:sp>
      <p:sp>
        <p:nvSpPr>
          <p:cNvPr id="7" name="De Backer · SOAP II · N Engl J Med 2010"/>
          <p:cNvSpPr txBox="1"/>
          <p:nvPr/>
        </p:nvSpPr>
        <p:spPr>
          <a:xfrm>
            <a:off x="812800" y="2524965"/>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De Backer · SOAP II · N Engl J Med 2010</a:t>
            </a:r>
            <a:endParaRPr lang="en-US" sz="1200" dirty="0"/>
          </a:p>
        </p:txBody>
      </p:sp>
      <p:sp>
        <p:nvSpPr>
          <p:cNvPr id="8" name="Russell · VASST · N Engl J Med 2008"/>
          <p:cNvSpPr txBox="1"/>
          <p:nvPr/>
        </p:nvSpPr>
        <p:spPr>
          <a:xfrm>
            <a:off x="812800" y="2743345"/>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Russell · VASST · N Engl J Med 2008</a:t>
            </a:r>
            <a:endParaRPr lang="en-US" sz="1200" dirty="0"/>
          </a:p>
        </p:txBody>
      </p:sp>
      <p:sp>
        <p:nvSpPr>
          <p:cNvPr id="9" name="Gordon · VANISH · JAMA 2016"/>
          <p:cNvSpPr txBox="1"/>
          <p:nvPr/>
        </p:nvSpPr>
        <p:spPr>
          <a:xfrm>
            <a:off x="812800" y="2961726"/>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Gordon · VANISH · JAMA 2016</a:t>
            </a:r>
            <a:endParaRPr lang="en-US" sz="1200" dirty="0"/>
          </a:p>
        </p:txBody>
      </p:sp>
      <p:sp>
        <p:nvSpPr>
          <p:cNvPr id="10" name="Peltan · VASSPR · JAMA 2026"/>
          <p:cNvSpPr txBox="1"/>
          <p:nvPr/>
        </p:nvSpPr>
        <p:spPr>
          <a:xfrm>
            <a:off x="812800" y="3180106"/>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Peltan · VASSPR · JAMA 2026</a:t>
            </a:r>
            <a:endParaRPr lang="en-US" sz="1200" dirty="0"/>
          </a:p>
        </p:txBody>
      </p:sp>
      <p:sp>
        <p:nvSpPr>
          <p:cNvPr id="11" name="Lamontagne · 65 trial · JAMA 2020"/>
          <p:cNvSpPr txBox="1"/>
          <p:nvPr/>
        </p:nvSpPr>
        <p:spPr>
          <a:xfrm>
            <a:off x="812800" y="3398487"/>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Lamontagne · 65 trial · JAMA 2020</a:t>
            </a:r>
            <a:endParaRPr lang="en-US" sz="1200" dirty="0"/>
          </a:p>
        </p:txBody>
      </p:sp>
      <p:sp>
        <p:nvSpPr>
          <p:cNvPr id="12" name="Endo · OPTPRESS · Intensive Care Med 202"/>
          <p:cNvSpPr txBox="1"/>
          <p:nvPr/>
        </p:nvSpPr>
        <p:spPr>
          <a:xfrm>
            <a:off x="812800" y="3616867"/>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Endo · OPTPRESS · Intensive Care Med 2025</a:t>
            </a:r>
            <a:endParaRPr lang="en-US" sz="1200" dirty="0"/>
          </a:p>
        </p:txBody>
      </p:sp>
      <p:sp>
        <p:nvSpPr>
          <p:cNvPr id="13" name="Permpikul · CENSER · Am J Respir Crit Ca"/>
          <p:cNvSpPr txBox="1"/>
          <p:nvPr/>
        </p:nvSpPr>
        <p:spPr>
          <a:xfrm>
            <a:off x="812800" y="3835248"/>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Permpikul · CENSER · Am J Respir Crit Care Med 2019</a:t>
            </a:r>
            <a:endParaRPr lang="en-US" sz="1200" dirty="0"/>
          </a:p>
        </p:txBody>
      </p:sp>
      <p:sp>
        <p:nvSpPr>
          <p:cNvPr id="14" name="Annane · CATS · Lancet 2007"/>
          <p:cNvSpPr txBox="1"/>
          <p:nvPr/>
        </p:nvSpPr>
        <p:spPr>
          <a:xfrm>
            <a:off x="812800" y="4053628"/>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Annane · CATS · Lancet 2007</a:t>
            </a:r>
            <a:endParaRPr lang="en-US" sz="1200" dirty="0"/>
          </a:p>
        </p:txBody>
      </p:sp>
      <p:sp>
        <p:nvSpPr>
          <p:cNvPr id="15" name="Myburgh · CAT · Intensive Care Med 2008"/>
          <p:cNvSpPr txBox="1"/>
          <p:nvPr/>
        </p:nvSpPr>
        <p:spPr>
          <a:xfrm>
            <a:off x="812800" y="4272009"/>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Myburgh · CAT · Intensive Care Med 2008</a:t>
            </a:r>
            <a:endParaRPr lang="en-US" sz="1200" dirty="0"/>
          </a:p>
        </p:txBody>
      </p:sp>
      <p:sp>
        <p:nvSpPr>
          <p:cNvPr id="16" name="Levy · OptimaCC · J Am Coll Cardiol 2018"/>
          <p:cNvSpPr txBox="1"/>
          <p:nvPr/>
        </p:nvSpPr>
        <p:spPr>
          <a:xfrm>
            <a:off x="812800" y="4490389"/>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Levy · OptimaCC · J Am Coll Cardiol 2018</a:t>
            </a:r>
            <a:endParaRPr lang="en-US" sz="1200" dirty="0"/>
          </a:p>
        </p:txBody>
      </p:sp>
      <p:sp>
        <p:nvSpPr>
          <p:cNvPr id="17" name="Mathew · DOREMI · N Engl J Med 2021"/>
          <p:cNvSpPr txBox="1"/>
          <p:nvPr/>
        </p:nvSpPr>
        <p:spPr>
          <a:xfrm>
            <a:off x="812800" y="4708769"/>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Mathew · DOREMI · N Engl J Med 2021</a:t>
            </a:r>
            <a:endParaRPr lang="en-US" sz="1200" dirty="0"/>
          </a:p>
        </p:txBody>
      </p:sp>
      <p:sp>
        <p:nvSpPr>
          <p:cNvPr id="18" name="Di Santo · DOREMI, betabloqueador · Crit"/>
          <p:cNvSpPr txBox="1"/>
          <p:nvPr/>
        </p:nvSpPr>
        <p:spPr>
          <a:xfrm>
            <a:off x="812800" y="4927150"/>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Di Santo · DOREMI, betabloqueador · Crit Care 2021</a:t>
            </a:r>
            <a:endParaRPr lang="en-US" sz="1200" dirty="0"/>
          </a:p>
        </p:txBody>
      </p:sp>
      <p:sp>
        <p:nvSpPr>
          <p:cNvPr id="19" name="Cuffe · OPTIME-CHF · JAMA 2002"/>
          <p:cNvSpPr txBox="1"/>
          <p:nvPr/>
        </p:nvSpPr>
        <p:spPr>
          <a:xfrm>
            <a:off x="812800" y="5145530"/>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Cuffe · OPTIME-CHF · JAMA 2002</a:t>
            </a:r>
            <a:endParaRPr lang="en-US" sz="1200" dirty="0"/>
          </a:p>
        </p:txBody>
      </p:sp>
      <p:sp>
        <p:nvSpPr>
          <p:cNvPr id="20" name="Hajjar · VANCS · Anesthesiology 2017"/>
          <p:cNvSpPr txBox="1"/>
          <p:nvPr/>
        </p:nvSpPr>
        <p:spPr>
          <a:xfrm>
            <a:off x="812800" y="5363911"/>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Hajjar · VANCS · Anesthesiology 2017</a:t>
            </a:r>
            <a:endParaRPr lang="en-US" sz="1200" dirty="0"/>
          </a:p>
        </p:txBody>
      </p:sp>
      <p:sp>
        <p:nvSpPr>
          <p:cNvPr id="21" name="Khanna · ATHOS-3 · N Engl J Med 2017"/>
          <p:cNvSpPr txBox="1"/>
          <p:nvPr/>
        </p:nvSpPr>
        <p:spPr>
          <a:xfrm>
            <a:off x="812800" y="5582291"/>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Khanna · ATHOS-3 · N Engl J Med 2017</a:t>
            </a:r>
            <a:endParaRPr lang="en-US" sz="1200" dirty="0"/>
          </a:p>
        </p:txBody>
      </p:sp>
      <p:sp>
        <p:nvSpPr>
          <p:cNvPr id="22" name="Bellomo · dopamina em dose baixa (ANZICS"/>
          <p:cNvSpPr txBox="1"/>
          <p:nvPr/>
        </p:nvSpPr>
        <p:spPr>
          <a:xfrm>
            <a:off x="6248400" y="1869823"/>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Bellomo · dopamina em dose baixa (ANZICS) · Lancet 2000</a:t>
            </a:r>
            <a:endParaRPr lang="en-US" sz="1200" dirty="0"/>
          </a:p>
        </p:txBody>
      </p:sp>
      <p:sp>
        <p:nvSpPr>
          <p:cNvPr id="23" name="Venkatesh · ADRENAL · N Engl J Med 2018"/>
          <p:cNvSpPr txBox="1"/>
          <p:nvPr/>
        </p:nvSpPr>
        <p:spPr>
          <a:xfrm>
            <a:off x="6248400" y="2088204"/>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Venkatesh · ADRENAL · N Engl J Med 2018</a:t>
            </a:r>
            <a:endParaRPr lang="en-US" sz="1200" dirty="0"/>
          </a:p>
        </p:txBody>
      </p:sp>
      <p:sp>
        <p:nvSpPr>
          <p:cNvPr id="24" name="Annane · APROCCHSS · N Engl J Med 2018"/>
          <p:cNvSpPr txBox="1"/>
          <p:nvPr/>
        </p:nvSpPr>
        <p:spPr>
          <a:xfrm>
            <a:off x="6248400" y="2306584"/>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Annane · APROCCHSS · N Engl J Med 2018</a:t>
            </a:r>
            <a:endParaRPr lang="en-US" sz="1200" dirty="0"/>
          </a:p>
        </p:txBody>
      </p:sp>
      <p:sp>
        <p:nvSpPr>
          <p:cNvPr id="25" name="Kinsella · consenso cesárea · Anaesthesi"/>
          <p:cNvSpPr txBox="1"/>
          <p:nvPr/>
        </p:nvSpPr>
        <p:spPr>
          <a:xfrm>
            <a:off x="6248400" y="2524965"/>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Kinsella · consenso cesárea · Anaesthesia 2018</a:t>
            </a:r>
            <a:endParaRPr lang="en-US" sz="1200" dirty="0"/>
          </a:p>
        </p:txBody>
      </p:sp>
      <p:sp>
        <p:nvSpPr>
          <p:cNvPr id="26" name="Sharkey · NA vs. fenilefrina na cesárea "/>
          <p:cNvSpPr txBox="1"/>
          <p:nvPr/>
        </p:nvSpPr>
        <p:spPr>
          <a:xfrm>
            <a:off x="6248400" y="2743345"/>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Sharkey · NA vs. fenilefrina na cesárea · Anesth Analg 2019</a:t>
            </a:r>
            <a:endParaRPr lang="en-US" sz="1200" dirty="0"/>
          </a:p>
        </p:txBody>
      </p:sp>
      <p:sp>
        <p:nvSpPr>
          <p:cNvPr id="27" name="Park, Choi · vasopressores na cesárea · "/>
          <p:cNvSpPr txBox="1"/>
          <p:nvPr/>
        </p:nvSpPr>
        <p:spPr>
          <a:xfrm>
            <a:off x="6248400" y="2961726"/>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Park, Choi · vasopressores na cesárea · Anesth Pain Med 2024</a:t>
            </a:r>
            <a:endParaRPr lang="en-US" sz="1200" dirty="0"/>
          </a:p>
        </p:txBody>
      </p:sp>
      <p:sp>
        <p:nvSpPr>
          <p:cNvPr id="28" name="Marcucci · POISE-3 · Ann Intern Med 2023"/>
          <p:cNvSpPr txBox="1"/>
          <p:nvPr/>
        </p:nvSpPr>
        <p:spPr>
          <a:xfrm>
            <a:off x="6248400" y="3180106"/>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Marcucci · POISE-3 · Ann Intern Med 2023</a:t>
            </a:r>
            <a:endParaRPr lang="en-US" sz="1200" dirty="0"/>
          </a:p>
        </p:txBody>
      </p:sp>
      <p:sp>
        <p:nvSpPr>
          <p:cNvPr id="29" name="Saugel · POQI · Br J Anaesth 2024"/>
          <p:cNvSpPr txBox="1"/>
          <p:nvPr/>
        </p:nvSpPr>
        <p:spPr>
          <a:xfrm>
            <a:off x="6248400" y="3398487"/>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Saugel · POQI · Br J Anaesth 2024</a:t>
            </a:r>
            <a:endParaRPr lang="en-US" sz="1200" dirty="0"/>
          </a:p>
        </p:txBody>
      </p:sp>
      <p:sp>
        <p:nvSpPr>
          <p:cNvPr id="30" name="Lineburger · custo da hipotensão · Braz "/>
          <p:cNvSpPr txBox="1"/>
          <p:nvPr/>
        </p:nvSpPr>
        <p:spPr>
          <a:xfrm>
            <a:off x="6248400" y="3616867"/>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Lineburger · custo da hipotensão · Braz J Anesthesiol 2025</a:t>
            </a:r>
            <a:endParaRPr lang="en-US" sz="1200" dirty="0"/>
          </a:p>
        </p:txBody>
      </p:sp>
      <p:sp>
        <p:nvSpPr>
          <p:cNvPr id="31" name="Salmasi · hipotensão e lesão orgânica · "/>
          <p:cNvSpPr txBox="1"/>
          <p:nvPr/>
        </p:nvSpPr>
        <p:spPr>
          <a:xfrm>
            <a:off x="6248400" y="3835248"/>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Salmasi · hipotensão e lesão orgânica · Anesthesiology 2017</a:t>
            </a:r>
            <a:endParaRPr lang="en-US" sz="1200" dirty="0"/>
          </a:p>
        </p:txBody>
      </p:sp>
      <p:sp>
        <p:nvSpPr>
          <p:cNvPr id="32" name="Saugel · IMPROVE-multi · JAMA 2025"/>
          <p:cNvSpPr txBox="1"/>
          <p:nvPr/>
        </p:nvSpPr>
        <p:spPr>
          <a:xfrm>
            <a:off x="6248400" y="4053628"/>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Saugel · IMPROVE-multi · JAMA 2025</a:t>
            </a:r>
            <a:endParaRPr lang="en-US" sz="1200" dirty="0"/>
          </a:p>
        </p:txBody>
      </p:sp>
      <p:sp>
        <p:nvSpPr>
          <p:cNvPr id="33" name="SIAARTI · HISTAP · Intensive Care Med 20"/>
          <p:cNvSpPr txBox="1"/>
          <p:nvPr/>
        </p:nvSpPr>
        <p:spPr>
          <a:xfrm>
            <a:off x="6248400" y="4272009"/>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SIAARTI · HISTAP · Intensive Care Med 2026</a:t>
            </a:r>
            <a:endParaRPr lang="en-US" sz="1200" dirty="0"/>
          </a:p>
        </p:txBody>
      </p:sp>
      <p:sp>
        <p:nvSpPr>
          <p:cNvPr id="34" name="Tran · NA periférica · Am J Emerg Med 20"/>
          <p:cNvSpPr txBox="1"/>
          <p:nvPr/>
        </p:nvSpPr>
        <p:spPr>
          <a:xfrm>
            <a:off x="6248400" y="4490389"/>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Tran · NA periférica · Am J Emerg Med 2020</a:t>
            </a:r>
            <a:endParaRPr lang="en-US" sz="1200" dirty="0"/>
          </a:p>
        </p:txBody>
      </p:sp>
      <p:sp>
        <p:nvSpPr>
          <p:cNvPr id="35" name="Ibarra-Estrada · NA base vs. sal · Inten"/>
          <p:cNvSpPr txBox="1"/>
          <p:nvPr/>
        </p:nvSpPr>
        <p:spPr>
          <a:xfrm>
            <a:off x="6248400" y="4708769"/>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Ibarra-Estrada · NA base vs. sal · Intensive Care Med 2024</a:t>
            </a:r>
            <a:endParaRPr lang="en-US" sz="1200" dirty="0"/>
          </a:p>
        </p:txBody>
      </p:sp>
      <p:sp>
        <p:nvSpPr>
          <p:cNvPr id="36" name="ANZCA/ANZAAG · anafilaxia perioperatória"/>
          <p:cNvSpPr txBox="1"/>
          <p:nvPr/>
        </p:nvSpPr>
        <p:spPr>
          <a:xfrm>
            <a:off x="6248400" y="4927150"/>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ANZCA/ANZAAG · anafilaxia perioperatória · 2022</a:t>
            </a:r>
            <a:endParaRPr lang="en-US" sz="1200" dirty="0"/>
          </a:p>
        </p:txBody>
      </p:sp>
      <p:sp>
        <p:nvSpPr>
          <p:cNvPr id="37" name="Overgaard, Džavík · revisão · Circulatio"/>
          <p:cNvSpPr txBox="1"/>
          <p:nvPr/>
        </p:nvSpPr>
        <p:spPr>
          <a:xfrm>
            <a:off x="6248400" y="5145530"/>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Overgaard, Džavík · revisão · Circulation 2008</a:t>
            </a:r>
            <a:endParaRPr lang="en-US" sz="1200" dirty="0"/>
          </a:p>
        </p:txBody>
      </p:sp>
      <p:sp>
        <p:nvSpPr>
          <p:cNvPr id="38" name="Persichini · NA e retorno venoso · Crit "/>
          <p:cNvSpPr txBox="1"/>
          <p:nvPr/>
        </p:nvSpPr>
        <p:spPr>
          <a:xfrm>
            <a:off x="6248400" y="5363911"/>
            <a:ext cx="5149850" cy="205680"/>
          </a:xfrm>
          <a:prstGeom prst="rect">
            <a:avLst/>
          </a:prstGeom>
          <a:noFill/>
          <a:ln/>
        </p:spPr>
        <p:txBody>
          <a:bodyPr wrap="none" lIns="0" tIns="0" rIns="0" bIns="0" rtlCol="0" anchor="t"/>
          <a:lstStyle/>
          <a:p>
            <a:pPr algn="l" indent="0" marL="0">
              <a:lnSpc>
                <a:spcPts val="1620"/>
              </a:lnSpc>
              <a:buNone/>
            </a:pPr>
            <a:r>
              <a:rPr lang="pt-BR" altLang="en-US" sz="1200" dirty="0">
                <a:solidFill>
                  <a:srgbClr val="1B2A3A"/>
                </a:solidFill>
                <a:latin typeface="Calibri" pitchFamily="34" charset="0"/>
                <a:ea typeface="Calibri" pitchFamily="34" charset="-122"/>
                <a:cs typeface="Calibri" pitchFamily="34" charset="-120"/>
              </a:rPr>
              <a:t>Persichini · NA e retorno venoso · Crit Care Med 2012</a:t>
            </a:r>
            <a:endParaRPr lang="en-US" sz="1200" dirty="0"/>
          </a:p>
        </p:txBody>
      </p:sp>
      <p:pic>
        <p:nvPicPr>
          <p:cNvPr id="39" name="Símbolo da UFRJ" descr="Símbolo da UFRJ">    </p:cNvPr>
          <p:cNvPicPr>
            <a:picLocks noChangeAspect="1"/>
          </p:cNvPicPr>
          <p:nvPr/>
        </p:nvPicPr>
        <p:blipFill>
          <a:blip r:embed="rId1"/>
          <a:stretch>
            <a:fillRect/>
          </a:stretch>
        </p:blipFill>
        <p:spPr>
          <a:xfrm>
            <a:off x="11430000" y="5894381"/>
            <a:ext cx="508000" cy="758838"/>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Aminas Vasoativas">
      <a:dk1>
        <a:srgbClr val="1B2A3A"/>
      </a:dk1>
      <a:lt1>
        <a:srgbClr val="FFFDF8"/>
      </a:lt1>
      <a:dk2>
        <a:srgbClr val="2C3A48"/>
      </a:dk2>
      <a:lt2>
        <a:srgbClr val="F5F3EE"/>
      </a:lt2>
      <a:accent1>
        <a:srgbClr val="B9581A"/>
      </a:accent1>
      <a:accent2>
        <a:srgbClr val="2E5E8C"/>
      </a:accent2>
      <a:accent3>
        <a:srgbClr val="56606B"/>
      </a:accent3>
      <a:accent4>
        <a:srgbClr val="E49A5C"/>
      </a:accent4>
      <a:accent5>
        <a:srgbClr val="33475E"/>
      </a:accent5>
      <a:accent6>
        <a:srgbClr val="E2DDD2"/>
      </a:accent6>
      <a:hlink>
        <a:srgbClr val="2E5E8C"/>
      </a:hlink>
      <a:folHlink>
        <a:srgbClr val="56606B"/>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Aminas Vasoativas</dc:title>
  <dc:subject>Sessão clínica</dc:subject>
  <dc:creator>Bruno Dubois</dc:creator>
  <cp:lastModifiedBy>Bruno Dubois</cp:lastModifiedBy>
  <cp:revision>1</cp:revision>
  <dcterms:created xsi:type="dcterms:W3CDTF">2026-10-18T19:37:18Z</dcterms:created>
  <dcterms:modified xsi:type="dcterms:W3CDTF">2026-10-18T19:37:18Z</dcterms:modified>
</cp:coreProperties>
</file>