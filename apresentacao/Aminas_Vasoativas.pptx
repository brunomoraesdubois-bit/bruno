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33094a39-0ea5-ab6a-29e1-510570928ac5}">
          <p14:sldIdLst>
            <p14:sldId id="256"/>
            <p14:sldId id="257"/>
          </p14:sldIdLst>
        </p14:section>
        <p14:section name="01 · Fisiologia: pressão, débito e perfusão" id="{6473c764-1113-f2f0-1908-c320d659279b}">
          <p14:sldIdLst>
            <p14:sldId id="258"/>
            <p14:sldId id="259"/>
          </p14:sldIdLst>
        </p14:section>
        <p14:section name="02 · Receptores" id="{2834fbbd-3c11-c0f1-9192-5a66dd218068}">
          <p14:sldIdLst>
            <p14:sldId id="260"/>
          </p14:sldIdLst>
        </p14:section>
        <p14:section name="03 · Drogas: noradrenalina, adrenalina, dobutamina (e dopamina), milrinona (escolha), fenilefrina e efedrina" id="{52207988-bc6f-3e6f-0ea8-73849d27c02b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04 · Além das aminas: vasopressina, hidrocortisona e azul de metileno" id="{ba9978ac-695d-8489-097b-ef5886a3c4a8}">
          <p14:sldIdLst>
            <p14:sldId id="267"/>
          </p14:sldIdLst>
        </p14:section>
        <p14:section name="05 · Choque séptico: a sequência da SSC 2026" id="{c9a33e56-0fd4-1370-44db-e56943887ed9}">
          <p14:sldIdLst>
            <p14:sldId id="268"/>
          </p14:sldIdLst>
        </p14:section>
        <p14:section name="06 · Perioperatório: escolha da droga" id="{4ef29285-ec94-4a7d-8331-e29e452b925d}">
          <p14:sldIdLst>
            <p14:sldId id="269"/>
          </p14:sldIdLst>
        </p14:section>
        <p14:section name="07 · Mensagens finais e encerramento" id="{bb3d8ab3-e455-a7a3-af42-3975aaf8e499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TEMPO: 25 s (0:00 → 0:25). Total previsto: 12 min 05 s nos 16 slides; ensaiar mirando 12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doses, indicações e cuidados de cada droga.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TEMPO: 25 s (0:25 → 0:50)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fisiologia. Na prática, a PAM é o débito cardíaco multiplicado pela resistência vascular sistêmica, somado à pressão venosa central. Como a PVC costuma ser baixa, a PAM depende sobretudo do débito e da resistência; quando a PVC sobe, o que cai é a perfusão, porque a pressão de perfusão do órgão é a diferença entre a PAM e a PVC. Três situações. Na vasoplegia o problema é o tônus vascular, sobretudo arterial, como na sepse, na anestesia geral e no bloqueio de neuroeixo: a droga é o vasopressor. Na falência de bomba o débito é baixo e a resistência em geral alta: o alvo é a contratilidade. Na pré-carga baixa, a hipovolemia pede volume; o α1 contrai veias e recruta volume não estressado, mas não substitui a reposição.</a:t>
            </a:r>
            <a:endParaRPr lang="en-US" dirty="0"/>
          </a:p>
          <a:p>
            <a:r>
              <a:rPr lang="en-US" dirty="0"/>
              <a:t>TEMPO: 1 min (0:50 → 1:50)</a:t>
            </a:r>
            <a:endParaRPr lang="en-US" dirty="0"/>
          </a:p>
          <a:p>
            <a:r>
              <a:rPr lang="en-US" dirty="0"/>
              <a:t>PONTO-CHAVE: PAM ≈ DC × RVS + PVC: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mais do que a resistência ao retorno venoso, com queda do retorno venoso e, portanto, do débito; é evidência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Mas pressão não é fluxo: uma resistência alta pode manter a PAM com débito baixo. No intraoperatório a perfusão raramente é medida de forma direta, então o caminho é combinar métodos. O eco, transesofágico ou à beira do leito, é o mais rápido para definir o tipo de choque: função dos ventrículos, volemia, pericárdio e o VTI na via de saída, que permite acompanhar o volume sistólico e a resposta às intervenções. Os monitores de débito, por contorno de pulso, termodiluição ou Doppler esofágico, dão o número e a resposta a volume, junto com VPP e VVS, elevação passiva das pernas ou um minidesafio hídrico. E os marcadores de perfusão tissular dizem se o fluxo está bastando: lactato e sua tendência, saturação venosa central, gap de CO₂, diurese, enchimento capilar e temperatura das extremidades. A decisão de usar inotrópico vem daí, não da pressão.</a:t>
            </a:r>
            <a:endParaRPr lang="en-US" dirty="0"/>
          </a:p>
          <a:p>
            <a:r>
              <a:rPr lang="en-US" dirty="0"/>
              <a:t>TEMPO: 1 min 5 s (1:50 → 2:55)</a:t>
            </a:r>
            <a:endParaRPr lang="en-US" dirty="0"/>
          </a:p>
          <a:p>
            <a:r>
              <a:rPr lang="en-US" dirty="0"/>
              <a:t>PONTO-CHAVE: Pressão não é fluxo: combinar eco, débito e marcadores de perfusão antes de decidir por inotrópico.</a:t>
            </a:r>
            <a:endParaRPr lang="en-US" dirty="0"/>
          </a:p>
          <a:p>
            <a:r>
              <a:rPr lang="en-US" dirty="0"/>
              <a:t>SE PERGUNTAREM: no OPTIME-CHF (Cuffe, JAMA 2002; 951 pacientes com IC descompensada sem indicação clara de inotrópico), milrinona vs. placebo por 48 h: sem benefício, com mais hipotensão sustentada e arritmia atrial. Em um ECR (Tongyoo, Ann Med 2025;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indica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Uma revisão breve dos receptores, apenas o que importa para as drogas de hoje. α1 contrai artérias e veias: sobe a resistência e o retorno venoso. α2, pré-sináptico, reduz a liberação de noradrenalina; é o alvo da dexmedetomidina. β1 aumenta contratilidade e frequência. β2 dilata vasos e brônquios e eleva glicemia e lactato. D1 dilata os leitos renal e mesentérico. V1 e PDE3 estão na tabela porque vasopressina e milrinona não dependem do adrenoceptor. Dois pontos práticos: as catecolaminas têm meia-vida de minutos, por isso vão em geral em infusão; fenilefrina e efedrina duram mais, por isso são as drogas habituais de bolus. E o uso prolongado dessensibiliza os receptores.</a:t>
            </a:r>
            <a:endParaRPr lang="en-US" dirty="0"/>
          </a:p>
          <a:p>
            <a:r>
              <a:rPr lang="en-US" dirty="0"/>
              <a:t>TEMPO: 50 s (2:55 → 3:45)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O α2 pós-sináptico vascular explica a hipertensão transitória do bolus de dexmedetomidina ou clonidina.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noradrenalina, a droga de primeira linha no choque séptico, com ação α1 potente e β1 modesta: sobe a PAM pela resistência e pela venoconstrição, com débito em geral mantido, que pode subir pelo retorno venoso ou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TEMPO: 40 s (3:45 → 4:25)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(De Backer, N Engl J Med 2010; n = 1.679), a mortalidade em 28 dias foi semelhante à da dopamina (48,5% vs. 52,5%), com metade das arritmias (12,4% vs. 24,1%); a SSC 2026 recomenda a noradrenalina em vez da dopamina (recomendação forte).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praticamente não há vasodilatação e o lactato sobe pouco. As barras do slide representam o efeito clínico esperado em cada via, não a afinidade pelo receptor.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anafilaxia, bolus endovenosos pequenos e titulados, com infusão se for preciso repetir. O lactato pode subir por efeito β2, e isso não autoriza ignorar hipoperfusão.</a:t>
            </a:r>
            <a:endParaRPr lang="en-US" dirty="0"/>
          </a:p>
          <a:p>
            <a:r>
              <a:rPr lang="en-US" dirty="0"/>
              <a:t>TEMPO: 35 s (4:25 → 5:00)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 Dose no choque séptico: a bula americana de epinefrina prevê infusão de 0,05–2 mcg/kg/min, titulada pela PAM. Cartão ANZAAG/ANZCA 2022 (adulto; 1 mg em 10 mL = 100 mcg/mL): grau 2, 10–20 mcg, e 50 mcg se não houver resposta; grau 3, 50–100 mcg, e 200 mcg se não houver resposta; repetir a cada 1–2 min; após mais de três bolus, infusão de 3 mg em 50 mL, de 3 a 40 mL/h; sem acesso venoso ou sem monitorização, 500 mcg IM na face lateral da coxa, repetível a cada 5 min. Dose no choque séptico: a bula americana de epinefrina prevê infusão de 0,05–2 mcg/kg/min, titulada pela PAM. Cartão ANZCA/ANZAAG 2022 (adulto; 1 mg em 10 mL = 100 mcg/mL): grau 2, 10–20 mcg, e 50 mcg se não houver resposta; grau 3,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A dopamina, em uma frase: efeito pouco previsível, risco de taquicardia e arritmias, e a chamada dose renal não protege o rim; hoje tem uso restrito.</a:t>
            </a:r>
            <a:endParaRPr lang="en-US" dirty="0"/>
          </a:p>
          <a:p>
            <a:r>
              <a:rPr lang="en-US" dirty="0"/>
              <a:t>TEMPO: 35 s (5:00 → 5:35)</a:t>
            </a:r>
            <a:endParaRPr lang="en-US" dirty="0"/>
          </a:p>
          <a:p>
            <a:r>
              <a:rPr lang="en-US" dirty="0"/>
              <a:t>PONTO-CHAVE: Dobutamina para baixo débito com hipoperfusão; dopamina de uso restrito.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chega ao mesmo ponto por outra via: a dobutamina aumenta a produção de AMPc pelo receptor β1; a milrinona inibe a PDE3, a enzima que degrada o AMPc, e por isso age depois do receptor. É um inodilatador: aumenta contratilidade e relaxamento e reduz as resistências sistêmica e pulmonar. A indicação é a disfunção ventricular com baixo débito que exige inotrópico, sobretudo quando há hipertensão pulmonar ou falência de VD.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TEMPO: 55 s (5:35 → 6:30)</a:t>
            </a:r>
            <a:endParaRPr lang="en-US" dirty="0"/>
          </a:p>
          <a:p>
            <a:r>
              <a:rPr lang="en-US" dirty="0"/>
              <a:t>PONTO-CHAVE: Inodilatador que age depois do receptor β; meia-vida longa e eliminação renal; costuma exigir noradrenalina.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Então, quando escolher? Primeiro, a indicação: inotrópico quando há disfunção ventricular com baixo débito e hipoperfusão, depois de otimizar volume e PAM; se a hipotensão é por vasoplegia, a droga é o vasopressor, e um inodilatador baixa ainda mais a pressão. Depois, o perfil farmacológico, que está na tabela. Milrinona quando a circulação pulmonar e o VD são o problema, como na hipertensão pulmonar e na saída de CEC com resistência pulmonar alta, e quando o betabloqueio ou a taquicardia limitam a dobutamina; ela precisa de uma PAM sustentada, em geral com noradrenalina. Dobutamina, junto com o vasopressor, quando o baixo débito vem acompanhado de hipotensão ou vasoplegia, em que a vasodilatação e a meia-vida longa da milrinona pesam contra; na insuficiência renal; e quando se quer titulação rápida, porque a meia-vida é de minutos. No choque séptico com disfunção miocárdica, a SSC 2026 sugere dobutamina associada à noradrenalina, ou adrenalina isolada, e reconhece que faltam dados para preferir a dobutamina à milrinona: é preferência prática, não superioridade demonstrada.</a:t>
            </a:r>
            <a:endParaRPr lang="en-US" dirty="0"/>
          </a:p>
          <a:p>
            <a:r>
              <a:rPr lang="en-US" dirty="0"/>
              <a:t>TEMPO: 1 min 20 s (6:30 → 7:50)</a:t>
            </a:r>
            <a:endParaRPr lang="en-US" dirty="0"/>
          </a:p>
          <a:p>
            <a:r>
              <a:rPr lang="en-US" dirty="0"/>
              <a:t>PONTO-CHAVE: Primeiro a indicação; depois o perfil: milrinona para VD e circulação pulmonar com PAM sustentada; dobutamina com pressão baixa ou para titular rápido. Na sepse, dobutamina é preferência prática, não superioridade demonstrada.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Agora duas aminas simpaticomiméticas que não são catecolaminas, as drogas de bolus do centro cirúrgico. Fenilefrina: agonista α1 direto, praticamente sem ação β; a PAM sobe pela resistência e a frequência cai por reflexo, o que pode reduzir o débito quando ele depende da frequência; é a escolha na hipotensão vasodilatadora com frequência normal ou alta. Efedrina: age diretamente em α e β e, sobretudo, libera noradrenalina das terminações; sobe pressão, frequência e débito, por isso é a escolha quando há bradicardia; perde efeito com doses repetidas, em parte porque depleta a noradrenalina, e na cesárea atravessa a placenta e associa-se a mais acidose fetal que a fenilefrina.</a:t>
            </a:r>
            <a:endParaRPr lang="en-US" dirty="0"/>
          </a:p>
          <a:p>
            <a:r>
              <a:rPr lang="en-US" dirty="0"/>
              <a:t>TEMPO: 50 s (7:50 → 8:40)</a:t>
            </a:r>
            <a:endParaRPr lang="en-US" dirty="0"/>
          </a:p>
          <a:p>
            <a:r>
              <a:rPr lang="en-US" dirty="0"/>
              <a:t>PONTO-CHAVE: Fenilefrina: hipotensão vasodilatadora com FC normal ou alta. Efedrina: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a via adrenérgica não basta, três recursos além das aminas. A vasopressina age no receptor V1, fora da via adrenérgica: poupa catecolamina e costuma manter efeito em acidose; no choque séptico há deficiência relativa do hormônio endógeno. Dose fixa, em geral 0,03 unidades por minuto, no choque séptico com noradrenalina em escalada, na vasoplegia após CEC e na hipotensão refratária com IECA ou BRA; o risco é isquemia digital e mesentérica. A hidrocortisona restaura a resposta vascular às catecolaminas, 200 mg por dia no choque séptico. O azul de metileno inibe a via do óxido nítrico e fica como resgate na vasoplegia refratária, como após CEC ou na reperfusão do enxerto hepático.</a:t>
            </a:r>
            <a:endParaRPr lang="en-US" dirty="0"/>
          </a:p>
          <a:p>
            <a:r>
              <a:rPr lang="en-US" dirty="0"/>
              <a:t>TEMPO: 55 s (8:40 → 9:35)</a:t>
            </a:r>
            <a:endParaRPr lang="en-US" dirty="0"/>
          </a:p>
          <a:p>
            <a:r>
              <a:rPr lang="en-US" dirty="0"/>
              <a:t>PONTO-CHAVE: Fora das aminas: vasopressina (V1), hidrocortisona e azul de metileno, cada uma por um mecanismo diferente.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resgate na vasoplegia pós-CEC e na reperfusão do enxerto hepático, com evidência limitada. Contraindicado na deficiência de G6PD (hemólise); subestima a SpO₂ na oximetria de pulso e reduz o BIS; síndrome serotoninérgica com ISRS e outros serotoninérgicos,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choque séptico, a Surviving Sepsis Campaign, a diretriz internacional de sepse, atualizada em 2026, organiza os vasopressores em sequência: noradrenalina primeiro, cedo, mesmo por veia periférica; vasopressina quando a dose de noradrenalina sobe, sem limiar definido; adrenalina se a PAM continuar inadequada. É o mesmo raciocínio da aula: tônus com noradrenalina, outra via com vasopressina, e inotrópico apenas se houver disfunção cardíaca com hipoperfusão, com volume e PAM já otimizados.</a:t>
            </a:r>
            <a:endParaRPr lang="en-US" dirty="0"/>
          </a:p>
          <a:p>
            <a:r>
              <a:rPr lang="en-US" dirty="0"/>
              <a:t>TEMPO: 35 s (9:35 → 10:10)</a:t>
            </a:r>
            <a:endParaRPr lang="en-US" dirty="0"/>
          </a:p>
          <a:p>
            <a:r>
              <a:rPr lang="en-US" dirty="0"/>
              <a:t>PONTO-CHAVE: Noradrenalina, depois vasopressina, depois adrenalina; inotrópico apenas com disfunção cardíaca e hipoperfusão.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PAM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centro cirúrgico, antes da droga, afastar causas tratáveis: plano profundo, hipovolemia, compressão aortocava, pneumotórax e anafilaxia. Depois, o mecanismo: tônus baixo com frequência normal ou alta, agonista α1; bradicardia, efedrina ou, se grave, adrenalina; baixo débito, inotrópico; vasoplegia refratária às catecolaminas, como após CEC, com IECA ou BRA ou na reperfusão do enxerto hepático, vasopressina, com azul de metileno como resgate; pré-carga baixa, volume. Um dado do nosso serviço ajuda nessa decisão: Gouvêa, Diaz e colaboradores acompanharam por ecocardiografia transesofágica o ventrículo direito de 19 pacientes selecionados em cinco fases do transplante hepático, e a função sistólica do VD se manteve preservada nos momentos avaliados, inclusive trinta minutos após a reperfusão. O estudo não mediu os primeiros minutos da reperfusão, então não diz se a instabilidade aguda é vasoplegia ou disfunção transitória do VD. O que fica dele para a prática é o método: usar o eco para separar disfunção de VD de vasoplegia antes de escolher entre inotrópico e vasopressor.</a:t>
            </a:r>
            <a:endParaRPr lang="en-US" dirty="0"/>
          </a:p>
          <a:p>
            <a:r>
              <a:rPr lang="en-US" dirty="0"/>
              <a:t>TEMPO: 1 min 15 s (10:10 → 11:25)</a:t>
            </a:r>
            <a:endParaRPr lang="en-US" dirty="0"/>
          </a:p>
          <a:p>
            <a:r>
              <a:rPr lang="en-US" dirty="0"/>
              <a:t>PONTO-CHAVE: Afastar causas, identificar o mecanismo, escolher a droga; o eco separa vasoplegia de falência de VD.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30 min após a reperfusão e fechamento); função sistólica do VD preservada nos cinco momentos; excluídos hipertensão portopulmonar, síndrome hepatopulmonar, doença cardiopulmonar e insuficiência hepática fulminante. População selecionada e medida feita 30 min depois da reperfusão: o estudo não mediu os primeiros minutos, quando ocorre a síndrome pós-reperfusão, não exclui disfunção transitória do VD nesse período e não permite atribuir a instabilidade aguda a vasoplegia. TAPSE e variação fracional de área dependem da carga, e o TAPSE mede apenas a excursão longitudinal do anel lateral; normais sob anestesia, com pós-carga baixa, afastam disfunção sistólica evidente nos momentos avaliados, não medem reserva contrátil. O estudo mediu a função do VD; não testou a capacidade do eco de diferenciar vasoplegia de disfunção ventricular na hipotensão aguda: essa é a aplicação clínica proposta na aula, não um resultado do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Vasoplegia: noradrenalina e, quando a dose sobe, vasopressina. Baixo débito com hipoperfusão: inotrópico, com a milrinona sobretudo no VD com hipertensão pulmonar. Hipotensão vasodilatadora da anestesia com bradicardia: efedrina; com frequência normal ou alta: fenilefrina. Anafilaxia: adrenalina.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TEMPO: 30 s (11:25 → 11:55)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(11:55 → 12:05)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doses, indicações e cuidados de"/>
          <p:cNvSpPr txBox="1"/>
          <p:nvPr/>
        </p:nvSpPr>
        <p:spPr>
          <a:xfrm>
            <a:off x="1371600" y="3173161"/>
            <a:ext cx="470346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doses, indicações e cuidados de cada droga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"/>
          <p:cNvSpPr txBox="1"/>
          <p:nvPr/>
        </p:nvSpPr>
        <p:spPr>
          <a:xfrm>
            <a:off x="4463256" y="4769969"/>
            <a:ext cx="324554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contrai ve"/>
          <p:cNvSpPr txBox="1"/>
          <p:nvPr/>
        </p:nvSpPr>
        <p:spPr>
          <a:xfrm>
            <a:off x="8252817" y="2484480"/>
            <a:ext cx="2884984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contrai veias e recruta volume não estressado, mas não substitui a reposição.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PAM ≈ DC × RVS + PVC"/>
          <p:cNvSpPr txBox="1"/>
          <p:nvPr/>
        </p:nvSpPr>
        <p:spPr>
          <a:xfrm>
            <a:off x="1073150" y="4604661"/>
            <a:ext cx="437931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 + PVC</a:t>
            </a:r>
            <a:endParaRPr lang="en-US" sz="3200" dirty="0"/>
          </a:p>
        </p:txBody>
      </p:sp>
      <p:sp>
        <p:nvSpPr>
          <p:cNvPr id="15" name="A PVC costuma ser baixa: a PAM depende s"/>
          <p:cNvSpPr txBox="1"/>
          <p:nvPr/>
        </p:nvSpPr>
        <p:spPr>
          <a:xfrm>
            <a:off x="5839817" y="4502972"/>
            <a:ext cx="529808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PVC costuma ser baixa: a PAM depende sobretudo do débito e da resistência. Quando a PVC sobe, o que cai é a perfusão (PAM − PVC) e o retorno venoso.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 a perfusão no intraoperatório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03301"/>
            <a:ext cx="3386634" cy="2372221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Ecocardiografia (ETE ou POCUS)"/>
          <p:cNvSpPr txBox="1"/>
          <p:nvPr/>
        </p:nvSpPr>
        <p:spPr>
          <a:xfrm>
            <a:off x="1047750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(ETE ou POCUS)</a:t>
            </a:r>
            <a:endParaRPr lang="en-US" sz="1700" dirty="0"/>
          </a:p>
        </p:txBody>
      </p:sp>
      <p:sp>
        <p:nvSpPr>
          <p:cNvPr id="6" name="Tipo de choque em minutos: função de VE "/>
          <p:cNvSpPr txBox="1"/>
          <p:nvPr/>
        </p:nvSpPr>
        <p:spPr>
          <a:xfrm>
            <a:off x="1047750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choque em minutos: função de VE e VD, volemia, pericárdio</a:t>
            </a:r>
            <a:endParaRPr lang="en-US" sz="1350" dirty="0"/>
          </a:p>
        </p:txBody>
      </p:sp>
      <p:sp>
        <p:nvSpPr>
          <p:cNvPr id="7" name="VTI na via de saída do VE: estimativa se"/>
          <p:cNvSpPr txBox="1"/>
          <p:nvPr/>
        </p:nvSpPr>
        <p:spPr>
          <a:xfrm>
            <a:off x="1047750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VTI na via de saída do VE: estimativa seriada do volume sistólico</a:t>
            </a:r>
            <a:endParaRPr lang="en-US" sz="1350" dirty="0"/>
          </a:p>
        </p:txBody>
      </p:sp>
      <p:sp>
        <p:nvSpPr>
          <p:cNvPr id="8" name="Reavaliar após volume ou droga"/>
          <p:cNvSpPr txBox="1"/>
          <p:nvPr/>
        </p:nvSpPr>
        <p:spPr>
          <a:xfrm>
            <a:off x="1047750" y="3472493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após volume ou droga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4402634" y="1803301"/>
            <a:ext cx="3386634" cy="2372221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Débito e parâmetros dinâmicos"/>
          <p:cNvSpPr txBox="1"/>
          <p:nvPr/>
        </p:nvSpPr>
        <p:spPr>
          <a:xfrm>
            <a:off x="4637584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parâmetros dinâmicos</a:t>
            </a:r>
            <a:endParaRPr lang="en-US" sz="1700" dirty="0"/>
          </a:p>
        </p:txBody>
      </p:sp>
      <p:sp>
        <p:nvSpPr>
          <p:cNvPr id="11" name="Monitores de débito: contorno de pulso, "/>
          <p:cNvSpPr txBox="1"/>
          <p:nvPr/>
        </p:nvSpPr>
        <p:spPr>
          <a:xfrm>
            <a:off x="4637584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de débito: contorno de pulso, termodiluição, Doppler</a:t>
            </a:r>
            <a:endParaRPr lang="en-US" sz="1350" dirty="0"/>
          </a:p>
        </p:txBody>
      </p:sp>
      <p:sp>
        <p:nvSpPr>
          <p:cNvPr id="12" name="VPP e VVS em ventilação controlada, dent"/>
          <p:cNvSpPr txBox="1"/>
          <p:nvPr/>
        </p:nvSpPr>
        <p:spPr>
          <a:xfrm>
            <a:off x="4637584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 em ventilação controlada, dentro dos limites do método</a:t>
            </a:r>
            <a:endParaRPr lang="en-US" sz="1350" dirty="0"/>
          </a:p>
        </p:txBody>
      </p:sp>
      <p:sp>
        <p:nvSpPr>
          <p:cNvPr id="13" name="Elevação passiva das pernas ou minidesaf"/>
          <p:cNvSpPr txBox="1"/>
          <p:nvPr/>
        </p:nvSpPr>
        <p:spPr>
          <a:xfrm>
            <a:off x="4637584" y="347249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7992467" y="1803301"/>
            <a:ext cx="3386634" cy="2372221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Perfusão tissular"/>
          <p:cNvSpPr txBox="1"/>
          <p:nvPr/>
        </p:nvSpPr>
        <p:spPr>
          <a:xfrm>
            <a:off x="8227417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Perfusão tissular</a:t>
            </a:r>
            <a:endParaRPr lang="en-US" sz="1700" dirty="0"/>
          </a:p>
        </p:txBody>
      </p:sp>
      <p:sp>
        <p:nvSpPr>
          <p:cNvPr id="16" name="Lactato e sua tendência; SvcO₂; gap veno"/>
          <p:cNvSpPr txBox="1"/>
          <p:nvPr/>
        </p:nvSpPr>
        <p:spPr>
          <a:xfrm>
            <a:off x="8227417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e sua tendência;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Diurese"/>
          <p:cNvSpPr txBox="1"/>
          <p:nvPr/>
        </p:nvSpPr>
        <p:spPr>
          <a:xfrm>
            <a:off x="8227417" y="2928972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Diurese</a:t>
            </a:r>
            <a:endParaRPr lang="en-US" sz="1350" dirty="0"/>
          </a:p>
        </p:txBody>
      </p:sp>
      <p:sp>
        <p:nvSpPr>
          <p:cNvPr id="18" name="Enchimento capilar e temperatura das ext"/>
          <p:cNvSpPr txBox="1"/>
          <p:nvPr/>
        </p:nvSpPr>
        <p:spPr>
          <a:xfrm>
            <a:off x="8227417" y="323248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e temperatura das extremidades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812800" y="4404122"/>
            <a:ext cx="10566400" cy="886420"/>
          </a:xfrm>
          <a:prstGeom prst="roundRect">
            <a:avLst>
              <a:gd name="adj" fmla="val 859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Atenção"/>
          <p:cNvSpPr txBox="1"/>
          <p:nvPr/>
        </p:nvSpPr>
        <p:spPr>
          <a:xfrm>
            <a:off x="1073150" y="453401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21" name="PAM normal não exclui débito baixo: comb"/>
          <p:cNvSpPr txBox="1"/>
          <p:nvPr/>
        </p:nvSpPr>
        <p:spPr>
          <a:xfrm>
            <a:off x="2937470" y="4565678"/>
            <a:ext cx="820043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baixo: combinar eco, débito e marcadores de perfusão antes de decidir por inotrópico.</a:t>
            </a:r>
            <a:endParaRPr lang="en-US" sz="1500" dirty="0"/>
          </a:p>
        </p:txBody>
      </p:sp>
      <p:sp>
        <p:nvSpPr>
          <p:cNvPr id="22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Miller’s Anesthesia, 10ª ed. (2025), cap. 13, 33</a:t>
            </a:r>
            <a:endParaRPr lang="en-US" sz="1200" dirty="0"/>
          </a:p>
        </p:txBody>
      </p:sp>
      <p:pic>
        <p:nvPicPr>
          <p:cNvPr id="2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das aminas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698180"/>
                <a:gridCol w="581163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 (alvo da dexmedetomidina)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065562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60502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57973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tecolaminas: meia-vida de minutos, em "/>
          <p:cNvSpPr txBox="1"/>
          <p:nvPr/>
        </p:nvSpPr>
        <p:spPr>
          <a:xfrm>
            <a:off x="812800" y="5344753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mais: são as drogas habituais de bolus. Uso prolongado: dessensibilização.</a:t>
            </a:r>
            <a:endParaRPr lang="en-US" sz="1300" dirty="0"/>
          </a:p>
        </p:txBody>
      </p:sp>
      <p:sp>
        <p:nvSpPr>
          <p:cNvPr id="9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modesto: sobe a PAM pela 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modesto: sobe a PAM pela RVS e pelo retorno venoso; DC em geral mantido: pode subir pelo retorno venoso ou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608090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213069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Anafilaxia: bolus endovenosos pequenos e titulados; infusão se precisar repetir.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pouco previsível; risco de taquic"/>
          <p:cNvSpPr txBox="1"/>
          <p:nvPr/>
        </p:nvSpPr>
        <p:spPr>
          <a:xfrm>
            <a:off x="6457950" y="3355621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pouco previsível; risco de taquicardia e arritmias; a chamada dose “renal” não protege o rim. Uso restrito.</a:t>
            </a:r>
            <a:endParaRPr lang="en-US" sz="1350" dirty="0"/>
          </a:p>
        </p:txBody>
      </p:sp>
      <p:sp>
        <p:nvSpPr>
          <p:cNvPr id="37" name="Bellomo, Lancet 2000 (ANZICS) · Miller’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inotrópico, sobretudo com hipertensão pulmonar ou falência de VD; saída de CEC com RVP alta ou betabloqueio.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β: efeito em grande parte preservado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 com RVP alta; betabloqueio ou taquicardia limitando a dobutamina; PAM sustentada (em geral com NA).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 associada; insu"/>
          <p:cNvSpPr txBox="1"/>
          <p:nvPr/>
        </p:nvSpPr>
        <p:spPr>
          <a:xfrm>
            <a:off x="6407150" y="4712333"/>
            <a:ext cx="4781550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 associada; insuficiência renal; necessidade de titulação rápida (meia-vida de minutos). No choque séptico, a SSC 2026 sugere dobutamina com noradrenalina, ou adrenalina; faltam dados comparando com milrinona.</a:t>
            </a:r>
            <a:endParaRPr lang="en-US" sz="1300" dirty="0"/>
          </a:p>
        </p:txBody>
      </p:sp>
      <p:sp>
        <p:nvSpPr>
          <p:cNvPr id="12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ÃO CATECOLAMINAS DE BOLU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NÃO CATECOLAMINAS DE BOLUS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: sobe a RVS e a PAM; 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direto: sobe a RVS e a PAM; bradicardia reflexa, que pode reduzir o DC. Escolha na hipotensão vasodilatadora com FC normal ou alta.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direta em α e β e indireta, liberan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em α e β e indireta, liberando noradrenalina: sobe pressão, frequência e débito. Escolha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Além das aminas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268762"/>
          </a:xfrm>
          <a:prstGeom prst="roundRect">
            <a:avLst>
              <a:gd name="adj" fmla="val 2331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oradrena"/>
          <p:cNvSpPr txBox="1"/>
          <p:nvPr/>
        </p:nvSpPr>
        <p:spPr>
          <a:xfrm>
            <a:off x="1066800" y="3884060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noradrenalina em escalada, vasoplegia pós-CEC e hipotensão refratária em uso de IECA/BRA. Risco: isquemia digital e mesentérica.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catecolaminas; 200 mg/dia no choque séptico.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280908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zul de metileno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4" name="Inibe a via óxido nítrico–GMPc: resgate "/>
          <p:cNvSpPr txBox="1"/>
          <p:nvPr/>
        </p:nvSpPr>
        <p:spPr>
          <a:xfrm>
            <a:off x="5289550" y="323427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(pós-CEC, reperfusão hepática).</a:t>
            </a:r>
            <a:endParaRPr lang="en-US" sz="1300" dirty="0"/>
          </a:p>
        </p:txBody>
      </p:sp>
      <p:sp>
        <p:nvSpPr>
          <p:cNvPr id="15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Miller’s Anesthesia, 10ª ed. (2025), cap. 79</a:t>
            </a:r>
            <a:endParaRPr lang="en-US" sz="12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a sequência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Em comum"/>
          <p:cNvSpPr txBox="1"/>
          <p:nvPr/>
        </p:nvSpPr>
        <p:spPr>
          <a:xfrm>
            <a:off x="1073150" y="3875835"/>
            <a:ext cx="183455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comum</a:t>
            </a:r>
            <a:endParaRPr lang="en-US" sz="2800" dirty="0"/>
          </a:p>
        </p:txBody>
      </p:sp>
      <p:sp>
        <p:nvSpPr>
          <p:cNvPr id="20" name="Vasopressor cedo, pelo mecanismo: tônus "/>
          <p:cNvSpPr txBox="1"/>
          <p:nvPr/>
        </p:nvSpPr>
        <p:spPr>
          <a:xfrm>
            <a:off x="3295055" y="3735018"/>
            <a:ext cx="784284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Vasopressor cedo, pelo mecanismo: tônus com noradrenalina, outra via com vasopressina, e adrenalina quando as duas não bastam. Inotrópico apenas se houver disfunção cardíaca com hipoperfusão.</a:t>
            </a:r>
            <a:endParaRPr lang="en-US" sz="1500" dirty="0"/>
          </a:p>
        </p:txBody>
      </p:sp>
      <p:sp>
        <p:nvSpPr>
          <p:cNvPr id="21" name="Prescott, Crit Care Med 2026 (Surviving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(Surviving Sepsis Campaign)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Efedrina 5–10 mg"/>
          <p:cNvSpPr txBox="1"/>
          <p:nvPr/>
        </p:nvSpPr>
        <p:spPr>
          <a:xfrm>
            <a:off x="3084810" y="3170165"/>
            <a:ext cx="1764010" cy="231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Transplante hepático (UFRJ): em 19 pacie"/>
          <p:cNvSpPr txBox="1"/>
          <p:nvPr/>
        </p:nvSpPr>
        <p:spPr>
          <a:xfrm>
            <a:off x="812800" y="4468254"/>
            <a:ext cx="105854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sistólica do VD ao ETE manteve-se preservada nos momentos avaliados, inclusive 30 min após a reperfusão. O estudo não mediu os primeiros minutos da reperfusão nem a causa da instabilidade aguda; a lição é usar o eco para separar disfunção de VD de vasoplegia antes de escolher entre inotrópico e vasopressor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(2025), cap. 33, 56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14563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56979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FC normal ou alta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3396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SC 2026 · ESICM 2025 · Miller’s Anesth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Miller’s Anesthesia, 10ª ed. (2025), cap. 16, 79</a:t>
            </a:r>
            <a:endParaRPr lang="en-US" sz="1200" dirty="0"/>
          </a:p>
        </p:txBody>
      </p:sp>
      <p:pic>
        <p:nvPicPr>
          <p:cNvPr id="1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2026-10-20T01:35:56Z</dcterms:created>
  <dcterms:modified xsi:type="dcterms:W3CDTF">2026-10-20T01:35:56Z</dcterms:modified>
</cp:coreProperties>
</file>