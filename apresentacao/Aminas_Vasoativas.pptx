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 e objetivos" id="{59bdc0ae-742f-8cc8-30d6-1727a18dd88e}">
          <p14:sldIdLst>
            <p14:sldId id="256"/>
            <p14:sldId id="257"/>
          </p14:sldIdLst>
        </p14:section>
        <p14:section name="Fisiologia da PAM e farmacologia dos receptores" id="{d85f6ede-c9d3-ea0d-2277-77af798f214c}">
          <p14:sldIdLst>
            <p14:sldId id="258"/>
            <p14:sldId id="259"/>
            <p14:sldId id="260"/>
          </p14:sldIdLst>
        </p14:section>
        <p14:section name="Drogas: noradrenalina, adrenalina, dopamina, dobutamina, milrinona, fenilefrina, efedrina e vasopressina" id="{b19eb2b5-902c-afc5-4891-f1f2197aca92}">
          <p14:sldIdLst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Choque séptico: a sequência da SSC 2026" id="{d88d530f-3a32-0a36-bab3-94a8504da6f7}">
          <p14:sldIdLst>
            <p14:sldId id="267"/>
          </p14:sldIdLst>
        </p14:section>
        <p14:section name="Perioperatório: escolha da droga e alvo de pressão" id="{f99622d2-4519-531b-f741-78de2309924b}">
          <p14:sldIdLst>
            <p14:sldId id="268"/>
            <p14:sldId id="269"/>
          </p14:sldIdLst>
        </p14:section>
        <p14:section name="Mensagens finais" id="{de271cdd-df15-68b7-631f-90a257e0b540}">
          <p14:sldIdLst>
            <p14:sldId id="270"/>
          </p14:sldIdLst>
        </p14:section>
        <p14:section name="Slides de reserva para perguntas" id="{2accfa20-ee74-1ae8-75be-ba2a3a782262}">
          <p14:sldIdLst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 previsto: cerca de 13 minutos e meio nos 15 slides principais; ensaiar para 13 a 14 minutos. Tempos: capa, 20 s; objetivos, 30 s; fisiologia, 1 min; receptores, 1 min; catecolaminas, 45 s; noradrenalina, 1 min 15 s; adrenalina, 1 min; dopamina e dobutamina, 1 min 15 s; milrinona, 1 min; fenilefrina e efedrina, 1 min; vasopressina e adjuvantes, 1 min; choque séptico, 1 min; intraoperatório, 1 min 15 s; hipotensão intraoperatória, 45 s; mensagens finais, 30 s. Depois das mensagens finais ficam os slides de reserva, para perguntas. Fontes principais: Surviving Sepsis Campaign 2026, ESICM 2025, POQI 2024 e Miller’s Anesthesia, 10ª ed. (completar capítulo e página nos rodapés marcados).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A ideia é sair da aula com um raciocínio, e não com uma lista de doses: diante da hipotensão, perguntar qual componente da PAM está falhando. Tônus vascular baixo pede vasopressor, bomba fraca pede inotrópico e pré-carga baixa pede volume. Depois vêm os receptores, as drogas uma a uma e, no fim, a aplicação no choque séptico e no centro cirúrgico.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PAM depende do débito cardíaco e da resistência vascular; a relação completa é PAM − PVC = DC × RVS, e a PVC pesa quando está alta. Na vasoplegia o problema é o tônus: sepse, anestesia geral, neuroeixo, anafilaxia, saída de CEC. Na falência de bomba o débito é baixo, em geral com resistência alta; na sepse, a disfunção miocárdica pode coexistir com vasoplegia. Hipovolemia se trata com volume. Um ponto menos lembrado: o α1 também contrai veias, recruta volume não estressado e aumenta o retorno venoso, e por isso a noradrenalina pode aumentar o débito no choque séptico (Persichini, Crit Care Med 2012). Para diferenciar, a ESICM 2025 recomenda eco como primeira imagem, parâmetros dinâmicos antes de mais volume e perfusão seriada pelo tempo de enchimento capilar, com temperatura e livedo da pele.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α1 contrai artérias e veias; β1 aumenta contratilidade e frequência; β2 dilata vasos e brônquios e eleva glicemia e lactato; D1 dilata os leitos renal e mesentérico. α2 está na tabela só para lembrar que clonidina e dexmedetomidina são simpatolíticos, e não vasopressores. V1 e PDE3 entram porque vasopressina e milrinona não dependem do adrenoceptor: a vasopressina age no receptor V1, e a milrinona inibe a enzima que degrada o AMPc, depois do receptor β, e por isso funciona mesmo com betabloqueador. A dessensibilização com o uso prolongado ajuda a explicar a taquifilaxia e a lógica de associar uma droga de outra via.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A via de síntese explica duas coisas práticas: parte do efeito da dopamina vem da conversão e da liberação de noradrenalina, e a síntese de adrenalina na medula adrenal depende de cortisol. As catecolaminas têm meia-vida de minutos e são usadas em infusão; sem o anel catecol, fenilefrina e efedrina duram mais e servem para bolus. A ação indireta da efedrina explica a taquifilaxia.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É a droga de primeira linha no choque séptico. É um α1 potente, com efeito β1 modesto: sobe a PAM pela resistência e pela venoconstrição, com débito mantido ou maior e frequência estável ou menor, por reflexo. A dose usual vai de 0,01 a 0,5 mcg/kg/min, sem teto fixo no choque refratário; no centro cirúrgico, bolus de 5 a 10 mcg. Pode começar em veia periférica calibrosa. Se perguntarem: no SOAP II (n = 1.679), a mortalidade em 28 dias foi semelhante à da dopamina (48,5% vs. 52,5%), com metade das arritmias (12,4% vs. 24,1%); a SSC 2026 recomenda a noradrenalina sobre a dopamina (forte, certeza alta). No Brasil, a ampola de hemitartarato de 2 mg/mL equivale a 1 mg/mL de base: registrar na prescrição se a dose está em base ou em sal. Início precoce (CENSER) e via periférica estão nos slides de reserva. No extravasamento, fentolamina infiltrada no local.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O efeito depende da dose: em dose baixa predominam β1 e β2, com débito alto e resistência que pode cair; em dose alta prevalece o α1. É a droga da anafilaxia e, no choque séptico, entra como terceira droga quando a PAM segue inadequada com noradrenalina e vasopressina (SSC 2026: condicional, certeza muito baixa). Na anafilaxia em ambiente monitorizado, bolus EV diluídos e titulados (ANZCA/ANZAAG 2022); se forem precisos mais de três bolus, iniciar infusão; sem acesso venoso, ou fora desse ambiente, 0,5 mg IM. O lactato pode subir por efeito β2, mas isso não autoriza ignorar hipoperfusão. Se perguntarem: no CATS (Annane, Lancet 2007), mortalidade semelhante à do grupo noradrenalina + dobutamina (40% vs. 34%, NS), com mais acidose; no CAT (Myburgh, Intensive Care Med 2008), 12,9% dos pacientes em adrenalina foram retirados por efeitos metabólicos transitórios. No OptimaCC (Levy, J Am Coll Cardiol 2018; n = 57, choque cardiogênico pós-IAM), o índice cardíaco foi semelhante, mas houve mais choque refratário com adrenalina (37% vs. 7%), que era o principal desfecho de segurança; o estudo foi interrompido precocemente.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Dopamina: o efeito muda com a dose, primeiro D1, depois β1 e, em doses altas, α1, mas a resposta varia muito entre pacientes. A dose “renal” não protege o rim: no ANZICS (n = 328), não houve diferença em creatinina, diálise ou mortalidade. No SOAP II, a mortalidade foi semelhante à da noradrenalina, com o dobro de arritmias, e a SSC 2026 recomenda contra a dopamina como primeira linha. Uso residual: bradicardia sintomática sem alternativa. Dobutamina: é uma mistura racêmica; o isômero (+) é agonista β1 e β2 e antagonista α1, e o (−) é agonista α1; o efeito final é inotropismo com queda discreta da resistência. No paciente hipotenso, entra junto com o vasopressor, nunca no lugar dele. A comparação com a milrinona vem no próximo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milrinona inibe a fosfodiesterase 3 e aumenta o AMPc sem passar pelo receptor β; por isso funciona com betabloqueador ou com receptores dessensibilizados. É um inodilatador: aumenta a contratilidade e o relaxamento e reduz as resistências sistêmica e pulmonar, o que ajuda o VD com hipertensão pulmonar e o desmame da CEC. Como dilata, muitas vezes precisa de noradrenalina junto. Tem eliminação renal e meia-vida bem mais longa que a da dobutamina: é menos titulável e acumula na insuficiência renal; a dose máxima diária em bula é 1,13 mg/kg. Se perguntarem: no OPTIME-CHF (JAMA 2002), na IC descompensada sem indicação clara de inotrópico, não houve benefício, com mais hipotensão sustentada (10,7% vs. 3,2%) e arritmias atriais (4,6% vs. 1,5%). No DOREMI (N Engl J Med 2021), no choque cardiogênico, não houve diferença estatisticamente significativa no desfecho composto em relação à dobutamina. A SSC 2026 não encontrou dados para comparar as duas no choque séptico.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Fenilefrina: α1 puro, sem ação β; a PAM sobe pela resistência e a frequência cai por reflexo. Isso ajuda quando a taquicardia atrapalha, mas pode reduzir o débito quando ele depende da frequência. Na estenose aórtica, o objetivo é manter a pós-carga e evitar taquicardia; a escolha depende da frequência e da função ventricular, e não de uma regra fixa. Na cesárea, o consenso internacional de 2018 recomenda vasopressor α-agonista em infusão profilática, titulado para manter a PAS perto da basal; metanálises recentes mostram menos bradicardia materna com noradrenalina e pH umbilical semelhante. Efedrina: por ter ação indireta, perde efeito com doses repetidas e com estoques de noradrenalina depletados; atravessa a placenta e se associa a mais acidose fetal.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vasopressina age no receptor V1, fora da via adrenérgica: poupa catecolamina e mantém efeito em acidose; no choque séptico há deficiência relativa de vasopressina. Usa-se em dose fixa, sem titulação; no desmame, reduzir primeiro a noradrenalina. Indicações: choque séptico com noradrenalina em escalada, vasoplegia após CEC e hipotensão refratária em quem usa IECA ou BRA. Riscos: isquemia digital e mesentérica, hiponatremia. Antes de somar drogas, corrigir causas tratáveis (volume, foco, acidose, cálcio, disfunção ventricular). Se perguntarem: no VANCS (Hajjar, Anesthesiology 2017, InCor), na vasoplegia pós-CEC, a vasopressina teve menos morte ou complicação grave que a noradrenalina (32% vs. 49%). Hidrocortisona: 200 mg/dia (50 mg de 6/6 h ou em infusão). Angiotensina II: no ATHOS-3, a PAM respondeu em 3 h em 69,9% vs. 23,4% dos pacientes, sem diferença de mortalidade; verificar disponibilidade. Azul de metileno: inibe a óxido nítrico sintase e a guanilato ciclase; é resgate na vasoplegia pós-CEC e na reperfusão do enxerto hepático, com evidência limitada; interfere na oximetria e pode causar síndrome serotoninérgica com ISRS e outros serotoninérgicos.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minuto. A SSC 2026 organiza os vasopressores em sequência. Noradrenalina primeiro, iniciada cedo e, se preciso, por veia periférica (forte sobre a dopamina; a preferência sobre vasopressina e angiotensina II passou a ser condicional). Vasopressina quando a dose de noradrenalina está subindo (condicional, certeza moderada); a diretriz não define um número, e na enquete dos painelistas a mediana foi 0,3 mcg/kg/min. Adrenalina se a PAM continuar inadequada (condicional, certeza muito baixa). Alvo inicial de 65 mmHg (forte, certeza moderada), ou 60 a 65 mmHg a partir dos 65 anos (condicional, certeza baixa). Na disfunção cardíaca com hipoperfusão apesar de volume e PAM adequados, dobutamina com noradrenalina, ou adrenalina. Se perguntarem: o VASSPR (JAMA 2026, n = 3.959) comparou políticas hospitalares de iniciar a vasopressina com noradrenalina de 0,1 vs. 0,4 mcg/kg/min; a vasopressina foi usada em 52,4% vs. 32,9%, e a mortalidade foi 31,8% vs. 33,0%. Antecipar como regra não trouxe ganho, mas isso não prova que o momento seja irrelevante para todos. No OPTPRESS, alvo de 80–85 mmHg em idosos aumentou a mortalidade.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minuto e quinze. Antes da droga, afastar causas tratáveis: plano anestésico profundo, hipovolemia, compressão aortocava, pneumotórax, anafilaxia. Se a hipotensão persistir, avaliar a resposta a volume com parâmetros dinâmicos e fazer eco. A escolha segue o mecanismo: tônus baixo com frequência preservada pede α1; bradicardia associada pede ação β1; baixo débito pede inotrópico, e a milrinona tem a vantagem de reduzir a resistência pulmonar. A vasoplegia que não responde às catecolaminas, como após CEC, com uso crônico de IECA ou BRA ou na reperfusão do enxerto hepático, responde melhor à vasopressina; o azul de metileno fica como resgate. Bolus para o transitório, infusão para o persistente. Na cesárea, metanálises recentes mostram menos bradicardia materna com noradrenalina e pH umbilical semelhante ao da fenilefrina. Na anafilaxia, adrenalina.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Quarenta e cinco segundos. É a mensagem do editorial “The hidden cost of hypotension” (Braz J Anesthesiol 2025), que tem Rodrigo Diaz, da UFRJ, entre os autores: a hipotensão intraoperatória, mesmo por períodos curtos, se associa a lesão renal aguda, lesão miocárdica, delirium, AVC, reinternação e mortalidade, e o risco cresce com a profundidade e a duração. O editorial defende monitorização contínua, manejo proativo e metas individualizadas. O POQI 2024 trata PAM ≥60 mmHg em pacientes de risco como limite mínimo, e não como garantia de perfusão. Se perguntarem: Salmasi (Anesthesiology 2017) associou mais de 13 minutos acumulados com PAM abaixo de 65 mmHg a mais lesão miocárdica e renal. No HISTAP (n = 630), PAM ≥80 vs. ≥65 em hipertensos de alto risco reduziu morte ou disfunção orgânica (38,1% vs. 48,9%), sobretudo por lesão renal aguda; a PAM alcançada foi 88 vs. 77 mmHg. No IMPROVE-multi (n = 1.134), o alvo individual pela PA noturna não foi melhor que PAM ≥65. Índice de previsão de hipotensão e sistemas em alça fechada reduzem a exposição à hipotensão, ainda sem benefício claro em desfechos.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segundos. Voltar à pergunta do início: qual componente da PAM está falhando? A droga certa é a que corrige esse componente, na menor dose eficaz e pelo menor tempo. Terminar com a pergunta para o grupo, sobre a prática do serviço. Depois deste slide ficam os slides de reserva.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apresentação principal termina no slide de mensagens finais. Daqui em diante, só material de apoio: resumo das drogas, slides individuais de dopamina, dobutamina, fenilefrina, efedrina e vasopressina, choque refratário, sequência da SSC 2026, alvo de PAM, início precoce e via periférica, estudos de alvo no intraoperatório, roteiro e referências.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consolidar, ler por coluna: quem tem α1 alto eleva a RVS (noradrenalina, fenilefrina); quem tem β1 alto eleva DC e FC (adrenalina, dobutamina, isoproterenol); β2 explica vasodilatação e lactato. Na dopamina, o receptor que predomina muda com a dose. Milrinona e vasopressina têm zero nas colunas porque não agem nesses receptores: a milrinona inibe a PDE3 e a vasopressina age no V1. O isoproterenol só tem linha nesta tabela: uso restrito a bradicardia refratária e ponte para marca-passo. As faixas de dose são as usuais em adultos e devem ser tituladas pela resposta.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faixas de dose mostram o perfil esperado; na prática, a resposta a cada faixa é imprevisível. ANZICS (n = 328): dopamina 2 mcg/kg/min vs. placebo, sem diferença no pico de creatinina, na necessidade de diálise ou na mortalidade. SOAP II: no subgrupo de choque cardiogênico, mortalidade maior com dopamina (p = 0,03). Uso residual: bradicardia sintomática, quando não houver alternativa.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Isômero (+): agonista β1 e β2 e antagonista α1; isômero (−): agonista α1. O resultado clínico é inotropismo com queda discreta da RVS; por isso, no paciente vasoplégico, a dobutamina entra junto com o vasopressor, nunca no lugar dele. DOREMI (n = 192): mortalidade hospitalar de 43% vs. 37% com milrinona, sem diferença significativa. A SSC 2026 não encontrou dados suficientes para comparar dobutamina e milrinona e sugere contra a levosimendana.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Agonista α1 direto, sem ação β: a PAM sobe pela RVS e a FC cai por reflexo. Isso é vantagem quando a taquicardia é o problema (estenose aórtica, cardiomiopatia hipertrófica obstrutiva, fibrilação atrial com resposta rápida) e desvantagem quando o DC depende da FC. O consenso internacional obstétrico (Kinsella 2018) indica a fenilefrina como agente de escolha, em infusão profilática; a noradrenalina é alternativa crescente, com melhor preservação do DC materno e desfechos neonatais comparáveis. Os números da comparação em bolus são do ensaio de Sharkey (Anesth Analg 2019), citado na revisão de Park e Choi; conferir no artigo original antes de citar.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ação indireta explica as limitações: resposta menor quando os estoques de noradrenalina estão depletados (choque prolongado, uso crônico de simpatolíticos) e pouca eficácia no coração transplantado, que é desnervado. Na cesárea, a efedrina foi substituída pela fenilefrina como primeira escolha; continua útil como resgate quando há bradicardia.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é amina, mas é a principal parceira da noradrenalina. VASST: no subgrupo de choque menos grave (NA de 5 a 14 mcg/min), mortalidade de 26,5% vs. 35,7%, achado só gerador de hipótese. VANISH (Gordon, JAMA 2016), com vasopressina precoce: sem diferença em dias livres de falência renal. VASSPR (publicado em 14/10/2026): comparou políticas de início por hospital (vasopressina de fato usada em 52,4% vs. 32,9%), sem ganho de mortalidade nem de dias livres de diálise, com sinal de mais choque cardiogênico no grupo precoce (7,4% vs. 6,3%). Equivalência usada em escores: vasopressina 0,03 U/min corresponde a cerca de 0,075 mcg/kg/min de noradrenalina (fator 2,5).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Mensagem: no choque que não responde à noradrenalina, a estratégia é somar mecanismos diferentes, e não subir indefinidamente a mesma droga. ATHOS-3 (n = 344): mortalidade em 28 dias de 46% vs. 53,8% (NS). Azul de metileno: na enquete com os painelistas da SSC 2026, 69% nunca ou quase nunca o usam como resgate. Verificar a disponibilidade local de angiotensina II antes de citá-la como opção.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Pontos da SSC 2026: a preferência da noradrenalina sobre vasopressina e angiotensina II passou a ser sugestão (condicional); continua a sugestão de iniciar o vasopressor por via periférica em vez de esperar o acesso central, que já existia em 2021; a sugestão contra a levosimendana, também de 2021, foi mantida, e a terlipressina recebeu sugestão contra; o azul de metileno ficou sem recomendação, por evidência insuficiente. A SSC não define um limiar numérico para associar vasopressina.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65 trial (n = 2.463 na análise primária): menos exposição a vasopressor no grupo permissivo (duração média de 46,0 vs. 55,9 h; dose total média de noradrenalina-equivalente de 31,5 vs. 44,3 mg), sem sinal de dano; a OR ajustada favoreceu a hipotensão permissiva (0,82). OPTPRESS (29 hospitais japoneses): interrompido precocemente por dano, com diferença absoluta de 10,7 pontos percentuais (IC 95% de 2,6 a 18,9) e menos dias livres de terapia renal substitutiva no alvo alto; o protocolo associava vasopressina cedo, com NA ≥0,1 mcg/kg/min. A ESICM 2025 também sugere alvo menor no trauma com sangramento ativo sem TCE e PAM ≥80 mmHg no TCE grave.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CENSER (n = 310): dose fixa, não titulada, por 24 h; mortalidade em 28 dias de 15,5% vs. 21,9% (NS). Na metanálise de Tran (Am J Emerg Med 2020), houve 122 complicações em 1.835 pacientes (7%), 96% delas leves; a prevalência combinada por efeitos aleatórios foi de 8,6% (IC 95% de 3,1 a 21%), e os estudos com protocolo de segurança tiveram menos complicações (2,9% vs. 12%). Na prática: veia calibrosa e proximal, inspeção frequente do sítio e plano para acesso central se a dose subir ou a infusão se prolongar; no extravasamento, fentolamina local. A equivalência de 2 mg/mL de hemitartarato a 1 mg/mL de base consta da bula do hemitartarato de norepinefrina. Ibarra-Estrada, Kattan e Jung (Intensive Care Med 2024) defendem padronizar o relato da dose: a mesma infusão expressa em sal dá o dobro do número em base (0,1 mcg/kg/min de sal ≈ 0,05 de 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POISE-3: o braço de evitar hipotensão suspendia anti-hipertensivos e mirava PAM ≥80, sem redução de eventos vasculares. IMPROVE-multi: o alvo individualizado não foi melhor que PAM ≥65. HISTAP (n = 630, 18 centros italianos): em idosos hipertensos de alto risco, com monitorização contínua e fluidoterapia protocolada, PAM ≥80 reduziu o desfecho composto, sobretudo por menos lesão renal aguda leve a moderada (23,5% vs. 33,7%). A PAM média alcançada foi 77 mmHg no controle e 88 mmHg no alvo alto, ou seja, o controle não ficou em 65; o alvo alto exigiu mais noradrenalina, efedrina e transfusão. Leitura prática: evitar PAM abaixo de 60–65 é consenso; subir o alvo é decisão individual, em paciente selecionado.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Roteiro da apresentação, mantido como reserva (na versão de 15 minutos, o slide de objetivos faz esse papel). A aula vai do raciocínio fisiológico para a farmacologia, depois para cada droga e, por fim, para a aplicação no choque séptico e no centro cirúrgico. O bloco de drogas é o centro da aula: cerca de 1 minuto por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Completar a entrada do Miller com os capítulos de farmacologia do sistema nervoso autônomo e de farmacologia cardiovascular, e preencher os rodapés marcados com [cap./pág.]. SSC 2026: Crit Care Med 2026;54(4):725–812. VASSPR: JAMA, publicado online em 14/10/2026. HISTAP: Intensive Care Med 2026;52(8):1619–1634. IMPROVE-multi: JAMA 2025;334(21):1893–1904. POISE-3 (braço de pressão): Ann Intern Med 2023;176:605–614. POQI: Br J Anaesth 2024;133(2):264–276. Lineburger et al., “The hidden cost of hypotension” (editorial; entre os autores, Rodrigo Diaz): Braz J Anesthesiol 2025;75(1):844581. OPTIME-CHF: JAMA 2002;287(12):1541–1547. VANCS: Anesthesiology 2017;126(1):85–93. CAT: Intensive Care Med 2008;34:2226–2234. VANISH: JAMA 2016;316(5):509–518. Salmasi: Anesthesiology 2017;126(1):47–65. Sharkey: Anesth Analg 2019;129(5):1312–1318.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sor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E49A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SSÃO CLÍNICA · ANESTESIOLOGIA"/>
          <p:cNvSpPr txBox="1"/>
          <p:nvPr/>
        </p:nvSpPr>
        <p:spPr>
          <a:xfrm>
            <a:off x="812800" y="3704861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5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 CLÍNICA · ANESTESIOLOGIA</a:t>
            </a:r>
            <a:endParaRPr lang="en-US" sz="14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4245839"/>
            <a:ext cx="90424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880"/>
              </a:lnSpc>
              <a:buNone/>
            </a:pPr>
            <a:r>
              <a:rPr lang="pt-BR" altLang="en-US" sz="5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Aminas vasoativas</a:t>
            </a:r>
            <a:endParaRPr lang="en-US" sz="5600" dirty="0"/>
          </a:p>
        </p:txBody>
      </p:sp>
      <p:sp>
        <p:nvSpPr>
          <p:cNvPr id="4" name="Fisiologia, farmacologia e escolha da dr"/>
          <p:cNvSpPr txBox="1"/>
          <p:nvPr/>
        </p:nvSpPr>
        <p:spPr>
          <a:xfrm>
            <a:off x="812800" y="5204434"/>
            <a:ext cx="8909050" cy="3199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pt-BR" altLang="en-US" sz="18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Fisiologia, farmacologia e escolha da droga no choque e no perioperatório</a:t>
            </a:r>
            <a:endParaRPr lang="en-US" sz="1800" dirty="0"/>
          </a:p>
        </p:txBody>
      </p:sp>
      <p:sp>
        <p:nvSpPr>
          <p:cNvPr id="5" name="Bruno Dubois · Orientadores: Marcelo Ban"/>
          <p:cNvSpPr txBox="1"/>
          <p:nvPr/>
        </p:nvSpPr>
        <p:spPr>
          <a:xfrm>
            <a:off x="812800" y="5782402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Dubois · Orientadores: Marcelo Bandeira e Glauber Gouvea · UFRJ</a:t>
            </a:r>
            <a:endParaRPr lang="en-US" sz="14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TIVO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Escolher a droga pelo mecanismo da hipotensão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Identificar qual componente da PAM está "/>
          <p:cNvSpPr txBox="1"/>
          <p:nvPr/>
        </p:nvSpPr>
        <p:spPr>
          <a:xfrm>
            <a:off x="1371600" y="1964280"/>
            <a:ext cx="774124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qual componente da PAM está falhando: tônus vascular, bomba ou pré-carga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812800" y="246230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lacionar o perfil de receptores de cad"/>
          <p:cNvSpPr txBox="1"/>
          <p:nvPr/>
        </p:nvSpPr>
        <p:spPr>
          <a:xfrm>
            <a:off x="1371600" y="2568720"/>
            <a:ext cx="671760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Relacionar o perfil de receptores de cada droga ao seu efeito hemodinâmico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306674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Conhecer ação, dose, indicações e cuidad"/>
          <p:cNvSpPr txBox="1"/>
          <p:nvPr/>
        </p:nvSpPr>
        <p:spPr>
          <a:xfrm>
            <a:off x="1371600" y="3173161"/>
            <a:ext cx="668903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Conhecer ação, dose, indicações e cuidados das principais drogas vasoativas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812800" y="367118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plicar esse raciocínio no choque séptic"/>
          <p:cNvSpPr txBox="1"/>
          <p:nvPr/>
        </p:nvSpPr>
        <p:spPr>
          <a:xfrm>
            <a:off x="1371600" y="3777602"/>
            <a:ext cx="6464300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Aplicar esse raciocínio no choque séptico e na hipotensão intraoperatória</a:t>
            </a:r>
            <a:endParaRPr lang="en-US" sz="1700" dirty="0"/>
          </a:p>
        </p:txBody>
      </p:sp>
      <p:sp>
        <p:nvSpPr>
          <p:cNvPr id="12" name="Cartão"/>
          <p:cNvSpPr/>
          <p:nvPr/>
        </p:nvSpPr>
        <p:spPr>
          <a:xfrm>
            <a:off x="812800" y="4424263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Pergunta central"/>
          <p:cNvSpPr txBox="1"/>
          <p:nvPr/>
        </p:nvSpPr>
        <p:spPr>
          <a:xfrm>
            <a:off x="1073150" y="4604959"/>
            <a:ext cx="3002756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central</a:t>
            </a:r>
            <a:endParaRPr lang="en-US" sz="3200" dirty="0"/>
          </a:p>
        </p:txBody>
      </p:sp>
      <p:sp>
        <p:nvSpPr>
          <p:cNvPr id="14" name="Qual componente da PAM está falhando? A "/>
          <p:cNvSpPr txBox="1"/>
          <p:nvPr/>
        </p:nvSpPr>
        <p:spPr>
          <a:xfrm>
            <a:off x="4260056" y="4769969"/>
            <a:ext cx="6247507" cy="2667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componente da PAM está falhando? A resposta orienta a escolha da droga.</a:t>
            </a:r>
            <a:endParaRPr lang="en-US" sz="1500" dirty="0"/>
          </a:p>
        </p:txBody>
      </p:sp>
      <p:pic>
        <p:nvPicPr>
          <p:cNvPr id="1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1 · FISIOLOG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FISIOLOGIA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Determinantes da pressão arterial média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Vasoplegia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Vasoplegia</a:t>
            </a:r>
            <a:endParaRPr lang="en-US" sz="1700" dirty="0"/>
          </a:p>
        </p:txBody>
      </p:sp>
      <p:sp>
        <p:nvSpPr>
          <p:cNvPr id="6" name="RVS baixa com DC preservado ou alto: sep"/>
          <p:cNvSpPr txBox="1"/>
          <p:nvPr/>
        </p:nvSpPr>
        <p:spPr>
          <a:xfrm>
            <a:off x="1073150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baixa com DC preservado ou alto: sepse, anestesia geral, neuroeixo, anafilaxia, pós-CEC. Alvo: tônus arterial, com vasopressor α1 ou V1.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Falência de bomba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Falência de bomba</a:t>
            </a:r>
            <a:endParaRPr lang="en-US" sz="1700" dirty="0"/>
          </a:p>
        </p:txBody>
      </p:sp>
      <p:sp>
        <p:nvSpPr>
          <p:cNvPr id="9" name="DC baixo, em geral com RVS alta: choque 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baixo, em geral com RVS alta: choque cardiogênico; na sepse, a disfunção miocárdica pode coexistir com vasoplegia. Alvo: contratilidade, com inotrópico β1, associado a vasopressor se a PAM cair.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é-carg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Pré-carga</a:t>
            </a:r>
            <a:endParaRPr lang="en-US" sz="1700" dirty="0"/>
          </a:p>
        </p:txBody>
      </p:sp>
      <p:sp>
        <p:nvSpPr>
          <p:cNvPr id="12" name="Hipovolemia não se corrige com amina. Ma"/>
          <p:cNvSpPr txBox="1"/>
          <p:nvPr/>
        </p:nvSpPr>
        <p:spPr>
          <a:xfrm>
            <a:off x="8252817" y="2484480"/>
            <a:ext cx="2884984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Hipovolemia não se corrige com amina. Mas o α1 também contrai veias: recruta volume não estressado e aumenta o retorno venoso.</a:t>
            </a:r>
            <a:endParaRPr lang="en-US" sz="1350" dirty="0"/>
          </a:p>
        </p:txBody>
      </p:sp>
      <p:sp>
        <p:nvSpPr>
          <p:cNvPr id="13" name="Cartão"/>
          <p:cNvSpPr/>
          <p:nvPr/>
        </p:nvSpPr>
        <p:spPr>
          <a:xfrm>
            <a:off x="812800" y="4556919"/>
            <a:ext cx="10566400" cy="988020"/>
          </a:xfrm>
          <a:prstGeom prst="roundRect">
            <a:avLst>
              <a:gd name="adj" fmla="val 77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4" name="Como diferenciar?"/>
          <p:cNvSpPr txBox="1"/>
          <p:nvPr/>
        </p:nvSpPr>
        <p:spPr>
          <a:xfrm>
            <a:off x="1073150" y="4737614"/>
            <a:ext cx="3327598" cy="5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480"/>
              </a:lnSpc>
              <a:buNone/>
            </a:pPr>
            <a:r>
              <a:rPr lang="pt-BR" altLang="en-US" sz="32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Como diferenciar?</a:t>
            </a:r>
            <a:endParaRPr lang="en-US" sz="3200" dirty="0"/>
          </a:p>
        </p:txBody>
      </p:sp>
      <p:sp>
        <p:nvSpPr>
          <p:cNvPr id="15" name="Eco como primeira imagem para o tipo de "/>
          <p:cNvSpPr txBox="1"/>
          <p:nvPr/>
        </p:nvSpPr>
        <p:spPr>
          <a:xfrm>
            <a:off x="4584898" y="4769275"/>
            <a:ext cx="6553002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pt-BR" altLang="en-US" sz="15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 como primeira imagem para o tipo de choque, parâmetros dinâmicos para a resposta a volume e perfusão seriada (enchimento capilar).</a:t>
            </a:r>
            <a:endParaRPr lang="en-US" sz="1500" dirty="0"/>
          </a:p>
        </p:txBody>
      </p:sp>
      <p:sp>
        <p:nvSpPr>
          <p:cNvPr id="16" name="Miller’s Anesthesia, 10ª ed. (2024) · [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(2024) · [cap./pág.] · Persichini, Crit Care Med 2012 · Monnet, Intensive Care Med 2025 (ESICM)</a:t>
            </a:r>
            <a:endParaRPr lang="en-US" sz="1200" dirty="0"/>
          </a:p>
        </p:txBody>
      </p:sp>
      <p:pic>
        <p:nvPicPr>
          <p:cNvPr id="1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RECEPTORE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RECEPTORES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Receptores e vias de sinalização</a:t>
            </a:r>
            <a:endParaRPr lang="en-US" sz="3200" dirty="0"/>
          </a:p>
        </p:txBody>
      </p:sp>
      <p:graphicFrame>
        <p:nvGraphicFramePr>
          <p:cNvPr id="5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056580"/>
                <a:gridCol w="3169841"/>
                <a:gridCol w="4226520"/>
                <a:gridCol w="211345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Receptor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Onde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Efeito principal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Sinalização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942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de artérias e veias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Vasoconstrição: ↑RVS e ↑retorno venoso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pré-sináptico, SNC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liberação de noradrenalina; sedação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 → ↓AMPc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Miocárdio, nós SA e AV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inotropismo, cronotropismo e dromotropismo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Vasos, brônquios, fígado, músculo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Vasodilatação, broncodilatação, ↑glicemia e ↑lactato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Leitos renal, mesentérico, coronariano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e natriurese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Gs → ↑AMPc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Músculo liso 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Vasoconstrição sem receptor adrenérgico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Gq → ↑Ca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PDE3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Miocárdio e vasos (enzima)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Inibida pela milrinona: inotropismo e vasodilatação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degradação do AMPc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Com o uso prolongado, os adrenoceptores "/>
          <p:cNvSpPr txBox="1"/>
          <p:nvPr/>
        </p:nvSpPr>
        <p:spPr>
          <a:xfrm>
            <a:off x="812800" y="534375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uso prolongado, os adrenoceptores se dessensibilizam; vasopressina (V1) e milrinona (PDE3) não dependem deles.</a:t>
            </a:r>
            <a:endParaRPr lang="en-US" sz="1400" dirty="0"/>
          </a:p>
        </p:txBody>
      </p:sp>
      <p:sp>
        <p:nvSpPr>
          <p:cNvPr id="6" name="Miller’s Anesthesia, 10ª ed. (2024) · [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(2024) · [cap./pág.]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2 · CLASSIFICAÇ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CLASSIFICAÇÃO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Catecolaminas e não catecolaminas</a:t>
            </a:r>
            <a:endParaRPr lang="en-US" sz="3200" dirty="0"/>
          </a:p>
        </p:txBody>
      </p:sp>
      <p:sp>
        <p:nvSpPr>
          <p:cNvPr id="4" name="Tirosina"/>
          <p:cNvSpPr/>
          <p:nvPr/>
        </p:nvSpPr>
        <p:spPr>
          <a:xfrm>
            <a:off x="812800" y="1879501"/>
            <a:ext cx="935137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</a:t>
            </a:r>
            <a:endParaRPr lang="en-US" sz="1500" dirty="0"/>
          </a:p>
        </p:txBody>
      </p:sp>
      <p:sp>
        <p:nvSpPr>
          <p:cNvPr id="5" name="→"/>
          <p:cNvSpPr txBox="1"/>
          <p:nvPr/>
        </p:nvSpPr>
        <p:spPr>
          <a:xfrm>
            <a:off x="1849537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" name="DOPA"/>
          <p:cNvSpPr/>
          <p:nvPr/>
        </p:nvSpPr>
        <p:spPr>
          <a:xfrm>
            <a:off x="2135088" y="1879501"/>
            <a:ext cx="770632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</a:t>
            </a:r>
            <a:endParaRPr lang="en-US" sz="1500" dirty="0"/>
          </a:p>
        </p:txBody>
      </p:sp>
      <p:sp>
        <p:nvSpPr>
          <p:cNvPr id="7" name="→"/>
          <p:cNvSpPr txBox="1"/>
          <p:nvPr/>
        </p:nvSpPr>
        <p:spPr>
          <a:xfrm>
            <a:off x="300732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Dopamina"/>
          <p:cNvSpPr/>
          <p:nvPr/>
        </p:nvSpPr>
        <p:spPr>
          <a:xfrm>
            <a:off x="3292872" y="1879501"/>
            <a:ext cx="1121668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500" dirty="0"/>
          </a:p>
        </p:txBody>
      </p:sp>
      <p:sp>
        <p:nvSpPr>
          <p:cNvPr id="9" name="→"/>
          <p:cNvSpPr txBox="1"/>
          <p:nvPr/>
        </p:nvSpPr>
        <p:spPr>
          <a:xfrm>
            <a:off x="4516140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Noradrenalina"/>
          <p:cNvSpPr/>
          <p:nvPr/>
        </p:nvSpPr>
        <p:spPr>
          <a:xfrm>
            <a:off x="4801691" y="1879501"/>
            <a:ext cx="1446411" cy="419100"/>
          </a:xfrm>
          <a:prstGeom prst="roundRect">
            <a:avLst>
              <a:gd name="adj" fmla="val 50000"/>
            </a:avLst>
          </a:prstGeom>
          <a:solidFill>
            <a:srgbClr val="1B2A3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500" dirty="0"/>
          </a:p>
        </p:txBody>
      </p:sp>
      <p:sp>
        <p:nvSpPr>
          <p:cNvPr id="11" name="→"/>
          <p:cNvSpPr txBox="1"/>
          <p:nvPr/>
        </p:nvSpPr>
        <p:spPr>
          <a:xfrm>
            <a:off x="6349702" y="1930820"/>
            <a:ext cx="203002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Adrenalina"/>
          <p:cNvSpPr/>
          <p:nvPr/>
        </p:nvSpPr>
        <p:spPr>
          <a:xfrm>
            <a:off x="6635254" y="1879501"/>
            <a:ext cx="1172270" cy="419100"/>
          </a:xfrm>
          <a:prstGeom prst="roundRect">
            <a:avLst>
              <a:gd name="adj" fmla="val 50000"/>
            </a:avLst>
          </a:prstGeom>
          <a:solidFill>
            <a:srgbClr val="B9581A"/>
          </a:solidFill>
          <a:ln/>
        </p:spPr>
        <p:txBody>
          <a:bodyPr wrap="none" lIns="152400" tIns="76200" rIns="152400" bIns="7620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pt-BR" altLang="en-US" sz="1500" b="1" dirty="0">
                <a:solidFill>
                  <a:srgbClr val="FFFD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Adrenalina</a:t>
            </a:r>
            <a:endParaRPr lang="en-US" sz="1500" dirty="0"/>
          </a:p>
        </p:txBody>
      </p:sp>
      <p:sp>
        <p:nvSpPr>
          <p:cNvPr id="13" name="Tirosina hidroxilase (etapa limitante) ·"/>
          <p:cNvSpPr txBox="1"/>
          <p:nvPr/>
        </p:nvSpPr>
        <p:spPr>
          <a:xfrm>
            <a:off x="812800" y="23882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Tirosina hidroxilase (etapa limitante) · DOPA descarboxilase · dopamina β-hidroxilase · PNMT na medula adrenal, induzida por cortisol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8128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Catecolaminas"/>
          <p:cNvSpPr txBox="1"/>
          <p:nvPr/>
        </p:nvSpPr>
        <p:spPr>
          <a:xfrm>
            <a:off x="10731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Catecolaminas</a:t>
            </a:r>
            <a:endParaRPr lang="en-US" sz="1700" dirty="0"/>
          </a:p>
        </p:txBody>
      </p:sp>
      <p:sp>
        <p:nvSpPr>
          <p:cNvPr id="16" name="Núcleo 3,4-di-hidroxifenil. Endógenas: d"/>
          <p:cNvSpPr txBox="1"/>
          <p:nvPr/>
        </p:nvSpPr>
        <p:spPr>
          <a:xfrm>
            <a:off x="10731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3,4-di-hidroxifenil. Endógenas: dopamina, noradrenalina, adrenalina. Sintéticas: dobutamina, isoproterenol. Recaptação neuronal, MAO e COMT encurtam a meia-vida para minutos: uso em infusão contínua e titulável.</a:t>
            </a:r>
            <a:endParaRPr lang="en-US" sz="1350" dirty="0"/>
          </a:p>
        </p:txBody>
      </p:sp>
      <p:sp>
        <p:nvSpPr>
          <p:cNvPr id="17" name="Cartão"/>
          <p:cNvSpPr/>
          <p:nvPr/>
        </p:nvSpPr>
        <p:spPr>
          <a:xfrm>
            <a:off x="6197600" y="2918321"/>
            <a:ext cx="5181600" cy="1875532"/>
          </a:xfrm>
          <a:prstGeom prst="roundRect">
            <a:avLst>
              <a:gd name="adj" fmla="val 406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8" name="Não catecolaminas"/>
          <p:cNvSpPr txBox="1"/>
          <p:nvPr/>
        </p:nvSpPr>
        <p:spPr>
          <a:xfrm>
            <a:off x="6457950" y="3174677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catecolaminas</a:t>
            </a:r>
            <a:endParaRPr lang="en-US" sz="1700" dirty="0"/>
          </a:p>
        </p:txBody>
      </p:sp>
      <p:sp>
        <p:nvSpPr>
          <p:cNvPr id="19" name="Sem o anel catecol, escapam da COMT: dur"/>
          <p:cNvSpPr txBox="1"/>
          <p:nvPr/>
        </p:nvSpPr>
        <p:spPr>
          <a:xfrm>
            <a:off x="6457950" y="352330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o anel catecol, escapam da COMT: duram mais e servem para bolus. Fenilefrina: agonista direto α1. Efedrina e metaraminol: ação mista, direta e por liberação de noradrenalina das terminações.</a:t>
            </a:r>
            <a:endParaRPr lang="en-US" sz="1350" dirty="0"/>
          </a:p>
        </p:txBody>
      </p:sp>
      <p:sp>
        <p:nvSpPr>
          <p:cNvPr id="20" name="Miller’s Anesthesia, 10ª ed. (2024) · [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(2024) · [cap./pág.]</a:t>
            </a:r>
            <a:endParaRPr lang="en-US" sz="1200" dirty="0"/>
          </a:p>
        </p:txBody>
      </p:sp>
      <p:pic>
        <p:nvPicPr>
          <p:cNvPr id="21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NOR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NORADRENALINA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Noradrenalina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7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↔/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0" name="F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1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3" name="α1 potente com β1 modesto: eleva a PAM p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 potente com β1 modesto: eleva a PAM pela RVS e pela venoconstrição, que aumenta o retorno venoso. DC preservado ou maior; FC estável ou menor. Primeira linha no choque séptico e na vasoplegia que exige infusão.</a:t>
            </a:r>
            <a:endParaRPr lang="en-US" sz="1350" dirty="0"/>
          </a:p>
        </p:txBody>
      </p:sp>
      <p:sp>
        <p:nvSpPr>
          <p:cNvPr id="24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5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6" name="0,01–0,5 mcg/kg/min, sem teto fixo no ch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0,01–0,5 mcg/kg/min, sem teto fixo no choque refratário; bolus de 5–10 mcg no centro cirúrgico. Pode começar em veia periférica calibrosa. Menos arritmia que a dopamina (SOAP II). Riscos: isquemia digital e esplâncnica, extravasamento.</a:t>
            </a:r>
            <a:endParaRPr lang="en-US" sz="1350" dirty="0"/>
          </a:p>
        </p:txBody>
      </p:sp>
      <p:sp>
        <p:nvSpPr>
          <p:cNvPr id="27" name="De Backer, N Engl J Med 2010 (SOAP II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Backer, N Engl J Med 2010 (SOAP II) · Persichini, Crit Care Med 2012 · SSC 2026 · barras: escala qualitativa</a:t>
            </a:r>
            <a:endParaRPr lang="en-US" sz="1200" dirty="0"/>
          </a:p>
        </p:txBody>
      </p:sp>
      <p:pic>
        <p:nvPicPr>
          <p:cNvPr id="2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ADRENAL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ADRENALINA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Adrenalina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DC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0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1" name="RVS ↓ ou 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 ou 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Ação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e uso</a:t>
            </a:r>
            <a:endParaRPr lang="en-US" sz="1700" dirty="0"/>
          </a:p>
        </p:txBody>
      </p:sp>
      <p:sp>
        <p:nvSpPr>
          <p:cNvPr id="24" name="Dose-dependente: em dose baixa predomina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Dose-dependente: em dose baixa predomina β (↑DC; a RVS pode cair); em dose alta, α1. Droga de escolha na anafilaxia; no choque séptico, entra se a PAM seguir inadequada com NA + vasopressina.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Dose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7" name="0,01–0,1 mcg/kg/min, mais no refratário.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0,01–0,1 mcg/kg/min, mais no refratário. Na anafilaxia durante a anestesia, bolus titulado: 10–20 mcg EV no grau 2, 50–100 mcg no grau 3. Taquicardia, arritmia e hiperglicemia; o lactato pode subir por efeito β2; ainda assim, excluir hipoperfusão.</a:t>
            </a:r>
            <a:endParaRPr lang="en-US" sz="1350" dirty="0"/>
          </a:p>
        </p:txBody>
      </p:sp>
      <p:sp>
        <p:nvSpPr>
          <p:cNvPr id="28" name="ANZCA/ANZAAG 2022 · SSC 2026 · barras: 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2022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DOPAMINA E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DOPAMINA E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 e 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Dopamina"/>
          <p:cNvSpPr txBox="1"/>
          <p:nvPr/>
        </p:nvSpPr>
        <p:spPr>
          <a:xfrm>
            <a:off x="1066800" y="2053307"/>
            <a:ext cx="94476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700" dirty="0"/>
          </a:p>
        </p:txBody>
      </p:sp>
      <p:sp>
        <p:nvSpPr>
          <p:cNvPr id="6" name="PAM ↑ · DC ↑ · FC ↑↑"/>
          <p:cNvSpPr txBox="1"/>
          <p:nvPr/>
        </p:nvSpPr>
        <p:spPr>
          <a:xfrm>
            <a:off x="4106069" y="2069740"/>
            <a:ext cx="1653381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DC ↑ · FC ↑↑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Cartão"/>
          <p:cNvSpPr/>
          <p:nvPr/>
        </p:nvSpPr>
        <p:spPr>
          <a:xfrm>
            <a:off x="3937000" y="2473821"/>
            <a:ext cx="1143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3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4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Cartão"/>
          <p:cNvSpPr/>
          <p:nvPr/>
        </p:nvSpPr>
        <p:spPr>
          <a:xfrm>
            <a:off x="14732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6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7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8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9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0" name="Efeito dose-dependente e imprevisível: D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dose-dependente e imprevisível: D1, depois β1 (em parte por liberar noradrenalina) e, em doses altas, α1. Dose “renal” não protege o rim. Mais arritmia que a NA: fora da primeira linha no choque.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22" name="Dobutamina"/>
          <p:cNvSpPr txBox="1"/>
          <p:nvPr/>
        </p:nvSpPr>
        <p:spPr>
          <a:xfrm>
            <a:off x="6451600" y="2053307"/>
            <a:ext cx="113545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700" dirty="0"/>
          </a:p>
        </p:txBody>
      </p:sp>
      <p:sp>
        <p:nvSpPr>
          <p:cNvPr id="23" name="DC ↑↑ · FC ↑ · RVS ↓"/>
          <p:cNvSpPr txBox="1"/>
          <p:nvPr/>
        </p:nvSpPr>
        <p:spPr>
          <a:xfrm>
            <a:off x="9554468" y="2069740"/>
            <a:ext cx="1589782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 ↑↑ · FC ↑ · RVS ↓</a:t>
            </a:r>
            <a:endParaRPr lang="en-US" sz="1300" dirty="0"/>
          </a:p>
        </p:txBody>
      </p:sp>
      <p:sp>
        <p:nvSpPr>
          <p:cNvPr id="24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6858000" y="247382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858000" y="275064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3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4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5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6" name="Inotrópico β1 com vasodilatação β2: pode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Inotrópico β1 com vasodilatação β2: pode baixar a PAM; no paciente hipotenso, entra com o vasopressor, nunca no lugar dele. Indicada no baixo débito com hipoperfusão. Taquicardia e arritmia limitam a dose.</a:t>
            </a:r>
            <a:endParaRPr lang="en-US" sz="1350" dirty="0"/>
          </a:p>
        </p:txBody>
      </p:sp>
      <p:sp>
        <p:nvSpPr>
          <p:cNvPr id="37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MILRINO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MILRINONA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Milrinona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44368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MECANISMO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200" dirty="0"/>
          </a:p>
        </p:txBody>
      </p:sp>
      <p:sp>
        <p:nvSpPr>
          <p:cNvPr id="6" name="Inibe a PDE3 e aumenta o AMPc sem passar"/>
          <p:cNvSpPr txBox="1"/>
          <p:nvPr/>
        </p:nvSpPr>
        <p:spPr>
          <a:xfrm>
            <a:off x="1066800" y="2465198"/>
            <a:ext cx="25590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Inibe a PDE3 e aumenta o AMPc sem passar pelo receptor β</a:t>
            </a:r>
            <a:endParaRPr lang="en-US" sz="1400" dirty="0"/>
          </a:p>
        </p:txBody>
      </p:sp>
      <p:sp>
        <p:nvSpPr>
          <p:cNvPr id="7" name="Coração: inotropismo e lusitropismo. Vas"/>
          <p:cNvSpPr txBox="1"/>
          <p:nvPr/>
        </p:nvSpPr>
        <p:spPr>
          <a:xfrm>
            <a:off x="1066800" y="3051019"/>
            <a:ext cx="2559050" cy="6399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Coração: inotropismo e lusitropismo. Vasos: vasodilatação sistêmica e pulmonar.</a:t>
            </a:r>
            <a:endParaRPr lang="en-US" sz="1200" dirty="0"/>
          </a:p>
        </p:txBody>
      </p:sp>
      <p:sp>
        <p:nvSpPr>
          <p:cNvPr id="8" name="EFEITO HEMODINÂMICO"/>
          <p:cNvSpPr txBox="1"/>
          <p:nvPr/>
        </p:nvSpPr>
        <p:spPr>
          <a:xfrm>
            <a:off x="1066800" y="38179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9" name="DC ↑↑"/>
          <p:cNvSpPr txBox="1"/>
          <p:nvPr/>
        </p:nvSpPr>
        <p:spPr>
          <a:xfrm>
            <a:off x="1066800" y="41563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0" name="FC ↔/↑"/>
          <p:cNvSpPr txBox="1"/>
          <p:nvPr/>
        </p:nvSpPr>
        <p:spPr>
          <a:xfrm>
            <a:off x="2413000" y="41563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11" name="RVS ↓"/>
          <p:cNvSpPr txBox="1"/>
          <p:nvPr/>
        </p:nvSpPr>
        <p:spPr>
          <a:xfrm>
            <a:off x="1066800" y="44813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2" name="RVP ↓"/>
          <p:cNvSpPr txBox="1"/>
          <p:nvPr/>
        </p:nvSpPr>
        <p:spPr>
          <a:xfrm>
            <a:off x="2413000" y="44813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3" name="PAM ↔/↓"/>
          <p:cNvSpPr txBox="1"/>
          <p:nvPr/>
        </p:nvSpPr>
        <p:spPr>
          <a:xfrm>
            <a:off x="1066800" y="480638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14" name="POAP ↓"/>
          <p:cNvSpPr txBox="1"/>
          <p:nvPr/>
        </p:nvSpPr>
        <p:spPr>
          <a:xfrm>
            <a:off x="2413000" y="480638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POAP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5" name="Cartão"/>
          <p:cNvSpPr/>
          <p:nvPr/>
        </p:nvSpPr>
        <p:spPr>
          <a:xfrm>
            <a:off x="4064000" y="1879501"/>
            <a:ext cx="7315200" cy="1671042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Indicações"/>
          <p:cNvSpPr txBox="1"/>
          <p:nvPr/>
        </p:nvSpPr>
        <p:spPr>
          <a:xfrm>
            <a:off x="4324350" y="2135857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</a:t>
            </a:r>
            <a:endParaRPr lang="en-US" sz="1700" dirty="0"/>
          </a:p>
        </p:txBody>
      </p:sp>
      <p:sp>
        <p:nvSpPr>
          <p:cNvPr id="17" name="IC descompensada com baixo débito e sínd"/>
          <p:cNvSpPr txBox="1"/>
          <p:nvPr/>
        </p:nvSpPr>
        <p:spPr>
          <a:xfrm>
            <a:off x="4324350" y="2484480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 descompensada com baixo débito e síndrome de baixo débito após CEC. Disfunção de VD e hipertensão pulmonar. Ponte para transplante ou assistência ventricular. Preferível à dobutamina em uso de betabloqueador.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4064000" y="3652143"/>
            <a:ext cx="7315200" cy="1671042"/>
          </a:xfrm>
          <a:prstGeom prst="roundRect">
            <a:avLst>
              <a:gd name="adj" fmla="val 4560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ose e cuidados"/>
          <p:cNvSpPr txBox="1"/>
          <p:nvPr/>
        </p:nvSpPr>
        <p:spPr>
          <a:xfrm>
            <a:off x="4324350" y="3908499"/>
            <a:ext cx="68135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cuidados</a:t>
            </a:r>
            <a:endParaRPr lang="en-US" sz="1700" dirty="0"/>
          </a:p>
        </p:txBody>
      </p:sp>
      <p:sp>
        <p:nvSpPr>
          <p:cNvPr id="20" name="Ataque de 50 mcg/kg em 10 min, muitas ve"/>
          <p:cNvSpPr txBox="1"/>
          <p:nvPr/>
        </p:nvSpPr>
        <p:spPr>
          <a:xfrm>
            <a:off x="4324350" y="4257123"/>
            <a:ext cx="68135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Ataque de 50 mcg/kg em 10 min, muitas vezes omitido; manutenção de 0,375–0,75 mcg/kg/min. Eliminação renal: reduzir na insuficiência renal. Hipotensão (associar NA) e arritmias. No choque cardiogênico, sem diferença significativa vs. dobutamina (DOREMI).</a:t>
            </a:r>
            <a:endParaRPr lang="en-US" sz="1350" dirty="0"/>
          </a:p>
        </p:txBody>
      </p:sp>
      <p:sp>
        <p:nvSpPr>
          <p:cNvPr id="21" name="Mathew, N Engl J Med 2021 (DOREMI) · Cuf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Cuffe, JAMA 2002 (OPTIME-CHF) · Miller’s Anesthesia, 10ª ed. · [cap./pág.]</a:t>
            </a:r>
            <a:endParaRPr lang="en-US" sz="1200" dirty="0"/>
          </a:p>
        </p:txBody>
      </p:sp>
      <p:pic>
        <p:nvPicPr>
          <p:cNvPr id="22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3 · DROGAS · FENILEFRINA E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DROGAS · FENILEFRINA E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 e 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5" name="Fenilefrina"/>
          <p:cNvSpPr txBox="1"/>
          <p:nvPr/>
        </p:nvSpPr>
        <p:spPr>
          <a:xfrm>
            <a:off x="1066800" y="2053307"/>
            <a:ext cx="977999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700" dirty="0"/>
          </a:p>
        </p:txBody>
      </p:sp>
      <p:sp>
        <p:nvSpPr>
          <p:cNvPr id="6" name="RVS ↑↑ · FC ↓ · DC ↔/↓"/>
          <p:cNvSpPr txBox="1"/>
          <p:nvPr/>
        </p:nvSpPr>
        <p:spPr>
          <a:xfrm>
            <a:off x="3882430" y="2069740"/>
            <a:ext cx="187702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 ↑↑ · FC ↓ · DC ↔/↓</a:t>
            </a:r>
            <a:endParaRPr lang="en-US" sz="1300" dirty="0"/>
          </a:p>
        </p:txBody>
      </p:sp>
      <p:sp>
        <p:nvSpPr>
          <p:cNvPr id="7" name="α1"/>
          <p:cNvSpPr txBox="1"/>
          <p:nvPr/>
        </p:nvSpPr>
        <p:spPr>
          <a:xfrm>
            <a:off x="10668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8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9" name="Cartão"/>
          <p:cNvSpPr/>
          <p:nvPr/>
        </p:nvSpPr>
        <p:spPr>
          <a:xfrm>
            <a:off x="14732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0" name="β1"/>
          <p:cNvSpPr txBox="1"/>
          <p:nvPr/>
        </p:nvSpPr>
        <p:spPr>
          <a:xfrm>
            <a:off x="3530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11" name="Cartão"/>
          <p:cNvSpPr/>
          <p:nvPr/>
        </p:nvSpPr>
        <p:spPr>
          <a:xfrm>
            <a:off x="3937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13" name="Cartão"/>
          <p:cNvSpPr/>
          <p:nvPr/>
        </p:nvSpPr>
        <p:spPr>
          <a:xfrm>
            <a:off x="14732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D1"/>
          <p:cNvSpPr txBox="1"/>
          <p:nvPr/>
        </p:nvSpPr>
        <p:spPr>
          <a:xfrm>
            <a:off x="3530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15" name="Cartão"/>
          <p:cNvSpPr/>
          <p:nvPr/>
        </p:nvSpPr>
        <p:spPr>
          <a:xfrm>
            <a:off x="3937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6" name="Cartão"/>
          <p:cNvSpPr/>
          <p:nvPr/>
        </p:nvSpPr>
        <p:spPr>
          <a:xfrm>
            <a:off x="8128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7" name="Agonista α1 direto, em bolus de 50–100 m"/>
          <p:cNvSpPr txBox="1"/>
          <p:nvPr/>
        </p:nvSpPr>
        <p:spPr>
          <a:xfrm>
            <a:off x="10731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α1 direto, em bolus de 50–100 mcg. A bradicardia reflexa pode reduzir o DC; ajuda quando a taquicardia é o problema (por exemplo, na estenose aórtica, conforme o contexto). Cesárea: infusão profilática de 25–50 mcg/min.</a:t>
            </a:r>
            <a:endParaRPr lang="en-US" sz="1350" dirty="0"/>
          </a:p>
        </p:txBody>
      </p:sp>
      <p:sp>
        <p:nvSpPr>
          <p:cNvPr id="18" name="Cartão"/>
          <p:cNvSpPr/>
          <p:nvPr/>
        </p:nvSpPr>
        <p:spPr>
          <a:xfrm>
            <a:off x="6197600" y="1879501"/>
            <a:ext cx="5181600" cy="1206401"/>
          </a:xfrm>
          <a:prstGeom prst="roundRect">
            <a:avLst>
              <a:gd name="adj" fmla="val 6316"/>
            </a:avLst>
          </a:prstGeom>
          <a:solidFill>
            <a:srgbClr val="1B2A3A"/>
          </a:solidFill>
          <a:ln/>
        </p:spPr>
      </p:sp>
      <p:sp>
        <p:nvSpPr>
          <p:cNvPr id="19" name="Efedrina"/>
          <p:cNvSpPr txBox="1"/>
          <p:nvPr/>
        </p:nvSpPr>
        <p:spPr>
          <a:xfrm>
            <a:off x="6451600" y="2053307"/>
            <a:ext cx="769441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700" dirty="0"/>
          </a:p>
        </p:txBody>
      </p:sp>
      <p:sp>
        <p:nvSpPr>
          <p:cNvPr id="20" name="PAM ↑ · FC ↑ · DC ↑"/>
          <p:cNvSpPr txBox="1"/>
          <p:nvPr/>
        </p:nvSpPr>
        <p:spPr>
          <a:xfrm>
            <a:off x="9640292" y="2069740"/>
            <a:ext cx="1503958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↑ · FC ↑ · DC ↑</a:t>
            </a:r>
            <a:endParaRPr lang="en-US" sz="1300" dirty="0"/>
          </a:p>
        </p:txBody>
      </p:sp>
      <p:sp>
        <p:nvSpPr>
          <p:cNvPr id="21" name="α1"/>
          <p:cNvSpPr txBox="1"/>
          <p:nvPr/>
        </p:nvSpPr>
        <p:spPr>
          <a:xfrm>
            <a:off x="64516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200" dirty="0"/>
          </a:p>
        </p:txBody>
      </p:sp>
      <p:sp>
        <p:nvSpPr>
          <p:cNvPr id="22" name="Cartão"/>
          <p:cNvSpPr/>
          <p:nvPr/>
        </p:nvSpPr>
        <p:spPr>
          <a:xfrm>
            <a:off x="68580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3" name="Cartão"/>
          <p:cNvSpPr/>
          <p:nvPr/>
        </p:nvSpPr>
        <p:spPr>
          <a:xfrm>
            <a:off x="68580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4" name="β1"/>
          <p:cNvSpPr txBox="1"/>
          <p:nvPr/>
        </p:nvSpPr>
        <p:spPr>
          <a:xfrm>
            <a:off x="8915400" y="240599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200" dirty="0"/>
          </a:p>
        </p:txBody>
      </p:sp>
      <p:sp>
        <p:nvSpPr>
          <p:cNvPr id="25" name="Cartão"/>
          <p:cNvSpPr/>
          <p:nvPr/>
        </p:nvSpPr>
        <p:spPr>
          <a:xfrm>
            <a:off x="9321800" y="247382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6" name="Cartão"/>
          <p:cNvSpPr/>
          <p:nvPr/>
        </p:nvSpPr>
        <p:spPr>
          <a:xfrm>
            <a:off x="9321800" y="2473821"/>
            <a:ext cx="762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27" name="β2"/>
          <p:cNvSpPr txBox="1"/>
          <p:nvPr/>
        </p:nvSpPr>
        <p:spPr>
          <a:xfrm>
            <a:off x="64516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200" dirty="0"/>
          </a:p>
        </p:txBody>
      </p:sp>
      <p:sp>
        <p:nvSpPr>
          <p:cNvPr id="28" name="Cartão"/>
          <p:cNvSpPr/>
          <p:nvPr/>
        </p:nvSpPr>
        <p:spPr>
          <a:xfrm>
            <a:off x="68580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29" name="Cartão"/>
          <p:cNvSpPr/>
          <p:nvPr/>
        </p:nvSpPr>
        <p:spPr>
          <a:xfrm>
            <a:off x="6858000" y="2750641"/>
            <a:ext cx="381000" cy="1016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30" name="D1"/>
          <p:cNvSpPr txBox="1"/>
          <p:nvPr/>
        </p:nvSpPr>
        <p:spPr>
          <a:xfrm>
            <a:off x="8915400" y="2682818"/>
            <a:ext cx="323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200" dirty="0"/>
          </a:p>
        </p:txBody>
      </p:sp>
      <p:sp>
        <p:nvSpPr>
          <p:cNvPr id="31" name="Cartão"/>
          <p:cNvSpPr/>
          <p:nvPr/>
        </p:nvSpPr>
        <p:spPr>
          <a:xfrm>
            <a:off x="9321800" y="2750641"/>
            <a:ext cx="1524000" cy="1016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32" name="Cartão"/>
          <p:cNvSpPr/>
          <p:nvPr/>
        </p:nvSpPr>
        <p:spPr>
          <a:xfrm>
            <a:off x="6197600" y="3162102"/>
            <a:ext cx="5181600" cy="1413272"/>
          </a:xfrm>
          <a:prstGeom prst="roundRect">
            <a:avLst>
              <a:gd name="adj" fmla="val 539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33" name="Ação mista: direta em α e β e indireta, "/>
          <p:cNvSpPr txBox="1"/>
          <p:nvPr/>
        </p:nvSpPr>
        <p:spPr>
          <a:xfrm>
            <a:off x="6457950" y="3355621"/>
            <a:ext cx="4679950" cy="9941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Ação mista: direta em α e β e indireta, liberando noradrenalina. Bolus de 5–10 mg, boa na hipotensão com bradicardia. Taquifilaxia com doses repetidas; na cesárea, mais acidose fetal que a fenilefrina.</a:t>
            </a:r>
            <a:endParaRPr lang="en-US" sz="1350" dirty="0"/>
          </a:p>
        </p:txBody>
      </p:sp>
      <p:sp>
        <p:nvSpPr>
          <p:cNvPr id="34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· [cap./pág.] · barras: escala qualitativa</a:t>
            </a:r>
            <a:endParaRPr lang="en-US" sz="1200" dirty="0"/>
          </a:p>
        </p:txBody>
      </p:sp>
      <p:pic>
        <p:nvPicPr>
          <p:cNvPr id="3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4 · ALÉM DAS AMIN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ALÉM DAS AMINAS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 e adjuvantes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4064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VASOPRESSINA · RECEPTOR V1"/>
          <p:cNvSpPr txBox="1"/>
          <p:nvPr/>
        </p:nvSpPr>
        <p:spPr>
          <a:xfrm>
            <a:off x="1066800" y="2121537"/>
            <a:ext cx="3575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 · RECEPTOR V1</a:t>
            </a:r>
            <a:endParaRPr lang="en-US" sz="1200" dirty="0"/>
          </a:p>
        </p:txBody>
      </p:sp>
      <p:sp>
        <p:nvSpPr>
          <p:cNvPr id="6" name="0,03 U/min"/>
          <p:cNvSpPr txBox="1"/>
          <p:nvPr/>
        </p:nvSpPr>
        <p:spPr>
          <a:xfrm>
            <a:off x="1066800" y="2457108"/>
            <a:ext cx="3575050" cy="502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960"/>
              </a:lnSpc>
              <a:buNone/>
            </a:pPr>
            <a:r>
              <a:rPr lang="pt-BR" altLang="en-US" sz="36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0,03 U/min</a:t>
            </a:r>
            <a:endParaRPr lang="en-US" sz="3600" dirty="0"/>
          </a:p>
        </p:txBody>
      </p:sp>
      <p:sp>
        <p:nvSpPr>
          <p:cNvPr id="7" name="Dose fixa (até 0,04 U/min), sem titulaçã"/>
          <p:cNvSpPr txBox="1"/>
          <p:nvPr/>
        </p:nvSpPr>
        <p:spPr>
          <a:xfrm>
            <a:off x="1066800" y="3036831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fixa (até 0,04 U/min), sem titulação; age mesmo com acidose e dessensibilização adrenérgica.</a:t>
            </a:r>
            <a:endParaRPr lang="en-US" sz="1350" dirty="0"/>
          </a:p>
        </p:txBody>
      </p:sp>
      <p:sp>
        <p:nvSpPr>
          <p:cNvPr id="8" name="Indicações: choque séptico com NA em esc"/>
          <p:cNvSpPr txBox="1"/>
          <p:nvPr/>
        </p:nvSpPr>
        <p:spPr>
          <a:xfrm>
            <a:off x="1066800" y="3884060"/>
            <a:ext cx="3575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Indicações: choque séptico com NA em escalada, vasoplegia pós-CEC e hipotensão refratária com IECA/BRA.</a:t>
            </a:r>
            <a:endParaRPr lang="en-US" sz="1350" dirty="0"/>
          </a:p>
        </p:txBody>
      </p:sp>
      <p:sp>
        <p:nvSpPr>
          <p:cNvPr id="9" name="Cartão"/>
          <p:cNvSpPr/>
          <p:nvPr/>
        </p:nvSpPr>
        <p:spPr>
          <a:xfrm>
            <a:off x="5080000" y="1879501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0" name="Hidrocortisona"/>
          <p:cNvSpPr txBox="1"/>
          <p:nvPr/>
        </p:nvSpPr>
        <p:spPr>
          <a:xfrm>
            <a:off x="5289550" y="203472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</a:t>
            </a:r>
            <a:endParaRPr lang="en-US" sz="1500" dirty="0"/>
          </a:p>
        </p:txBody>
      </p:sp>
      <p:sp>
        <p:nvSpPr>
          <p:cNvPr id="11" name="Restaura a resposta vascular às catecola"/>
          <p:cNvSpPr txBox="1"/>
          <p:nvPr/>
        </p:nvSpPr>
        <p:spPr>
          <a:xfrm>
            <a:off x="5289550" y="2304690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Restaura a resposta vascular às catecolaminas. No choque séptico, 200 mg/dia (sugerida pela SSC 2026).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5080000" y="3040162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3" name="Angiotensina II"/>
          <p:cNvSpPr txBox="1"/>
          <p:nvPr/>
        </p:nvSpPr>
        <p:spPr>
          <a:xfrm>
            <a:off x="5289550" y="3195387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Angiotensina II</a:t>
            </a:r>
            <a:endParaRPr lang="en-US" sz="1500" dirty="0"/>
          </a:p>
        </p:txBody>
      </p:sp>
      <p:sp>
        <p:nvSpPr>
          <p:cNvPr id="14" name="Agonista AT1: eleva a PAM rapidamente e "/>
          <p:cNvSpPr txBox="1"/>
          <p:nvPr/>
        </p:nvSpPr>
        <p:spPr>
          <a:xfrm>
            <a:off x="5289550" y="3465351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Agonista AT1: eleva a PAM rapidamente e poupa catecolamina. Pouco disponível; a NA continua preferida.</a:t>
            </a:r>
            <a:endParaRPr lang="en-US" sz="1300" dirty="0"/>
          </a:p>
        </p:txBody>
      </p:sp>
      <p:sp>
        <p:nvSpPr>
          <p:cNvPr id="15" name="Cartão"/>
          <p:cNvSpPr/>
          <p:nvPr/>
        </p:nvSpPr>
        <p:spPr>
          <a:xfrm>
            <a:off x="5080000" y="4200823"/>
            <a:ext cx="6299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6" name="Azul de metileno"/>
          <p:cNvSpPr txBox="1"/>
          <p:nvPr/>
        </p:nvSpPr>
        <p:spPr>
          <a:xfrm>
            <a:off x="5289550" y="4356048"/>
            <a:ext cx="5899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Azul de metileno</a:t>
            </a:r>
            <a:endParaRPr lang="en-US" sz="1500" dirty="0"/>
          </a:p>
        </p:txBody>
      </p:sp>
      <p:sp>
        <p:nvSpPr>
          <p:cNvPr id="17" name="Bloqueia a via óxido nítrico–GMPc: resga"/>
          <p:cNvSpPr txBox="1"/>
          <p:nvPr/>
        </p:nvSpPr>
        <p:spPr>
          <a:xfrm>
            <a:off x="5289550" y="4626012"/>
            <a:ext cx="5899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Bloqueia a via óxido nítrico–GMPc: resgate na vasoplegia refratária (pós-CEC, reperfusão hepática). Evitar com ISRS e na deficiência de G6PD.</a:t>
            </a:r>
            <a:endParaRPr lang="en-US" sz="1300" dirty="0"/>
          </a:p>
        </p:txBody>
      </p:sp>
      <p:sp>
        <p:nvSpPr>
          <p:cNvPr id="18" name="SSC 2026 · Hajjar, Anesthesiology 2017 (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 · Hajjar, Anesthesiology 2017 (VANCS) · Khanna, N Engl J Med 2017 (ATHOS-3)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5 · CHOQUE SÉPTIC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CHOQUE SÉPTICO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séptico: recomendações da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, cedo; pode começar em veia per"/>
          <p:cNvSpPr txBox="1"/>
          <p:nvPr/>
        </p:nvSpPr>
        <p:spPr>
          <a:xfrm>
            <a:off x="1016000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linha, cedo; pode começar em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Quando a dose de NA está subindo."/>
          <p:cNvSpPr txBox="1"/>
          <p:nvPr/>
        </p:nvSpPr>
        <p:spPr>
          <a:xfrm>
            <a:off x="4758234" y="2658901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 dose de NA está subindo.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Se a PAM continuar inadequada."/>
          <p:cNvSpPr txBox="1"/>
          <p:nvPr/>
        </p:nvSpPr>
        <p:spPr>
          <a:xfrm>
            <a:off x="8500467" y="2658901"/>
            <a:ext cx="2694484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PAM continuar inadequada.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Alvo e momento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e momento</a:t>
            </a:r>
            <a:endParaRPr lang="en-US" sz="1700" dirty="0"/>
          </a:p>
        </p:txBody>
      </p:sp>
      <p:sp>
        <p:nvSpPr>
          <p:cNvPr id="20" name="PAM 65 mmHg para começar (60–65 a partir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65 mmHg para começar (60–65 a partir dos 65 anos). Iniciar a vasopressina mais cedo como regra não reduziu a mortalidade (VASSPR).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Disfunção cardíaca e adjuvantes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 e adjuvantes</a:t>
            </a:r>
            <a:endParaRPr lang="en-US" sz="1700" dirty="0"/>
          </a:p>
        </p:txBody>
      </p:sp>
      <p:sp>
        <p:nvSpPr>
          <p:cNvPr id="23" name="Hipoperfusão com volume e PAM adequados: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com volume e PAM adequados: dobutamina com NA, ou adrenalina. Hidrocortisona EV sugerida. Levosimendana e terlipressina: contra.</a:t>
            </a:r>
            <a:endParaRPr lang="en-US" sz="1350" dirty="0"/>
          </a:p>
        </p:txBody>
      </p:sp>
      <p:sp>
        <p:nvSpPr>
          <p:cNvPr id="24" name="Prescott, Crit Care Med 2026 (SSC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Crit Care Med 2026 (SSC) · Peltan, JAMA 2026 (VASSPR)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Escolha da droga no intraoperatório</a:t>
            </a:r>
            <a:endParaRPr lang="en-US" sz="3200" dirty="0"/>
          </a:p>
        </p:txBody>
      </p:sp>
      <p:graphicFrame>
        <p:nvGraphicFramePr>
          <p:cNvPr id="1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381177"/>
                <a:gridCol w="4015184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Cenário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Primeira escolha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Racional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após indução ou neuroeixo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 50–100 mcg ou NA 5–10 mcg em bolus; NA em infusão se persistir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Corrige o tônus sem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 5–10 mg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 e liberação de noradrenalina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débito, disfunção de VD ou hipertensão pulmonar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milrinona, com NA se a PAM cair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Inotropismo; a milrinona também reduz a RVP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 refratária: pós-CEC, IECA/BRA, reperfusão hepática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Vasopressina; azul de metileno como resgate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Outras vias: V1 e óxido nítrico–GMPc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Raquianestesia na cesárea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 profilática 25–50 mcg/min; NA como alternativa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 ≥90% da basal; NA com menos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Antes da droga, afastar plano anestésico"/>
          <p:cNvSpPr txBox="1"/>
          <p:nvPr/>
        </p:nvSpPr>
        <p:spPr>
          <a:xfrm>
            <a:off x="812800" y="5188776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da droga, afastar plano anestésico profundo, hipovolemia, compressão aortocava, pneumotórax e anafilaxia.</a:t>
            </a:r>
            <a:endParaRPr lang="en-US" sz="1400" dirty="0"/>
          </a:p>
        </p:txBody>
      </p:sp>
      <p:sp>
        <p:nvSpPr>
          <p:cNvPr id="6" name="Kinsella, Anaesthesia 2018 · Hajjar, An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Hajjar, Anesthesiology 2017 (VANCS) · Miller’s Anesthesia, 10ª ed. · [cap./pág.]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6 · PERIOPERATÓRIO · HIPOTENSÃ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PERIOPERATÓRIO · HIPOTENSÃO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Hipotensão intraoperatória e alvo de pressão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RISCO"/>
          <p:cNvSpPr txBox="1"/>
          <p:nvPr/>
        </p:nvSpPr>
        <p:spPr>
          <a:xfrm>
            <a:off x="1066800" y="2121537"/>
            <a:ext cx="3067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RISCO</a:t>
            </a:r>
            <a:endParaRPr lang="en-US" sz="1200" dirty="0"/>
          </a:p>
        </p:txBody>
      </p:sp>
      <p:sp>
        <p:nvSpPr>
          <p:cNvPr id="6" name="PAM &lt; 65"/>
          <p:cNvSpPr txBox="1"/>
          <p:nvPr/>
        </p:nvSpPr>
        <p:spPr>
          <a:xfrm>
            <a:off x="1066800" y="2459038"/>
            <a:ext cx="3067050" cy="6146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840"/>
              </a:lnSpc>
              <a:buNone/>
            </a:pPr>
            <a:r>
              <a:rPr lang="pt-BR" altLang="en-US" sz="44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PAM &lt; 65</a:t>
            </a:r>
            <a:endParaRPr lang="en-US" sz="4400" dirty="0"/>
          </a:p>
        </p:txBody>
      </p:sp>
      <p:sp>
        <p:nvSpPr>
          <p:cNvPr id="7" name="Mesmo por pouco tempo, PAM abaixo de 65 "/>
          <p:cNvSpPr txBox="1"/>
          <p:nvPr/>
        </p:nvSpPr>
        <p:spPr>
          <a:xfrm>
            <a:off x="1066800" y="3148651"/>
            <a:ext cx="30670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Mesmo por pouco tempo, PAM abaixo de 65 mmHg se associa a lesão renal aguda, lesão miocárdica e delirium.</a:t>
            </a:r>
            <a:endParaRPr lang="en-US" sz="135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Limite mínimo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 mínimo</a:t>
            </a:r>
            <a:endParaRPr lang="en-US" sz="1500" dirty="0"/>
          </a:p>
        </p:txBody>
      </p:sp>
      <p:sp>
        <p:nvSpPr>
          <p:cNvPr id="10" name="PAM ≥60 em pacientes de risco (POQI 2024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≥60 em pacientes de risco (POQI 2024). Não é garantia de perfusão; com pressão venosa alta, o alvo é maior.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Alvo maior em selecionados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maior em selecionados</a:t>
            </a:r>
            <a:endParaRPr lang="en-US" sz="1500" dirty="0"/>
          </a:p>
        </p:txBody>
      </p:sp>
      <p:sp>
        <p:nvSpPr>
          <p:cNvPr id="13" name="PAM ≥80 reduziu morte ou disfunção orgân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≥80 reduziu morte ou disfunção orgânica, sobretudo lesão renal aguda, em hipertensos de alto risco (HISTAP).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Manejo proativo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Manejo proativo</a:t>
            </a:r>
            <a:endParaRPr lang="en-US" sz="1500" dirty="0"/>
          </a:p>
        </p:txBody>
      </p:sp>
      <p:sp>
        <p:nvSpPr>
          <p:cNvPr id="16" name="Antecipar e tratar cedo; monitorização f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Antecipar e tratar cedo; monitorização funcional (VPP, volume sistólico, eco) decide entre volume, vasopressor e inotrópico.</a:t>
            </a:r>
            <a:endParaRPr lang="en-US" sz="1300" dirty="0"/>
          </a:p>
        </p:txBody>
      </p:sp>
      <p:sp>
        <p:nvSpPr>
          <p:cNvPr id="17" name="Lineburger, Braz J Anesthesiol 2025 · Sa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Lineburger, Braz J Anesthesiol 2025 · Saugel, Br J Anaesth 2024 (POQI) · SIAARTI, Intensive Care Med 2026 (HISTAP)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07 · MENSAGENS FINAI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MENSAGENS FINAIS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hemodinâmico e droga de escolha</a:t>
            </a:r>
            <a:endParaRPr lang="en-US" sz="3200" dirty="0"/>
          </a:p>
        </p:txBody>
      </p:sp>
      <p:graphicFrame>
        <p:nvGraphicFramePr>
          <p:cNvPr id="16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3592513"/>
                <a:gridCol w="6973888"/>
              </a:tblGrid>
              <a:tr h="41781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42098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Vasoplegia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Noradrenalina; vasopressina quando a dose sobe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 ou milrinona (com vasopressor se a PAM cair) ou 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Efedrina; adrenalina se grave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taquicardia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Anafilaxia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416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intraoperatória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890"/>
                        </a:lnSpc>
                        <a:buNone/>
                      </a:pPr>
                      <a:r>
                        <a:rPr lang="pt-BR" altLang="en-US" sz="135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cedo: PAM ≥60–65 como piso, alvo individual em selecionados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ara discutir: no nosso serviço, quando "/>
          <p:cNvSpPr txBox="1"/>
          <p:nvPr/>
        </p:nvSpPr>
        <p:spPr>
          <a:xfrm>
            <a:off x="812800" y="5133115"/>
            <a:ext cx="1058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discutir: no nosso serviço, quando preferimos milrinona a dobutamina e quando associamos vasopressina?</a:t>
            </a:r>
            <a:endParaRPr lang="en-US" sz="1400" dirty="0"/>
          </a:p>
        </p:txBody>
      </p:sp>
      <p:sp>
        <p:nvSpPr>
          <p:cNvPr id="6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Saugel, Br J Anaesth 2024 (POQI) · Lineburger, Braz J Anesthesiol 2025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title"/>
          </p:nvPr>
        </p:nvSpPr>
        <p:spPr>
          <a:xfrm>
            <a:off x="812800" y="1847982"/>
            <a:ext cx="10718800" cy="497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</a:t>
            </a:r>
            <a:endParaRPr lang="en-US" sz="1400" dirty="0"/>
          </a:p>
        </p:txBody>
      </p:sp>
      <p:sp>
        <p:nvSpPr>
          <p:cNvPr id="3" name="Slides de reserva para perguntas"/>
          <p:cNvSpPr txBox="1"/>
          <p:nvPr/>
        </p:nvSpPr>
        <p:spPr>
          <a:xfrm>
            <a:off x="812800" y="2410271"/>
            <a:ext cx="10179050" cy="5790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560"/>
              </a:lnSpc>
              <a:buNone/>
            </a:pPr>
            <a:r>
              <a:rPr lang="pt-BR" altLang="en-US" sz="38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de reserva para perguntas</a:t>
            </a:r>
            <a:endParaRPr lang="en-US" sz="3800" dirty="0"/>
          </a:p>
        </p:txBody>
      </p:sp>
      <p:sp>
        <p:nvSpPr>
          <p:cNvPr id="4" name="Material de apoio: detalhes, tabelas e r"/>
          <p:cNvSpPr txBox="1"/>
          <p:nvPr/>
        </p:nvSpPr>
        <p:spPr>
          <a:xfrm>
            <a:off x="812800" y="3283469"/>
            <a:ext cx="9544050" cy="2844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pt-BR" altLang="en-US" sz="16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de apoio: detalhes, tabelas e referências. Não entra nos 15 minutos.</a:t>
            </a:r>
            <a:endParaRPr lang="en-US" sz="1600" dirty="0"/>
          </a:p>
        </p:txBody>
      </p:sp>
      <p:sp>
        <p:nvSpPr>
          <p:cNvPr id="5" name="Síntese das drogas"/>
          <p:cNvSpPr/>
          <p:nvPr/>
        </p:nvSpPr>
        <p:spPr>
          <a:xfrm>
            <a:off x="812800" y="3888680"/>
            <a:ext cx="1722041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Síntese das drogas</a:t>
            </a:r>
            <a:endParaRPr lang="en-US" sz="1400" dirty="0"/>
          </a:p>
        </p:txBody>
      </p:sp>
      <p:sp>
        <p:nvSpPr>
          <p:cNvPr id="6" name="Dopamina"/>
          <p:cNvSpPr/>
          <p:nvPr/>
        </p:nvSpPr>
        <p:spPr>
          <a:xfrm>
            <a:off x="2636441" y="3888680"/>
            <a:ext cx="111799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Dopamina</a:t>
            </a:r>
            <a:endParaRPr lang="en-US" sz="1400" dirty="0"/>
          </a:p>
        </p:txBody>
      </p:sp>
      <p:sp>
        <p:nvSpPr>
          <p:cNvPr id="7" name="Dobutamina"/>
          <p:cNvSpPr/>
          <p:nvPr/>
        </p:nvSpPr>
        <p:spPr>
          <a:xfrm>
            <a:off x="3856037" y="3888680"/>
            <a:ext cx="1275060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Dobutamina</a:t>
            </a:r>
            <a:endParaRPr lang="en-US" sz="1400" dirty="0"/>
          </a:p>
        </p:txBody>
      </p:sp>
      <p:sp>
        <p:nvSpPr>
          <p:cNvPr id="8" name="Fenilefrina"/>
          <p:cNvSpPr/>
          <p:nvPr/>
        </p:nvSpPr>
        <p:spPr>
          <a:xfrm>
            <a:off x="5232698" y="3888680"/>
            <a:ext cx="1145282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Fenilefrina</a:t>
            </a:r>
            <a:endParaRPr lang="en-US" sz="1400" dirty="0"/>
          </a:p>
        </p:txBody>
      </p:sp>
      <p:sp>
        <p:nvSpPr>
          <p:cNvPr id="9" name="Efedrina"/>
          <p:cNvSpPr/>
          <p:nvPr/>
        </p:nvSpPr>
        <p:spPr>
          <a:xfrm>
            <a:off x="6479580" y="3888680"/>
            <a:ext cx="97363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Efedrina</a:t>
            </a:r>
            <a:endParaRPr lang="en-US" sz="1400" dirty="0"/>
          </a:p>
        </p:txBody>
      </p:sp>
      <p:sp>
        <p:nvSpPr>
          <p:cNvPr id="10" name="Vasopressina"/>
          <p:cNvSpPr/>
          <p:nvPr/>
        </p:nvSpPr>
        <p:spPr>
          <a:xfrm>
            <a:off x="7554813" y="3888680"/>
            <a:ext cx="133191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Vasopressina</a:t>
            </a:r>
            <a:endParaRPr lang="en-US" sz="1400" dirty="0"/>
          </a:p>
        </p:txBody>
      </p:sp>
      <p:sp>
        <p:nvSpPr>
          <p:cNvPr id="11" name="Choque refratário"/>
          <p:cNvSpPr/>
          <p:nvPr/>
        </p:nvSpPr>
        <p:spPr>
          <a:xfrm>
            <a:off x="8988326" y="3888680"/>
            <a:ext cx="16731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refratário</a:t>
            </a:r>
            <a:endParaRPr lang="en-US" sz="1400" dirty="0"/>
          </a:p>
        </p:txBody>
      </p:sp>
      <p:sp>
        <p:nvSpPr>
          <p:cNvPr id="12" name="Sequência SSC"/>
          <p:cNvSpPr/>
          <p:nvPr/>
        </p:nvSpPr>
        <p:spPr>
          <a:xfrm>
            <a:off x="812800" y="4391521"/>
            <a:ext cx="1413173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Sequência SSC</a:t>
            </a:r>
            <a:endParaRPr lang="en-US" sz="1400" dirty="0"/>
          </a:p>
        </p:txBody>
      </p:sp>
      <p:sp>
        <p:nvSpPr>
          <p:cNvPr id="13" name="Alvo de PAM"/>
          <p:cNvSpPr/>
          <p:nvPr/>
        </p:nvSpPr>
        <p:spPr>
          <a:xfrm>
            <a:off x="2327573" y="4391521"/>
            <a:ext cx="130988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de PAM</a:t>
            </a:r>
            <a:endParaRPr lang="en-US" sz="1400" dirty="0"/>
          </a:p>
        </p:txBody>
      </p:sp>
      <p:sp>
        <p:nvSpPr>
          <p:cNvPr id="14" name="Início e via"/>
          <p:cNvSpPr/>
          <p:nvPr/>
        </p:nvSpPr>
        <p:spPr>
          <a:xfrm>
            <a:off x="3739059" y="4391521"/>
            <a:ext cx="114121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Início e via</a:t>
            </a:r>
            <a:endParaRPr lang="en-US" sz="1400" dirty="0"/>
          </a:p>
        </p:txBody>
      </p:sp>
      <p:sp>
        <p:nvSpPr>
          <p:cNvPr id="15" name="Alvo intraoperatório"/>
          <p:cNvSpPr/>
          <p:nvPr/>
        </p:nvSpPr>
        <p:spPr>
          <a:xfrm>
            <a:off x="4981873" y="4391521"/>
            <a:ext cx="1869777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Alvo intraoperatório</a:t>
            </a:r>
            <a:endParaRPr lang="en-US" sz="1400" dirty="0"/>
          </a:p>
        </p:txBody>
      </p:sp>
      <p:sp>
        <p:nvSpPr>
          <p:cNvPr id="16" name="Roteiro"/>
          <p:cNvSpPr/>
          <p:nvPr/>
        </p:nvSpPr>
        <p:spPr>
          <a:xfrm>
            <a:off x="6953250" y="4391521"/>
            <a:ext cx="904974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400" dirty="0"/>
          </a:p>
        </p:txBody>
      </p:sp>
      <p:sp>
        <p:nvSpPr>
          <p:cNvPr id="17" name="Referências"/>
          <p:cNvSpPr/>
          <p:nvPr/>
        </p:nvSpPr>
        <p:spPr>
          <a:xfrm>
            <a:off x="7959824" y="4391521"/>
            <a:ext cx="1215926" cy="401241"/>
          </a:xfrm>
          <a:prstGeom prst="roundRect">
            <a:avLst>
              <a:gd name="adj" fmla="val 50000"/>
            </a:avLst>
          </a:prstGeom>
          <a:solidFill>
            <a:srgbClr val="2A3D52"/>
          </a:solidFill>
          <a:ln/>
        </p:spPr>
        <p:txBody>
          <a:bodyPr wrap="none" lIns="177800" tIns="76200" rIns="177800" bIns="76200" rtlCol="0" anchor="ctr"/>
          <a:lstStyle/>
          <a:p>
            <a:pPr algn="ctr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Referências</a:t>
            </a:r>
            <a:endParaRPr lang="en-US" sz="14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ÍNTESE DAS DROG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SÍNTESE DAS DROGAS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Síntese das drogas</a:t>
            </a:r>
            <a:endParaRPr lang="en-US" sz="3200" dirty="0"/>
          </a:p>
        </p:txBody>
      </p:sp>
      <p:graphicFrame>
        <p:nvGraphicFramePr>
          <p:cNvPr id="1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796256"/>
                <a:gridCol w="845245"/>
                <a:gridCol w="845245"/>
                <a:gridCol w="845245"/>
                <a:gridCol w="845245"/>
                <a:gridCol w="2324596"/>
                <a:gridCol w="3064570"/>
              </a:tblGrid>
              <a:tr h="3657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Droga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β2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D1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Dose usual (adulto)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principal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368895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1ª linha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0,01–0,1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Refratário; anafilaxia; PCR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sem alternativa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Dobutamina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2,5–20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débito com PAM sustentada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0,375–0,75 mcg/kg/min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Inodilatador: baixo débito, VD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Vasopressina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 U/min (até 0,04)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Adjuvante no choque vasoplégico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Fenilefrina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50–100 mcg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Vasodilatação com FC alta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Efedrina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Bolus 5–10 mg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Hipotensão com bradicardia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720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Isoproterenol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++++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2–10 mcg/min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Bradicardia refratária</a:t>
                      </a:r>
                      <a:endParaRPr lang="en-US" sz="1200" dirty="0"/>
                    </a:p>
                  </a:txBody>
                  <a:tcPr marL="127000" marR="1270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Escala qualitativa (0 a ++++), não afin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 qualitativa (0 a ++++), não afinidade medida · faixas usuais, titular pelo efeito · Overgaard &amp; Džavík, Circulation 2008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P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DOPAMINA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Dopamina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333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8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9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FC ↑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22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3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5" name="Faixa de 2 a 20 mcg/kg/min. Até ~3: D1 ("/>
          <p:cNvSpPr txBox="1"/>
          <p:nvPr/>
        </p:nvSpPr>
        <p:spPr>
          <a:xfrm>
            <a:off x="4324350" y="2484480"/>
            <a:ext cx="3054350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 de 2 a 20 mcg/kg/min. Até ~3: D1 (vasodilatação renal e mesentérica). De 3 a 10: β1, em parte por liberação de noradrenalina. Acima de 10: α1. Os limiares variam muito entre pacientes.</a:t>
            </a:r>
            <a:endParaRPr lang="en-US" sz="1350" dirty="0"/>
          </a:p>
        </p:txBody>
      </p:sp>
      <p:sp>
        <p:nvSpPr>
          <p:cNvPr id="26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7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8" name="Dose “renal” não protege o rim (ANZICS, 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“renal” não protege o rim (ANZICS, Lancet 2000). SOAP II: arritmias 24,1% vs. 12,4% com NA e maior mortalidade no subgrupo cardiogênico. SSC 2026: recomendação forte contra como primeira linha (certeza alta).</a:t>
            </a:r>
            <a:endParaRPr lang="en-US" sz="1350" dirty="0"/>
          </a:p>
        </p:txBody>
      </p:sp>
      <p:sp>
        <p:nvSpPr>
          <p:cNvPr id="29" name="Bellomo, Lancet 2000 (ANZICS) · De Back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Bellomo, Lancet 2000 (ANZICS) · De Backer, N Engl J Med 2010 (SOAP II) · SSC 2026 · barras: escala qualitativa</a:t>
            </a:r>
            <a:endParaRPr lang="en-US" sz="1200" dirty="0"/>
          </a:p>
        </p:txBody>
      </p:sp>
      <p:pic>
        <p:nvPicPr>
          <p:cNvPr id="30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DOBUTAM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DOBUTAMINA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Dobutamina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DC ↑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RVS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21" name="PAM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Infusão de 2,5 a 20 mcg/kg/min. Mistura "/>
          <p:cNvSpPr txBox="1"/>
          <p:nvPr/>
        </p:nvSpPr>
        <p:spPr>
          <a:xfrm>
            <a:off x="43243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Infusão de 2,5 a 20 mcg/kg/min. Mistura racêmica cujos efeitos α1 se anulam: efeito líquido β1, com vasodilatação β2. SSC 2026: com disfunção cardíaca e hipoperfusão persistente, associar à NA ou usar adrenalina isolada.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cardia, arritmia e maior consumo mi"/>
          <p:cNvSpPr txBox="1"/>
          <p:nvPr/>
        </p:nvSpPr>
        <p:spPr>
          <a:xfrm>
            <a:off x="80835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Taquicardia, arritmia e maior consumo miocárdico de oxigênio; tolerância após uso prolongado. Hipotensão se hipovolêmico ou vasoplégico. DOREMI (choque cardiogênico): sem diferença estatisticamente significativa vs. milrinona no desfecho composto (54% vs. 49%).</a:t>
            </a:r>
            <a:endParaRPr lang="en-US" sz="1350" dirty="0"/>
          </a:p>
        </p:txBody>
      </p:sp>
      <p:sp>
        <p:nvSpPr>
          <p:cNvPr id="28" name="Mathew, N Engl J Med 2021 (DOREMI) · SSC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Mathew, N Engl J Med 2021 (DOREMI) · SSC 2026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FENILEF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FENILEFRINA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Fenilefrina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2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3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5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6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7" name="RVS ↑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↑↑</a:t>
            </a:r>
            <a:endParaRPr lang="en-US" sz="1400" dirty="0"/>
          </a:p>
        </p:txBody>
      </p:sp>
      <p:sp>
        <p:nvSpPr>
          <p:cNvPr id="18" name="FC ↓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↓</a:t>
            </a:r>
            <a:endParaRPr lang="en-US" sz="1400" dirty="0"/>
          </a:p>
        </p:txBody>
      </p:sp>
      <p:sp>
        <p:nvSpPr>
          <p:cNvPr id="19" name="DC ↔/↓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↔/↓</a:t>
            </a:r>
            <a:endParaRPr lang="en-US" sz="1400" dirty="0"/>
          </a:p>
        </p:txBody>
      </p:sp>
      <p:sp>
        <p:nvSpPr>
          <p:cNvPr id="20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1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2" name="Bolus de 50–100 mcg, início imediato e e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50–100 mcg, início imediato e efeito curto. Na cesárea sob raqui, infusão profilática de 25–50 mcg/min, mantendo a PAS ≥90% da basal. Útil na vasodilatação com FC normal ou alta e, conforme o contexto, na estenose aórtica ou na obstrução dinâmica da via de saída do VE.</a:t>
            </a:r>
            <a:endParaRPr lang="en-US" sz="1350" dirty="0"/>
          </a:p>
        </p:txBody>
      </p:sp>
      <p:sp>
        <p:nvSpPr>
          <p:cNvPr id="23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4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5" name="O barorreflexo reduz a FC e pode reduzir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barorreflexo reduz a FC e pode reduzir o DC, sobretudo com disfunção de VE. Na cesárea, NA 6 mcg em bolus causou menos bradicardia que fenilefrina 100 mcg (10,7% vs. 37,5%). No choque séptico, sem evidência para uso como primeira linha.</a:t>
            </a:r>
            <a:endParaRPr lang="en-US" sz="1350" dirty="0"/>
          </a:p>
        </p:txBody>
      </p:sp>
      <p:sp>
        <p:nvSpPr>
          <p:cNvPr id="26" name="Kinsella, Anaesthesia 2018 · Sharkey, An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Sharkey, Anesth Analg 2019 · Park &amp; Choi, Anesth Pain Med 2024 · barras: escala qualitativa</a:t>
            </a:r>
            <a:endParaRPr lang="en-US" sz="1200" dirty="0"/>
          </a:p>
        </p:txBody>
      </p:sp>
      <p:pic>
        <p:nvPicPr>
          <p:cNvPr id="2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EFEDR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EFEDRINA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Efedrina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48000" cy="3194844"/>
          </a:xfrm>
          <a:prstGeom prst="roundRect">
            <a:avLst>
              <a:gd name="adj" fmla="val 2500"/>
            </a:avLst>
          </a:prstGeom>
          <a:solidFill>
            <a:srgbClr val="1B2A3A"/>
          </a:solidFill>
          <a:ln/>
        </p:spPr>
      </p:sp>
      <p:sp>
        <p:nvSpPr>
          <p:cNvPr id="5" name="RECEPTORES"/>
          <p:cNvSpPr txBox="1"/>
          <p:nvPr/>
        </p:nvSpPr>
        <p:spPr>
          <a:xfrm>
            <a:off x="1066800" y="2121537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</a:t>
            </a:r>
            <a:endParaRPr lang="en-US" sz="1200" dirty="0"/>
          </a:p>
        </p:txBody>
      </p:sp>
      <p:sp>
        <p:nvSpPr>
          <p:cNvPr id="6" name="α1"/>
          <p:cNvSpPr txBox="1"/>
          <p:nvPr/>
        </p:nvSpPr>
        <p:spPr>
          <a:xfrm>
            <a:off x="1066800" y="246086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α1</a:t>
            </a:r>
            <a:endParaRPr lang="en-US" sz="1300" dirty="0"/>
          </a:p>
        </p:txBody>
      </p:sp>
      <p:sp>
        <p:nvSpPr>
          <p:cNvPr id="7" name="Cartão"/>
          <p:cNvSpPr/>
          <p:nvPr/>
        </p:nvSpPr>
        <p:spPr>
          <a:xfrm>
            <a:off x="1524000" y="253216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8" name="Cartão"/>
          <p:cNvSpPr/>
          <p:nvPr/>
        </p:nvSpPr>
        <p:spPr>
          <a:xfrm>
            <a:off x="1524000" y="253216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9" name="β1"/>
          <p:cNvSpPr txBox="1"/>
          <p:nvPr/>
        </p:nvSpPr>
        <p:spPr>
          <a:xfrm>
            <a:off x="1066800" y="2818941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β1</a:t>
            </a:r>
            <a:endParaRPr lang="en-US" sz="1300" dirty="0"/>
          </a:p>
        </p:txBody>
      </p:sp>
      <p:sp>
        <p:nvSpPr>
          <p:cNvPr id="10" name="Cartão"/>
          <p:cNvSpPr/>
          <p:nvPr/>
        </p:nvSpPr>
        <p:spPr>
          <a:xfrm>
            <a:off x="1524000" y="2890242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1" name="Cartão"/>
          <p:cNvSpPr/>
          <p:nvPr/>
        </p:nvSpPr>
        <p:spPr>
          <a:xfrm>
            <a:off x="1524000" y="2890242"/>
            <a:ext cx="8890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2" name="β2"/>
          <p:cNvSpPr txBox="1"/>
          <p:nvPr/>
        </p:nvSpPr>
        <p:spPr>
          <a:xfrm>
            <a:off x="1066800" y="317702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β2</a:t>
            </a:r>
            <a:endParaRPr lang="en-US" sz="1300" dirty="0"/>
          </a:p>
        </p:txBody>
      </p:sp>
      <p:sp>
        <p:nvSpPr>
          <p:cNvPr id="13" name="Cartão"/>
          <p:cNvSpPr/>
          <p:nvPr/>
        </p:nvSpPr>
        <p:spPr>
          <a:xfrm>
            <a:off x="1524000" y="324832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4" name="Cartão"/>
          <p:cNvSpPr/>
          <p:nvPr/>
        </p:nvSpPr>
        <p:spPr>
          <a:xfrm>
            <a:off x="1524000" y="3248323"/>
            <a:ext cx="444500" cy="114300"/>
          </a:xfrm>
          <a:prstGeom prst="roundRect">
            <a:avLst>
              <a:gd name="adj" fmla="val 50000"/>
            </a:avLst>
          </a:prstGeom>
          <a:solidFill>
            <a:srgbClr val="E49A5C"/>
          </a:solidFill>
          <a:ln/>
        </p:spPr>
      </p:sp>
      <p:sp>
        <p:nvSpPr>
          <p:cNvPr id="15" name="D1"/>
          <p:cNvSpPr txBox="1"/>
          <p:nvPr/>
        </p:nvSpPr>
        <p:spPr>
          <a:xfrm>
            <a:off x="1066800" y="3535102"/>
            <a:ext cx="374650" cy="2310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D1</a:t>
            </a:r>
            <a:endParaRPr lang="en-US" sz="1300" dirty="0"/>
          </a:p>
        </p:txBody>
      </p:sp>
      <p:sp>
        <p:nvSpPr>
          <p:cNvPr id="16" name="Cartão"/>
          <p:cNvSpPr/>
          <p:nvPr/>
        </p:nvSpPr>
        <p:spPr>
          <a:xfrm>
            <a:off x="1524000" y="3606403"/>
            <a:ext cx="1778000" cy="114300"/>
          </a:xfrm>
          <a:prstGeom prst="roundRect">
            <a:avLst>
              <a:gd name="adj" fmla="val 50000"/>
            </a:avLst>
          </a:prstGeom>
          <a:solidFill>
            <a:srgbClr val="33475E"/>
          </a:solidFill>
          <a:ln/>
        </p:spPr>
      </p:sp>
      <p:sp>
        <p:nvSpPr>
          <p:cNvPr id="17" name="EFEITO HEMODINÂMICO"/>
          <p:cNvSpPr txBox="1"/>
          <p:nvPr/>
        </p:nvSpPr>
        <p:spPr>
          <a:xfrm>
            <a:off x="1066800" y="3894180"/>
            <a:ext cx="2559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EFEITO HEMODINÂMICO</a:t>
            </a:r>
            <a:endParaRPr lang="en-US" sz="1200" dirty="0"/>
          </a:p>
        </p:txBody>
      </p:sp>
      <p:sp>
        <p:nvSpPr>
          <p:cNvPr id="18" name="PAM ↑"/>
          <p:cNvSpPr txBox="1"/>
          <p:nvPr/>
        </p:nvSpPr>
        <p:spPr>
          <a:xfrm>
            <a:off x="10668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19" name="FC ↑"/>
          <p:cNvSpPr txBox="1"/>
          <p:nvPr/>
        </p:nvSpPr>
        <p:spPr>
          <a:xfrm>
            <a:off x="2413000" y="4232506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0" name="DC ↑"/>
          <p:cNvSpPr txBox="1"/>
          <p:nvPr/>
        </p:nvSpPr>
        <p:spPr>
          <a:xfrm>
            <a:off x="10668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↑</a:t>
            </a:r>
            <a:endParaRPr lang="en-US" sz="1400" dirty="0"/>
          </a:p>
        </p:txBody>
      </p:sp>
      <p:sp>
        <p:nvSpPr>
          <p:cNvPr id="21" name="RVS ↔/↑"/>
          <p:cNvSpPr txBox="1"/>
          <p:nvPr/>
        </p:nvSpPr>
        <p:spPr>
          <a:xfrm>
            <a:off x="2413000" y="4557547"/>
            <a:ext cx="12128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RVS</a:t>
            </a:r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↔/↑</a:t>
            </a:r>
            <a:endParaRPr lang="en-US" sz="1400" dirty="0"/>
          </a:p>
        </p:txBody>
      </p:sp>
      <p:sp>
        <p:nvSpPr>
          <p:cNvPr id="22" name="Cartão"/>
          <p:cNvSpPr/>
          <p:nvPr/>
        </p:nvSpPr>
        <p:spPr>
          <a:xfrm>
            <a:off x="40640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3" name="Dose e uso"/>
          <p:cNvSpPr txBox="1"/>
          <p:nvPr/>
        </p:nvSpPr>
        <p:spPr>
          <a:xfrm>
            <a:off x="43243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e uso</a:t>
            </a:r>
            <a:endParaRPr lang="en-US" sz="1700" dirty="0"/>
          </a:p>
        </p:txBody>
      </p:sp>
      <p:sp>
        <p:nvSpPr>
          <p:cNvPr id="24" name="Bolus de 5–10 mg EV, repetível. Agonista"/>
          <p:cNvSpPr txBox="1"/>
          <p:nvPr/>
        </p:nvSpPr>
        <p:spPr>
          <a:xfrm>
            <a:off x="4324350" y="2484480"/>
            <a:ext cx="3054350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Bolus de 5–10 mg EV, repetível. Agonista direto α e β e indireto, liberando noradrenalina das terminações. Sem catecol, resiste à MAO e à COMT e dura mais que as catecolaminas. Boa opção na hipotensão com bradicardia após indução ou raqui.</a:t>
            </a:r>
            <a:endParaRPr lang="en-US" sz="1350" dirty="0"/>
          </a:p>
        </p:txBody>
      </p:sp>
      <p:sp>
        <p:nvSpPr>
          <p:cNvPr id="25" name="Cartão"/>
          <p:cNvSpPr/>
          <p:nvPr/>
        </p:nvSpPr>
        <p:spPr>
          <a:xfrm>
            <a:off x="7823200" y="1879501"/>
            <a:ext cx="3556000" cy="3194844"/>
          </a:xfrm>
          <a:prstGeom prst="roundRect">
            <a:avLst>
              <a:gd name="adj" fmla="val 238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6" name="Evidência e cuidados"/>
          <p:cNvSpPr txBox="1"/>
          <p:nvPr/>
        </p:nvSpPr>
        <p:spPr>
          <a:xfrm>
            <a:off x="8083550" y="2135857"/>
            <a:ext cx="30543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e cuidados</a:t>
            </a:r>
            <a:endParaRPr lang="en-US" sz="1700" dirty="0"/>
          </a:p>
        </p:txBody>
      </p:sp>
      <p:sp>
        <p:nvSpPr>
          <p:cNvPr id="27" name="Taquifilaxia por depleção dos estoques d"/>
          <p:cNvSpPr txBox="1"/>
          <p:nvPr/>
        </p:nvSpPr>
        <p:spPr>
          <a:xfrm>
            <a:off x="8083550" y="2484480"/>
            <a:ext cx="3054350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Taquifilaxia por depleção dos estoques de noradrenalina: doses repetidas perdem efeito. Interação grave com IMAO. Na cesárea, atravessa a placenta e se associa a mais acidose fetal que a fenilefrina; fica como resgate.</a:t>
            </a:r>
            <a:endParaRPr lang="en-US" sz="1350" dirty="0"/>
          </a:p>
        </p:txBody>
      </p:sp>
      <p:sp>
        <p:nvSpPr>
          <p:cNvPr id="28" name="Kinsella, Anaesthesia 2018 · Park &amp; Choi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Kinsella, Anaesthesia 2018 · Park &amp; Choi, Anesth Pain Med 2024 · Miller’s Anesthesia, 10ª ed. · [cap./pág.] · barras: escala qualitativa</a:t>
            </a:r>
            <a:endParaRPr lang="en-US" sz="1200" dirty="0"/>
          </a:p>
        </p:txBody>
      </p:sp>
      <p:pic>
        <p:nvPicPr>
          <p:cNvPr id="2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VASOPRESSIN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VASOPRESSINA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Vasopressina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Mecanismo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Mecanismo</a:t>
            </a:r>
            <a:endParaRPr lang="en-US" sz="1700" dirty="0"/>
          </a:p>
        </p:txBody>
      </p:sp>
      <p:sp>
        <p:nvSpPr>
          <p:cNvPr id="6" name="Hormônio não adrenérgico: receptor V1 no"/>
          <p:cNvSpPr txBox="1"/>
          <p:nvPr/>
        </p:nvSpPr>
        <p:spPr>
          <a:xfrm>
            <a:off x="1073150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Hormônio não adrenérgico: receptor V1 no músculo liso vascular. Mantém efeito em acidose e com adrenoceptores dessensibilizados. No choque séptico há deficiência relativa de vasopressina endógena.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Us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endParaRPr lang="en-US" sz="1700" dirty="0"/>
          </a:p>
        </p:txBody>
      </p:sp>
      <p:sp>
        <p:nvSpPr>
          <p:cNvPr id="9" name="Dose fixa de 0,03 U/min (até 0,04 U/min)"/>
          <p:cNvSpPr txBox="1"/>
          <p:nvPr/>
        </p:nvSpPr>
        <p:spPr>
          <a:xfrm>
            <a:off x="4662984" y="2484480"/>
            <a:ext cx="2884984" cy="17398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Dose fixa de 0,03 U/min (até 0,04 U/min), sem titulação, ao contrário da NA. SSC 2026: associar quando a NA está em escalada (condicional, certeza moderada); na enquete dos painelistas, a mediana de NA para associar foi 0,3 mcg/kg/min.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621161"/>
          </a:xfrm>
          <a:prstGeom prst="roundRect">
            <a:avLst>
              <a:gd name="adj" fmla="val 2907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Evidência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</a:t>
            </a:r>
            <a:endParaRPr lang="en-US" sz="1700" dirty="0"/>
          </a:p>
        </p:txBody>
      </p:sp>
      <p:sp>
        <p:nvSpPr>
          <p:cNvPr id="12" name="VASST: sem redução de mortalidade em 28 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VASST: sem redução de mortalidade em 28 dias (35,4% vs. 39,3%). VASSPR (JAMA 2026; n = 3.959): políticas por hospital de iniciar com NA 0,1 vs. 0,4 mcg/kg/min não mudaram a mortalidade (31,8% vs. 33,0%).</a:t>
            </a:r>
            <a:endParaRPr lang="en-US" sz="1350" dirty="0"/>
          </a:p>
        </p:txBody>
      </p:sp>
      <p:sp>
        <p:nvSpPr>
          <p:cNvPr id="13" name="Russell, N Engl J Med 2008 (VASST) · Pel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Russell, N Engl J Med 2008 (VASST) · Peltan, JAMA 2026 (VASSPR)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CHOQUE REFRATÁ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CHOQUE REFRATÁRIO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Choque refratário: adjuvantes</a:t>
            </a:r>
            <a:endParaRPr lang="en-US" sz="3200" dirty="0"/>
          </a:p>
        </p:txBody>
      </p:sp>
      <p:graphicFrame>
        <p:nvGraphicFramePr>
          <p:cNvPr id="24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1901924"/>
                <a:gridCol w="2747169"/>
                <a:gridCol w="3592513"/>
                <a:gridCol w="2324795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Mecanismo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Evidência-chave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SSC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82093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Restaura a resposta vascular às catecolaminas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ADRENAL: choque resolve mais rápido, sem ↓ mortalidade. APROCCHSS: ↓ mortalidade com hidrocortisona + fludrocortisona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Sugere usar (condicional, certeza baixa)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Angiotensina II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Agonista AT1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ATHOS-3: resposta da PAM em 3 h 69,9% vs. 23,4%; mortalidade sem diferença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 preferida como 1ª linha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747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Azul de metileno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Inibe a via NO–GMPc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ECRs pequenos, sem desfecho clínico robusto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Evidência insuficiente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Milrinona, levosimendana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Inodilatadores não adrenérgicos (PDE3; sensibilização ao Ca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aseline="300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2+</a:t>
                      </a:r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DOREMI: sem diferença significativa vs. dobutamina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Contra a levosimendana (condicional)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Venkatesh, N Engl J Med 2018 (ADRENAL) ·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Venkatesh, N Engl J Med 2018 (ADRENAL) · Annane, N Engl J Med 2018 (APROCCHSS) · Khanna, N Engl J Med 2017 (ATHOS-3) · SSC 2026</a:t>
            </a:r>
            <a:endParaRPr lang="en-US" sz="1200" dirty="0"/>
          </a:p>
        </p:txBody>
      </p:sp>
      <p:pic>
        <p:nvPicPr>
          <p:cNvPr id="6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SEQUÊNCIA SSC 2026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SEQUÊNCIA SSC 2026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Sequência de vasopressores na SSC 2026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5" name="PASSO 1"/>
          <p:cNvSpPr txBox="1"/>
          <p:nvPr/>
        </p:nvSpPr>
        <p:spPr>
          <a:xfrm>
            <a:off x="1016000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1200" dirty="0"/>
          </a:p>
        </p:txBody>
      </p:sp>
      <p:sp>
        <p:nvSpPr>
          <p:cNvPr id="6" name="Noradrenalina"/>
          <p:cNvSpPr txBox="1"/>
          <p:nvPr/>
        </p:nvSpPr>
        <p:spPr>
          <a:xfrm>
            <a:off x="1016000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Noradrenalina</a:t>
            </a:r>
            <a:endParaRPr lang="en-US" sz="1800" dirty="0"/>
          </a:p>
        </p:txBody>
      </p:sp>
      <p:sp>
        <p:nvSpPr>
          <p:cNvPr id="7" name="1ª linha (forte); iniciar cedo, até por "/>
          <p:cNvSpPr txBox="1"/>
          <p:nvPr/>
        </p:nvSpPr>
        <p:spPr>
          <a:xfrm>
            <a:off x="1016000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linha (forte); iniciar cedo, até por veia periférica.</a:t>
            </a:r>
            <a:endParaRPr lang="en-US" sz="1300" dirty="0"/>
          </a:p>
        </p:txBody>
      </p:sp>
      <p:sp>
        <p:nvSpPr>
          <p:cNvPr id="8" name="Seta"/>
          <p:cNvSpPr/>
          <p:nvPr/>
        </p:nvSpPr>
        <p:spPr>
          <a:xfrm>
            <a:off x="4021634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9" name="Cartão"/>
          <p:cNvSpPr/>
          <p:nvPr/>
        </p:nvSpPr>
        <p:spPr>
          <a:xfrm>
            <a:off x="4555034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0" name="PASSO 2"/>
          <p:cNvSpPr txBox="1"/>
          <p:nvPr/>
        </p:nvSpPr>
        <p:spPr>
          <a:xfrm>
            <a:off x="4758234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1200" dirty="0"/>
          </a:p>
        </p:txBody>
      </p:sp>
      <p:sp>
        <p:nvSpPr>
          <p:cNvPr id="11" name="+ Vasopressina"/>
          <p:cNvSpPr txBox="1"/>
          <p:nvPr/>
        </p:nvSpPr>
        <p:spPr>
          <a:xfrm>
            <a:off x="4758234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Vasopressina</a:t>
            </a:r>
            <a:endParaRPr lang="en-US" sz="1800" dirty="0"/>
          </a:p>
        </p:txBody>
      </p:sp>
      <p:sp>
        <p:nvSpPr>
          <p:cNvPr id="12" name="NA em escalada (condicional, certeza mod"/>
          <p:cNvSpPr txBox="1"/>
          <p:nvPr/>
        </p:nvSpPr>
        <p:spPr>
          <a:xfrm>
            <a:off x="4758234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em escalada (condicional, certeza moderada).</a:t>
            </a:r>
            <a:endParaRPr lang="en-US" sz="1300" dirty="0"/>
          </a:p>
        </p:txBody>
      </p:sp>
      <p:sp>
        <p:nvSpPr>
          <p:cNvPr id="13" name="Seta"/>
          <p:cNvSpPr/>
          <p:nvPr/>
        </p:nvSpPr>
        <p:spPr>
          <a:xfrm>
            <a:off x="7763867" y="2494062"/>
            <a:ext cx="406400" cy="228600"/>
          </a:xfrm>
          <a:prstGeom prst="rightArrow">
            <a:avLst/>
          </a:prstGeom>
          <a:solidFill>
            <a:srgbClr val="B9581A"/>
          </a:solidFill>
          <a:ln/>
        </p:spPr>
      </p:sp>
      <p:sp>
        <p:nvSpPr>
          <p:cNvPr id="14" name="Cartão"/>
          <p:cNvSpPr/>
          <p:nvPr/>
        </p:nvSpPr>
        <p:spPr>
          <a:xfrm>
            <a:off x="8297267" y="1879501"/>
            <a:ext cx="3081834" cy="1457722"/>
          </a:xfrm>
          <a:prstGeom prst="roundRect">
            <a:avLst>
              <a:gd name="adj" fmla="val 5227"/>
            </a:avLst>
          </a:prstGeom>
          <a:solidFill>
            <a:srgbClr val="1B2A3A"/>
          </a:solidFill>
          <a:ln/>
        </p:spPr>
      </p:sp>
      <p:sp>
        <p:nvSpPr>
          <p:cNvPr id="15" name="PASSO 3"/>
          <p:cNvSpPr txBox="1"/>
          <p:nvPr/>
        </p:nvSpPr>
        <p:spPr>
          <a:xfrm>
            <a:off x="8500467" y="2070737"/>
            <a:ext cx="2694484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1200" dirty="0"/>
          </a:p>
        </p:txBody>
      </p:sp>
      <p:sp>
        <p:nvSpPr>
          <p:cNvPr id="16" name="+ Adrenalina"/>
          <p:cNvSpPr txBox="1"/>
          <p:nvPr/>
        </p:nvSpPr>
        <p:spPr>
          <a:xfrm>
            <a:off x="8500467" y="2342592"/>
            <a:ext cx="2694484" cy="274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160"/>
              </a:lnSpc>
              <a:buNone/>
            </a:pPr>
            <a:r>
              <a:rPr lang="pt-BR" altLang="en-US" sz="1800" b="1" dirty="0">
                <a:solidFill>
                  <a:srgbClr val="F5F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Adrenalina</a:t>
            </a:r>
            <a:endParaRPr lang="en-US" sz="1800" dirty="0"/>
          </a:p>
        </p:txBody>
      </p:sp>
      <p:sp>
        <p:nvSpPr>
          <p:cNvPr id="17" name="PAM ainda inadequada (condicional, certe"/>
          <p:cNvSpPr txBox="1"/>
          <p:nvPr/>
        </p:nvSpPr>
        <p:spPr>
          <a:xfrm>
            <a:off x="8500467" y="2658901"/>
            <a:ext cx="2694484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C9CF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 ainda inadequada (condicional, certeza muito baixa).</a:t>
            </a:r>
            <a:endParaRPr lang="en-US" sz="1300" dirty="0"/>
          </a:p>
        </p:txBody>
      </p:sp>
      <p:sp>
        <p:nvSpPr>
          <p:cNvPr id="18" name="Cartão"/>
          <p:cNvSpPr/>
          <p:nvPr/>
        </p:nvSpPr>
        <p:spPr>
          <a:xfrm>
            <a:off x="8128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9" name="Disfunção cardíaca"/>
          <p:cNvSpPr txBox="1"/>
          <p:nvPr/>
        </p:nvSpPr>
        <p:spPr>
          <a:xfrm>
            <a:off x="10731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Disfunção cardíaca</a:t>
            </a:r>
            <a:endParaRPr lang="en-US" sz="1700" dirty="0"/>
          </a:p>
        </p:txBody>
      </p:sp>
      <p:sp>
        <p:nvSpPr>
          <p:cNvPr id="20" name="Hipoperfusão apesar de volume e PAM adeq"/>
          <p:cNvSpPr txBox="1"/>
          <p:nvPr/>
        </p:nvSpPr>
        <p:spPr>
          <a:xfrm>
            <a:off x="10731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Hipoperfusão apesar de volume e PAM adequados: dobutamina + NA, ou adrenalina isolada. Na escolha inicial, NA se taquiarritmia, adrenalina se bradiarritmia. Levosimendana: contra.</a:t>
            </a:r>
            <a:endParaRPr lang="en-US" sz="1350" dirty="0"/>
          </a:p>
        </p:txBody>
      </p:sp>
      <p:sp>
        <p:nvSpPr>
          <p:cNvPr id="21" name="Cartão"/>
          <p:cNvSpPr/>
          <p:nvPr/>
        </p:nvSpPr>
        <p:spPr>
          <a:xfrm>
            <a:off x="6197600" y="3540423"/>
            <a:ext cx="5181600" cy="1626989"/>
          </a:xfrm>
          <a:prstGeom prst="roundRect">
            <a:avLst>
              <a:gd name="adj" fmla="val 4683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22" name="Adjuvantes e o que evitar"/>
          <p:cNvSpPr txBox="1"/>
          <p:nvPr/>
        </p:nvSpPr>
        <p:spPr>
          <a:xfrm>
            <a:off x="6457950" y="3796779"/>
            <a:ext cx="4679950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Adjuvantes e o que evitar</a:t>
            </a:r>
            <a:endParaRPr lang="en-US" sz="1700" dirty="0"/>
          </a:p>
        </p:txBody>
      </p:sp>
      <p:sp>
        <p:nvSpPr>
          <p:cNvPr id="23" name="Hidrocortisona EV sugerida (condicional,"/>
          <p:cNvSpPr txBox="1"/>
          <p:nvPr/>
        </p:nvSpPr>
        <p:spPr>
          <a:xfrm>
            <a:off x="6457950" y="4145402"/>
            <a:ext cx="4679950" cy="7456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Hidrocortisona EV sugerida (condicional, baixa). Dopamina como primeira linha: contra (forte). Terlipressina: contra. Azul de metileno: evidência insuficiente.</a:t>
            </a:r>
            <a:endParaRPr lang="en-US" sz="1350" dirty="0"/>
          </a:p>
        </p:txBody>
      </p:sp>
      <p:sp>
        <p:nvSpPr>
          <p:cNvPr id="24" name="Prescott, Antonelli et al., Crit Care Me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et al., Crit Care Med 2026;54(4):725–812 (Surviving Sepsis Campaign 2026)</a:t>
            </a:r>
            <a:endParaRPr lang="en-US" sz="1200" dirty="0"/>
          </a:p>
        </p:txBody>
      </p:sp>
      <p:pic>
        <p:nvPicPr>
          <p:cNvPr id="25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DE PAM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DE PAM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choque séptico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556000" cy="3380383"/>
          </a:xfrm>
          <a:prstGeom prst="roundRect">
            <a:avLst>
              <a:gd name="adj" fmla="val 2254"/>
            </a:avLst>
          </a:prstGeom>
          <a:solidFill>
            <a:srgbClr val="1B2A3A"/>
          </a:solidFill>
          <a:ln/>
        </p:spPr>
      </p:sp>
      <p:sp>
        <p:nvSpPr>
          <p:cNvPr id="5" name="SSC 2026"/>
          <p:cNvSpPr txBox="1"/>
          <p:nvPr/>
        </p:nvSpPr>
        <p:spPr>
          <a:xfrm>
            <a:off x="1117600" y="2170343"/>
            <a:ext cx="2965450" cy="2488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b="1" dirty="0">
                <a:solidFill>
                  <a:srgbClr val="E49A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SSC 2026</a:t>
            </a:r>
            <a:endParaRPr lang="en-US" sz="1400" dirty="0"/>
          </a:p>
        </p:txBody>
      </p:sp>
      <p:sp>
        <p:nvSpPr>
          <p:cNvPr id="6" name="65"/>
          <p:cNvSpPr txBox="1"/>
          <p:nvPr/>
        </p:nvSpPr>
        <p:spPr>
          <a:xfrm>
            <a:off x="1117600" y="2635325"/>
            <a:ext cx="2965450" cy="10160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8000"/>
              </a:lnSpc>
              <a:buNone/>
            </a:pPr>
            <a:r>
              <a:rPr lang="pt-BR" altLang="en-US" sz="8000" dirty="0">
                <a:solidFill>
                  <a:srgbClr val="F5F3E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65</a:t>
            </a:r>
            <a:endParaRPr lang="en-US" sz="8000" dirty="0"/>
          </a:p>
        </p:txBody>
      </p:sp>
      <p:sp>
        <p:nvSpPr>
          <p:cNvPr id="7" name="mmHg como alvo inicial no choque séptico"/>
          <p:cNvSpPr txBox="1"/>
          <p:nvPr/>
        </p:nvSpPr>
        <p:spPr>
          <a:xfrm>
            <a:off x="1117600" y="3737317"/>
            <a:ext cx="2965450" cy="10310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pt-BR" altLang="en-US" sz="1400" dirty="0">
                <a:solidFill>
                  <a:srgbClr val="DFE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 como alvo inicial no choque séptico (forte, certeza moderada). A partir dos 65 anos: 60–65 mmHg (condicional, certeza baixa).</a:t>
            </a:r>
            <a:endParaRPr lang="en-US" sz="1400" dirty="0"/>
          </a:p>
        </p:txBody>
      </p:sp>
      <p:sp>
        <p:nvSpPr>
          <p:cNvPr id="8" name="Cartão"/>
          <p:cNvSpPr/>
          <p:nvPr/>
        </p:nvSpPr>
        <p:spPr>
          <a:xfrm>
            <a:off x="4572000" y="1879501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9" name="65 trial · JAMA 2020"/>
          <p:cNvSpPr txBox="1"/>
          <p:nvPr/>
        </p:nvSpPr>
        <p:spPr>
          <a:xfrm>
            <a:off x="4781550" y="203472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 trial · JAMA 2020</a:t>
            </a:r>
            <a:endParaRPr lang="en-US" sz="1500" dirty="0"/>
          </a:p>
        </p:txBody>
      </p:sp>
      <p:sp>
        <p:nvSpPr>
          <p:cNvPr id="10" name="≥65 anos, PAM 60–65 vs. cuidado usual: m"/>
          <p:cNvSpPr txBox="1"/>
          <p:nvPr/>
        </p:nvSpPr>
        <p:spPr>
          <a:xfrm>
            <a:off x="4781550" y="2304690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anos, PAM 60–65 vs. cuidado usual: mortalidade em 90 dias 41,0% vs. 43,8% (NS), com menor dose e menor duração de vasopressor.</a:t>
            </a:r>
            <a:endParaRPr lang="en-US" sz="1300" dirty="0"/>
          </a:p>
        </p:txBody>
      </p:sp>
      <p:sp>
        <p:nvSpPr>
          <p:cNvPr id="11" name="Cartão"/>
          <p:cNvSpPr/>
          <p:nvPr/>
        </p:nvSpPr>
        <p:spPr>
          <a:xfrm>
            <a:off x="4572000" y="3040162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2" name="OPTPRESS · Intensive Care Med 2025"/>
          <p:cNvSpPr txBox="1"/>
          <p:nvPr/>
        </p:nvSpPr>
        <p:spPr>
          <a:xfrm>
            <a:off x="4781550" y="3195387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OPTPRESS · Intensive Care Med 2025</a:t>
            </a:r>
            <a:endParaRPr lang="en-US" sz="1500" dirty="0"/>
          </a:p>
        </p:txBody>
      </p:sp>
      <p:sp>
        <p:nvSpPr>
          <p:cNvPr id="13" name="≥65 anos com choque séptico, alvo 80–85 "/>
          <p:cNvSpPr txBox="1"/>
          <p:nvPr/>
        </p:nvSpPr>
        <p:spPr>
          <a:xfrm>
            <a:off x="4781550" y="3465351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≥65 anos com choque séptico, alvo 80–85 vs. 65–70 mmHg: interrompido por dano (mortalidade em 90 dias 39,3% vs. 28,6%; n = 518).</a:t>
            </a:r>
            <a:endParaRPr lang="en-US" sz="1300" dirty="0"/>
          </a:p>
        </p:txBody>
      </p:sp>
      <p:sp>
        <p:nvSpPr>
          <p:cNvPr id="14" name="Cartão"/>
          <p:cNvSpPr/>
          <p:nvPr/>
        </p:nvSpPr>
        <p:spPr>
          <a:xfrm>
            <a:off x="4572000" y="4200823"/>
            <a:ext cx="6807200" cy="1059061"/>
          </a:xfrm>
          <a:prstGeom prst="roundRect">
            <a:avLst>
              <a:gd name="adj" fmla="val 7195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5" name="ESICM 2025"/>
          <p:cNvSpPr txBox="1"/>
          <p:nvPr/>
        </p:nvSpPr>
        <p:spPr>
          <a:xfrm>
            <a:off x="4781550" y="4356048"/>
            <a:ext cx="640715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pt-BR" altLang="en-US" sz="15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ESICM 2025</a:t>
            </a:r>
            <a:endParaRPr lang="en-US" sz="1500" dirty="0"/>
          </a:p>
        </p:txBody>
      </p:sp>
      <p:sp>
        <p:nvSpPr>
          <p:cNvPr id="16" name="Individualizar: considerar alvo maior em"/>
          <p:cNvSpPr txBox="1"/>
          <p:nvPr/>
        </p:nvSpPr>
        <p:spPr>
          <a:xfrm>
            <a:off x="4781550" y="4626012"/>
            <a:ext cx="6407150" cy="4621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buNone/>
            </a:pPr>
            <a:r>
              <a:rPr lang="pt-BR" altLang="en-US" sz="13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Individualizar: considerar alvo maior em hipertensão crônica ou PVC alta, se houver melhora clínica com PA mais alta.</a:t>
            </a:r>
            <a:endParaRPr lang="en-US" sz="1300" dirty="0"/>
          </a:p>
        </p:txBody>
      </p:sp>
      <p:sp>
        <p:nvSpPr>
          <p:cNvPr id="17" name="Lamontagne, JAMA 2020 (65 trial) · Endo,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Lamontagne, JAMA 2020 (65 trial) · Endo, Intensive Care Med 2025 (OPTPRESS) · Monnet, Intensive Care Med 2025 (ESICM) · SSC 2026</a:t>
            </a:r>
            <a:endParaRPr lang="en-US" sz="1200" dirty="0"/>
          </a:p>
        </p:txBody>
      </p:sp>
      <p:pic>
        <p:nvPicPr>
          <p:cNvPr id="1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INÍCIO E VIA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INÍCIO E VIA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Início precoce e via periférica</a:t>
            </a:r>
            <a:endParaRPr lang="en-US" sz="3200" dirty="0"/>
          </a:p>
        </p:txBody>
      </p:sp>
      <p:sp>
        <p:nvSpPr>
          <p:cNvPr id="4" name="Cartão"/>
          <p:cNvSpPr/>
          <p:nvPr/>
        </p:nvSpPr>
        <p:spPr>
          <a:xfrm>
            <a:off x="812800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5" name="Precoce"/>
          <p:cNvSpPr txBox="1"/>
          <p:nvPr/>
        </p:nvSpPr>
        <p:spPr>
          <a:xfrm>
            <a:off x="1073150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Precoce</a:t>
            </a:r>
            <a:endParaRPr lang="en-US" sz="1700" dirty="0"/>
          </a:p>
        </p:txBody>
      </p:sp>
      <p:sp>
        <p:nvSpPr>
          <p:cNvPr id="6" name="CENSER: NA 0,05 mcg/kg/min desde a admis"/>
          <p:cNvSpPr txBox="1"/>
          <p:nvPr/>
        </p:nvSpPr>
        <p:spPr>
          <a:xfrm>
            <a:off x="1073150" y="2484480"/>
            <a:ext cx="2884984" cy="1242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CENSER: NA 0,05 mcg/kg/min desde a admissão controlou o choque em 6 h em 76,1% vs. 48,4%, com menos edema pulmonar (14,4% vs. 27,7%) e arritmia. Mortalidade sem diferença.</a:t>
            </a:r>
            <a:endParaRPr lang="en-US" sz="1350" dirty="0"/>
          </a:p>
        </p:txBody>
      </p:sp>
      <p:sp>
        <p:nvSpPr>
          <p:cNvPr id="7" name="Cartão"/>
          <p:cNvSpPr/>
          <p:nvPr/>
        </p:nvSpPr>
        <p:spPr>
          <a:xfrm>
            <a:off x="4402634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8" name="Periférico"/>
          <p:cNvSpPr txBox="1"/>
          <p:nvPr/>
        </p:nvSpPr>
        <p:spPr>
          <a:xfrm>
            <a:off x="4662984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Periférico</a:t>
            </a:r>
            <a:endParaRPr lang="en-US" sz="1700" dirty="0"/>
          </a:p>
        </p:txBody>
      </p:sp>
      <p:sp>
        <p:nvSpPr>
          <p:cNvPr id="9" name="Metanálise de Tran (n = 1.835): complica"/>
          <p:cNvSpPr txBox="1"/>
          <p:nvPr/>
        </p:nvSpPr>
        <p:spPr>
          <a:xfrm>
            <a:off x="4662984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Metanálise de Tran (n = 1.835): complicações em 7% (prevalência combinada de 8,6%), 96% leves; menos com protocolo de segurança (2,9% vs. 12%). SSC 2026: iniciar por via periférica em vez de esperar o acesso central.</a:t>
            </a:r>
            <a:endParaRPr lang="en-US" sz="1350" dirty="0"/>
          </a:p>
        </p:txBody>
      </p:sp>
      <p:sp>
        <p:nvSpPr>
          <p:cNvPr id="10" name="Cartão"/>
          <p:cNvSpPr/>
          <p:nvPr/>
        </p:nvSpPr>
        <p:spPr>
          <a:xfrm>
            <a:off x="7992467" y="1879501"/>
            <a:ext cx="3386634" cy="2372618"/>
          </a:xfrm>
          <a:prstGeom prst="roundRect">
            <a:avLst>
              <a:gd name="adj" fmla="val 3212"/>
            </a:avLst>
          </a:prstGeom>
          <a:solidFill>
            <a:srgbClr val="FFFDF8"/>
          </a:solidFill>
          <a:ln w="6350">
            <a:solidFill>
              <a:srgbClr val="E2DDD2"/>
            </a:solidFill>
            <a:prstDash val="solid"/>
          </a:ln>
        </p:spPr>
      </p:sp>
      <p:sp>
        <p:nvSpPr>
          <p:cNvPr id="11" name="Prescrição"/>
          <p:cNvSpPr txBox="1"/>
          <p:nvPr/>
        </p:nvSpPr>
        <p:spPr>
          <a:xfrm>
            <a:off x="8252817" y="2135857"/>
            <a:ext cx="2884984" cy="25906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40"/>
              </a:lnSpc>
              <a:buNone/>
            </a:pPr>
            <a:r>
              <a:rPr lang="pt-BR" altLang="en-US" sz="1700" b="1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Prescrição</a:t>
            </a:r>
            <a:endParaRPr lang="en-US" sz="1700" dirty="0"/>
          </a:p>
        </p:txBody>
      </p:sp>
      <p:sp>
        <p:nvSpPr>
          <p:cNvPr id="12" name="No Brasil, a ampola de hemitartarato 2 m"/>
          <p:cNvSpPr txBox="1"/>
          <p:nvPr/>
        </p:nvSpPr>
        <p:spPr>
          <a:xfrm>
            <a:off x="8252817" y="2484480"/>
            <a:ext cx="2884984" cy="14912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7"/>
              </a:lnSpc>
              <a:buNone/>
            </a:pPr>
            <a:r>
              <a:rPr lang="pt-BR" altLang="en-US" sz="135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Brasil, a ampola de hemitartarato 2 mg/mL equivale a 1 mg/mL de noradrenalina base. A mesma infusão expressa em sal tem o dobro do valor em base: especificar a forma na prescrição e ao comparar com estudos.</a:t>
            </a:r>
            <a:endParaRPr lang="en-US" sz="1350" dirty="0"/>
          </a:p>
        </p:txBody>
      </p:sp>
      <p:sp>
        <p:nvSpPr>
          <p:cNvPr id="13" name="Permpikul, Am J Respir Crit Care Med 201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Permpikul, Am J Respir Crit Care Med 2019 (CENSER) · Tran, Am J Emerg Med 2020 · Ibarra-Estrada, Intensive Care Med 2024 · SSC 2026</a:t>
            </a:r>
            <a:endParaRPr lang="en-US" sz="1200" dirty="0"/>
          </a:p>
        </p:txBody>
      </p:sp>
      <p:pic>
        <p:nvPicPr>
          <p:cNvPr id="14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ALVO INTRAOPERATÓRI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ALVO INTRAOPERATÓRIO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Alvo de PAM no intraoperatório: ensaios</a:t>
            </a:r>
            <a:endParaRPr lang="en-US" sz="3200" dirty="0"/>
          </a:p>
        </p:txBody>
      </p:sp>
      <p:graphicFrame>
        <p:nvGraphicFramePr>
          <p:cNvPr id="28" name="Tabel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12800" y="1879501"/>
          <a:ext cx="10566400" cy="914400"/>
        </p:xfrm>
        <a:graphic>
          <a:graphicData uri="http://schemas.openxmlformats.org/drawingml/2006/table">
            <a:tbl>
              <a:tblPr/>
              <a:tblGrid>
                <a:gridCol w="2113260"/>
                <a:gridCol w="2747169"/>
                <a:gridCol w="2535932"/>
                <a:gridCol w="3170039"/>
              </a:tblGrid>
              <a:tr h="39112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População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Alvos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F5F3E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B2A3A"/>
                    </a:solidFill>
                  </a:tcPr>
                </a:tc>
              </a:tr>
              <a:tr h="607616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POISE-3 · Ann Intern Med 2023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7.490; cirurgia não cardíaca, risco cardiovascular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suspendendo anti-hipertensivos vs. ≥60 mantendo-os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Eventos vasculares em 30 dias: 13,9% vs. 14,0%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IMPROVE-multi · JAMA 2025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1.134; cirurgia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individualizada pela basal noturna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Composto em 7 dias: 33,5% vs. 30,5% (NS)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0791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b="1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HISTAP · Intensive Care Med 2026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630; ≥60 anos, hipertensos, abdominal maior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 ≥80 vs. ≥65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1680"/>
                        </a:lnSpc>
                        <a:buNone/>
                      </a:pPr>
                      <a:r>
                        <a:rPr lang="pt-BR" altLang="en-US" sz="1200" dirty="0">
                          <a:solidFill>
                            <a:srgbClr val="1B2A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Morte ou disfunção orgânica: 38,1% vs. 48,9% (RR 0,78), sobretudo lesão renal aguda</a:t>
                      </a:r>
                      <a:endParaRPr lang="en-US" sz="1200" dirty="0"/>
                    </a:p>
                  </a:txBody>
                  <a:tcPr marL="127000" marR="127000" marT="88900" marB="889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2DD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POQI 2024: PAM ≥60 em pacientes de risco"/>
          <p:cNvSpPr txBox="1"/>
          <p:nvPr/>
        </p:nvSpPr>
        <p:spPr>
          <a:xfrm>
            <a:off x="812800" y="4393836"/>
            <a:ext cx="1058545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60"/>
              </a:lnSpc>
              <a:buNone/>
            </a:pPr>
            <a:r>
              <a:rPr lang="pt-BR" altLang="en-US" sz="1400" dirty="0">
                <a:solidFill>
                  <a:srgbClr val="2C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POQI 2024: PAM ≥60 em pacientes de risco é limite mínimo, não garantia de perfusão; com pressão venosa alta, o alvo é maior. Acima do piso, benefício só em hipertensos de alto risco, e os ECRs divergem.</a:t>
            </a:r>
            <a:endParaRPr lang="en-US" sz="1400" dirty="0"/>
          </a:p>
        </p:txBody>
      </p:sp>
      <p:sp>
        <p:nvSpPr>
          <p:cNvPr id="6" name="Marcucci, Ann Intern Med 2023 (POISE-3) 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Marcucci, Ann Intern Med 2023 (POISE-3) · Saugel, JAMA 2025 (IMPROVE-multi) · SIAARTI, Intensive Care Med 2026 (HISTAP) · POQI 2024</a:t>
            </a:r>
            <a:endParaRPr lang="en-US" sz="1200" dirty="0"/>
          </a:p>
        </p:txBody>
      </p:sp>
      <p:pic>
        <p:nvPicPr>
          <p:cNvPr id="7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OTEIRO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ROTEIRO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Roteiro</a:t>
            </a:r>
            <a:endParaRPr lang="en-US" sz="3200" dirty="0"/>
          </a:p>
        </p:txBody>
      </p:sp>
      <p:sp>
        <p:nvSpPr>
          <p:cNvPr id="4" name="01"/>
          <p:cNvSpPr txBox="1"/>
          <p:nvPr/>
        </p:nvSpPr>
        <p:spPr>
          <a:xfrm>
            <a:off x="8128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400" dirty="0"/>
          </a:p>
        </p:txBody>
      </p:sp>
      <p:sp>
        <p:nvSpPr>
          <p:cNvPr id="5" name="Fisiologia: PAM, débito cardíaco e resis"/>
          <p:cNvSpPr txBox="1"/>
          <p:nvPr/>
        </p:nvSpPr>
        <p:spPr>
          <a:xfrm>
            <a:off x="1371600" y="1964280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Fisiologia: PAM, débito cardíaco e resistência vascular</a:t>
            </a:r>
            <a:endParaRPr lang="en-US" sz="1700" dirty="0"/>
          </a:p>
        </p:txBody>
      </p:sp>
      <p:sp>
        <p:nvSpPr>
          <p:cNvPr id="6" name="02"/>
          <p:cNvSpPr txBox="1"/>
          <p:nvPr/>
        </p:nvSpPr>
        <p:spPr>
          <a:xfrm>
            <a:off x="6299200" y="1857860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400" dirty="0"/>
          </a:p>
        </p:txBody>
      </p:sp>
      <p:sp>
        <p:nvSpPr>
          <p:cNvPr id="7" name="Receptores e classificação das aminas"/>
          <p:cNvSpPr txBox="1"/>
          <p:nvPr/>
        </p:nvSpPr>
        <p:spPr>
          <a:xfrm>
            <a:off x="6858000" y="1964280"/>
            <a:ext cx="332124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Receptores e classificação das aminas</a:t>
            </a:r>
            <a:endParaRPr lang="en-US" sz="1700" dirty="0"/>
          </a:p>
        </p:txBody>
      </p:sp>
      <p:sp>
        <p:nvSpPr>
          <p:cNvPr id="8" name="03"/>
          <p:cNvSpPr txBox="1"/>
          <p:nvPr/>
        </p:nvSpPr>
        <p:spPr>
          <a:xfrm>
            <a:off x="8128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400" dirty="0"/>
          </a:p>
        </p:txBody>
      </p:sp>
      <p:sp>
        <p:nvSpPr>
          <p:cNvPr id="9" name="Drogas: noradrenalina, adrenalina, dopam"/>
          <p:cNvSpPr txBox="1"/>
          <p:nvPr/>
        </p:nvSpPr>
        <p:spPr>
          <a:xfrm>
            <a:off x="13716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Drogas: noradrenalina, adrenalina, dopamina, dobutamina, milrinona, fenilefrina e efedrina</a:t>
            </a:r>
            <a:endParaRPr lang="en-US" sz="1700" dirty="0"/>
          </a:p>
        </p:txBody>
      </p:sp>
      <p:sp>
        <p:nvSpPr>
          <p:cNvPr id="10" name="04"/>
          <p:cNvSpPr txBox="1"/>
          <p:nvPr/>
        </p:nvSpPr>
        <p:spPr>
          <a:xfrm>
            <a:off x="6299200" y="2666691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400" dirty="0"/>
          </a:p>
        </p:txBody>
      </p:sp>
      <p:sp>
        <p:nvSpPr>
          <p:cNvPr id="11" name="Além das aminas: vasopressina e adjuvant"/>
          <p:cNvSpPr txBox="1"/>
          <p:nvPr/>
        </p:nvSpPr>
        <p:spPr>
          <a:xfrm>
            <a:off x="6858000" y="2773111"/>
            <a:ext cx="4540250" cy="5611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Além das aminas: vasopressina e adjuvantes do choque refratário</a:t>
            </a:r>
            <a:endParaRPr lang="en-US" sz="1700" dirty="0"/>
          </a:p>
        </p:txBody>
      </p:sp>
      <p:sp>
        <p:nvSpPr>
          <p:cNvPr id="12" name="05"/>
          <p:cNvSpPr txBox="1"/>
          <p:nvPr/>
        </p:nvSpPr>
        <p:spPr>
          <a:xfrm>
            <a:off x="812800" y="347552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400" dirty="0"/>
          </a:p>
        </p:txBody>
      </p:sp>
      <p:sp>
        <p:nvSpPr>
          <p:cNvPr id="13" name="Choque séptico: a sequência da SSC 2026"/>
          <p:cNvSpPr txBox="1"/>
          <p:nvPr/>
        </p:nvSpPr>
        <p:spPr>
          <a:xfrm>
            <a:off x="1371600" y="3581942"/>
            <a:ext cx="3634085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Choque séptico: a sequência da SSC 2026</a:t>
            </a:r>
            <a:endParaRPr lang="en-US" sz="1700" dirty="0"/>
          </a:p>
        </p:txBody>
      </p:sp>
      <p:sp>
        <p:nvSpPr>
          <p:cNvPr id="14" name="06"/>
          <p:cNvSpPr txBox="1"/>
          <p:nvPr/>
        </p:nvSpPr>
        <p:spPr>
          <a:xfrm>
            <a:off x="6299200" y="3475522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400" dirty="0"/>
          </a:p>
        </p:txBody>
      </p:sp>
      <p:sp>
        <p:nvSpPr>
          <p:cNvPr id="15" name="Perioperatório: escolha da droga e alvo "/>
          <p:cNvSpPr txBox="1"/>
          <p:nvPr/>
        </p:nvSpPr>
        <p:spPr>
          <a:xfrm>
            <a:off x="6858000" y="3581942"/>
            <a:ext cx="4463256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Perioperatório: escolha da droga e alvo de pressão</a:t>
            </a:r>
            <a:endParaRPr lang="en-US" sz="1700" dirty="0"/>
          </a:p>
        </p:txBody>
      </p:sp>
      <p:sp>
        <p:nvSpPr>
          <p:cNvPr id="16" name="07"/>
          <p:cNvSpPr txBox="1"/>
          <p:nvPr/>
        </p:nvSpPr>
        <p:spPr>
          <a:xfrm>
            <a:off x="812800" y="4054563"/>
            <a:ext cx="425450" cy="4266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pt-BR" altLang="en-US" sz="2400" dirty="0">
                <a:solidFill>
                  <a:srgbClr val="B958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400" dirty="0"/>
          </a:p>
        </p:txBody>
      </p:sp>
      <p:sp>
        <p:nvSpPr>
          <p:cNvPr id="17" name="Mensagens finais"/>
          <p:cNvSpPr txBox="1"/>
          <p:nvPr/>
        </p:nvSpPr>
        <p:spPr>
          <a:xfrm>
            <a:off x="1371600" y="4160983"/>
            <a:ext cx="1534418" cy="2805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10"/>
              </a:lnSpc>
              <a:buNone/>
            </a:pPr>
            <a:r>
              <a:rPr lang="pt-BR" altLang="en-US" sz="17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Mensagens finais</a:t>
            </a:r>
            <a:endParaRPr lang="en-US" sz="1700" dirty="0"/>
          </a:p>
        </p:txBody>
      </p:sp>
      <p:sp>
        <p:nvSpPr>
          <p:cNvPr id="18" name="Surviving Sepsis Campaign 2026 · ESICM 2"/>
          <p:cNvSpPr txBox="1"/>
          <p:nvPr/>
        </p:nvSpPr>
        <p:spPr>
          <a:xfrm>
            <a:off x="812800" y="6226316"/>
            <a:ext cx="104330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5660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Surviving Sepsis Campaign 2026 · ESICM 2025 · Miller’s Anesthesia, 10ª ed. (2024)</a:t>
            </a:r>
            <a:endParaRPr lang="en-US" sz="1200" dirty="0"/>
          </a:p>
        </p:txBody>
      </p:sp>
      <p:pic>
        <p:nvPicPr>
          <p:cNvPr id="19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5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SERVA · REFERÊNCIAS"/>
          <p:cNvSpPr txBox="1"/>
          <p:nvPr/>
        </p:nvSpPr>
        <p:spPr>
          <a:xfrm>
            <a:off x="812800" y="800837"/>
            <a:ext cx="105854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b="1" spc="100" kern="0" dirty="0">
                <a:solidFill>
                  <a:srgbClr val="B958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· REFERÊNCIAS</a:t>
            </a:r>
            <a:endParaRPr lang="en-US" sz="1200" dirty="0"/>
          </a:p>
        </p:txBody>
      </p:sp>
      <p:sp>
        <p:nvSpPr>
          <p:cNvPr id="3" name="Text 0"/>
          <p:cNvSpPr/>
          <p:nvPr>
            <p:ph type="title"/>
          </p:nvPr>
        </p:nvSpPr>
        <p:spPr>
          <a:xfrm>
            <a:off x="812800" y="1135442"/>
            <a:ext cx="1071880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520"/>
              </a:lnSpc>
              <a:buNone/>
            </a:pPr>
            <a:r>
              <a:rPr lang="pt-BR" altLang="en-US" sz="3200" dirty="0">
                <a:solidFill>
                  <a:srgbClr val="1B2A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4" name="Prescott, Antonelli · SSC 2026 · Crit Ca"/>
          <p:cNvSpPr txBox="1"/>
          <p:nvPr/>
        </p:nvSpPr>
        <p:spPr>
          <a:xfrm>
            <a:off x="812800" y="1867537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Prescott, Antonelli · SSC 2026 · Crit Care Med 2026</a:t>
            </a:r>
            <a:endParaRPr lang="en-US" sz="1200" dirty="0"/>
          </a:p>
        </p:txBody>
      </p:sp>
      <p:sp>
        <p:nvSpPr>
          <p:cNvPr id="5" name="Monnet, Messina · ESICM 2025 · Intensive"/>
          <p:cNvSpPr txBox="1"/>
          <p:nvPr/>
        </p:nvSpPr>
        <p:spPr>
          <a:xfrm>
            <a:off x="812800" y="209355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Monnet, Messina · ESICM 2025 · Intensive Care Med 2025</a:t>
            </a:r>
            <a:endParaRPr lang="en-US" sz="1200" dirty="0"/>
          </a:p>
        </p:txBody>
      </p:sp>
      <p:sp>
        <p:nvSpPr>
          <p:cNvPr id="6" name="Miller’s Anesthesia, 10ª ed. · Elsevier "/>
          <p:cNvSpPr txBox="1"/>
          <p:nvPr/>
        </p:nvSpPr>
        <p:spPr>
          <a:xfrm>
            <a:off x="812800" y="231957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Miller’s Anesthesia, 10ª ed. · Elsevier 2024 · [caps.]</a:t>
            </a:r>
            <a:endParaRPr lang="en-US" sz="1200" dirty="0"/>
          </a:p>
        </p:txBody>
      </p:sp>
      <p:sp>
        <p:nvSpPr>
          <p:cNvPr id="7" name="De Backer · SOAP II · N Engl J Med 2010"/>
          <p:cNvSpPr txBox="1"/>
          <p:nvPr/>
        </p:nvSpPr>
        <p:spPr>
          <a:xfrm>
            <a:off x="812800" y="254559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Backer · SOAP II · N Engl J Med 2010</a:t>
            </a:r>
            <a:endParaRPr lang="en-US" sz="1200" dirty="0"/>
          </a:p>
        </p:txBody>
      </p:sp>
      <p:sp>
        <p:nvSpPr>
          <p:cNvPr id="8" name="Russell · VASST · N Engl J Med 2008"/>
          <p:cNvSpPr txBox="1"/>
          <p:nvPr/>
        </p:nvSpPr>
        <p:spPr>
          <a:xfrm>
            <a:off x="812800" y="277161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Russell · VASST · N Engl J Med 2008</a:t>
            </a:r>
            <a:endParaRPr lang="en-US" sz="1200" dirty="0"/>
          </a:p>
        </p:txBody>
      </p:sp>
      <p:sp>
        <p:nvSpPr>
          <p:cNvPr id="9" name="Gordon · VANISH · JAMA 2016"/>
          <p:cNvSpPr txBox="1"/>
          <p:nvPr/>
        </p:nvSpPr>
        <p:spPr>
          <a:xfrm>
            <a:off x="812800" y="299763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Gordon · VANISH · JAMA 2016</a:t>
            </a:r>
            <a:endParaRPr lang="en-US" sz="1200" dirty="0"/>
          </a:p>
        </p:txBody>
      </p:sp>
      <p:sp>
        <p:nvSpPr>
          <p:cNvPr id="10" name="Peltan · VASSPR · JAMA 2026"/>
          <p:cNvSpPr txBox="1"/>
          <p:nvPr/>
        </p:nvSpPr>
        <p:spPr>
          <a:xfrm>
            <a:off x="812800" y="322365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Peltan · VASSPR · JAMA 2026</a:t>
            </a:r>
            <a:endParaRPr lang="en-US" sz="1200" dirty="0"/>
          </a:p>
        </p:txBody>
      </p:sp>
      <p:sp>
        <p:nvSpPr>
          <p:cNvPr id="11" name="Lamontagne · 65 trial · JAMA 2020"/>
          <p:cNvSpPr txBox="1"/>
          <p:nvPr/>
        </p:nvSpPr>
        <p:spPr>
          <a:xfrm>
            <a:off x="812800" y="344968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Lamontagne · 65 trial · JAMA 2020</a:t>
            </a:r>
            <a:endParaRPr lang="en-US" sz="1200" dirty="0"/>
          </a:p>
        </p:txBody>
      </p:sp>
      <p:sp>
        <p:nvSpPr>
          <p:cNvPr id="12" name="Endo · OPTPRESS · Intensive Care Med 202"/>
          <p:cNvSpPr txBox="1"/>
          <p:nvPr/>
        </p:nvSpPr>
        <p:spPr>
          <a:xfrm>
            <a:off x="812800" y="367570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Endo · OPTPRESS · Intensive Care Med 2025</a:t>
            </a:r>
            <a:endParaRPr lang="en-US" sz="1200" dirty="0"/>
          </a:p>
        </p:txBody>
      </p:sp>
      <p:sp>
        <p:nvSpPr>
          <p:cNvPr id="13" name="Permpikul · CENSER · Am J Respir Crit Ca"/>
          <p:cNvSpPr txBox="1"/>
          <p:nvPr/>
        </p:nvSpPr>
        <p:spPr>
          <a:xfrm>
            <a:off x="812800" y="39017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Permpikul · CENSER · Am J Respir Crit Care Med 2019</a:t>
            </a:r>
            <a:endParaRPr lang="en-US" sz="1200" dirty="0"/>
          </a:p>
        </p:txBody>
      </p:sp>
      <p:sp>
        <p:nvSpPr>
          <p:cNvPr id="14" name="Annane · CATS · Lancet 2007"/>
          <p:cNvSpPr txBox="1"/>
          <p:nvPr/>
        </p:nvSpPr>
        <p:spPr>
          <a:xfrm>
            <a:off x="812800" y="412774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CATS · Lancet 2007</a:t>
            </a:r>
            <a:endParaRPr lang="en-US" sz="1200" dirty="0"/>
          </a:p>
        </p:txBody>
      </p:sp>
      <p:sp>
        <p:nvSpPr>
          <p:cNvPr id="15" name="Myburgh · CAT · Intensive Care Med 2008"/>
          <p:cNvSpPr txBox="1"/>
          <p:nvPr/>
        </p:nvSpPr>
        <p:spPr>
          <a:xfrm>
            <a:off x="812800" y="435376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Myburgh · CAT · Intensive Care Med 2008</a:t>
            </a:r>
            <a:endParaRPr lang="en-US" sz="1200" dirty="0"/>
          </a:p>
        </p:txBody>
      </p:sp>
      <p:sp>
        <p:nvSpPr>
          <p:cNvPr id="16" name="Levy · OptimaCC · J Am Coll Cardiol 2018"/>
          <p:cNvSpPr txBox="1"/>
          <p:nvPr/>
        </p:nvSpPr>
        <p:spPr>
          <a:xfrm>
            <a:off x="812800" y="45797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Levy · OptimaCC · J Am Coll Cardiol 2018</a:t>
            </a:r>
            <a:endParaRPr lang="en-US" sz="1200" dirty="0"/>
          </a:p>
        </p:txBody>
      </p:sp>
      <p:sp>
        <p:nvSpPr>
          <p:cNvPr id="17" name="Mathew · DOREMI · N Engl J Med 2021"/>
          <p:cNvSpPr txBox="1"/>
          <p:nvPr/>
        </p:nvSpPr>
        <p:spPr>
          <a:xfrm>
            <a:off x="812800" y="48058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Mathew · DOREMI · N Engl J Med 2021</a:t>
            </a:r>
            <a:endParaRPr lang="en-US" sz="1200" dirty="0"/>
          </a:p>
        </p:txBody>
      </p:sp>
      <p:sp>
        <p:nvSpPr>
          <p:cNvPr id="18" name="Cuffe · OPTIME-CHF · JAMA 2002"/>
          <p:cNvSpPr txBox="1"/>
          <p:nvPr/>
        </p:nvSpPr>
        <p:spPr>
          <a:xfrm>
            <a:off x="812800" y="503182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Cuffe · OPTIME-CHF · JAMA 2002</a:t>
            </a:r>
            <a:endParaRPr lang="en-US" sz="1200" dirty="0"/>
          </a:p>
        </p:txBody>
      </p:sp>
      <p:sp>
        <p:nvSpPr>
          <p:cNvPr id="19" name="Hajjar · VANCS · Anesthesiology 2017"/>
          <p:cNvSpPr txBox="1"/>
          <p:nvPr/>
        </p:nvSpPr>
        <p:spPr>
          <a:xfrm>
            <a:off x="812800" y="52578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Hajjar · VANCS · Anesthesiology 2017</a:t>
            </a:r>
            <a:endParaRPr lang="en-US" sz="1200" dirty="0"/>
          </a:p>
        </p:txBody>
      </p:sp>
      <p:sp>
        <p:nvSpPr>
          <p:cNvPr id="20" name="Khanna · ATHOS-3 · N Engl J Med 2017"/>
          <p:cNvSpPr txBox="1"/>
          <p:nvPr/>
        </p:nvSpPr>
        <p:spPr>
          <a:xfrm>
            <a:off x="812800" y="54838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Khanna · ATHOS-3 · N Engl J Med 2017</a:t>
            </a:r>
            <a:endParaRPr lang="en-US" sz="1200" dirty="0"/>
          </a:p>
        </p:txBody>
      </p:sp>
      <p:sp>
        <p:nvSpPr>
          <p:cNvPr id="21" name="Bellomo · dopamina em dose baixa (ANZICS"/>
          <p:cNvSpPr txBox="1"/>
          <p:nvPr/>
        </p:nvSpPr>
        <p:spPr>
          <a:xfrm>
            <a:off x="6248400" y="1867537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Bellomo · dopamina em dose baixa (ANZICS) · Lancet 2000</a:t>
            </a:r>
            <a:endParaRPr lang="en-US" sz="1200" dirty="0"/>
          </a:p>
        </p:txBody>
      </p:sp>
      <p:sp>
        <p:nvSpPr>
          <p:cNvPr id="22" name="Venkatesh · ADRENAL · N Engl J Med 2018"/>
          <p:cNvSpPr txBox="1"/>
          <p:nvPr/>
        </p:nvSpPr>
        <p:spPr>
          <a:xfrm>
            <a:off x="6248400" y="209355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Venkatesh · ADRENAL · N Engl J Med 2018</a:t>
            </a:r>
            <a:endParaRPr lang="en-US" sz="1200" dirty="0"/>
          </a:p>
        </p:txBody>
      </p:sp>
      <p:sp>
        <p:nvSpPr>
          <p:cNvPr id="23" name="Annane · APROCCHSS · N Engl J Med 2018"/>
          <p:cNvSpPr txBox="1"/>
          <p:nvPr/>
        </p:nvSpPr>
        <p:spPr>
          <a:xfrm>
            <a:off x="6248400" y="231957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Annane · APROCCHSS · N Engl J Med 2018</a:t>
            </a:r>
            <a:endParaRPr lang="en-US" sz="1200" dirty="0"/>
          </a:p>
        </p:txBody>
      </p:sp>
      <p:sp>
        <p:nvSpPr>
          <p:cNvPr id="24" name="Kinsella · consenso cesárea · Anaesthesi"/>
          <p:cNvSpPr txBox="1"/>
          <p:nvPr/>
        </p:nvSpPr>
        <p:spPr>
          <a:xfrm>
            <a:off x="6248400" y="2545598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Kinsella · consenso cesárea · Anaesthesia 2018</a:t>
            </a:r>
            <a:endParaRPr lang="en-US" sz="1200" dirty="0"/>
          </a:p>
        </p:txBody>
      </p:sp>
      <p:sp>
        <p:nvSpPr>
          <p:cNvPr id="25" name="Sharkey · NA vs. fenilefrina na cesárea "/>
          <p:cNvSpPr txBox="1"/>
          <p:nvPr/>
        </p:nvSpPr>
        <p:spPr>
          <a:xfrm>
            <a:off x="6248400" y="277161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Sharkey · NA vs. fenilefrina na cesárea · Anesth Analg 2019</a:t>
            </a:r>
            <a:endParaRPr lang="en-US" sz="1200" dirty="0"/>
          </a:p>
        </p:txBody>
      </p:sp>
      <p:sp>
        <p:nvSpPr>
          <p:cNvPr id="26" name="Park, Choi · vasopressores na cesárea · "/>
          <p:cNvSpPr txBox="1"/>
          <p:nvPr/>
        </p:nvSpPr>
        <p:spPr>
          <a:xfrm>
            <a:off x="6248400" y="299763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Park, Choi · vasopressores na cesárea · Anesth Pain Med 2024</a:t>
            </a:r>
            <a:endParaRPr lang="en-US" sz="1200" dirty="0"/>
          </a:p>
        </p:txBody>
      </p:sp>
      <p:sp>
        <p:nvSpPr>
          <p:cNvPr id="27" name="Marcucci · POISE-3 · Ann Intern Med 2023"/>
          <p:cNvSpPr txBox="1"/>
          <p:nvPr/>
        </p:nvSpPr>
        <p:spPr>
          <a:xfrm>
            <a:off x="6248400" y="3223659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Marcucci · POISE-3 · Ann Intern Med 2023</a:t>
            </a:r>
            <a:endParaRPr lang="en-US" sz="1200" dirty="0"/>
          </a:p>
        </p:txBody>
      </p:sp>
      <p:sp>
        <p:nvSpPr>
          <p:cNvPr id="28" name="Saugel · POQI · Br J Anaesth 2024"/>
          <p:cNvSpPr txBox="1"/>
          <p:nvPr/>
        </p:nvSpPr>
        <p:spPr>
          <a:xfrm>
            <a:off x="6248400" y="344968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POQI · Br J Anaesth 2024</a:t>
            </a:r>
            <a:endParaRPr lang="en-US" sz="1200" dirty="0"/>
          </a:p>
        </p:txBody>
      </p:sp>
      <p:sp>
        <p:nvSpPr>
          <p:cNvPr id="29" name="Lineburger · custo da hipotensão · Braz "/>
          <p:cNvSpPr txBox="1"/>
          <p:nvPr/>
        </p:nvSpPr>
        <p:spPr>
          <a:xfrm>
            <a:off x="6248400" y="367570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Lineburger · custo da hipotensão · Braz J Anesthesiol 2025</a:t>
            </a:r>
            <a:endParaRPr lang="en-US" sz="1200" dirty="0"/>
          </a:p>
        </p:txBody>
      </p:sp>
      <p:sp>
        <p:nvSpPr>
          <p:cNvPr id="30" name="Salmasi · hipotensão e lesão orgânica · "/>
          <p:cNvSpPr txBox="1"/>
          <p:nvPr/>
        </p:nvSpPr>
        <p:spPr>
          <a:xfrm>
            <a:off x="6248400" y="3901720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Salmasi · hipotensão e lesão orgânica · Anesthesiology 2017</a:t>
            </a:r>
            <a:endParaRPr lang="en-US" sz="1200" dirty="0"/>
          </a:p>
        </p:txBody>
      </p:sp>
      <p:sp>
        <p:nvSpPr>
          <p:cNvPr id="31" name="Saugel · IMPROVE-multi · JAMA 2025"/>
          <p:cNvSpPr txBox="1"/>
          <p:nvPr/>
        </p:nvSpPr>
        <p:spPr>
          <a:xfrm>
            <a:off x="6248400" y="412774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Saugel · IMPROVE-multi · JAMA 2025</a:t>
            </a:r>
            <a:endParaRPr lang="en-US" sz="1200" dirty="0"/>
          </a:p>
        </p:txBody>
      </p:sp>
      <p:sp>
        <p:nvSpPr>
          <p:cNvPr id="32" name="SIAARTI · HISTAP · Intensive Care Med 20"/>
          <p:cNvSpPr txBox="1"/>
          <p:nvPr/>
        </p:nvSpPr>
        <p:spPr>
          <a:xfrm>
            <a:off x="6248400" y="435376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SIAARTI · HISTAP · Intensive Care Med 2026</a:t>
            </a:r>
            <a:endParaRPr lang="en-US" sz="1200" dirty="0"/>
          </a:p>
        </p:txBody>
      </p:sp>
      <p:sp>
        <p:nvSpPr>
          <p:cNvPr id="33" name="Tran · NA periférica · Am J Emerg Med 20"/>
          <p:cNvSpPr txBox="1"/>
          <p:nvPr/>
        </p:nvSpPr>
        <p:spPr>
          <a:xfrm>
            <a:off x="6248400" y="457978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 · NA periférica · Am J Emerg Med 2020</a:t>
            </a:r>
            <a:endParaRPr lang="en-US" sz="1200" dirty="0"/>
          </a:p>
        </p:txBody>
      </p:sp>
      <p:sp>
        <p:nvSpPr>
          <p:cNvPr id="34" name="Ibarra-Estrada · NA base vs. sal · Inten"/>
          <p:cNvSpPr txBox="1"/>
          <p:nvPr/>
        </p:nvSpPr>
        <p:spPr>
          <a:xfrm>
            <a:off x="6248400" y="4805801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Ibarra-Estrada · NA base vs. sal · Intensive Care Med 2024</a:t>
            </a:r>
            <a:endParaRPr lang="en-US" sz="1200" dirty="0"/>
          </a:p>
        </p:txBody>
      </p:sp>
      <p:sp>
        <p:nvSpPr>
          <p:cNvPr id="35" name="ANZCA/ANZAAG · anafilaxia perioperatória"/>
          <p:cNvSpPr txBox="1"/>
          <p:nvPr/>
        </p:nvSpPr>
        <p:spPr>
          <a:xfrm>
            <a:off x="6248400" y="503182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ANZCA/ANZAAG · anafilaxia perioperatória · 2022</a:t>
            </a:r>
            <a:endParaRPr lang="en-US" sz="1200" dirty="0"/>
          </a:p>
        </p:txBody>
      </p:sp>
      <p:sp>
        <p:nvSpPr>
          <p:cNvPr id="36" name="Overgaard, Džavík · revisão · Circulatio"/>
          <p:cNvSpPr txBox="1"/>
          <p:nvPr/>
        </p:nvSpPr>
        <p:spPr>
          <a:xfrm>
            <a:off x="6248400" y="525784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Overgaard, Džavík · revisão · Circulation 2008</a:t>
            </a:r>
            <a:endParaRPr lang="en-US" sz="1200" dirty="0"/>
          </a:p>
        </p:txBody>
      </p:sp>
      <p:sp>
        <p:nvSpPr>
          <p:cNvPr id="37" name="Persichini · NA e retorno venoso · Crit "/>
          <p:cNvSpPr txBox="1"/>
          <p:nvPr/>
        </p:nvSpPr>
        <p:spPr>
          <a:xfrm>
            <a:off x="6248400" y="5483862"/>
            <a:ext cx="5149850" cy="213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680"/>
              </a:lnSpc>
              <a:buNone/>
            </a:pPr>
            <a:r>
              <a:rPr lang="pt-BR" altLang="en-US" sz="1200" dirty="0">
                <a:solidFill>
                  <a:srgbClr val="1B2A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Persichini · NA e retorno venoso · Crit Care Med 2012</a:t>
            </a:r>
            <a:endParaRPr lang="en-US" sz="1200" dirty="0"/>
          </a:p>
        </p:txBody>
      </p:sp>
      <p:pic>
        <p:nvPicPr>
          <p:cNvPr id="38" name="Símbolo da UFRJ" descr="Símbolo da UFRJ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30000" y="5894381"/>
            <a:ext cx="508000" cy="75883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Aminas Vasoativas">
      <a:dk1>
        <a:srgbClr val="1B2A3A"/>
      </a:dk1>
      <a:lt1>
        <a:srgbClr val="FFFDF8"/>
      </a:lt1>
      <a:dk2>
        <a:srgbClr val="2C3A48"/>
      </a:dk2>
      <a:lt2>
        <a:srgbClr val="F5F3EE"/>
      </a:lt2>
      <a:accent1>
        <a:srgbClr val="B9581A"/>
      </a:accent1>
      <a:accent2>
        <a:srgbClr val="2E5E8C"/>
      </a:accent2>
      <a:accent3>
        <a:srgbClr val="56606B"/>
      </a:accent3>
      <a:accent4>
        <a:srgbClr val="E49A5C"/>
      </a:accent4>
      <a:accent5>
        <a:srgbClr val="33475E"/>
      </a:accent5>
      <a:accent6>
        <a:srgbClr val="E2DDD2"/>
      </a:accent6>
      <a:hlink>
        <a:srgbClr val="2E5E8C"/>
      </a:hlink>
      <a:folHlink>
        <a:srgbClr val="56606B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Aminas Vasoativas</dc:title>
  <dc:subject>Sessão clínica</dc:subject>
  <dc:creator>Bruno Dubois</dc:creator>
  <cp:lastModifiedBy>Bruno Dubois</cp:lastModifiedBy>
  <cp:revision>1</cp:revision>
  <dcterms:created xsi:type="dcterms:W3CDTF">2026-10-18T19:10:26Z</dcterms:created>
  <dcterms:modified xsi:type="dcterms:W3CDTF">2026-10-18T19:10:26Z</dcterms:modified>
</cp:coreProperties>
</file>