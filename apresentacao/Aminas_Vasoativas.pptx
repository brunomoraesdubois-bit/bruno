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b49fe14f-ed28-7243-ce57-2525329b2b8f}">
          <p14:sldIdLst>
            <p14:sldId id="256"/>
            <p14:sldId id="257"/>
          </p14:sldIdLst>
        </p14:section>
        <p14:section name="01 · Fisiologia: pressão, débito e perfusão" id="{7a2c43fe-a6f1-2241-5bba-bbc2c28dd865}">
          <p14:sldIdLst>
            <p14:sldId id="258"/>
            <p14:sldId id="259"/>
            <p14:sldId id="260"/>
          </p14:sldIdLst>
        </p14:section>
        <p14:section name="02 · Receptores" id="{b2915a70-7cea-45a0-5a21-692693c3b530}">
          <p14:sldIdLst>
            <p14:sldId id="261"/>
          </p14:sldIdLst>
        </p14:section>
        <p14:section name="03 · Drogas: noradrenalina, adrenalina, dobutamina (e dopamina), milrinona (escolha), fenilefrina e efedrina" id="{929cbe61-a191-2cde-ee03-21773e5b3cfe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4 · Além das aminas: vasopressina, hidrocortisona e azul de metileno" id="{10ec66f6-f51d-0a01-39b1-3320b5cb0530}">
          <p14:sldIdLst>
            <p14:sldId id="268"/>
          </p14:sldIdLst>
        </p14:section>
        <p14:section name="05 · Choque séptico: a sequência da SSC 2026" id="{65302dea-61eb-7480-5712-9565c89a4649}">
          <p14:sldIdLst>
            <p14:sldId id="269"/>
          </p14:sldIdLst>
        </p14:section>
        <p14:section name="06 · Perioperatório: escolha da droga" id="{2b291c55-02e9-d1f8-41eb-b7fa0ad94412}">
          <p14:sldIdLst>
            <p14:sldId id="270"/>
          </p14:sldIdLst>
        </p14:section>
        <p14:section name="07 · Mensagens finais e encerramento" id="{10eaae6d-2f3a-2b5e-9da5-3da2048ae4b3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14 min 25 s nos 17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 a pressão de perfusão do órgão é a diferença entre a PAM e a PVC. Três situações. Na vasoplegia o problema é o tônus vascular, sobretudo arterial, como na sepse, na anestesia geral e no bloqueio de neuroeixo: a droga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mais do que a resistência ao retorno venoso, com queda do retorno venoso e, portanto, do débito; é evidência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No intraoperatório a perfusão raramente é medida de forma direta, então o caminho é combinar métodos. O eco, transesofágico ou à beira do leito, é o mais rápido para definir o tipo de choque, e a ESICM 2025 o coloca como primeira linha para isso: função do VE e do VD, com a fração de variação de área e o TAPSE para o VD; volemia, pela área do VE ao fim da diástole; pericárdio; e o VTI na via de saída, que multiplicado pela área da via de saída dá o volume sistólico e, repetido, mostra a resposta a volume ou a droga. Os monitores de débito dão o número contínuo e a resposta a uma intervenção. E os marcadores de perfusão tissular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1 min 20 s (1:50 → 3:10)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(Tongyoo, Ann Med 2025;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indica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Monitores de débito: o que cada um mede e onde falha. A termodiluição pelo cateter de artéria pulmonar continua a referência clínica: bolus frio no átrio direito e curva de temperatura na artéria pulmonar; dá também as pressões pulmonares e a saturação venosa mista; é invasiva e intermitente, reservada ao choque refratário, à disfunção de VD e à hipertensão pulmonar. A termodiluição transpulmonar, como o PiCCO, lê o bolus em artéria femoral, calibra o contorno de pulso e estima volumes cardíacos e água pulmonar extravascular. O contorno de pulso não calibrado, como o FloTrac, estima o volume sistólico pela forma da onda arterial; é contínuo e pouco invasivo, mas perde acurácia quando o tônus vascular muda, com resistência baixa ou vasopressor: no cirrótico, o erro contra a termodiluição chegou a 54%, bem acima dos 30% aceitáveis. O Doppler esofágico estima o volume sistólico pela velocidade na aorta descendente e um nomograma; depende da posição e do ângulo da sonda. VPP e VVS exigem ventilação controlada sem esforço, volume corrente de pelo menos 8 mL/kg, ritmo regular, tórax fechado, sem disfunção de VD nem hipertensão intra-abdominal; entre 9 e 13% há uma zona cinzenta. Fora disso: desafio de volume corrente, de 6 para 8 mL/kg por um minuto; elevação passiva das pernas, com aumento do débito de 10% ou mais; ou minidesafio de 100 mL, medindo o débito, não a pressão.</a:t>
            </a:r>
            <a:endParaRPr lang="en-US" dirty="0"/>
          </a:p>
          <a:p>
            <a:r>
              <a:rPr lang="en-US" dirty="0"/>
              <a:t>TEMPO: 1 min 50 s (3:10 → 5:00)</a:t>
            </a:r>
            <a:endParaRPr lang="en-US" dirty="0"/>
          </a:p>
          <a:p>
            <a:r>
              <a:rPr lang="en-US" dirty="0"/>
              <a:t>PONTO-CHAVE: Saber o que cada monitor mede e onde falha; VPP e VVS têm condições; fora delas, teste dinâmico medindo o débito.</a:t>
            </a:r>
            <a:endParaRPr lang="en-US" dirty="0"/>
          </a:p>
          <a:p>
            <a:r>
              <a:rPr lang="en-US" dirty="0"/>
              <a:t>SE PERGUNTAREM: Cannesson (Anesthesiology 2011): zona cinzenta da VPP entre 9 e 13% em pacientes sob anestesia geral e ventilação mecânica. Myatra (Crit Care Med 2017; 20 pacientes ventilados com 6 mL/kg): o aumento da VPP ou da VVS após elevar o volume corrente para 8 mL/kg por 1 min previu a resposta a volume. Monnet (Intensive Care Med 2016; metanálise, 21 estudos, 991 pacientes): elevação passiva das pernas com aumento do débito de 10% ou mais tem sensibilidade de 85% e especificidade de 91%; medida pela pressão de pulso, a sensibilidade cai para 56%. Biais (Anesthesiology 2017; 44 pacientes em neurocirurgia): 100 mL de cristaloide em 1 min, aumento do índice sistólico acima de 6% ao contorno de pulso previu a resposta a 250 mL (sensibilidade 93%, especificidade 85%; zona cinzenta de 4 a 7%). Biancofiore (Br J Anaesth 2009; cirróticos em cirurgia hepática): FloTrac/Vigileo de segunda geração vs. termodiluição pulmonar, erro percentual de 54% (limite aceito de 30%), pior com resistência baixa; o software seguinte ficou em 52%, e um estudo de 2022 com a quarta geração no transplante hepático manteve erro em torno de 54%. ESICM 2025: eco como primeira linha para definir o tipo de choque; monitorização de débito ou volume sistólico em quem não responde ao tratamento inicial; avaliar a responsividade antes de mais volume; perfusão tissular avaliada de forma seriada. Doppler esofágico: supõe que cerca de 70% do débito passa pela aorta descendente, proporção que varia entre pacientes. Sob anestesia, o ETE também permite ver a variação do diâmetro da veia cava superior com a ventilação, outro índice dinâmico, e a área diastólica final do VE para estimar a volemia.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 está em três lugares: pré-sináptico, reduzindo a liberação de noradrenalina; no locus coeruleus, com sedação e simpatólise, que é o efeito da dexmedetomidina; e no músculo liso vascular, onde contrai o vaso e explica a hipertensão inicial do bolus. β1 aumenta contratilidade e frequência. β2 dilata vasos e brônquios e eleva glicemia e lactato. D1 dilata os leitos renal e mesentérico. V1 e PDE3 estão na tabela porque vasopressina e milrinona não dependem do adrenoceptor. Dois pontos práticos: as catecolaminas têm meia-vida de minutos, por isso vão em geral em infusão; fenilefrina e efedrina duram mais, por isso são as drogas habituais de bolus. E o uso prolongado dessensibiliza os receptores.</a:t>
            </a:r>
            <a:endParaRPr lang="en-US" dirty="0"/>
          </a:p>
          <a:p>
            <a:r>
              <a:rPr lang="en-US" dirty="0"/>
              <a:t>TEMPO: 1 min 5 s (5:00 → 6:05)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Subtipos: α2A, no locus coeruleus, medeia sedação e simpatólise; α2B, no músculo liso vascular, a vasoconstrição e a hipertensão transitória do bolus; a hipotensão e a bradicardia que se seguem vêm da simpatólise e do aumento do tônus vagal. A clonidina tem o mesmo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β1 modesta: sobe a PAM pela resistência e pela venoconstrição, com débito em geral mantido, que pode subir pelo retorno venoso ou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(6:05 → 6:45)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(De Backer, N Engl J Med 2010; n = 1.679), a mortalidade em 28 dias foi semelhante à da dopamina (48,5% vs. 52,5%), com metade das arritmias (12,4% vs. 24,1%); a SSC 2026 recomenda a noradrenalina em vez da dopamina (recomendação forte).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praticamente não há vasodilatação e o lactato sobe pouco. As barras do slide representam o efeito clínico esperado em cada via, não a afinidade pelo receptor.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com infusão se for preciso repetir.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35 s (6:45 → 7:20)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 Dose no choque séptico: a bula americana de epinefrina prevê infusão de 0,05–2 mcg/kg/min, titulada pela PAM. Cartão ANZAAG/ANZCA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 Dose no choque séptico: a bula americana de epinefrina prevê infusão de 0,05–2 mcg/kg/min, titulada pela PAM. Cartão ANZCA/ANZAAG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(7:20 → 7:55)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a enzima que degrada o AMPc,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(7:55 → 8:50)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vasopressor, e um inodilatador baixa ainda mais a pressão. Depois, o perfil farmacológico, que está na tabela. Milrinona quando a circulação pulmonar e o VD são o problema, como na hipertensão pulmonar e na saída de CEC com resistência pulmonar alta, e quando o betabloqueio ou a taquicardia limitam a dobutamina; ela precisa de uma PAM sustentada, em geral com noradrenalina. Dobutamina, junto com o vasopressor, quando o baixo débito vem acompanhado de hipotensão ou vasoplegia, em que a vasodilatação e a meia-vida longa da milrinona pesam contra; na insuficiência renal; e quando se quer titulação rápida, porque a meia-vida é de minutos. No choque séptico com disfunção miocárdica, a SSC 2026 sugere dobutamina associada à noradrenalina, ou adrenalina isolada, e reconhece que faltam dados para preferir a dobutamina à milrinona: é preferência prática, não superioridade demonstrada.</a:t>
            </a:r>
            <a:endParaRPr lang="en-US" dirty="0"/>
          </a:p>
          <a:p>
            <a:r>
              <a:rPr lang="en-US" dirty="0"/>
              <a:t>TEMPO: 1 min 20 s (8:50 → 10:10)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Agora duas aminas simpaticomiméticas que não são catecolaminas, as drogas de bolus do centro cirúrgico. Fenilefrina: agonista α1 direto, praticamente sem ação β; a PAM sobe pela resistência e a frequência cai por reflexo, o que pode reduzir o débito quando ele depende da frequência; é a escolha na hipotensão vasodilatadora com frequência normal ou alta. Efedrina: age diretamente em α e β e, sobretudo, libera noradrenalina das terminações; sobe pressão, frequência e débito, por isso é a escolha quando há bradicardia; perde efeito com doses repetidas, em parte porque depleta a noradrenalina, e na cesárea atravessa a placenta e associa-se a mais acidose fetal que a fenilefrina.</a:t>
            </a:r>
            <a:endParaRPr lang="en-US" dirty="0"/>
          </a:p>
          <a:p>
            <a:r>
              <a:rPr lang="en-US" dirty="0"/>
              <a:t>TEMPO: 50 s (10:10 → 11:00)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a via adrenérgica não basta, três recursos além das aminas. A vasopressina age no receptor V1, fora da via adrenérgica: poupa catecolamina e costuma manter efeito em acidose; no choque séptico há deficiência relativa do hormônio endógeno. Dose fixa, em geral 0,03 unidades por minuto, no choque séptico com noradrenalina em escalada, na vasoplegia após CEC e na hipotensão refratária com IECA ou BRA; o risco é isquemia digital e mesentérica. A hidrocortisona restaura a resposta vascular às catecolaminas, 200 mg por dia no choque séptico. O azul de metileno inibe a via do óxido nítrico e fica como resgate na vasoplegia refratária, como após CEC ou na reperfusão do enxerto hepático.</a:t>
            </a:r>
            <a:endParaRPr lang="en-US" dirty="0"/>
          </a:p>
          <a:p>
            <a:r>
              <a:rPr lang="en-US" dirty="0"/>
              <a:t>TEMPO: 55 s (11:00 → 11:55)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resgate na vasoplegia pós-CEC e na reperfusão do enxerto hepático, com evidência limitada. Contraindicado na deficiência de G6PD (hemólise); subestima a SpO₂ na oximetria de pulso e reduz o BIS; síndrome serotoninérgica com ISRS e outros serotoninérgicos,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choque séptico, a Surviving Sepsis Campaign, a diretriz internacional de sepse, atualizada em 2026, organiza os vasopressores em sequência: noradrenalina primeiro, cedo, mesmo por veia periférica; vasopressina quando a dose de noradrenalina sobe, sem limiar definido; adrenalina se a PAM continuar inadequada. É o mesmo raciocínio da aula: tônus com noradrenalina, outra via com vasopressina, e inotrópico apenas se houver disfunção cardíaca com hipoperfusão, com volume e PAM já otimizados.</a:t>
            </a:r>
            <a:endParaRPr lang="en-US" dirty="0"/>
          </a:p>
          <a:p>
            <a:r>
              <a:rPr lang="en-US" dirty="0"/>
              <a:t>TEMPO: 35 s (11:55 → 12:30)</a:t>
            </a:r>
            <a:endParaRPr lang="en-US" dirty="0"/>
          </a:p>
          <a:p>
            <a:r>
              <a:rPr lang="en-US" dirty="0"/>
              <a:t>PONTO-CHAVE: Noradrenalina, depois vasopressina, depois adrenalina; inotrópico apenas com disfunção cardíaca e hipoperfusão.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PAM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 com frequência normal ou alta, agonista α1; bradicardia, efedrina ou, se grave, adrenalina; baixo débito, inotrópico; vasoplegia refratária às catecolaminas, como após CEC, com IECA ou BRA ou na reperfusão do enxerto hepático, vasopressina, com azul de metileno como resgate; pré-carga baixa, volume. Um dado do nosso serviço ajuda nessa decisão: Gouvêa, Diaz e colaboradores acompanharam por ecocardiografia transesofágica o ventrículo direito de 19 pacientes selecionados em cinco fases do transplante hepático, e a função sistólica do VD se manteve preservada nos momentos avaliados, inclusive trinta minutos após a reperfusão. O estudo não mediu os primeiros minutos da reperfusão, então não diz se a instabilidade aguda é vasoplegia ou disfunção transitória do VD. O que fica dele para a prática é o método: usar o eco para separar disfunção de VD de vasoplegia antes de escolher entre inotrópico e vasopressor.</a:t>
            </a:r>
            <a:endParaRPr lang="en-US" dirty="0"/>
          </a:p>
          <a:p>
            <a:r>
              <a:rPr lang="en-US" dirty="0"/>
              <a:t>TEMPO: 1 min 15 s (12:30 → 13:45)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 O estudo mediu a função do VD; não testou a capacidade do eco de diferenciar vasoplegia de disfunção ventricular na hipotensão aguda: essa é a aplicação clínica proposta na aula, não um resultado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efedrina; com frequência normal ou alta: fenilefrina. Anafilaxia: adrenalina.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TEMPO: 30 s (13:45 → 14:15)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(14:15 → 14:25)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doses, indicações e cuidados de"/>
          <p:cNvSpPr txBox="1"/>
          <p:nvPr/>
        </p:nvSpPr>
        <p:spPr>
          <a:xfrm>
            <a:off x="1371600" y="3173161"/>
            <a:ext cx="47034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372221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372221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4637584" y="347249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372221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40412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53401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56567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MONITORES DE DÉBIT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MONITORES DE DÉBITO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Monitores de débito: o que medem e onde falham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727101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60"/>
                <a:gridCol w="4649192"/>
                <a:gridCol w="3803948"/>
              </a:tblGrid>
              <a:tr h="3098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4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</a:t>
                      </a:r>
                      <a:endParaRPr lang="en-US" sz="1200" dirty="0"/>
                    </a:p>
                  </a:txBody>
                  <a:tcPr marL="101600" marR="1016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4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Princípio e o que oferece</a:t>
                      </a:r>
                      <a:endParaRPr lang="en-US" sz="1200" dirty="0"/>
                    </a:p>
                  </a:txBody>
                  <a:tcPr marL="101600" marR="1016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4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Limites</a:t>
                      </a:r>
                      <a:endParaRPr lang="en-US" sz="1200" dirty="0"/>
                    </a:p>
                  </a:txBody>
                  <a:tcPr marL="101600" marR="1016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679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Termodiluição pulmonar (cateter de artéria pulmonar)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 clínica: bolus frio no átrio direito, curva de temperatura na artéria pulmonar; dá também PAP, POAP e SvO</a:t>
                      </a:r>
                      <a:r>
                        <a:rPr lang="pt-BR" altLang="en-US" sz="1100" baseline="-25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Invasivo e intermitente; reservado ao choque refratário, à disfunção de VD e à hipertensão pulmonar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10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Termodiluição transpulmonar (PiCCO, VolumeView)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frio pelo acesso central, curva em artéria femoral; calibra o contorno de pulso; estima volumes e água pulmonar extravascular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cateter central e arterial femoral; recalibrar quando o tônus vascular muda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10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Contorno de pulso não calibrado (FloTrac, ClearSight)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 o volume sistólico pela forma da onda arterial e dados demográficos; contínuo, pouco invasivo; fornece a VVS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Perde acurácia com RVS baixa e vasopressor: no cirrótico, erro de 54% vs. termodiluição (limite aceito: 30%)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10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Doppler esofágico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Velocidade do fluxo na aorta descendente; volume sistólico por nomograma do diâmetro aórtico; base das metas hemodinâmicas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da posição e do ângulo da sonda; assume o diâmetro aórtico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10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Ecocardiografia (ETE)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sistólico = VTI × área da via de saída do VE; função de VE e VD (FAC, TAPSE), volemia, pericárdio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Intermitente e dependente do operador; VTI seriado mais confiável que o valor absoluto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tão"/>
          <p:cNvSpPr/>
          <p:nvPr/>
        </p:nvSpPr>
        <p:spPr>
          <a:xfrm>
            <a:off x="812800" y="4544814"/>
            <a:ext cx="10566400" cy="807343"/>
          </a:xfrm>
          <a:prstGeom prst="roundRect">
            <a:avLst>
              <a:gd name="adj" fmla="val 943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6" name="Responsividade a volume"/>
          <p:cNvSpPr txBox="1"/>
          <p:nvPr/>
        </p:nvSpPr>
        <p:spPr>
          <a:xfrm>
            <a:off x="1022350" y="4701054"/>
            <a:ext cx="1924050" cy="496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5"/>
              </a:lnSpc>
              <a:buNone/>
            </a:pPr>
            <a:r>
              <a:rPr lang="pt-BR" altLang="en-US" sz="17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Responsividade a volume</a:t>
            </a:r>
            <a:endParaRPr lang="en-US" sz="1700" dirty="0"/>
          </a:p>
        </p:txBody>
      </p:sp>
      <p:sp>
        <p:nvSpPr>
          <p:cNvPr id="7" name="VPP e VVS: ventilação controlada sem esf"/>
          <p:cNvSpPr txBox="1"/>
          <p:nvPr/>
        </p:nvSpPr>
        <p:spPr>
          <a:xfrm>
            <a:off x="3105150" y="4643490"/>
            <a:ext cx="8083550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VVS: ventilação controlada sem esforço, volume corrente ≥ 8 mL/kg, ritmo regular, tórax fechado, sem disfunção de VD nem hipertensão intra-abdominal; zona cinzenta de 9–13%. Fora disso: desafio de volume corrente (6 → 8 mL/kg por 1 min), elevação passiva das pernas (↑DC ≥ 10%) ou minidesafio de 100 mL, medindo o débito.</a:t>
            </a:r>
            <a:endParaRPr lang="en-US" sz="1150" dirty="0"/>
          </a:p>
        </p:txBody>
      </p:sp>
      <p:sp>
        <p:nvSpPr>
          <p:cNvPr id="8" name="ESICM 2014 e 2025 · Cannesson, Anesthesi"/>
          <p:cNvSpPr txBox="1"/>
          <p:nvPr/>
        </p:nvSpPr>
        <p:spPr>
          <a:xfrm>
            <a:off x="812800" y="6245073"/>
            <a:ext cx="10433050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2014 e 2025 · Cannesson, Anesthesiology 2011 · Monnet, Intensive Care Med 2016 · Biancofiore, Br J Anaesth 2009 · Miller’s Anesthesia, 10ª ed. (2025), cap. 33</a:t>
            </a:r>
            <a:endParaRPr lang="en-US" sz="11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698180"/>
                <a:gridCol w="5811639"/>
              </a:tblGrid>
              <a:tr h="3530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6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Pré-sináptico; SNC (locus coeruleus); músculo liso vascular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NA; sedação e simpatólise central (dexmedetomidina); vasoconstrição pós-sináptica (hipertensão inicial do bolus)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64582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83323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42693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tecolaminas: meia-vida de minutos, em "/>
          <p:cNvSpPr txBox="1"/>
          <p:nvPr/>
        </p:nvSpPr>
        <p:spPr>
          <a:xfrm>
            <a:off x="812800" y="525327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(as drogas habituais de bolus). Uso prolongado: dessensibilização.</a:t>
            </a:r>
            <a:endParaRPr lang="en-US" sz="1300" dirty="0"/>
          </a:p>
        </p:txBody>
      </p:sp>
      <p:sp>
        <p:nvSpPr>
          <p:cNvPr id="9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modesto: sobe a PAM pela 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modesto: sobe a PAM pela RVS e pelo retorno venoso; DC em geral mantido: pode subir pelo retorno venoso ou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608090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213069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titulados; infusão se precisar repetir.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efeito em grande parte preservado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268762"/>
          </a:xfrm>
          <a:prstGeom prst="roundRect">
            <a:avLst>
              <a:gd name="adj" fmla="val 2331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oradrena"/>
          <p:cNvSpPr txBox="1"/>
          <p:nvPr/>
        </p:nvSpPr>
        <p:spPr>
          <a:xfrm>
            <a:off x="1066800" y="3884060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noradrenalina em escalada, vasoplegia pós-CEC e hipotensão refratária em uso de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323427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(pós-CEC, reperfusão hepática).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Miller’s Anesthesia, 10ª ed. (2025), cap. 79</a:t>
            </a:r>
            <a:endParaRPr lang="en-US" sz="12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a sequência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Em comum"/>
          <p:cNvSpPr txBox="1"/>
          <p:nvPr/>
        </p:nvSpPr>
        <p:spPr>
          <a:xfrm>
            <a:off x="1073150" y="3875835"/>
            <a:ext cx="183455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comum</a:t>
            </a:r>
            <a:endParaRPr lang="en-US" sz="2800" dirty="0"/>
          </a:p>
        </p:txBody>
      </p:sp>
      <p:sp>
        <p:nvSpPr>
          <p:cNvPr id="20" name="Vasopressor cedo, pelo mecanismo: tônus "/>
          <p:cNvSpPr txBox="1"/>
          <p:nvPr/>
        </p:nvSpPr>
        <p:spPr>
          <a:xfrm>
            <a:off x="3295055" y="3735018"/>
            <a:ext cx="784284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Vasopressor cedo, pelo mecanismo: tônus com noradrenalina, outra via com vasopressina, e adrenalina quando as duas não bastam. Inotrópico apenas se houver disfunção cardíaca com hipoperfusão.</a:t>
            </a:r>
            <a:endParaRPr lang="en-US" sz="1500" dirty="0"/>
          </a:p>
        </p:txBody>
      </p:sp>
      <p:sp>
        <p:nvSpPr>
          <p:cNvPr id="21" name="Prescott, Crit Care Med 2026 (Surviving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(Surviving Sepsis Campaign)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"/>
          <p:cNvSpPr txBox="1"/>
          <p:nvPr/>
        </p:nvSpPr>
        <p:spPr>
          <a:xfrm>
            <a:off x="3084810" y="3170165"/>
            <a:ext cx="1764010" cy="23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4563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56979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FC normal ou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3396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SC 2026 · ESICM 2025 · Miller’s Anesth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Miller’s Anesthesia, 10ª ed. (2025), cap. 16, 79</a:t>
            </a:r>
            <a:endParaRPr lang="en-US" sz="1200" dirty="0"/>
          </a:p>
        </p:txBody>
      </p:sp>
      <p:pic>
        <p:nvPicPr>
          <p:cNvPr id="1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2026-10-20T10:15:10Z</dcterms:created>
  <dcterms:modified xsi:type="dcterms:W3CDTF">2026-10-20T10:15:10Z</dcterms:modified>
</cp:coreProperties>
</file>