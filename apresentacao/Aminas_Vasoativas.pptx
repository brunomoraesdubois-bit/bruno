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cd711a28-39c7-c1fa-0798-20d96930372e}">
          <p14:sldIdLst>
            <p14:sldId id="256"/>
            <p14:sldId id="257"/>
          </p14:sldIdLst>
        </p14:section>
        <p14:section name="01 · Fisiologia: pressão, débito e perfusão" id="{d524a5dd-60af-1ad3-efc1-f0f8be6cd49f}">
          <p14:sldIdLst>
            <p14:sldId id="258"/>
            <p14:sldId id="259"/>
          </p14:sldIdLst>
        </p14:section>
        <p14:section name="02 · Receptores e vias de sinalização" id="{8a95d88b-3322-7099-fb9d-c523ffe41894}">
          <p14:sldIdLst>
            <p14:sldId id="260"/>
          </p14:sldIdLst>
        </p14:section>
        <p14:section name="03 · Drogas: noradrenalina, adrenalina, dobutamina (e dopamina), milrinona (escolha e falência de VD), fenilefrina e efedrina" id="{27cf04d9-6a18-bd25-bfe6-badd75d4f49e}">
          <p14:sldIdLst>
            <p14:sldId id="261"/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04 · Além das aminas: vasopressina e adjuvantes" id="{b54529de-f742-9c03-31d1-484ebe3eb57b}">
          <p14:sldIdLst>
            <p14:sldId id="268"/>
          </p14:sldIdLst>
        </p14:section>
        <p14:section name="05 · Choque séptico: a sequência da SSC 2026" id="{357d9a8f-095f-0dcd-cb19-8c0f813b1c64}">
          <p14:sldIdLst>
            <p14:sldId id="269"/>
          </p14:sldIdLst>
        </p14:section>
        <p14:section name="06 · Perioperatório: escolha da droga e alvo de pressão" id="{db6f7098-7067-e577-a935-5f992a4ae0ab}">
          <p14:sldIdLst>
            <p14:sldId id="270"/>
            <p14:sldId id="271"/>
          </p14:sldIdLst>
        </p14:section>
        <p14:section name="07 · Mensagens finais e encerramento" id="{15985724-abfc-8480-b412-445519f8d3d0}">
          <p14:sldIdLst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Bom dia. Sou Bruno Dubois; meus orientadores são Marcelo Bandeira e Glauber Gouvêa. O tema é aminas vasoativas, e a aula nasceu de uma pergunta prática: quando a milrinona tem indicação, e quando a dobutamina ou um vasopressor seriam a escolha.</a:t>
            </a:r>
            <a:endParaRPr lang="en-US" dirty="0"/>
          </a:p>
          <a:p>
            <a:r>
              <a:rPr lang="en-US" dirty="0"/>
              <a:t>TRANSIÇÃO: Começo pelos objetivos.</a:t>
            </a:r>
            <a:endParaRPr lang="en-US" dirty="0"/>
          </a:p>
          <a:p>
            <a:r>
              <a:rPr lang="en-US" dirty="0"/>
              <a:t>TEMPO: 25 s (0:00 → 0:25). Total previsto: 13 min 50 s nos 18 slides; ensaiar mirando 15 minutos.</a:t>
            </a:r>
            <a:endParaRPr lang="en-US" dirty="0"/>
          </a:p>
          <a:p>
            <a:r>
              <a:rPr lang="en-US" dirty="0"/>
              <a:t>PONTO-CHAVE: A aula nasceu de uma pergunta prática: quando a milrinona tem indicação?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Quatro objetivos. Distinguir vasoplegia, falência de bomba e pré-carga baixa. Ligar o perfil de receptores de cada droga ao seu efeito hemodinâmico. Conhecer doses e cuidados, e quando preferir milrinona ou dobutamina. Aplicar isso no choque séptico e no centro cirúrgico. A pergunta que organiza a aula: qual componente da pressão arterial média está falhando?</a:t>
            </a:r>
            <a:endParaRPr lang="en-US" dirty="0"/>
          </a:p>
          <a:p>
            <a:r>
              <a:rPr lang="en-US" dirty="0"/>
              <a:t>TRANSIÇÃO: Para responder, precisamos entender de que depende a pressão arterial média.</a:t>
            </a:r>
            <a:endParaRPr lang="en-US" dirty="0"/>
          </a:p>
          <a:p>
            <a:r>
              <a:rPr lang="en-US" dirty="0"/>
              <a:t>TEMPO: 30 s (0:25 → 0:55)</a:t>
            </a:r>
            <a:endParaRPr lang="en-US" dirty="0"/>
          </a:p>
          <a:p>
            <a:r>
              <a:rPr lang="en-US" dirty="0"/>
              <a:t>PONTO-CHAVE: Qual componente da PAM está falhando?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prática, a PAM é o débito cardíaco multiplicado pela resistência vascular sistêmica, somado à pressão venosa central. Como a PVC costuma ser baixa, a PAM depende sobretudo do débito e da resistência. Quando a PVC sobe, o problema não é a PAM, é a perfusão: o órgão recebe a diferença entre a PAM e a PVC, e o sangue também volta com mais dificuldade ao coração. Na vasoplegia o problema é o tônus arterial: sepse, anestesia geral, bloqueio de neuroeixo, anafilaxia, saída de CEC; as causas anestésicas e a anafilaxia somam venodilatação. Na falência de bomba o débito é baixo, em geral com resistência alta; na sepse, a disfunção miocárdica pode coexistir com vasoplegia. Na pré-carga baixa, a hipovolemia pede volume; o α1 também contrai veias e recruta volume não estressado, elevando o retorno venoso. Para diferenciar: eco precoce, parâmetros dinâmicos e perfusão seriada.</a:t>
            </a:r>
            <a:endParaRPr lang="en-US" dirty="0"/>
          </a:p>
          <a:p>
            <a:r>
              <a:rPr lang="en-US" dirty="0"/>
              <a:t>TRANSIÇÃO: Mas uma PAM normal não basta.</a:t>
            </a:r>
            <a:endParaRPr lang="en-US" dirty="0"/>
          </a:p>
          <a:p>
            <a:r>
              <a:rPr lang="en-US" dirty="0"/>
              <a:t>TEMPO: 1 min 10 s (0:55 → 2:05)</a:t>
            </a:r>
            <a:endParaRPr lang="en-US" dirty="0"/>
          </a:p>
          <a:p>
            <a:r>
              <a:rPr lang="en-US" dirty="0"/>
              <a:t>PONTO-CHAVE: Vasoplegia pede vasopressor; bomba fraca, inotrópico; pré-carga baixa, volume.</a:t>
            </a:r>
            <a:endParaRPr lang="en-US" dirty="0"/>
          </a:p>
          <a:p>
            <a:r>
              <a:rPr lang="en-US" dirty="0"/>
              <a:t>SE PERGUNTAREM: A relação PAM = DC × RVS + PVC é a definição da RVS, não uma causa (Magder, Crit Care 2018): a RVS é calculada como (PAM − PVC)/DC. A pressão a jusante efetiva do leito arterial é uma pressão crítica de fechamento, acima da PVC; a PVC importa para a pressão de perfusão dos órgãos (PAM − PVC) e para o gradiente do retorno venoso (pressão sistêmica média − pressão de átrio direito). Persichini (Crit Care Med 2012; 16 pacientes com choque séptico): reduzir a dose de noradrenalina baixou a pressão sistêmica média e o retorno venoso, mais do que a resistência ao retorno venoso, com queda do débito; é a prova de que a venoconstrição α recruta volume não estressado. o esquema cobre os determinantes da PAM; a obstrução (tamponamento, embolia pulmonar, pneumotórax hipertensivo, auto-PEEP) é o quarto tipo de choque da classificação da ESICM 2014: o eco precoce a identifica, e o tratamento é da causa, não com amina. No intraoperatório, pneumotórax e compressão aortocava estão entre as causas a afastar (slide 16).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Pressão não é fluxo: uma resistência alta pode manter a PAM com débito baixo. Por isso a decisão de usar inotrópico depende de sinais de hipoperfusão e de uma estimativa do débito. Os sinais estão no slide. Antes da droga, perguntar se o débito responde a volume; o eco mostra o VTI e a função dos ventrículos. E a ressalva oposta: aumentar o débito com a droga não é melhorar o desfecho; é a lição dos ensaios com inotrópico em quem não tinha indicação.</a:t>
            </a:r>
            <a:endParaRPr lang="en-US" dirty="0"/>
          </a:p>
          <a:p>
            <a:r>
              <a:rPr lang="en-US" dirty="0"/>
              <a:t>TRANSIÇÃO: Definido o problema, as ferramentas: os receptores.</a:t>
            </a:r>
            <a:endParaRPr lang="en-US" dirty="0"/>
          </a:p>
          <a:p>
            <a:r>
              <a:rPr lang="en-US" dirty="0"/>
              <a:t>TEMPO: 45 s (2:05 → 2:50)</a:t>
            </a:r>
            <a:endParaRPr lang="en-US" dirty="0"/>
          </a:p>
          <a:p>
            <a:r>
              <a:rPr lang="en-US" dirty="0"/>
              <a:t>PONTO-CHAVE: Inotrópico se decide por hipoperfusão e débito, não apenas pela pressão.</a:t>
            </a:r>
            <a:endParaRPr lang="en-US" dirty="0"/>
          </a:p>
          <a:p>
            <a:r>
              <a:rPr lang="en-US" dirty="0"/>
              <a:t>SE PERGUNTAREM: no OPTIME-CHF (Cuffe, JAMA 2002; 951 pacientes com IC descompensada sem indicação clara de inotrópico), milrinona vs. placebo por 48 h: sem benefício, com mais hipotensão sustentada e arritmia atrial. Em um ECR de 2025 (Tongyoo, Ann Med; 64 pacientes em choque séptico), a milrinona aumentou o débito em 6 horas em relação ao placebo, mas a mortalidade em 28 dias foi de 50% nos dois grupos. Na sepse a SvcO₂ pode estar normal ou alta apesar da hipoperfusão (defeito de extração e shunt microcirculatório); nesse caso, a diferença venoarterial de CO₂ acima de 6 mmHg indica fluxo insuficiente para remover o CO₂ produzido (Vallée, Intensive Care Med 2008). Limites de VPP e VVS: ventilação controlada sem esforço espontâneo, volume corrente de pelo menos 8 mL/kg, ritmo regular, tórax fechado, sem disfunção de VD nem hipertensão intra-abdominal; com volume corrente baixo a sensibilidade cai. Fora dessas condições: elevação passiva das pernas ou minidesafio hídrico com medida direta do débito (ESICM 2025).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α1 contrai artérias e veias; α2, pré-sináptico, reduz a liberação de noradrenalina e, pós-sináptico no vaso, também contrai. β1 aumenta contratilidade e frequência; β2 dilata vasos e brônquios e eleva glicemia e lactato. D1 dilata os leitos renal e mesentérico. V1 e PDE3 entram na tabela porque vasopressina e milrinona não dependem do adrenoceptor. Dois pontos práticos: as catecolaminas têm meia-vida de minutos, o que favorece a infusão contínua; fenilefrina e efedrina, sem o anel catecol, duram mais e costumam ir em bolus. E o uso prolongado dessensibiliza os adrenoceptores.</a:t>
            </a:r>
            <a:endParaRPr lang="en-US" dirty="0"/>
          </a:p>
          <a:p>
            <a:r>
              <a:rPr lang="en-US" dirty="0"/>
              <a:t>TRANSIÇÃO: Começo pela noradrenalina.</a:t>
            </a:r>
            <a:endParaRPr lang="en-US" dirty="0"/>
          </a:p>
          <a:p>
            <a:r>
              <a:rPr lang="en-US" dirty="0"/>
              <a:t>TEMPO: 45 s (2:50 → 3:35)</a:t>
            </a:r>
            <a:endParaRPr lang="en-US" dirty="0"/>
          </a:p>
          <a:p>
            <a:r>
              <a:rPr lang="en-US" dirty="0"/>
              <a:t>PONTO-CHAVE: Cada droga tem um perfil de receptores; vasopressina e milrinona usam outras vias.</a:t>
            </a:r>
            <a:endParaRPr lang="en-US" dirty="0"/>
          </a:p>
          <a:p>
            <a:r>
              <a:rPr lang="en-US" dirty="0"/>
              <a:t>SE PERGUNTAREM: O α2 pós-sináptico vascular explica a hipertensão transitória do bolus de dexmedetomidina ou clonidina.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É a droga de primeira linha no choque séptico, com ação α1 potente e β1 modesta: sobe a PAM pela resistência e pela venoconstrição, com débito em geral mantido, podendo cair pela pós-carga, e frequência estável ou menor, por reflexo. Dose de 0,01 a 0,5 microgramas por quilo por minuto, sem teto fixo no choque refratário; no centro cirúrgico, bolus de 5 a 10 microgramas; pode começar em veia periférica calibrosa. Riscos: isquemia digital e esplâncnica, além de extravasamento.</a:t>
            </a:r>
            <a:endParaRPr lang="en-US" dirty="0"/>
          </a:p>
          <a:p>
            <a:r>
              <a:rPr lang="en-US" dirty="0"/>
              <a:t>TRANSIÇÃO: A adrenalina é parecida na estrutura, mas tem outro perfil.</a:t>
            </a:r>
            <a:endParaRPr lang="en-US" dirty="0"/>
          </a:p>
          <a:p>
            <a:r>
              <a:rPr lang="en-US" dirty="0"/>
              <a:t>TEMPO: 40 s (3:35 → 4:15)</a:t>
            </a:r>
            <a:endParaRPr lang="en-US" dirty="0"/>
          </a:p>
          <a:p>
            <a:r>
              <a:rPr lang="en-US" dirty="0"/>
              <a:t>PONTO-CHAVE: α1 potente com β1 modesto: sobe a PAM com débito em geral mantido.</a:t>
            </a:r>
            <a:endParaRPr lang="en-US" dirty="0"/>
          </a:p>
          <a:p>
            <a:r>
              <a:rPr lang="en-US" dirty="0"/>
              <a:t>SE PERGUNTAREM: no SOAP II (n = 1.679), a mortalidade em 28 dias foi semelhante à da dopamina (48,5% vs. 52,5%), com metade das arritmias (12,4% vs. 24,1%); a SSC 2026 recomenda a noradrenalina em vez da dopamina (forte, certeza alta). No Brasil, a ampola de hemitartarato de 2 mg/mL equivale a 1 mg/mL de base: registrar na prescrição se a dose está em base ou em sal. Início precoce (CENSER, Permpikul 2019: controle do choque em 6 h em 76% vs. 48%) e via periférica com protocolo (Tran 2020) estão nas referências. No extravasamento, fentolamina infiltrada no local. Afinidade por β1: a da noradrenalina é da mesma ordem da adrenalina; o que é modesto é o efeito cardíaco líquido, porque o barorreflexo e a pós-carga contêm a taquicardia e o aumento do débito; a ação β2 é pequena, por isso não há vasodilatação e o lactato sobe pouco.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Adrenalina: potente em α1, β1 e β2. O efeito depende da dose: em dose baixa predominam β1 e β2, com débito alto e resistência que pode cair; em dose alta prevalece o α1. É a droga da anafilaxia e, no choque séptico, a terceira droga. Na anafilaxia em ambiente monitorizado, bolus endovenosos titulados, conforme a diretriz australiana e neozelandesa (ANZCA/ANZAAG 2022); se forem necessários mais de três bolus, infusão; sem acesso venoso, 0,5 mg intramuscular. O lactato pode subir por efeito β2, e isso não autoriza ignorar hipoperfusão.</a:t>
            </a:r>
            <a:endParaRPr lang="en-US" dirty="0"/>
          </a:p>
          <a:p>
            <a:r>
              <a:rPr lang="en-US" dirty="0"/>
              <a:t>TRANSIÇÃO: Passando à dobutamina e, em uma frase, à dopamina.</a:t>
            </a:r>
            <a:endParaRPr lang="en-US" dirty="0"/>
          </a:p>
          <a:p>
            <a:r>
              <a:rPr lang="en-US" dirty="0"/>
              <a:t>TEMPO: 45 s (4:15 → 5:00)</a:t>
            </a:r>
            <a:endParaRPr lang="en-US" dirty="0"/>
          </a:p>
          <a:p>
            <a:r>
              <a:rPr lang="en-US" dirty="0"/>
              <a:t>PONTO-CHAVE: Dose baixa, β; dose alta, α. Droga da anafilaxia; terceira droga no choque séptico.</a:t>
            </a:r>
            <a:endParaRPr lang="en-US" dirty="0"/>
          </a:p>
          <a:p>
            <a:r>
              <a:rPr lang="en-US" dirty="0"/>
              <a:t>SE PERGUNTAREM: no CATS (Annane, Lancet 2007), mortalidade semelhante à do grupo noradrenalina + dobutamina (40% vs. 34%, NS), com mais acidose; no CAT (Myburgh, Intensive Care Med 2008), 12,9% dos pacientes em adrenalina foram retirados do estudo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 Dose no choque séptico: a bula americana de epinefrina prevê infusão de 0,05–2 mcg/kg/min, titulada pela PAM. Cartão ANZAAG/ANZCA 2022 (adulto; 1 mg em 10 mL = 100 mcg/mL): grau 2, 10–20 mcg, e 50 mcg se não houver resposta; grau 3, 50–100 mcg, e 200 mcg se não houver resposta; repetir a cada 1–2 min; após mais de três bolus, infusão de 3 mg em 50 mL, de 3 a 40 mL/h; sem acesso venoso ou sem monitorização, 500 mcg IM na face lateral da coxa, repetível a cada 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Dobutamina: inotrópico β1 com vasodilatação β2; sobe o débito, baixa um pouco a resistência e pode baixar a PAM. Indicada no baixo débito com hipoperfusão, de 2,5 a 20 microgramas por quilo por minuto; se a PAM cair, associar vasopressor; taquicardia e arritmia limitam a dose. Sobre a dopamina, uma frase apenas: efeito dose-dependente e pouco previsível, de D1 a α1, com mais arritmia que a noradrenalina; a SSC 2026 recomenda contra o uso como primeira linha, e hoje o uso é residual.</a:t>
            </a:r>
            <a:endParaRPr lang="en-US" dirty="0"/>
          </a:p>
          <a:p>
            <a:r>
              <a:rPr lang="en-US" dirty="0"/>
              <a:t>TRANSIÇÃO: A dobutamina aumenta a produção de AMPc pelo receptor β1; a milrinona também aumenta o AMPc, mas impedindo a degradação.</a:t>
            </a:r>
            <a:endParaRPr lang="en-US" dirty="0"/>
          </a:p>
          <a:p>
            <a:r>
              <a:rPr lang="en-US" dirty="0"/>
              <a:t>TEMPO: 50 s (5:00 → 5:50)</a:t>
            </a:r>
            <a:endParaRPr lang="en-US" dirty="0"/>
          </a:p>
          <a:p>
            <a:r>
              <a:rPr lang="en-US" dirty="0"/>
              <a:t>PONTO-CHAVE: Dobutamina para baixo débito com hipoperfusão; dopamina fora da primeira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milrinona inibe a PDE3 e, por isso, age depois do receptor β: é um inodilatador, aumenta contratilidade e relaxamento e reduz as resistências sistêmica e pulmonar. A indicação é a disfunção ventricular com baixo débito que exige inotrópico, incluindo a saída difícil de CEC. Dose: ataque de 50 microgramas por quilo em 10 minutos, muitas vezes omitido, e manutenção de 0,375 a 0,75 microgramas por quilo por minuto. Costuma exigir noradrenalina; tem eliminação renal e meia-vida bem mais longa que a da dobutamina, acumulando na insuficiência renal.</a:t>
            </a:r>
            <a:endParaRPr lang="en-US" dirty="0"/>
          </a:p>
          <a:p>
            <a:r>
              <a:rPr lang="en-US" dirty="0"/>
              <a:t>TRANSIÇÃO: E a pergunta prática que motivou a aula: quando escolher cada uma?</a:t>
            </a:r>
            <a:endParaRPr lang="en-US" dirty="0"/>
          </a:p>
          <a:p>
            <a:r>
              <a:rPr lang="en-US" dirty="0"/>
              <a:t>TEMPO: 45 s (5:50 → 6:35)</a:t>
            </a:r>
            <a:endParaRPr lang="en-US" dirty="0"/>
          </a:p>
          <a:p>
            <a:r>
              <a:rPr lang="en-US" dirty="0"/>
              <a:t>PONTO-CHAVE: Inodilatador pós-receptor β para a disfunção ventricular com baixo débito; meia-vida longa e eliminação renal.</a:t>
            </a:r>
            <a:endParaRPr lang="en-US" dirty="0"/>
          </a:p>
          <a:p>
            <a:r>
              <a:rPr lang="en-US" dirty="0"/>
              <a:t>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dobutamina, o que não prova equivalência.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Primeiro, a indicação: inotrópico quando há disfunção ventricular com baixo débito e hipoperfusão, depois de otimizar volume e PAM. Se a hipotensão é por vasoplegia, a droga é o vasopressor; um inodilatador baixa ainda mais a pressão. A tabela resume os perfis esperados: meia-vida, circulação pulmonar, frequência e pressão, e resposta com betabloqueador. O ensaio de referência é o DOREMI: 192 pacientes com choque cardiogênico, randomizados, em duplo-cego, para milrinona ou dobutamina. O desfecho composto de morte, parada cardíaca revertida, transplante ou suporte circulatório mecânico, infarto, AVC ou diálise ocorreu em 49% com milrinona e 54% com dobutamina, sem diferença estatisticamente significativa, inclusive nos 93 pacientes betabloqueados. Isso não comprova equivalência, mas deixa a escolha farmacológica. Milrinona no VD com hipertensão pulmonar, como na saída de CEC, e quando taquicardia ou betabloqueio limitam a dobutamina. Dobutamina se houver hipotensão associada, insuficiência renal ou necessidade de titulação rápida.</a:t>
            </a:r>
            <a:endParaRPr lang="en-US" dirty="0"/>
          </a:p>
          <a:p>
            <a:r>
              <a:rPr lang="en-US" dirty="0"/>
              <a:t>TRANSIÇÃO: Um cenário em que essa diferença farmacológica realmente importa é a falência de ventrículo direito. Como abordá-la?</a:t>
            </a:r>
            <a:endParaRPr lang="en-US" dirty="0"/>
          </a:p>
          <a:p>
            <a:r>
              <a:rPr lang="en-US" dirty="0"/>
              <a:t>TEMPO: 1 min 15 s (6:35 → 7:50)</a:t>
            </a:r>
            <a:endParaRPr lang="en-US" dirty="0"/>
          </a:p>
          <a:p>
            <a:r>
              <a:rPr lang="en-US" dirty="0"/>
              <a:t>PONTO-CHAVE: Primeiro a indicação; depois a escolha é farmacológica, sem superioridade demonstrada em desfecho.</a:t>
            </a:r>
            <a:endParaRPr lang="en-US" dirty="0"/>
          </a:p>
          <a:p>
            <a:r>
              <a:rPr lang="en-US" dirty="0"/>
              <a:t>SE PERGUNTAREM: no DOREMI (n = 192, choque cardiogênico), o desfecho composto foi 49% com milrinona e 54% com dobutamina (RR 0,90; IC 95% 0,69–1,19); arritmias, hipotensão sustentada e necessidade de vasopressor também não diferiram; por isso, as diferenças da tabela são expectativa farmacológica. Na subanálise por betabloqueador (93 pacientes, 48%), o betabloqueio prévio não piorou o desfecho e não houve vantagem demonstrada da milrinona (Di Santo, Crit Care 2021). Isso não prova equivalência, mas também não mostra vantagem de uma sobre a outra. A meia-vida da milrinona é de cerca de 2,4 horas na insuficiência cardíaca e aumenta na insuficiência renal, que pede dose de manutenção menor; a da dobutamina é de cerca de 2 minutos. Sem hipoperfusão, não há benefício demonstrado de inotrópico: no OPTIME-CHF, a milrinona causou mais hipotensão e mais arritmia atrial.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Na falência de VD, quatro frentes. Pressão de perfusão: o VD pode ficar isquêmico quando a PAM cai; noradrenalina e, se houver vasoplegia, vasopressina. Resistência pulmonar: corrigir hipóxia, hipercapnia e acidose; se preciso, vasodilatador inalado. Contratilidade: a milrinona faz sentido porque é inotrópica e reduz a resistência pulmonar; a dobutamina é alternativa; adrenalina no choque grave. Volume e ritmo: o VD dilatado tolera mal a sobrecarga de volume. A milrinona não substitui o diagnóstico: com débito preservado e resistência baixa, pensar em vasoplegia, e nesse caso a droga é o vasopressor.</a:t>
            </a:r>
            <a:endParaRPr lang="en-US" dirty="0"/>
          </a:p>
          <a:p>
            <a:r>
              <a:rPr lang="en-US" dirty="0"/>
              <a:t>TRANSIÇÃO: Saindo dos inotrópicos, as drogas de bolus do centro cirúrgico.</a:t>
            </a:r>
            <a:endParaRPr lang="en-US" dirty="0"/>
          </a:p>
          <a:p>
            <a:r>
              <a:rPr lang="en-US" dirty="0"/>
              <a:t>TEMPO: 45 s (7:50 → 8:35)</a:t>
            </a:r>
            <a:endParaRPr lang="en-US" dirty="0"/>
          </a:p>
          <a:p>
            <a:r>
              <a:rPr lang="en-US" dirty="0"/>
              <a:t>PONTO-CHAVE: Na falência de VD, a milrinona entra na contratilidade, com noradrenalina; com débito preservado e RVS baixa, considerar vasoplegia.</a:t>
            </a:r>
            <a:endParaRPr lang="en-US" dirty="0"/>
          </a:p>
          <a:p>
            <a:r>
              <a:rPr lang="en-US" dirty="0"/>
              <a:t>SE PERGUNTAREM: declaração científica da AHA sobre insuficiência cardíaca direita (Konstam, Circulation 2018;137(20):e578–e622). No transplante hepático, o estudo de Gouvêa, Diaz e colaboradores (PLoS One 2022) não encontrou disfunção de VD ao ETE ao longo do procedimento.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Fenilefrina: agonista α1 direto, praticamente sem ação β; a PAM sobe pela resistência e a frequência cai por reflexo. Em bolus de 50 a 100 microgramas, é útil quando a taquicardia é indesejável, mas pode reduzir o débito quando ele depende da frequência; na cesárea, o consenso de 2018 recomenda vasopressor α-agonista em infusão profilática. Efedrina: α1 e β1 moderados; sobe pressão, frequência e débito. Ação mista, direta e indireta, liberando noradrenalina: bolus de 5 a 10 mg na hipotensão com bradicardia; perde efeito com doses repetidas e, na cesárea, associa-se a mais acidose fetal.</a:t>
            </a:r>
            <a:endParaRPr lang="en-US" dirty="0"/>
          </a:p>
          <a:p>
            <a:r>
              <a:rPr lang="en-US" dirty="0"/>
              <a:t>TRANSIÇÃO: E quando a via adrenérgica não basta?</a:t>
            </a:r>
            <a:endParaRPr lang="en-US" dirty="0"/>
          </a:p>
          <a:p>
            <a:r>
              <a:rPr lang="en-US" dirty="0"/>
              <a:t>TEMPO: 50 s (8:35 → 9:25)</a:t>
            </a:r>
            <a:endParaRPr lang="en-US" dirty="0"/>
          </a:p>
          <a:p>
            <a:r>
              <a:rPr lang="en-US" dirty="0"/>
              <a:t>PONTO-CHAVE: Fenilefrina: tônus baixo com FC alta. Efedrina: tônus baixo com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vasopressina age no receptor V1, fora da via adrenérgica: poupa catecolamina e costuma manter efeito em acidose; no choque séptico há deficiência relativa do hormônio endógeno. Dose fixa, em geral 0,03 unidades por minuto. Indicações: choque séptico com noradrenalina em escalada, vasoplegia após CEC e hipotensão refratária com IECA ou BRA. Riscos: isquemia digital e mesentérica. Antes de somar drogas, corrigir causas tratáveis. Adjuvantes: a hidrocortisona restaura a resposta às catecolaminas, 200 mg por dia; a angiotensina II poupa catecolamina, mas é pouco disponível; o azul de metileno fica como resgate na vasoplegia refratária.</a:t>
            </a:r>
            <a:endParaRPr lang="en-US" dirty="0"/>
          </a:p>
          <a:p>
            <a:r>
              <a:rPr lang="en-US" dirty="0"/>
              <a:t>TRANSIÇÃO: Juntando tudo no choque séptico.</a:t>
            </a:r>
            <a:endParaRPr lang="en-US" dirty="0"/>
          </a:p>
          <a:p>
            <a:r>
              <a:rPr lang="en-US" dirty="0"/>
              <a:t>TEMPO: 45 s (9:25 → 10:10)</a:t>
            </a:r>
            <a:endParaRPr lang="en-US" dirty="0"/>
          </a:p>
          <a:p>
            <a:r>
              <a:rPr lang="en-US" dirty="0"/>
              <a:t>PONTO-CHAVE: Vasopressina age por outra via (V1) e poupa catecolamina; no refratário, somar mecanismos: hidrocortisona, angiotensina II e azul de metileno.</a:t>
            </a:r>
            <a:endParaRPr lang="en-US" dirty="0"/>
          </a:p>
          <a:p>
            <a:r>
              <a:rPr lang="en-US" dirty="0"/>
              <a:t>SE PERGUNTAREM: no VANCS (Hajjar, Anesthesiology 2017, InCor), na vasoplegia pós-CEC, a vasopressina teve menos morte ou complicação grave que a noradrenalina (32% vs. 49%); é uma população de cirurgia cardíaca, e o resultado não deve ser extrapolado para o choque séptico. Hidrocortisona: 200 mg/dia (50 mg de 6/6 h ou em infusão). Angiotensina II: no ATHOS-3, a resposta da PAM em 3 h ocorreu em 69,9% vs. 23,4% dos pacientes, sem diferença de mortalidade; é pouco disponível. Azul de metileno: inibe a óxido nítrico sintase e a guanilato ciclase solúvel; resgate na vasoplegia pós-CEC e na reperfusão do enxerto hepático, com evidência limitada. Contraindicado na deficiência de G6PD (hemólise); subestima a SpO₂ na oximetria de pulso e reduz o BIS; síndrome serotoninérgica com ISRS e outros serotoninérgicos, por inibir a MAO-A.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SSC 2026 organiza os vasopressores em sequência. Noradrenalina primeiro, cedo, mesmo por veia periférica. Vasopressina quando a dose de noradrenalina sobe, sem limiar definido. Adrenalina se a PAM continuar inadequada. Alvo inicial de 65 mmHg, ou 60 a 65 a partir dos 65 anos. Sobre o momento da vasopressina, o VASSPR, de outubro de 2026, com 3.959 pacientes em 13 hospitais, comparou iniciá-la com 0,1 ou com 0,4 microgramas por quilo por minuto de noradrenalina ou equivalente: mortalidade semelhante, 31,8 contra 33,0%. Na disfunção cardíaca com hipoperfusão, dobutamina com noradrenalina, ou adrenalina; hidrocortisona sugerida.</a:t>
            </a:r>
            <a:endParaRPr lang="en-US" dirty="0"/>
          </a:p>
          <a:p>
            <a:r>
              <a:rPr lang="en-US" dirty="0"/>
              <a:t>TRANSIÇÃO: No centro cirúrgico, o raciocínio é o mesmo, com outras causas.</a:t>
            </a:r>
            <a:endParaRPr lang="en-US" dirty="0"/>
          </a:p>
          <a:p>
            <a:r>
              <a:rPr lang="en-US" dirty="0"/>
              <a:t>TEMPO: 50 s (10:10 → 11:00)</a:t>
            </a:r>
            <a:endParaRPr lang="en-US" dirty="0"/>
          </a:p>
          <a:p>
            <a:r>
              <a:rPr lang="en-US" dirty="0"/>
              <a:t>PONTO-CHAVE: Noradrenalina, depois vasopressina, depois adrenalina; PAM inicial de 65 mmHg.</a:t>
            </a:r>
            <a:endParaRPr lang="en-US" dirty="0"/>
          </a:p>
          <a:p>
            <a:r>
              <a:rPr lang="en-US" dirty="0"/>
              <a:t>SE PERGUNTAREM: o VASSPR (JAMA 2026, n = 3.959; 13 hospitais, desenho cluster-crossover com ordem sorteada) comparou políticas hospitalares de iniciar a vasopressina com 0,1 vs. 0,4 mcg/kg/min de noradrenalina-equivalente; a vasopressina foi usada em 52,4% vs. 32,9%, e a mortalidade foi 31,8% vs. 33,0%. A antecipação sistemática não trouxe benefício, o que não exclui ganho em pacientes selecionados.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Antes da droga, afastar causas tratáveis: plano profundo, hipovolemia, compressão aortocava, pneumotórax e anafilaxia, que pede adrenalina. Se persistir, avaliar a resposta a volume e fazer eco. A escolha segue o mecanismo: tônus baixo com frequência normal ou alta pede agonista α1; bradicardia associada pede ação β1, efedrina ou, se grave, adrenalina; baixo débito pede inotrópico, e a milrinona ajuda no VD com hipertensão pulmonar; vasoplegia refratária às catecolaminas, como após CEC, com IECA ou BRA ou na reperfusão do enxerto hepático, pode responder à vasopressina, com azul de metileno como resgate; e pré-carga baixa pede volume, não amina. Um dado do nosso serviço: Gouvêa, Diaz e colaboradores avaliaram por ETE o VD de 19 pacientes selecionados em cinco momentos do transplante hepático; TAPSE e variação fracional de área permaneceram normais, inclusive após a reperfusão.</a:t>
            </a:r>
            <a:endParaRPr lang="en-US" dirty="0"/>
          </a:p>
          <a:p>
            <a:r>
              <a:rPr lang="en-US" dirty="0"/>
              <a:t>TRANSIÇÃO: E quanto de PAM é suficiente no intraoperatório?</a:t>
            </a:r>
            <a:endParaRPr lang="en-US" dirty="0"/>
          </a:p>
          <a:p>
            <a:r>
              <a:rPr lang="en-US" dirty="0"/>
              <a:t>TEMPO: 1 min 5 s (11:00 → 12:05)</a:t>
            </a:r>
            <a:endParaRPr lang="en-US" dirty="0"/>
          </a:p>
          <a:p>
            <a:r>
              <a:rPr lang="en-US" dirty="0"/>
              <a:t>PONTO-CHAVE: Afastar causas, identificar o mecanismo, escolher a droga.</a:t>
            </a:r>
            <a:endParaRPr lang="en-US" dirty="0"/>
          </a:p>
          <a:p>
            <a:r>
              <a:rPr lang="en-US" dirty="0"/>
              <a:t>SE PERGUNTAREM: Gouvêa G, Feiner J, Joshi S, Diaz R, et al., PLoS One 2022;17(10):e0275301: estudo observacional, 19 adultos de 18 a 65 anos, TAPSE e variação fracional de área do VD em cinco fases (basal, fase de hepatectomia, fase anepática, pós-reperfusão e fechamento); função sistólica do VD preservada nas cinco fases; excluídos hipertensão portopulmonar, síndrome hepatopulmonar, doença cardiopulmonar e insuficiência hepática fulminante. População selecionada: o estudo não permite concluir que toda hipotensão na reperfusão seja vasoplegia. TAPSE e variação fracional de área dependem da carga, e o TAPSE mede apenas a excursão longitudinal do anel lateral; normais sob anestesia, com pós-carga baixa, afastam disfunção sistólica evidente nos momentos avaliados, não medem reserva contrátil.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A hipotensão intraoperatória, mesmo breve, associa-se a lesão renal aguda, lesão miocárdica, delirium e mortalidade: é a mensagem do editorial de Lineburger e colaboradores, com Rodrigo Diaz entre os autores. O POQI 2024 trata PAM de 60 em pacientes de risco como limite mínimo; com pressão venosa ou compartimental alta, o alvo sobe. Acima do piso, o ensaio positivo mais recente é o HISTAP: 630 hipertensos com 60 anos ou mais, em cirurgia abdominal maior, PAM de pelo menos 80 contra pelo menos 65: morte ou disfunção orgânica em 38 contra 49%, sobretudo por menos lesão renal aguda. Outros ensaios, como o POISE-3 e o IMPROVE-multi, foram neutros. Daí a proposta: monitorização contínua, manejo proativo e metas individualizadas.</a:t>
            </a:r>
            <a:endParaRPr lang="en-US" dirty="0"/>
          </a:p>
          <a:p>
            <a:r>
              <a:rPr lang="en-US" dirty="0"/>
              <a:t>TRANSIÇÃO: Para terminar, as mensagens da aula.</a:t>
            </a:r>
            <a:endParaRPr lang="en-US" dirty="0"/>
          </a:p>
          <a:p>
            <a:r>
              <a:rPr lang="en-US" dirty="0"/>
              <a:t>TEMPO: 1 min (12:05 → 13:05)</a:t>
            </a:r>
            <a:endParaRPr lang="en-US" dirty="0"/>
          </a:p>
          <a:p>
            <a:r>
              <a:rPr lang="en-US" dirty="0"/>
              <a:t>PONTO-CHAVE: PAM de 60–65 mmHg como piso; alvo maior apenas em selecionados.</a:t>
            </a:r>
            <a:endParaRPr lang="en-US" dirty="0"/>
          </a:p>
          <a:p>
            <a:r>
              <a:rPr lang="en-US" dirty="0"/>
              <a:t>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 (RR 1,10; IC 95% 0,93–1,30).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Voltando à pergunta do início: qual componente da PAM está falhando? Vasoplegia: noradrenalina e, quando a dose sobe, vasopressina. Baixo débito com hipoperfusão: inotrópico, com a milrinona sobretudo no VD com hipertensão pulmonar. Hipotensão vasodilatadora da anestesia com bradicardia: efedrina. Com taquicardia: fenilefrina. Anafilaxia: adrenalina. No intraoperatório, tratar cedo, com PAM mínima de 60 a 65. A droga certa corrige o componente que falha, na menor dose eficaz e pelo menor tempo.</a:t>
            </a:r>
            <a:endParaRPr lang="en-US" dirty="0"/>
          </a:p>
          <a:p>
            <a:r>
              <a:rPr lang="en-US" dirty="0"/>
              <a:t>TRANSIÇÃO: Com isso, chego ao fim.</a:t>
            </a:r>
            <a:endParaRPr lang="en-US" dirty="0"/>
          </a:p>
          <a:p>
            <a:r>
              <a:rPr lang="en-US" dirty="0"/>
              <a:t>TEMPO: 35 s (13:05 → 13:40)</a:t>
            </a:r>
            <a:endParaRPr lang="en-US" dirty="0"/>
          </a:p>
          <a:p>
            <a:r>
              <a:rPr lang="en-US" dirty="0"/>
              <a:t>PONTO-CHAVE: A droga certa corrige o componente que falha, na menor dose e pelo menor tempo.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Obrigado pela atenção. As referências completas da aula estão no QR code. Fico à disposição para perguntas.</a:t>
            </a:r>
            <a:endParaRPr lang="en-US" dirty="0"/>
          </a:p>
          <a:p>
            <a:r>
              <a:rPr lang="en-US" dirty="0"/>
              <a:t>TEMPO: 10 s (13:40 → 13:50)</a:t>
            </a:r>
            <a:endParaRPr lang="en-US" dirty="0"/>
          </a:p>
          <a:p>
            <a:r>
              <a:rPr lang="en-US" dirty="0"/>
              <a:t>PONTO-CHAVE: Referências completas no QR code; abrir para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cerramento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Distinguir vasoplegia, falência de bomba"/>
          <p:cNvSpPr txBox="1"/>
          <p:nvPr/>
        </p:nvSpPr>
        <p:spPr>
          <a:xfrm>
            <a:off x="1371600" y="1964280"/>
            <a:ext cx="5110262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 vasoplegia, falência de bomba e pré-carga baixa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Ligar o perfil de receptores de cada dro"/>
          <p:cNvSpPr txBox="1"/>
          <p:nvPr/>
        </p:nvSpPr>
        <p:spPr>
          <a:xfrm>
            <a:off x="1371600" y="2568720"/>
            <a:ext cx="621377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oses, indicações e cuidados; quando pre"/>
          <p:cNvSpPr txBox="1"/>
          <p:nvPr/>
        </p:nvSpPr>
        <p:spPr>
          <a:xfrm>
            <a:off x="1371600" y="3173161"/>
            <a:ext cx="6329263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Doses, indicações e cuidados; quando preferir milrinona ou dobutamina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no choque séptico e na hipotensã"/>
          <p:cNvSpPr txBox="1"/>
          <p:nvPr/>
        </p:nvSpPr>
        <p:spPr>
          <a:xfrm>
            <a:off x="1371600" y="3777602"/>
            <a:ext cx="5131891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4632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, DC em geral preservado ou alt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baixa, DC em geral preservado ou alto: sepse, anestesia geral, bloqueio de neuroeixo, anafilaxia, pós-CEC. Alvo: tônus arterial (α1 ou V1).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RVS em geral alta: choque card"/>
          <p:cNvSpPr txBox="1"/>
          <p:nvPr/>
        </p:nvSpPr>
        <p:spPr>
          <a:xfrm>
            <a:off x="4662984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RVS em geral alta: choque cardiogênico; na sepse pode coexistir com vasoplegia. Alvo: contratilidade (β1 ou PDE3), com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124075"/>
          </a:xfrm>
          <a:prstGeom prst="roundRect">
            <a:avLst>
              <a:gd name="adj" fmla="val 358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 baix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700" dirty="0"/>
          </a:p>
        </p:txBody>
      </p:sp>
      <p:sp>
        <p:nvSpPr>
          <p:cNvPr id="12" name="Hipovolemia pede volume. O α1 também con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pede volume. O α1 também contrai veias e recruta volume não estressado, elevando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308376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489071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 precoce para o tipo de choque; parâm"/>
          <p:cNvSpPr txBox="1"/>
          <p:nvPr/>
        </p:nvSpPr>
        <p:spPr>
          <a:xfrm>
            <a:off x="4788098" y="4520732"/>
            <a:ext cx="63498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precoce para o tipo de choque; parâmetros dinâmicos para a resposta a volume; perfusão seriada (enchimento capilar).</a:t>
            </a:r>
            <a:endParaRPr lang="en-US" sz="1500" dirty="0"/>
          </a:p>
        </p:txBody>
      </p:sp>
      <p:sp>
        <p:nvSpPr>
          <p:cNvPr id="16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13, 43 · Persichini, Crit Care Med 2012 · ESICM 2025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 · PERFU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 · PERFUSÃO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Pressão arterial não garante perfusão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Sinais de hipoperfusão"/>
          <p:cNvSpPr txBox="1"/>
          <p:nvPr/>
        </p:nvSpPr>
        <p:spPr>
          <a:xfrm>
            <a:off x="10731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de hipoperfusão</a:t>
            </a:r>
            <a:endParaRPr lang="en-US" sz="1700" dirty="0"/>
          </a:p>
        </p:txBody>
      </p:sp>
      <p:sp>
        <p:nvSpPr>
          <p:cNvPr id="6" name="Enchimento capilar lento, livedo, extrem"/>
          <p:cNvSpPr txBox="1"/>
          <p:nvPr/>
        </p:nvSpPr>
        <p:spPr>
          <a:xfrm>
            <a:off x="1073150" y="2512452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Enchimento capilar lento, livedo, extremidades frias</a:t>
            </a:r>
            <a:endParaRPr lang="en-US" sz="1350" dirty="0"/>
          </a:p>
        </p:txBody>
      </p:sp>
      <p:sp>
        <p:nvSpPr>
          <p:cNvPr id="7" name="Lactato alto ou sem queda; SvcO₂ baixa; "/>
          <p:cNvSpPr txBox="1"/>
          <p:nvPr/>
        </p:nvSpPr>
        <p:spPr>
          <a:xfrm>
            <a:off x="1073150" y="281596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Lactato alto ou sem queda; SvcO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baixa; gap venoarterial de CO</a:t>
            </a:r>
            <a:r>
              <a:rPr lang="pt-BR" altLang="en-US" sz="1350" baseline="-250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alto</a:t>
            </a:r>
            <a:endParaRPr lang="en-US" sz="1350" dirty="0"/>
          </a:p>
        </p:txBody>
      </p:sp>
      <p:sp>
        <p:nvSpPr>
          <p:cNvPr id="8" name="Oligúria e alteração da consciência"/>
          <p:cNvSpPr txBox="1"/>
          <p:nvPr/>
        </p:nvSpPr>
        <p:spPr>
          <a:xfrm>
            <a:off x="1073150" y="335948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Oligúria e alteração da consciência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6197600" y="1879501"/>
            <a:ext cx="5181600" cy="2233811"/>
          </a:xfrm>
          <a:prstGeom prst="roundRect">
            <a:avLst>
              <a:gd name="adj" fmla="val 3411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O débito responde a volume?"/>
          <p:cNvSpPr txBox="1"/>
          <p:nvPr/>
        </p:nvSpPr>
        <p:spPr>
          <a:xfrm>
            <a:off x="6457950" y="213585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débito responde a volume?</a:t>
            </a:r>
            <a:endParaRPr lang="en-US" sz="1700" dirty="0"/>
          </a:p>
        </p:txBody>
      </p:sp>
      <p:sp>
        <p:nvSpPr>
          <p:cNvPr id="11" name="VPP ou VVS em ventilação controlada, den"/>
          <p:cNvSpPr txBox="1"/>
          <p:nvPr/>
        </p:nvSpPr>
        <p:spPr>
          <a:xfrm>
            <a:off x="6457950" y="251245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VPP ou VVS em ventilação controlada, dentro dos limites do método</a:t>
            </a:r>
            <a:endParaRPr lang="en-US" sz="1350" dirty="0"/>
          </a:p>
        </p:txBody>
      </p:sp>
      <p:sp>
        <p:nvSpPr>
          <p:cNvPr id="12" name="Elevação passiva das pernas ou minidesaf"/>
          <p:cNvSpPr txBox="1"/>
          <p:nvPr/>
        </p:nvSpPr>
        <p:spPr>
          <a:xfrm>
            <a:off x="6457950" y="3055972"/>
            <a:ext cx="4679950" cy="48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Elevação passiva das pernas ou minidesafio hídrico, medindo o débito</a:t>
            </a:r>
            <a:endParaRPr lang="en-US" sz="1350" dirty="0"/>
          </a:p>
        </p:txBody>
      </p:sp>
      <p:sp>
        <p:nvSpPr>
          <p:cNvPr id="13" name="Eco: VTI na via de saída do VE; função d"/>
          <p:cNvSpPr txBox="1"/>
          <p:nvPr/>
        </p:nvSpPr>
        <p:spPr>
          <a:xfrm>
            <a:off x="6457950" y="3599493"/>
            <a:ext cx="4679950" cy="24001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marL="203200" indent="-203200">
              <a:lnSpc>
                <a:spcPts val="1890"/>
              </a:lnSpc>
              <a:buSzPct val="100000"/>
              <a:buChar char="•"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Eco: VTI na via de saída do VE; função de VE e VD</a:t>
            </a:r>
            <a:endParaRPr lang="en-US" sz="1350" dirty="0"/>
          </a:p>
        </p:txBody>
      </p:sp>
      <p:sp>
        <p:nvSpPr>
          <p:cNvPr id="14" name="Cartão"/>
          <p:cNvSpPr/>
          <p:nvPr/>
        </p:nvSpPr>
        <p:spPr>
          <a:xfrm>
            <a:off x="812800" y="4418112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Atenção"/>
          <p:cNvSpPr txBox="1"/>
          <p:nvPr/>
        </p:nvSpPr>
        <p:spPr>
          <a:xfrm>
            <a:off x="1073150" y="4598807"/>
            <a:ext cx="1476970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3200" dirty="0"/>
          </a:p>
        </p:txBody>
      </p:sp>
      <p:sp>
        <p:nvSpPr>
          <p:cNvPr id="16" name="PAM normal não exclui débito baixo. E dé"/>
          <p:cNvSpPr txBox="1"/>
          <p:nvPr/>
        </p:nvSpPr>
        <p:spPr>
          <a:xfrm>
            <a:off x="2937470" y="4763818"/>
            <a:ext cx="7671296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normal não exclui débito baixo. E débito que sobe com a droga não garante melhor desfecho.</a:t>
            </a:r>
            <a:endParaRPr lang="en-US" sz="1500" dirty="0"/>
          </a:p>
        </p:txBody>
      </p:sp>
      <p:sp>
        <p:nvSpPr>
          <p:cNvPr id="17" name="Cecconi, Intensive Care Med 2014 (ESICM)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Cecconi, Intensive Care Med 2014 (ESICM) · Monnet, Intensive Care Med 2025 (ESICM) · Tongyoo, Ann Med 2025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Pré-sináptico, SNC; pós-sináptico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↓liberação de noradrenalina; sedação; vasoconstrição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06556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860502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257973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por via não adrenérgica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tecolaminas: meia-vida de minutos, em "/>
          <p:cNvSpPr txBox="1"/>
          <p:nvPr/>
        </p:nvSpPr>
        <p:spPr>
          <a:xfrm>
            <a:off x="812800" y="5344753"/>
            <a:ext cx="105854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Catecolaminas: meia-vida de minutos, em geral infusão; fenilefrina e efedrina duram mais e permitem bolus. Uso prolongado: dessensibilização.</a:t>
            </a:r>
            <a:endParaRPr lang="en-US" sz="1300" dirty="0"/>
          </a:p>
        </p:txBody>
      </p:sp>
      <p:sp>
        <p:nvSpPr>
          <p:cNvPr id="9" name="Miller’s Anesthesia, 10ª ed. (2025), cap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(2025), cap. 16</a:t>
            </a:r>
            <a:endParaRPr lang="en-US" sz="1200" dirty="0"/>
          </a:p>
        </p:txBody>
      </p:sp>
      <p:pic>
        <p:nvPicPr>
          <p:cNvPr id="1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DC ↔ (↑/↓)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 (↑/↓)</a:t>
            </a:r>
            <a:endParaRPr lang="en-US" sz="1400" dirty="0"/>
          </a:p>
        </p:txBody>
      </p:sp>
      <p:sp>
        <p:nvSpPr>
          <p:cNvPr id="19" name="FC ↔/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RVS ↑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, β1 modesto: sobe a PAM pela 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potente, β1 modesto: sobe a PAM pela RVS e pelo retorno venoso; DC em geral mantido, podendo cair pela pós-carga; FC estável ou menor. 1ª linha no choque séptico.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4064000" y="3527723"/>
            <a:ext cx="7315200" cy="1546622"/>
          </a:xfrm>
          <a:prstGeom prst="roundRect">
            <a:avLst>
              <a:gd name="adj" fmla="val 492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4324350" y="3784079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; bolu"/>
          <p:cNvSpPr txBox="1"/>
          <p:nvPr/>
        </p:nvSpPr>
        <p:spPr>
          <a:xfrm>
            <a:off x="4324350" y="4132702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fixo; bolus de 5–10 mcg no centro cirúrgico. Pode começar em veia periférica calibrosa. Riscos: isquemia digital e esplâncnica, extravasamento.</a:t>
            </a:r>
            <a:endParaRPr lang="en-US" sz="1350" dirty="0"/>
          </a:p>
        </p:txBody>
      </p:sp>
      <p:sp>
        <p:nvSpPr>
          <p:cNvPr id="2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7315200" cy="1466255"/>
          </a:xfrm>
          <a:prstGeom prst="roundRect">
            <a:avLst>
              <a:gd name="adj" fmla="val 519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 baixa: predomina β (↑DC; a RVS pode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baixa: predomina β (↑DC; a RVS pode cair); dose alta: α1. Droga da anafilaxia; no choque séptico, 3ª droga, se a PAM seguir inadequada com NA e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4064000" y="3447355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4324350" y="3703711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 (em geral, predomíni"/>
          <p:cNvSpPr txBox="1"/>
          <p:nvPr/>
        </p:nvSpPr>
        <p:spPr>
          <a:xfrm>
            <a:off x="4324350" y="405233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 (em geral, predomínio β); no choque, dose maior, titulada pela PAM. Anafilaxia na anestesia: bolus de 10–20 mcg (grau 2) ou 50–100 mcg (grau 3); infusão após mais de 3 bolus; 0,5 mg IM sem acesso venoso. Riscos: taquiarritmia, hiperglicemia; lactato ↑ por β2.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BUTAMINA E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DOBUTAMINA E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 e 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butamina"/>
          <p:cNvSpPr txBox="1"/>
          <p:nvPr/>
        </p:nvSpPr>
        <p:spPr>
          <a:xfrm>
            <a:off x="10668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6" name="PAM ↔/↓ · DC ↑↑ · FC ↑ · RVS ↓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↔/↓ · DC ↑↑ · FC ↑ · RVS 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Inotrópico β1 com vasodilatação β2: ↑DC,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↑DC, ↓RVS, pode baixar a PAM. Indicação: baixo débito com hipoperfusão, 2,5–20 mcg/kg/min; associar vasopressor se a PAM cair; taquicardia e arritmia limitam a dose.</a:t>
            </a:r>
            <a:endParaRPr lang="en-US" sz="1350" dirty="0"/>
          </a:p>
        </p:txBody>
      </p:sp>
      <p:sp>
        <p:nvSpPr>
          <p:cNvPr id="20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1" name="Dopamina"/>
          <p:cNvSpPr txBox="1"/>
          <p:nvPr/>
        </p:nvSpPr>
        <p:spPr>
          <a:xfrm>
            <a:off x="64516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22" name="PAM ↑ · DC ↑ · FC ↑↑ · RVS ↔/↑"/>
          <p:cNvSpPr txBox="1"/>
          <p:nvPr/>
        </p:nvSpPr>
        <p:spPr>
          <a:xfrm>
            <a:off x="86293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 · RVS ↔/↑</a:t>
            </a:r>
            <a:endParaRPr lang="en-US" sz="1300" dirty="0"/>
          </a:p>
        </p:txBody>
      </p:sp>
      <p:sp>
        <p:nvSpPr>
          <p:cNvPr id="23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4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5" name="Cartão"/>
          <p:cNvSpPr/>
          <p:nvPr/>
        </p:nvSpPr>
        <p:spPr>
          <a:xfrm>
            <a:off x="6858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6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7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8" name="Cartão"/>
          <p:cNvSpPr/>
          <p:nvPr/>
        </p:nvSpPr>
        <p:spPr>
          <a:xfrm>
            <a:off x="93218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9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0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1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2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3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Efeito dose-dependente e pouco previsíve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pouco previsível (D1 → β1 → α1); mais arritmia que a noradrenalina; a SSC 2026 recomenda contra o uso como 1ª linha. Uso residual.</a:t>
            </a:r>
            <a:endParaRPr lang="en-US" sz="1350" dirty="0"/>
          </a:p>
        </p:txBody>
      </p:sp>
      <p:sp>
        <p:nvSpPr>
          <p:cNvPr id="37" name="SSC 2026 · Miller’s Anesthesia, 10ª ed.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Miller’s Anesthesia, 10ª ed. (2025), cap. 16, 79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23036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depend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depender do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426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604659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394298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26802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59306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501775"/>
          </a:xfrm>
          <a:prstGeom prst="roundRect">
            <a:avLst>
              <a:gd name="adj" fmla="val 5074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Disfunção ventricular com baixo débito q"/>
          <p:cNvSpPr txBox="1"/>
          <p:nvPr/>
        </p:nvSpPr>
        <p:spPr>
          <a:xfrm>
            <a:off x="4324350" y="2484480"/>
            <a:ext cx="68135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ventricular com baixo débito que exige inotrópico: IC descompensada, saída difícil de CEC, falência de VD com hipertensão pulmonar, ponte para assistência ou transplante.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482876"/>
            <a:ext cx="73152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739232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 (muitas ve"/>
          <p:cNvSpPr txBox="1"/>
          <p:nvPr/>
        </p:nvSpPr>
        <p:spPr>
          <a:xfrm>
            <a:off x="4324350" y="4087855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 (muitas vezes omitido); manutenção de 0,375–0,75 mcg/kg/min. Eliminação renal: reduzir na insuficiência renal. Riscos: hipotensão (associar NA) e arritmias.</a:t>
            </a:r>
            <a:endParaRPr lang="en-US" sz="1350" dirty="0"/>
          </a:p>
        </p:txBody>
      </p:sp>
      <p:sp>
        <p:nvSpPr>
          <p:cNvPr id="21" name="Cuffe, JAMA 2002 (OPTIME-CHF) · bula da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Cuffe, JAMA 2002 (OPTIME-CHF) · bula da milrinona · Miller’s Anesthesia, 10ª ed. (2025), cap. 16, 50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 OU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 OU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 ou dobutamina: quando escolher</a:t>
            </a:r>
            <a:endParaRPr lang="en-US" sz="3200" dirty="0"/>
          </a:p>
        </p:txBody>
      </p:sp>
      <p:sp>
        <p:nvSpPr>
          <p:cNvPr id="4" name="Antes da escolha: há disfunção ventricul"/>
          <p:cNvSpPr txBox="1"/>
          <p:nvPr/>
        </p:nvSpPr>
        <p:spPr>
          <a:xfrm>
            <a:off x="812800" y="1763943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escolha:</a:t>
            </a:r>
            <a:r>
              <a:rPr lang="pt-BR" alt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há disfunção ventricular com baixo débito que exige inotrópico, com volume e PAM já otimizados?</a:t>
            </a:r>
            <a:endParaRPr lang="en-US" sz="14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29941"/>
          <a:ext cx="10566400" cy="914400"/>
        </p:xfrm>
        <a:graphic>
          <a:graphicData uri="http://schemas.openxmlformats.org/drawingml/2006/table">
            <a:tbl>
              <a:tblPr/>
              <a:tblGrid>
                <a:gridCol w="2324596"/>
                <a:gridCol w="3803848"/>
                <a:gridCol w="4437955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esperado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Meia-vida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 min: início e fim rápidos, fácil de titular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Cerca de 2,4 h na IC; maior na insuficiência renal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VD e circulação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modesto na RVP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↓RVP e ↓POAP: útil no VD com hipertensão pulmonar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e PAM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taquicardia; vasodilatação discreta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Tende a mais vasodilatação e hipotensão (associar NA)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betabloqueador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Resposta atenuada; pode exigir dose maior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 após o receptor β; sem vantagem no DOREMI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rtão"/>
          <p:cNvSpPr/>
          <p:nvPr/>
        </p:nvSpPr>
        <p:spPr>
          <a:xfrm>
            <a:off x="8128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7" name="Considere milrinona"/>
          <p:cNvSpPr txBox="1"/>
          <p:nvPr/>
        </p:nvSpPr>
        <p:spPr>
          <a:xfrm>
            <a:off x="10223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milrinona</a:t>
            </a:r>
            <a:endParaRPr lang="en-US" sz="1500" dirty="0"/>
          </a:p>
        </p:txBody>
      </p:sp>
      <p:sp>
        <p:nvSpPr>
          <p:cNvPr id="8" name="VD com hipertensão pulmonar, inclusive n"/>
          <p:cNvSpPr txBox="1"/>
          <p:nvPr/>
        </p:nvSpPr>
        <p:spPr>
          <a:xfrm>
            <a:off x="10223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VD com hipertensão pulmonar, inclusive na saída de CEC; taquicardia ou betabloqueio limitando a dobutamina.</a:t>
            </a:r>
            <a:endParaRPr lang="en-US" sz="1300" dirty="0"/>
          </a:p>
        </p:txBody>
      </p:sp>
      <p:sp>
        <p:nvSpPr>
          <p:cNvPr id="9" name="Cartão"/>
          <p:cNvSpPr/>
          <p:nvPr/>
        </p:nvSpPr>
        <p:spPr>
          <a:xfrm>
            <a:off x="6197600" y="4287143"/>
            <a:ext cx="51816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Considere dobutamina"/>
          <p:cNvSpPr txBox="1"/>
          <p:nvPr/>
        </p:nvSpPr>
        <p:spPr>
          <a:xfrm>
            <a:off x="6407150" y="4442369"/>
            <a:ext cx="47815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 dobutamina</a:t>
            </a:r>
            <a:endParaRPr lang="en-US" sz="1500" dirty="0"/>
          </a:p>
        </p:txBody>
      </p:sp>
      <p:sp>
        <p:nvSpPr>
          <p:cNvPr id="11" name="Hipotensão associada; insuficiência rena"/>
          <p:cNvSpPr txBox="1"/>
          <p:nvPr/>
        </p:nvSpPr>
        <p:spPr>
          <a:xfrm>
            <a:off x="6407150" y="4712333"/>
            <a:ext cx="47815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 associada; insuficiência renal; necessidade de titulação rápida; disfunção miocárdica da sepse (SSC 2026).</a:t>
            </a:r>
            <a:endParaRPr lang="en-US" sz="1300" dirty="0"/>
          </a:p>
        </p:txBody>
      </p:sp>
      <p:sp>
        <p:nvSpPr>
          <p:cNvPr id="12" name="Mathew, N Engl J Med 2021 (DOREMI) · Di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Di Santo, Crit Care 2021 (DOREMI, betabloqueador) · bula da milrinona · SSC 2026</a:t>
            </a:r>
            <a:endParaRPr lang="en-US" sz="1200" dirty="0"/>
          </a:p>
        </p:txBody>
      </p:sp>
      <p:pic>
        <p:nvPicPr>
          <p:cNvPr id="13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ALÊNCIA DE VD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FALÊNCIA DE VD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Falência de VD: o que fazer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1"/>
          <p:cNvSpPr txBox="1"/>
          <p:nvPr/>
        </p:nvSpPr>
        <p:spPr>
          <a:xfrm>
            <a:off x="1022350" y="2001141"/>
            <a:ext cx="139105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Pressão de perfusão"/>
          <p:cNvSpPr txBox="1"/>
          <p:nvPr/>
        </p:nvSpPr>
        <p:spPr>
          <a:xfrm>
            <a:off x="1269405" y="1983927"/>
            <a:ext cx="4572595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Pressão de perfusão</a:t>
            </a:r>
            <a:endParaRPr lang="en-US" sz="1500" dirty="0"/>
          </a:p>
        </p:txBody>
      </p:sp>
      <p:sp>
        <p:nvSpPr>
          <p:cNvPr id="7" name="Noradrenalina para manter a PAM e a perf"/>
          <p:cNvSpPr txBox="1"/>
          <p:nvPr/>
        </p:nvSpPr>
        <p:spPr>
          <a:xfrm>
            <a:off x="1269405" y="2241689"/>
            <a:ext cx="4572595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 para manter a PAM e a perfusão coronariana do VD; vasopressina se houver vasoplegia.</a:t>
            </a:r>
            <a:endParaRPr lang="en-US" sz="1250" dirty="0"/>
          </a:p>
        </p:txBody>
      </p:sp>
      <p:sp>
        <p:nvSpPr>
          <p:cNvPr id="8" name="Cartão"/>
          <p:cNvSpPr/>
          <p:nvPr/>
        </p:nvSpPr>
        <p:spPr>
          <a:xfrm>
            <a:off x="6159500" y="18287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2"/>
          <p:cNvSpPr txBox="1"/>
          <p:nvPr/>
        </p:nvSpPr>
        <p:spPr>
          <a:xfrm>
            <a:off x="6369050" y="2001141"/>
            <a:ext cx="175121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Resistência pulmonar"/>
          <p:cNvSpPr txBox="1"/>
          <p:nvPr/>
        </p:nvSpPr>
        <p:spPr>
          <a:xfrm>
            <a:off x="6652121" y="1983927"/>
            <a:ext cx="4536579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Resistência pulmonar</a:t>
            </a:r>
            <a:endParaRPr lang="en-US" sz="1500" dirty="0"/>
          </a:p>
        </p:txBody>
      </p:sp>
      <p:sp>
        <p:nvSpPr>
          <p:cNvPr id="11" name="Corrigir hipóxia, hipercapnia e acidose;"/>
          <p:cNvSpPr txBox="1"/>
          <p:nvPr/>
        </p:nvSpPr>
        <p:spPr>
          <a:xfrm>
            <a:off x="6652121" y="2241689"/>
            <a:ext cx="4536579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Corrigir hipóxia, hipercapnia e acidose; vasodilatador pulmonar inalado.</a:t>
            </a:r>
            <a:endParaRPr lang="en-US" sz="1250" dirty="0"/>
          </a:p>
        </p:txBody>
      </p:sp>
      <p:sp>
        <p:nvSpPr>
          <p:cNvPr id="12" name="Cartão"/>
          <p:cNvSpPr/>
          <p:nvPr/>
        </p:nvSpPr>
        <p:spPr>
          <a:xfrm>
            <a:off x="8128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3"/>
          <p:cNvSpPr txBox="1"/>
          <p:nvPr/>
        </p:nvSpPr>
        <p:spPr>
          <a:xfrm>
            <a:off x="1022350" y="3156841"/>
            <a:ext cx="173236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Contratilidade"/>
          <p:cNvSpPr txBox="1"/>
          <p:nvPr/>
        </p:nvSpPr>
        <p:spPr>
          <a:xfrm>
            <a:off x="1303536" y="3139627"/>
            <a:ext cx="4538464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Contratilidade</a:t>
            </a:r>
            <a:endParaRPr lang="en-US" sz="1500" dirty="0"/>
          </a:p>
        </p:txBody>
      </p:sp>
      <p:sp>
        <p:nvSpPr>
          <p:cNvPr id="15" name="Milrinona (também ↓RVP) ou dobutamina; a"/>
          <p:cNvSpPr txBox="1"/>
          <p:nvPr/>
        </p:nvSpPr>
        <p:spPr>
          <a:xfrm>
            <a:off x="1303536" y="3397389"/>
            <a:ext cx="4538464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Milrinona (também ↓RVP) ou dobutamina; adrenalina se o choque for grave.</a:t>
            </a:r>
            <a:endParaRPr lang="en-US" sz="1250" dirty="0"/>
          </a:p>
        </p:txBody>
      </p:sp>
      <p:sp>
        <p:nvSpPr>
          <p:cNvPr id="16" name="Cartão"/>
          <p:cNvSpPr/>
          <p:nvPr/>
        </p:nvSpPr>
        <p:spPr>
          <a:xfrm>
            <a:off x="6159500" y="2984401"/>
            <a:ext cx="5219700" cy="1028700"/>
          </a:xfrm>
          <a:prstGeom prst="roundRect">
            <a:avLst>
              <a:gd name="adj" fmla="val 74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4"/>
          <p:cNvSpPr txBox="1"/>
          <p:nvPr/>
        </p:nvSpPr>
        <p:spPr>
          <a:xfrm>
            <a:off x="6369050" y="3156841"/>
            <a:ext cx="176907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dirty="0">
                <a:solidFill>
                  <a:srgbClr val="B958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Volume e ritmo"/>
          <p:cNvSpPr txBox="1"/>
          <p:nvPr/>
        </p:nvSpPr>
        <p:spPr>
          <a:xfrm>
            <a:off x="6653907" y="3139627"/>
            <a:ext cx="4265216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e ritmo</a:t>
            </a:r>
            <a:endParaRPr lang="en-US" sz="1500" dirty="0"/>
          </a:p>
        </p:txBody>
      </p:sp>
      <p:sp>
        <p:nvSpPr>
          <p:cNvPr id="19" name="Evitar sobrecarga de volume; manter ritm"/>
          <p:cNvSpPr txBox="1"/>
          <p:nvPr/>
        </p:nvSpPr>
        <p:spPr>
          <a:xfrm>
            <a:off x="6653907" y="3397389"/>
            <a:ext cx="4265216" cy="2222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750"/>
              </a:lnSpc>
              <a:buNone/>
            </a:pPr>
            <a:r>
              <a:rPr lang="pt-BR" altLang="en-US" sz="12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sobrecarga de volume; manter ritmo sinusal e sincronia AV.</a:t>
            </a:r>
            <a:endParaRPr lang="en-US" sz="1250" dirty="0"/>
          </a:p>
        </p:txBody>
      </p:sp>
      <p:sp>
        <p:nvSpPr>
          <p:cNvPr id="20" name="Cartão"/>
          <p:cNvSpPr/>
          <p:nvPr/>
        </p:nvSpPr>
        <p:spPr>
          <a:xfrm>
            <a:off x="812800" y="4267101"/>
            <a:ext cx="10566400" cy="853380"/>
          </a:xfrm>
          <a:prstGeom prst="roundRect">
            <a:avLst>
              <a:gd name="adj" fmla="val 8929"/>
            </a:avLst>
          </a:prstGeom>
          <a:solidFill>
            <a:srgbClr val="1B2A3A"/>
          </a:solidFill>
          <a:ln/>
        </p:spPr>
      </p:sp>
      <p:sp>
        <p:nvSpPr>
          <p:cNvPr id="21" name="Atenção"/>
          <p:cNvSpPr txBox="1"/>
          <p:nvPr/>
        </p:nvSpPr>
        <p:spPr>
          <a:xfrm>
            <a:off x="1066800" y="4419653"/>
            <a:ext cx="1294805" cy="4977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20"/>
              </a:lnSpc>
              <a:buNone/>
            </a:pPr>
            <a:r>
              <a:rPr lang="pt-BR" altLang="en-US" sz="28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</a:t>
            </a:r>
            <a:endParaRPr lang="en-US" sz="2800" dirty="0"/>
          </a:p>
        </p:txBody>
      </p:sp>
      <p:sp>
        <p:nvSpPr>
          <p:cNvPr id="22" name="A milrinona pode baixar a PAM: associar "/>
          <p:cNvSpPr txBox="1"/>
          <p:nvPr/>
        </p:nvSpPr>
        <p:spPr>
          <a:xfrm>
            <a:off x="2748955" y="4430943"/>
            <a:ext cx="8395295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milrinona pode baixar a PAM: associar noradrenalina. Com débito preservado e RVS baixa, pensar em vasoplegia: a droga é o vasopressor.</a:t>
            </a:r>
            <a:endParaRPr lang="en-US" sz="1400" dirty="0"/>
          </a:p>
        </p:txBody>
      </p:sp>
      <p:sp>
        <p:nvSpPr>
          <p:cNvPr id="23" name="Konstam, Circulation 2018 (AHA) · Miller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Konstam, Circulation 2018 (AHA) · Miller’s Anesthesia, 10ª ed. (2025), cap. 13, 50</a:t>
            </a:r>
            <a:endParaRPr lang="en-US" sz="1200" dirty="0"/>
          </a:p>
        </p:txBody>
      </p:sp>
      <p:pic>
        <p:nvPicPr>
          <p:cNvPr id="2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PAM ↑ · DC ↔/↓ · FC ↓ · RVS ↑↑"/>
          <p:cNvSpPr txBox="1"/>
          <p:nvPr/>
        </p:nvSpPr>
        <p:spPr>
          <a:xfrm>
            <a:off x="3244552" y="2069740"/>
            <a:ext cx="251489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↔/↓ · FC ↓ · RVS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bolus de 50–100 mcg;"/>
          <p:cNvSpPr txBox="1"/>
          <p:nvPr/>
        </p:nvSpPr>
        <p:spPr>
          <a:xfrm>
            <a:off x="10731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bolus de 50–100 mcg; bradicardia reflexa, que pode reduzir o DC. Útil quando a taquicardia é indesejável.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DC ↑ · FC ↑ · RVS ↔/↑"/>
          <p:cNvSpPr txBox="1"/>
          <p:nvPr/>
        </p:nvSpPr>
        <p:spPr>
          <a:xfrm>
            <a:off x="8778875" y="2069740"/>
            <a:ext cx="2365375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 · RVS ↔/↑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164729"/>
          </a:xfrm>
          <a:prstGeom prst="roundRect">
            <a:avLst>
              <a:gd name="adj" fmla="val 654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, direta e indireta (libera no"/>
          <p:cNvSpPr txBox="1"/>
          <p:nvPr/>
        </p:nvSpPr>
        <p:spPr>
          <a:xfrm>
            <a:off x="6457950" y="3355621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mista, direta e indireta (libera noradrenalina). Bolus de 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mg</a:t>
            </a: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hipotensão com bradicardia. Taquifilaxia;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(2025), cap. 16, 58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020219"/>
          </a:xfrm>
          <a:prstGeom prst="roundRect">
            <a:avLst>
              <a:gd name="adj" fmla="val 2523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Em geral, dose fixa (até 0,04 U/min); co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geral, dose fixa (até 0,04 U/min); costuma manter efeito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em uso de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às catecolaminas; 20"/>
          <p:cNvSpPr txBox="1"/>
          <p:nvPr/>
        </p:nvSpPr>
        <p:spPr>
          <a:xfrm>
            <a:off x="5289550" y="2304690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às catecolaminas; 200 mg/dia no choque séptico (SSC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2809081"/>
            <a:ext cx="6299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296430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poupa catecolamina; pouco "/>
          <p:cNvSpPr txBox="1"/>
          <p:nvPr/>
        </p:nvSpPr>
        <p:spPr>
          <a:xfrm>
            <a:off x="5289550" y="3234271"/>
            <a:ext cx="5899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poupa catecolamina; pouco disponível.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37386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38938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Inibe a via óxido nítrico–GMPc: resgate "/>
          <p:cNvSpPr txBox="1"/>
          <p:nvPr/>
        </p:nvSpPr>
        <p:spPr>
          <a:xfrm>
            <a:off x="5289550" y="41638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via óxido nítrico–GMPc: resgate na vasoplegia refratária (pós-CEC, reperfusão hepática).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iniciada cedo, mesmo em veia p"/>
          <p:cNvSpPr txBox="1"/>
          <p:nvPr/>
        </p:nvSpPr>
        <p:spPr>
          <a:xfrm>
            <a:off x="1016000" y="2658901"/>
            <a:ext cx="275084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iniciada cedo, mesmo em veia periférica.</a:t>
            </a:r>
            <a:endParaRPr lang="en-US" sz="1300" dirty="0"/>
          </a:p>
        </p:txBody>
      </p:sp>
      <p:sp>
        <p:nvSpPr>
          <p:cNvPr id="8" name="→"/>
          <p:cNvSpPr txBox="1"/>
          <p:nvPr/>
        </p:nvSpPr>
        <p:spPr>
          <a:xfrm>
            <a:off x="4077990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9" name="Cartão"/>
          <p:cNvSpPr/>
          <p:nvPr/>
        </p:nvSpPr>
        <p:spPr>
          <a:xfrm>
            <a:off x="4526955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30155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30155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30155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→"/>
          <p:cNvSpPr txBox="1"/>
          <p:nvPr/>
        </p:nvSpPr>
        <p:spPr>
          <a:xfrm>
            <a:off x="7792145" y="2445319"/>
            <a:ext cx="341015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pt-BR" altLang="en-US" sz="28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800" dirty="0"/>
          </a:p>
        </p:txBody>
      </p:sp>
      <p:sp>
        <p:nvSpPr>
          <p:cNvPr id="14" name="Cartão"/>
          <p:cNvSpPr/>
          <p:nvPr/>
        </p:nvSpPr>
        <p:spPr>
          <a:xfrm>
            <a:off x="8241109" y="1879501"/>
            <a:ext cx="3138190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444309" y="2070737"/>
            <a:ext cx="275084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444309" y="2342592"/>
            <a:ext cx="2750840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444309" y="2658901"/>
            <a:ext cx="275084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 inicial de 65 mmHg (60–65 a partir d"/>
          <p:cNvSpPr txBox="1"/>
          <p:nvPr/>
        </p:nvSpPr>
        <p:spPr>
          <a:xfrm>
            <a:off x="10731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inicial de 65 mmHg (60–65 a partir dos 65 anos). Antecipar a vasopressina por protocolo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378446"/>
          </a:xfrm>
          <a:prstGeom prst="roundRect">
            <a:avLst>
              <a:gd name="adj" fmla="val 552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497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+ NA, ou adrenalina. Hidrocortisona sugerida.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sp>
        <p:nvSpPr>
          <p:cNvPr id="4" name="Hipotensão"/>
          <p:cNvSpPr/>
          <p:nvPr/>
        </p:nvSpPr>
        <p:spPr>
          <a:xfrm>
            <a:off x="812800" y="1835051"/>
            <a:ext cx="1005979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Hipotensão</a:t>
            </a:r>
            <a:endParaRPr lang="en-US" sz="1200" dirty="0"/>
          </a:p>
        </p:txBody>
      </p:sp>
      <p:sp>
        <p:nvSpPr>
          <p:cNvPr id="5" name="→"/>
          <p:cNvSpPr txBox="1"/>
          <p:nvPr/>
        </p:nvSpPr>
        <p:spPr>
          <a:xfrm>
            <a:off x="1920379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6" name="Afastar plano profundo, hipovolemia, com"/>
          <p:cNvSpPr/>
          <p:nvPr/>
        </p:nvSpPr>
        <p:spPr>
          <a:xfrm>
            <a:off x="2274987" y="1828701"/>
            <a:ext cx="5829399" cy="403820"/>
          </a:xfrm>
          <a:prstGeom prst="roundRect">
            <a:avLst>
              <a:gd name="adj" fmla="val 18870"/>
            </a:avLst>
          </a:prstGeom>
          <a:solidFill>
            <a:srgbClr val="FFFDF8"/>
          </a:solidFill>
          <a:ln w="6350">
            <a:solidFill>
              <a:srgbClr val="E2DDD2"/>
            </a:solidFill>
          </a:ln>
        </p:spPr>
        <p:txBody>
          <a:bodyPr wrap="none" lIns="146050" tIns="95250" rIns="146050" bIns="9525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Afastar plano profundo, hipovolemia, compressão aortocava, pneumotórax e anafilaxia</a:t>
            </a:r>
            <a:endParaRPr lang="en-US" sz="1200" dirty="0"/>
          </a:p>
        </p:txBody>
      </p:sp>
      <p:sp>
        <p:nvSpPr>
          <p:cNvPr id="7" name="→"/>
          <p:cNvSpPr txBox="1"/>
          <p:nvPr/>
        </p:nvSpPr>
        <p:spPr>
          <a:xfrm>
            <a:off x="8205986" y="1902506"/>
            <a:ext cx="272058" cy="279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00"/>
              </a:lnSpc>
              <a:buNone/>
            </a:pPr>
            <a:r>
              <a:rPr lang="pt-BR" altLang="en-US" sz="2200" b="1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8" name="Qual mecanismo?"/>
          <p:cNvSpPr/>
          <p:nvPr/>
        </p:nvSpPr>
        <p:spPr>
          <a:xfrm>
            <a:off x="8560594" y="1835051"/>
            <a:ext cx="1409105" cy="391120"/>
          </a:xfrm>
          <a:prstGeom prst="roundRect">
            <a:avLst>
              <a:gd name="adj" fmla="val 19483"/>
            </a:avLst>
          </a:prstGeom>
          <a:solidFill>
            <a:srgbClr val="1B2A3A"/>
          </a:solidFill>
          <a:ln/>
        </p:spPr>
        <p:txBody>
          <a:bodyPr wrap="none" lIns="139700" tIns="88900" rIns="139700" bIns="8890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mecanismo?</a:t>
            </a:r>
            <a:endParaRPr lang="en-US" sz="1200" dirty="0"/>
          </a:p>
        </p:txBody>
      </p:sp>
      <p:sp>
        <p:nvSpPr>
          <p:cNvPr id="9" name="Cartão"/>
          <p:cNvSpPr/>
          <p:nvPr/>
        </p:nvSpPr>
        <p:spPr>
          <a:xfrm>
            <a:off x="81280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Tônus baixo, FC normal ou alta"/>
          <p:cNvSpPr/>
          <p:nvPr/>
        </p:nvSpPr>
        <p:spPr>
          <a:xfrm>
            <a:off x="81915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baixo, FC normal ou alta</a:t>
            </a:r>
            <a:endParaRPr lang="en-US" sz="1200" dirty="0"/>
          </a:p>
        </p:txBody>
      </p:sp>
      <p:sp>
        <p:nvSpPr>
          <p:cNvPr id="11" name="Fenilefrina 50–100 mcg ou NA 5–10 mcg; i"/>
          <p:cNvSpPr txBox="1"/>
          <p:nvPr/>
        </p:nvSpPr>
        <p:spPr>
          <a:xfrm>
            <a:off x="946150" y="3170165"/>
            <a:ext cx="1764010" cy="6941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 50–100 mcg ou NA 5–10 mcg; infusão se persistir</a:t>
            </a:r>
            <a:endParaRPr lang="en-US" sz="1350" dirty="0"/>
          </a:p>
        </p:txBody>
      </p:sp>
      <p:sp>
        <p:nvSpPr>
          <p:cNvPr id="12" name="Cartão"/>
          <p:cNvSpPr/>
          <p:nvPr/>
        </p:nvSpPr>
        <p:spPr>
          <a:xfrm>
            <a:off x="295146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Tônus baixo com bradicardia"/>
          <p:cNvSpPr/>
          <p:nvPr/>
        </p:nvSpPr>
        <p:spPr>
          <a:xfrm>
            <a:off x="295781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Tônus baixo com bradicardia</a:t>
            </a:r>
            <a:endParaRPr lang="en-US" sz="1200" dirty="0"/>
          </a:p>
        </p:txBody>
      </p:sp>
      <p:sp>
        <p:nvSpPr>
          <p:cNvPr id="14" name="Efedrina 5–10 mg"/>
          <p:cNvSpPr txBox="1"/>
          <p:nvPr/>
        </p:nvSpPr>
        <p:spPr>
          <a:xfrm>
            <a:off x="3084810" y="3170165"/>
            <a:ext cx="1764010" cy="2313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 5–10 mg</a:t>
            </a:r>
            <a:endParaRPr lang="en-US" sz="1350" dirty="0"/>
          </a:p>
        </p:txBody>
      </p:sp>
      <p:sp>
        <p:nvSpPr>
          <p:cNvPr id="15" name="Cartão"/>
          <p:cNvSpPr/>
          <p:nvPr/>
        </p:nvSpPr>
        <p:spPr>
          <a:xfrm>
            <a:off x="509012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Baixo débito com hipoperfusão"/>
          <p:cNvSpPr/>
          <p:nvPr/>
        </p:nvSpPr>
        <p:spPr>
          <a:xfrm>
            <a:off x="5096470" y="2492871"/>
            <a:ext cx="1998960" cy="573881"/>
          </a:xfrm>
          <a:prstGeom prst="roundRect">
            <a:avLst>
              <a:gd name="adj" fmla="val 13278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Baixo débito com hipoperfusão</a:t>
            </a:r>
            <a:endParaRPr lang="en-US" sz="1200" dirty="0"/>
          </a:p>
        </p:txBody>
      </p:sp>
      <p:sp>
        <p:nvSpPr>
          <p:cNvPr id="17" name="Dobutamina; milrinona no VD com hiperten"/>
          <p:cNvSpPr txBox="1"/>
          <p:nvPr/>
        </p:nvSpPr>
        <p:spPr>
          <a:xfrm>
            <a:off x="5223470" y="3170165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Dobutamina; milrinona no VD com hipertensão pulmonar; NA se a PAM cair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7228780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Vasoplegia refratária"/>
          <p:cNvSpPr/>
          <p:nvPr/>
        </p:nvSpPr>
        <p:spPr>
          <a:xfrm>
            <a:off x="7235130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 refratária</a:t>
            </a:r>
            <a:endParaRPr lang="en-US" sz="1200" dirty="0"/>
          </a:p>
        </p:txBody>
      </p:sp>
      <p:sp>
        <p:nvSpPr>
          <p:cNvPr id="20" name="Vasopressina; azul de metileno como resg"/>
          <p:cNvSpPr txBox="1"/>
          <p:nvPr/>
        </p:nvSpPr>
        <p:spPr>
          <a:xfrm>
            <a:off x="7362130" y="3167784"/>
            <a:ext cx="1764010" cy="925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Vasopressina; azul de metileno como resgate (pós-CEC, IECA/BRA, reperfusão hepática)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9367441" y="2486521"/>
            <a:ext cx="2011660" cy="1740694"/>
          </a:xfrm>
          <a:prstGeom prst="roundRect">
            <a:avLst>
              <a:gd name="adj" fmla="val 4378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Pré-carga baixa"/>
          <p:cNvSpPr/>
          <p:nvPr/>
        </p:nvSpPr>
        <p:spPr>
          <a:xfrm>
            <a:off x="9373791" y="2492871"/>
            <a:ext cx="1998960" cy="571500"/>
          </a:xfrm>
          <a:prstGeom prst="roundRect">
            <a:avLst>
              <a:gd name="adj" fmla="val 13333"/>
            </a:avLst>
          </a:prstGeom>
          <a:solidFill>
            <a:srgbClr val="1B2A3A"/>
          </a:solidFill>
          <a:ln/>
        </p:spPr>
        <p:txBody>
          <a:bodyPr wrap="square" lIns="127000" tIns="88900" rIns="127000" bIns="8890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 baixa</a:t>
            </a:r>
            <a:endParaRPr lang="en-US" sz="1200" dirty="0"/>
          </a:p>
        </p:txBody>
      </p:sp>
      <p:sp>
        <p:nvSpPr>
          <p:cNvPr id="23" name="Volume, se o débito responde"/>
          <p:cNvSpPr txBox="1"/>
          <p:nvPr/>
        </p:nvSpPr>
        <p:spPr>
          <a:xfrm>
            <a:off x="9500791" y="3167784"/>
            <a:ext cx="1764010" cy="4627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3"/>
              </a:lnSpc>
              <a:buNone/>
            </a:pPr>
            <a:r>
              <a:rPr lang="pt-BR" altLang="en-US" sz="135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se o débito responde</a:t>
            </a:r>
            <a:endParaRPr lang="en-US" sz="1350" dirty="0"/>
          </a:p>
        </p:txBody>
      </p:sp>
      <p:sp>
        <p:nvSpPr>
          <p:cNvPr id="24" name="Transplante hepático (UFRJ): em 19 pacie"/>
          <p:cNvSpPr txBox="1"/>
          <p:nvPr/>
        </p:nvSpPr>
        <p:spPr>
          <a:xfrm>
            <a:off x="812800" y="4468254"/>
            <a:ext cx="105854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Transplante hepático (UFRJ):</a:t>
            </a: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 19 pacientes selecionados, a função do VD ao ETE manteve-se preservada nas cinco fases avaliadas, inclusive após a reperfusão (Gouvêa et al., PLoS One 2022).</a:t>
            </a:r>
            <a:endParaRPr lang="en-US" sz="1300" dirty="0"/>
          </a:p>
        </p:txBody>
      </p:sp>
      <p:sp>
        <p:nvSpPr>
          <p:cNvPr id="25" name="Gouvêa, PLoS One 2022 · Hajjar, Anesthes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Gouvêa, PLoS One 2022 · Hajjar, Anesthesiology 2017 (VANCS) · Miller’s Anesthesia, 10ª ed. (2025), cap. 33, 56</a:t>
            </a:r>
            <a:endParaRPr lang="en-US" sz="1200" dirty="0"/>
          </a:p>
        </p:txBody>
      </p:sp>
      <p:pic>
        <p:nvPicPr>
          <p:cNvPr id="2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2918222"/>
          </a:xfrm>
          <a:prstGeom prst="roundRect">
            <a:avLst>
              <a:gd name="adj" fmla="val 2611"/>
            </a:avLst>
          </a:prstGeom>
          <a:solidFill>
            <a:srgbClr val="1B2A3A"/>
          </a:solidFill>
          <a:ln/>
        </p:spPr>
      </p:sp>
      <p:sp>
        <p:nvSpPr>
          <p:cNvPr id="5" name="RISCO ASSOCIAD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 ASSOCIADO</a:t>
            </a:r>
            <a:endParaRPr lang="en-US" sz="1200" dirty="0"/>
          </a:p>
        </p:txBody>
      </p:sp>
      <p:sp>
        <p:nvSpPr>
          <p:cNvPr id="6" name="PAM &lt;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PAM &lt;65</a:t>
            </a:r>
            <a:endParaRPr lang="en-US" sz="4400" dirty="0"/>
          </a:p>
        </p:txBody>
      </p:sp>
      <p:sp>
        <p:nvSpPr>
          <p:cNvPr id="7" name="Mesmo períodos curtos abaixo de 65 mmHg "/>
          <p:cNvSpPr txBox="1"/>
          <p:nvPr/>
        </p:nvSpPr>
        <p:spPr>
          <a:xfrm>
            <a:off x="1066800" y="3148651"/>
            <a:ext cx="30670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períodos curtos abaixo de 65 mmHg se associam a lesão renal aguda, lesão miocárdica e delirium (estudos observacionais).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2024); com pressão venosa ou compartimental alta, alvo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pacientes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pacientes selecionados</a:t>
            </a:r>
            <a:endParaRPr lang="en-US" sz="1500" dirty="0"/>
          </a:p>
        </p:txBody>
      </p:sp>
      <p:sp>
        <p:nvSpPr>
          <p:cNvPr id="13" name="PAM ≥80 (vs. ≥65) reduziu morte ou disfu"/>
          <p:cNvSpPr txBox="1"/>
          <p:nvPr/>
        </p:nvSpPr>
        <p:spPr>
          <a:xfrm>
            <a:off x="4781550" y="3465351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(vs. ≥65) reduziu morte ou disfunção orgânica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3969742"/>
            <a:ext cx="6807200" cy="827980"/>
          </a:xfrm>
          <a:prstGeom prst="roundRect">
            <a:avLst>
              <a:gd name="adj" fmla="val 920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12496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394932"/>
            <a:ext cx="64071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orienta volume, vasopressor ou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Cecconi,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Conduta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29731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272147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hipoperfusão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adrenalina; milrinona sobretudo no VD com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14563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56979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vasodilatadora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9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399395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4418112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mínima de 60–65 mmHg;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SC 2026 · ESICM 2025 · Saugel, Br J An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1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2251802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2792781"/>
            <a:ext cx="650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Obrigado</a:t>
            </a:r>
            <a:endParaRPr lang="en-US" sz="5600" dirty="0"/>
          </a:p>
        </p:txBody>
      </p:sp>
      <p:sp>
        <p:nvSpPr>
          <p:cNvPr id="4" name="As referências completas da aula estão n"/>
          <p:cNvSpPr txBox="1"/>
          <p:nvPr/>
        </p:nvSpPr>
        <p:spPr>
          <a:xfrm>
            <a:off x="812800" y="3751375"/>
            <a:ext cx="5734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referências completas da aula estão no QR code.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4329343"/>
            <a:ext cx="63690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Gouvêa · UFRJ</a:t>
            </a:r>
            <a:endParaRPr lang="en-US" sz="1400" dirty="0"/>
          </a:p>
        </p:txBody>
      </p:sp>
      <p:sp>
        <p:nvSpPr>
          <p:cNvPr id="6" name="Cartão"/>
          <p:cNvSpPr/>
          <p:nvPr/>
        </p:nvSpPr>
        <p:spPr>
          <a:xfrm>
            <a:off x="8280400" y="1687810"/>
            <a:ext cx="3098800" cy="3098800"/>
          </a:xfrm>
          <a:prstGeom prst="roundRect">
            <a:avLst>
              <a:gd name="adj" fmla="val 3279"/>
            </a:avLst>
          </a:prstGeom>
          <a:solidFill>
            <a:srgbClr val="F5F3EE"/>
          </a:solidFill>
          <a:ln/>
        </p:spPr>
      </p:sp>
      <p:pic>
        <p:nvPicPr>
          <p:cNvPr id="7" name="QR code com o link da lista de referências" descr="QR code com o link da lista de referênci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2800" y="1840210"/>
            <a:ext cx="2794000" cy="2794000"/>
          </a:xfrm>
          <a:prstGeom prst="rect">
            <a:avLst/>
          </a:prstGeom>
        </p:spPr>
      </p:pic>
      <p:sp>
        <p:nvSpPr>
          <p:cNvPr id="8" name="REFERÊNCIAS"/>
          <p:cNvSpPr txBox="1"/>
          <p:nvPr/>
        </p:nvSpPr>
        <p:spPr>
          <a:xfrm>
            <a:off x="9299178" y="4926050"/>
            <a:ext cx="108029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300" dirty="0"/>
          </a:p>
        </p:txBody>
      </p:sp>
      <p:pic>
        <p:nvPicPr>
          <p:cNvPr id="9" name="Símbolo da UFRJ" descr="Símbolo da UFRJ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Georgia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2026-10-19T22:33:33Z</dcterms:created>
  <dcterms:modified xsi:type="dcterms:W3CDTF">2026-10-19T22:33:33Z</dcterms:modified>
</cp:coreProperties>
</file>