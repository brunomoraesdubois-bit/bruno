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c030a0f1-19f3-2ea8-ea86-33af2de83233}">
          <p14:sldIdLst>
            <p14:sldId id="256"/>
            <p14:sldId id="257"/>
          </p14:sldIdLst>
        </p14:section>
        <p14:section name="Fisiologia: pressão, débito e perfusão; farmacologia dos receptores" id="{7b51f952-d5dd-8908-8428-b133e5d96d08}">
          <p14:sldIdLst>
            <p14:sldId id="258"/>
            <p14:sldId id="259"/>
            <p14:sldId id="260"/>
            <p14:sldId id="261"/>
          </p14:sldIdLst>
        </p14:section>
        <p14:section name="Drogas: noradrenalina, adrenalina, dopamina, dobutamina, milrinona (mecanismo, escolha frente à dobutamina e falência de VD), fenilefrina, efedrina e vasopressina" id="{66ded618-d145-80dc-4e67-737728bc433d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hoque séptico: a sequência da SSC 2026" id="{b00dacfe-99b3-3f47-3f55-45fa747b6fbd}">
          <p14:sldIdLst>
            <p14:sldId id="271"/>
          </p14:sldIdLst>
        </p14:section>
        <p14:section name="Perioperatório: escolha da droga e alvo de pressão" id="{d789298d-c3eb-a060-2108-a99f2219925b}">
          <p14:sldIdLst>
            <p14:sldId id="272"/>
            <p14:sldId id="273"/>
          </p14:sldIdLst>
        </p14:section>
        <p14:section name="Mensagens finais" id="{cec85065-ec78-ae55-b45e-0f17c3aa0c1e}">
          <p14:sldIdLst>
            <p14:sldId id="274"/>
          </p14:sldIdLst>
        </p14:section>
        <p14:section name="Slides de reserva para perguntas" id="{0d9fe707-6d4c-e376-aa3f-fe1ea81655c5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vasoativas. A aula nasceu de uma discussão em sala sobre o uso de milrinona: quando ela tem indicação, e quando a dobutamina ou um vasopressor seriam a escolha. Vou partir da fisiologia, passar pelas drogas e terminar no choque séptico e no centro cirúrgico.</a:t>
            </a:r>
            <a:endParaRPr lang="en-US" dirty="0"/>
          </a:p>
          <a:p>
            <a:r>
              <a:rPr lang="en-US" dirty="0"/>
              <a:t>TRANSIÇÃO: A pergunta que vai orientar a aula é: qual componente da pressão arterial está falhando?</a:t>
            </a:r>
            <a:endParaRPr lang="en-US" dirty="0"/>
          </a:p>
          <a:p>
            <a:r>
              <a:rPr lang="en-US" dirty="0"/>
              <a:t>TEMPO: 30 s (0:00 → 0:30). Total previsto: 17 min 35 s nos 19 slides principais; ensaiar em cerca de 17 minutos e meio, sem passar de 18.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 objetivo é fixar um raciocínio: diante da hipotensão, perguntar qual componente da PAM está falhando. Tônus vascular baixo pede vasopressor, bomba fraca pede inotrópico e pré-carga baixa pede volume. Depois vêm a fisiologia, os receptores, as drogas uma a uma e, no fim, a aplicação no choque séptico e no centro cirúrgico.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25 s (0:30 → 0:55)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depende do débito cardíaco e da resistência vascular, e a PVC pesa quando está alta. Na vasoplegia o problema é o tônus: sepse, anestesia geral, neuroeixo, anafilaxia, saída de CEC. Na falência de bomba o débito é baixo, em geral com resistência alta; na sepse, a disfunção miocárdica pode coexistir com vasoplegia. O α1 também contrai veias, recruta volume não estressado e aumenta o retorno venoso: Persichini e colaboradores mostraram, em pacientes com choque séptico, que reduzir a dose de noradrenalina diminui a pressão sistêmica média, o retorno venoso e o débito cardíaco. Para diferenciar, a ESICM 2025 recomenda eco como primeira imagem, parâmetros dinâmicos antes de mais volume e perfusão seriada pelo tempo de enchimento capilar.</a:t>
            </a:r>
            <a:endParaRPr lang="en-US" dirty="0"/>
          </a:p>
          <a:p>
            <a:r>
              <a:rPr lang="en-US" dirty="0"/>
              <a:t>TRANSIÇÃO: Mas PAM normal não basta: pressão não é perfusão.</a:t>
            </a:r>
            <a:endParaRPr lang="en-US" dirty="0"/>
          </a:p>
          <a:p>
            <a:r>
              <a:rPr lang="en-US" dirty="0"/>
              <a:t>TEMPO: 1 min (0:55 → 1:55)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o débito baixo. Por isso, a decisão de usar inotrópico depende de sinais de hipoperfusão e de uma estimativa do débito, e não apenas da pressão. Na clínica, enchimento capilar e temperatura das extremidades; no laboratório, lactato e saturação venosa central. Antes da droga, vale perguntar se o débito responde a volume, com parâmetros dinâmicos ou um teste de volume medindo o débito; o eco mostra o VTI e a função dos ventrículos. O inverso também vale: aumentar o débito com uma droga não é o mesmo que melhorar o desfecho. No OPTIME-CHF, 951 pacientes internados por insuficiência cardíaca descompensada, sem indicação clara de inotrópico, receberam milrinona ou placebo por 48 horas: não houve benefício, e a milrinona causou mais hipotensão sustentada, 10,7 contra 3,2%, e mais arritmia atrial.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1 min 5 s (1:55 → 3:00)</a:t>
            </a:r>
            <a:endParaRPr lang="en-US" dirty="0"/>
          </a:p>
          <a:p>
            <a:r>
              <a:rPr lang="en-US" dirty="0"/>
              <a:t>PONTO-CHAVE: Inotrópico se decide por hipoperfusão e débito, não só pela pressão.</a:t>
            </a:r>
            <a:endParaRPr lang="en-US" dirty="0"/>
          </a:p>
          <a:p>
            <a:r>
              <a:rPr lang="en-US" dirty="0"/>
              <a:t>SE PERGUNTAREM: em um ECR de 2025 (Tongyoo, Ann Med; 64 pacientes em choque séptico com hipoperfusão ou disfunção de VE), a milrinona aumentou o débito em 6 horas em relação ao placebo, mas a mortalidade em 28 dias foi igual,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β1 aumenta contratilidade e frequência; β2 dilata vasos e brônquios e eleva glicemia e lactato; D1 dilata os leitos renal e mesentérico. α2 está na tabela apenas para lembrar que clonidina e dexmedetomidina são simpatolíticos, e não vasopressores. V1 e PDE3 entram porque vasopressina e milrinona não dependem do adrenoceptor: a vasopressina age no receptor V1, e a milrinona inibe a enzima que degrada o AMPc, depois do receptor β. A dessensibilização com o uso prolongado ajuda a explicar a taquifilaxia e a lógica de associar uma droga de outra via.</a:t>
            </a:r>
            <a:endParaRPr lang="en-US" dirty="0"/>
          </a:p>
          <a:p>
            <a:r>
              <a:rPr lang="en-US" dirty="0"/>
              <a:t>TRANSIÇÃO: Antes das drogas, uma classificação rápida.</a:t>
            </a:r>
            <a:endParaRPr lang="en-US" dirty="0"/>
          </a:p>
          <a:p>
            <a:r>
              <a:rPr lang="en-US" dirty="0"/>
              <a:t>TEMPO: 45 s (3:00 → 3:45)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explica dois pontos práticos: parte do efeito da dopamina vem da conversão e da liberação de noradrenalina, e a síntese de adrenalina na medula adrenal depende de cortisol. A curta duração das catecolaminas facilita a titulação por infusão contínua; fenilefrina e efedrina, sem o anel catecol, duram mais e costumam ser usadas em bolus na hipotensão transitória, embora a fenilefrina também possa ser infundida.</a:t>
            </a:r>
            <a:endParaRPr lang="en-US" dirty="0"/>
          </a:p>
          <a:p>
            <a:r>
              <a:rPr lang="en-US" dirty="0"/>
              <a:t>TRANSIÇÃO: Começo pela droga de primeira linha.</a:t>
            </a:r>
            <a:endParaRPr lang="en-US" dirty="0"/>
          </a:p>
          <a:p>
            <a:r>
              <a:rPr lang="en-US" dirty="0"/>
              <a:t>TEMPO: 35 s (3:45 → 4:20)</a:t>
            </a:r>
            <a:endParaRPr lang="en-US" dirty="0"/>
          </a:p>
          <a:p>
            <a:r>
              <a:rPr lang="en-US" dirty="0"/>
              <a:t>PONTO-CHAVE: Catecolaminas: meia-vida curta, infusão titulável; fenilefrina e efedrina: bolus na hipotensão transitória.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séptico. É um α1 potente, com efeito β1 modesto: eleva a PAM pela resistência e pela venoconstrição, com débito mantido ou maior e frequência estável ou menor, por reflexo. A dose usual vai de 0,01 a 0,5 mcg/kg/min, sem teto fixo no choque refratário; no centro cirúrgico, bolus de 5 a 10 mcg. Pode ser iniciada em veia periférica calibrosa.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45 s (4:20 → 5:05)</a:t>
            </a:r>
            <a:endParaRPr lang="en-US" dirty="0"/>
          </a:p>
          <a:p>
            <a:r>
              <a:rPr lang="en-US" dirty="0"/>
              <a:t>PONTO-CHAVE: α1 potente com β1 modesto: sobe a PAM e preserva o débito.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 efeito depende da dose: em dose baixa predominam β1 e β2, com débito alto e resistência que pode cair; em dose alta prevalece o α1. É a droga da anafilaxia e, no choque séptico, entra como terceira droga quando a PAM segue inadequada com noradrenalina e vasopressina. Na anafilaxia em ambiente monitorizado, bolus EV diluídos e titulados (ANZCA/ANZAAG 2022); se forem necessários mais de três bolus, iniciar infusão; sem acesso venoso, ou fora desse ambiente, 0,5 mg IM. O lactato pode subir por efeito β2, mas isso não autoriza ignorar hipoperfusão.</a:t>
            </a:r>
            <a:endParaRPr lang="en-US" dirty="0"/>
          </a:p>
          <a:p>
            <a:r>
              <a:rPr lang="en-US" dirty="0"/>
              <a:t>TRANSIÇÃO: Passando à dopamina e à dobutamina, duas catecolaminas com aplicações muito diferentes.</a:t>
            </a:r>
            <a:endParaRPr lang="en-US" dirty="0"/>
          </a:p>
          <a:p>
            <a:r>
              <a:rPr lang="en-US" dirty="0"/>
              <a:t>TEMPO: 45 s (5:05 → 5:50)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Dopamina: o efeito muda com a dose, primeiro D1, depois β1 e, em doses altas, α1, mas a resposta varia muito entre pacientes. A dose “renal” não protege o rim: no ensaio da ANZICS, 328 pacientes críticos com disfunção renal inicial receberam dopamina em 2 mcg/kg/min ou placebo, sem diferença no pico de creatinina, na diálise ou na mortalidade. No SOAP II, 1.679 pacientes em choque receberam dopamina ou noradrenalina como primeira droga: mortalidade em 28 dias semelhante, 52,5 contra 48,5%, com o dobro de arritmias; por isso a SSC 2026 recomenda não usar a dopamina como primeira linha. Dobutamina: inotropismo β1 com queda discreta da resistência, indicada no baixo débito com hipoperfusão. Se a PAM cair, associar vasopressor para sustentar a pressão de perfusão.</a:t>
            </a:r>
            <a:endParaRPr lang="en-US" dirty="0"/>
          </a:p>
          <a:p>
            <a:r>
              <a:rPr lang="en-US" dirty="0"/>
              <a:t>TRANSIÇÃO: Para entender a diferença entre dobutamina e milrinona, um esquema.</a:t>
            </a:r>
            <a:endParaRPr lang="en-US" dirty="0"/>
          </a:p>
          <a:p>
            <a:r>
              <a:rPr lang="en-US" dirty="0"/>
              <a:t>TEMPO: 1 min 5 s (5:50 → 6:55)</a:t>
            </a:r>
            <a:endParaRPr lang="en-US" dirty="0"/>
          </a:p>
          <a:p>
            <a:r>
              <a:rPr lang="en-US" dirty="0"/>
              <a:t>PONTO-CHAVE: Dopamina fora da primeira linha; dobutamina para baixo débito com hipoperfusão.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é o mecanismo que separa as duas drogas. A dobutamina estimula o receptor β1; pela proteína Gs, a adenilato ciclase produz AMPc, que ativa a PKA. A sinalização pela PKA aumenta a disponibilidade de cálcio na sístole, pela fosforilação do canal de cálcio tipo L, favorecendo a contração; na diástole, a fosforilação do fosfolambam reduz a inibição da SERCA2a e acelera a recaptação de cálcio, melhorando o relaxamento. A milrinona entra em outro ponto: inibe a PDE3, a enzima que degrada o AMPc em 5′-AMP. Ela não depende do receptor β, mas precisa de alguma produção de AMPc. Por isso mantém efeito com betabloqueio ou com receptores dessensibilizados. Mas isso é fundamento farmacológico, não benefício demonstrado, como vamos ver no DOREMI daqui a dois slides. No músculo liso vascular, a mesma via AMPc–PKA inibe a quinase da cadeia leve da miosina, a MLCK, e o vaso relaxa: por isso a milrinona é inodilatadora e pode baixar a PAM. E, como as duas aumentam AMPc e cálcio, as duas podem causar arritmias.</a:t>
            </a:r>
            <a:endParaRPr lang="en-US" dirty="0"/>
          </a:p>
          <a:p>
            <a:r>
              <a:rPr lang="en-US" dirty="0"/>
              <a:t>TRANSIÇÃO: Com esse mecanismo, a milrinona fica fácil de entender.</a:t>
            </a:r>
            <a:endParaRPr lang="en-US" dirty="0"/>
          </a:p>
          <a:p>
            <a:r>
              <a:rPr lang="en-US" dirty="0"/>
              <a:t>TEMPO: 1 min 25 s (6:55 → 8:20)</a:t>
            </a:r>
            <a:endParaRPr lang="en-US" dirty="0"/>
          </a:p>
          <a:p>
            <a:r>
              <a:rPr lang="en-US" dirty="0"/>
              <a:t>PONTO-CHAVE: Dobutamina aumenta a produção de AMPc; milrinona impede a degradação.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 A contribuição funcional da fosforilação do RyR2 pela PKA ainda é debatida; por isso a figura mostra apenas os dois alvos bem estabelecidos, o canal tipo L e o fosfolambam.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Como vimos, a milrinona inibe a PDE3 e age depois do receptor β. É um inodilatador: aumenta a contratilidade e o relaxamento e reduz as resistências sistêmica e pulmonar. Por ser vasodilatadora, muitas vezes exige associação com noradrenalina. Tem eliminação renal e meia-vida bem mais longa que a da dobutamina: é menos titulável e acumula na insuficiência renal; a dose máxima diária em bula é 1,13 mg/kg. A indicação é a disfunção ventricular com baixo débito que exige suporte inotrópico, o que no centro cirúrgico inclui a dificuldade de saída de CEC; a comparação com a dobutamina vem no próximo slide.</a:t>
            </a:r>
            <a:endParaRPr lang="en-US" dirty="0"/>
          </a:p>
          <a:p>
            <a:r>
              <a:rPr lang="en-US" dirty="0"/>
              <a:t>TRANSIÇÃO: E a pergunta central: quando escolher cada uma.</a:t>
            </a:r>
            <a:endParaRPr lang="en-US" dirty="0"/>
          </a:p>
          <a:p>
            <a:r>
              <a:rPr lang="en-US" dirty="0"/>
              <a:t>TEMPO: 50 s (8:20 → 9:10)</a:t>
            </a:r>
            <a:endParaRPr lang="en-US" dirty="0"/>
          </a:p>
          <a:p>
            <a:r>
              <a:rPr lang="en-US" dirty="0"/>
              <a:t>PONTO-CHAVE: Inodilatador de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é a pergunta prática da aula. Primeiro, a indicação: inotrópico se justifica quando há disfunção ventricular com baixo débito ou hipoperfusão, depois de otimizar volume e PAM. Se a hipotensão é por vasoplegia, a droga é o vasopressor, e um inodilatador baixa ainda mais a pressão. O único ensaio que comparou as duas é o DOREMI: randomizado e duplo-cego, 192 pacientes com choque cardiogênico receberam milrinona ou dobutamina. O desfecho composto, que incluía morte, parada ressuscitada, suporte mecânico ou transplante, infarto, AVC e diálise nova, ocorreu em 49% com milrinona e 54% com dobutamina, sem diferença; arritmia, hipotensão sustentada e necessidade de vasopressor também não diferiram. Na subanálise dos 93 pacientes que usavam betabloqueador antes do choque, a milrinona não teve vantagem. Isso não comprova equivalência; a escolha fica farmacológica, e as diferenças da tabela são perfis esperados. A milrinona faz sentido no VD com hipertensão pulmonar, como na saída de CEC, porque reduz a resistência pulmonar, e quando a taquicardia ou o betabloqueio limitam a dobutamina. A dobutamina é preferível com hipotensão associada, insuficiência renal, porque a milrinona acumula, ou necessidade de titular rapidamente.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30 s (9:10 → 10:40)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 na insuficiência cardíaca e aumenta na insuficiência renal, que pede dose de manutenção menor; a da dobutamina é de cerca de 2 minutos. Sem hipoperfusão, inotrópico não traz benefício: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 andam juntas. Primeiro, a pressão de perfusão: o VD fica isquêmico quando a PAM cai, então noradrenalina para sustentar a PAM e, conforme a vasoplegia associada, vasopressina. Segundo, a resistência pulmonar: corrigir hipóxia, hipercapnia e acidose e, se preciso, vasodilatador pulmonar inalado. Terceiro, a contratilidade: aqui a milrinona faz sentido, porque é inotrópica e reduz a resistência pulmonar; a dobutamina é alternativa. Quarto, volume e ritmo: o VD dilatado tolera mal mais volume. A milrinona pode baixar a PAM e não substitui o diagnóstico: com débito preservado e resistência baixa, considerar vasoplegia, e aí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50 s (10:40 → 11:30)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puro, sem ação β; a PAM sobe pela resistência e a frequência cai por reflexo. Isso é útil quando a taquicardia é indesejável, mas pode reduzir o débito quando ele depende da frequência. Na estenose aórtica, o objetivo é manter a pós-carga e evitar taquicardia; a escolha depende da frequência e da função ventricular, e não de uma regra fixa. Na cesárea, o consenso internacional de 2018 recomenda vasopressor α-agonista em infusão profilática, titulado para manter a PAS perto da basal. Efedrina: por ter ação indireta, perde efeito com doses repetidas e com estoques de noradrenalina depletados; atravessa a placenta e se associa a mais acidose fetal.</a:t>
            </a:r>
            <a:endParaRPr lang="en-US" dirty="0"/>
          </a:p>
          <a:p>
            <a:r>
              <a:rPr lang="en-US" dirty="0"/>
              <a:t>TRANSIÇÃO: E quando as catecolaminas não bastam?</a:t>
            </a:r>
            <a:endParaRPr lang="en-US" dirty="0"/>
          </a:p>
          <a:p>
            <a:r>
              <a:rPr lang="en-US" dirty="0"/>
              <a:t>TEMPO: 50 s (11:30 → 12:20)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de vasopressina. Em geral, usa-se dose fixa; a ordem do desmame não tem regra definida e segue o protocolo do serviço, considerando a dose de noradrenalina e a tolerância. Indicações: choque séptico com noradrenalina em escalada, vasoplegia após CEC e hipotensão refratária em pacientes em uso de IECA ou BRA. Riscos: isquemia digital e mesentérica, hiponatremia. Antes de associar drogas, corrigir causas tratáveis (volume, foco, acidose, cálcio, disfunção ventricular). Adjuvantes: a hidrocortisona restaura a resposta às catecolaminas; a angiotensina II poupa catecolamina, mas é pouco disponível;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55 s (12:20 → 13:15)</a:t>
            </a:r>
            <a:endParaRPr lang="en-US" dirty="0"/>
          </a:p>
          <a:p>
            <a:r>
              <a:rPr lang="en-US" dirty="0"/>
              <a:t>PONTO-CHAVE: Vasopressina age por outra via (V1) e poupa catecolamina.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Noradrenalina primeiro, iniciada cedo e, se preciso, por veia periférica. Vasopressina quando a dose de noradrenalina está subindo; a diretriz não define um limiar, e na enquete dos painelistas a mediana foi 0,3 mcg/kg/min. Adrenalina se a PAM continuar inadequada. Alvo inicial de 65 mmHg, ou 60 a 65 a partir dos 65 anos. Sobre o momento da vasopressina, o VASSPR, publicado neste mês: 3.959 pacientes com choque séptico em hospitais sorteados para iniciar a vasopressina com noradrenalina em 0,1 ou em 0,4 mcg/kg/min; a mortalidade foi igual, 31,8 contra 33,0%. Antecipar como regra não trouxe ganho. Na disfunção cardíaca com hipoperfusão apesar de volume e PAM adequados, dobutamina com noradrenalina, ou adrenalina; hidrocortisona sugerida; levosimendana e terlipressina, contra.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1 min 5 s (13:15 → 14:20)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anestésico profundo, hipovolemia, compressão aortocava, pneumotórax, anafilaxia. Se persistir, avaliar a resposta a volume e fazer eco. A escolha segue o mecanismo: tônus baixo com frequência preservada pede α1; bradicardia associada pede ação β1, com efedrina ou, se grave, adrenalina; baixo débito pede inotrópico, e a milrinona tem a vantagem de reduzir a resistência pulmonar. A vasoplegia que não responde às catecolaminas, como após CEC, com uso crônico de IECA ou BRA ou na reperfusão do enxerto hepático, pode responder à vasopressina, que age por outra via; o azul de metileno fica como resgate. Na cesárea, fenilefrina profilática, com a noradrenalina como alternativa. Na anafilaxia, adrenalina. Um dado do nosso serviço: Gouvêa, Diaz e colaboradores avaliaram por ETE a função do VD de 19 pacientes selecionados em cinco momentos do transplante hepático, do basal ao fechamento; TAPSE e fração de variação de área permaneceram normais, inclusive após a reperfusão. Mais um motivo para identificar o mecanismo da hipotensão antes de presumir falência de VD.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25 s (14:20 → 15:45)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hepatectomia, anepática, pós-reperfusão e fechamento); função sistólica do VD preservada em todas; excluídos hipertensão portopulmonar, síndrome hepatopulmonar, doença cardiopulmonar e insuficiência hepática fulminante. População selecionada: o estudo não permite concluir que toda hipotensão na reperfusão seja vasoplegia.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mensagem do editorial “The hidden cost of hypotension”, de Lineburger e colaboradores, com Rodrigo Diaz entre os autores: a hipotensão intraoperatória, mesmo por períodos curtos, se associa a lesão renal aguda, lesão miocárdica, delirium e mortalidade, e o risco cresce com a profundidade e a duração; o editorial defende monitorização contínua, manejo proativo e metas individualizadas. O POQI 2024 trata PAM de 60 em pacientes de risco como limite mínimo, não como garantia de perfusão; com pressão venosa ou compartimental alta, o alvo tende a ser maior. Acima do piso, o único ensaio positivo é o HISTAP: 630 pacientes com 60 anos ou mais, hipertensos, em cirurgia abdominal maior, randomizados para PAM de pelo menos 80 ou de pelo menos 65; morte ou disfunção orgânica em 38 contra 49%, sobretudo por menos lesão renal aguda. Os outros ensaios com alvos mais altos foram neutros.</a:t>
            </a:r>
            <a:endParaRPr lang="en-US" dirty="0"/>
          </a:p>
          <a:p>
            <a:r>
              <a:rPr lang="en-US" dirty="0"/>
              <a:t>TRANSIÇÃO: Para terminar, voltamos à pergunta do início: qual é o mecanismo do distúrbio hemodinâmico?</a:t>
            </a:r>
            <a:endParaRPr lang="en-US" dirty="0"/>
          </a:p>
          <a:p>
            <a:r>
              <a:rPr lang="en-US" dirty="0"/>
              <a:t>TEMPO: 1 min 10 s (15:45 → 16:55)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 pede noradrenalina e, quando a dose sobe, vasopressina; baixo débito com hipoperfusão pede inotrópico, com a milrinona reservada sobretudo para o VD com hipertensão pulmonar; na hipotensão anestésica com bradicardia, efedrina; anafilaxia, adrenalina. A droga certa é a que corrige esse componente, na menor dose eficaz e pelo menor tempo. Para discutir com o grupo: no nosso serviço, como documentamos o baixo débito antes do inotrópico, e quando associamos vasopressina?</a:t>
            </a:r>
            <a:endParaRPr lang="en-US" dirty="0"/>
          </a:p>
          <a:p>
            <a:r>
              <a:rPr lang="en-US" dirty="0"/>
              <a:t>TRANSIÇÃO: Obrigado. Fico à disposição para perguntas.</a:t>
            </a:r>
            <a:endParaRPr lang="en-US" dirty="0"/>
          </a:p>
          <a:p>
            <a:r>
              <a:rPr lang="en-US" dirty="0"/>
              <a:t>TEMPO: 40 s (16:55 → 17:35)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Depois das mensagens finais deixei material de apoio: a síntese das drogas, um slide para cada droga de bolus e para a vasopressina, os adjuvantes do choque refratário, a sequência da SSC 2026, os alvos de pressão no choque e no intraoperatório, o roteiro e as referências. Posso abrir o que for útil para a discussão.</a:t>
            </a:r>
            <a:endParaRPr lang="en-US" dirty="0"/>
          </a:p>
          <a:p>
            <a:r>
              <a:rPr lang="en-US" dirty="0"/>
              <a:t>USO: fim da apresentação principal; mostrar só se houver perguntas.</a:t>
            </a:r>
            <a:endParaRPr lang="en-US" dirty="0"/>
          </a:p>
          <a:p>
            <a:r>
              <a:rPr lang="en-US" dirty="0"/>
              <a:t>PONTO-CHAVE: daqui em diante é material de apoio, para responder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aparece apenas aqui: uso restrito à bradicardia refratária e à ponte para marca-passo. A tabela é adaptada de Overgaard e Džavík (Circulation 2008), com escala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renal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renal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se anulam e sobra inotropismo com queda discreta da resistência. A faixa é de 2,5 a 20 microgramas por quilo por minuto. Os limites são taquicardia, arritmia, maior consumo de oxigênio pelo miocárdio e tolerância com uso prolongado; no paciente hipovolêmico ou vasoplégico ela baixa a pressão, e aí se associa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sem ação β: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resiste à MAO e à COMT e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mantém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neste mês,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 0,1 vs. 0,4 mcg/kg/min; vasopressina usada em 52,4% vs. 32,9%; mortalidade 31,8% vs. 33,0%; sem ganho em dias livres de terapia renal substitutiva; sinal de mais choque cardiogênico no grupo precoce (7,4% vs. 6,3%). Equivalência em escores: 0,03 U/min ≈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ADRENAL, 3.800 pacientes com choque séptico em ventilação mecânica receberam hidrocortisona ou placebo, com resolução mais rápida do choque e a mesma mortalidade em 90 dias; no APROCCHSS, 1.241 pacientes com choque séptico receberam hidrocortisona com fludrocortisona ou placebo, e a mortalidade em 90 dias caiu de 49 para 43%; a SSC 2026 sugere usar. A angiotensina II, agonista AT1, foi testada no ATHOS-3 em 344 pacientes com choque vasodilatador refratário: elevou a PAM em 3 horas em 70% contra 23% do placebo, sem mudar a mortalidade;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interfere na oximetria e pode causar síndrome serotoninérgica.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primeiro, recomendação forte,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 sugestão contra a levosimendana também é de 2021; a terlipressina recebeu sugestão contra em 2026.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2.600 pacientes com 65 anos ou mais em choque vasodilatador, randomizados para hipotensão permissiva, com PAM de 60 a 65, ou cuidado usual; a mortalidade em 90 dias foi 41 contra 44%, sem diferença, com menos vasopressor no grupo permissivo. O OPTPRESS testou o contrário: 518 pacientes com 65 anos ou mais em choque séptico, alvo de 80 a 85 ou de 65 a 70; foi interrompido por dano, com mortalidade de 39 contra 29%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310 pacientes com choque séptico receberam, desde a admissão, noradrenalina em dose baixa e fixa ou o cuidado padrão: o controle do choque em 6 horas subiu de 48 para 76%, com menos edema pulmonar e arritmia e sem diferença de mortalidade. A via periférica é segura com protocolo: na metanálise de Tran, com 1.835 pacientes recebendo vasopressor por veia periférica,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então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POISE-3, com 7.490 pacientes de risco cardiovascular em cirurgia não cardíaca, comparou evitar hipotensão, com PAM de 80 e anti-hipertensivos suspensos, a evitar hipertensão: eventos vasculares em 30 dias iguais, 13,9 contra 14,0%. O IMPROVE-multi, com 1.134 pacientes em cirurgia abdominal maior, individualizou o alvo pela pressão basal noturna e não foi melhor que 65. O HISTAP, com 630 idosos hipertensos em cirurgia abdominal maior, encontrou menos morte ou disfunção orgânica com PAM de 80, 38 contra 49%, sobretudo por menos lesão renal aguda. A leitura prática é a do POQI: PAM de 60 é o piso em pacientes de risco, maior se a pressão venosa ou compartimental estiver alta; acima do piso, o benefício demonstrado até agora foi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só se mostrou útil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no centro, e termina na aplicação no choque séptico e no centro cirúrgico.</a:t>
            </a:r>
            <a:endParaRPr lang="en-US" dirty="0"/>
          </a:p>
          <a:p>
            <a:r>
              <a:rPr lang="en-US" dirty="0"/>
              <a:t>USO: só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As principais referências estão resumidas neste slide; os detalhes dos estudos estão nas notas correspondentes.</a:t>
            </a:r>
            <a:endParaRPr lang="en-US" dirty="0"/>
          </a:p>
          <a:p>
            <a:r>
              <a:rPr lang="en-US" dirty="0"/>
              <a:t>USO: se pedirem a referência exata de um estudo citado.</a:t>
            </a:r>
            <a:endParaRPr lang="en-US" dirty="0"/>
          </a:p>
          <a:p>
            <a:r>
              <a:rPr lang="en-US" dirty="0"/>
              <a:t>PONTO-CHAVE: as citações completas estão abaixo; as diretrizes de base são SSC 2026, ESICM 2025, POQI 2024 e Miller, 10ª 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esse raciocínio no choque séptic"/>
          <p:cNvSpPr txBox="1"/>
          <p:nvPr/>
        </p:nvSpPr>
        <p:spPr>
          <a:xfrm>
            <a:off x="1371600" y="3777602"/>
            <a:ext cx="646430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 com DC preservado ou alto (sep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cardiografia inicial para o tipo de c"/>
          <p:cNvSpPr txBox="1"/>
          <p:nvPr/>
        </p:nvSpPr>
        <p:spPr>
          <a:xfrm>
            <a:off x="4788098" y="4769275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baseline="-40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PAM normal não exclui débito baixo. E dé"/>
          <p:cNvSpPr txBox="1"/>
          <p:nvPr/>
        </p:nvSpPr>
        <p:spPr>
          <a:xfrm>
            <a:off x="29374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6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 com β1 modesto: eleva a PAM 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em geral mantido ou maior, podendo cair pela pós-carga;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Indicada no baixo débito com hipoperfusão, em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2,5–20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dobutamina aumenta a produção de AMPc; a milrinona reduz a degradação, sem depender do receptor β. Nos vasos, a mesma via relaxa o músculo liso: inodilatação. Com betabloqueador, o fundamento é farmacológico; no DOREMI, sem vantagem clínica.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Eliminação renal: reduzir a dose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1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Com indicação de inotrópico: hipotensão "/>
          <p:cNvSpPr txBox="1"/>
          <p:nvPr/>
        </p:nvSpPr>
        <p:spPr>
          <a:xfrm>
            <a:off x="64071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indicação de inotrópico: hipotensão associada; insuficiência renal; necessidade de titulação rápida;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 para sustentar a PAM e a p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sustentar a PAM e a perfusão coronariana do VD; vasopressina conforme a vasoplegia associada.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Milrinona"/>
          <p:cNvSpPr txBox="1"/>
          <p:nvPr/>
        </p:nvSpPr>
        <p:spPr>
          <a:xfrm>
            <a:off x="1066800" y="4419653"/>
            <a:ext cx="159563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2800" dirty="0"/>
          </a:p>
        </p:txBody>
      </p:sp>
      <p:sp>
        <p:nvSpPr>
          <p:cNvPr id="22" name="Inotrópica, com redução da RVP; associar"/>
          <p:cNvSpPr txBox="1"/>
          <p:nvPr/>
        </p:nvSpPr>
        <p:spPr>
          <a:xfrm>
            <a:off x="3049786" y="4430943"/>
            <a:ext cx="809446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Inotrópica, com redução da RVP; associar noradrenalina, porque pode baixar a PAM. Com débito preservado e RVS baixa, considerar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DC, mas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 NA continua preferida.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Corrige o tônus sem taquicardia"/>
          <p:cNvSpPr txBox="1"/>
          <p:nvPr/>
        </p:nvSpPr>
        <p:spPr>
          <a:xfrm>
            <a:off x="946150" y="3878619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295146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β1 e liberação de noradrenalina"/>
          <p:cNvSpPr txBox="1"/>
          <p:nvPr/>
        </p:nvSpPr>
        <p:spPr>
          <a:xfrm>
            <a:off x="3084810" y="3449994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09012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Inotropismo; a milrinona também reduz a "/>
          <p:cNvSpPr txBox="1"/>
          <p:nvPr/>
        </p:nvSpPr>
        <p:spPr>
          <a:xfrm>
            <a:off x="5223470" y="4092931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722878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Vasopressina; azul de metileno como resg"/>
          <p:cNvSpPr txBox="1"/>
          <p:nvPr/>
        </p:nvSpPr>
        <p:spPr>
          <a:xfrm>
            <a:off x="7362130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Pós-CEC, IECA/BRA, reperfusão hepática"/>
          <p:cNvSpPr txBox="1"/>
          <p:nvPr/>
        </p:nvSpPr>
        <p:spPr>
          <a:xfrm>
            <a:off x="7362130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9367441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Volume, se o débito responde"/>
          <p:cNvSpPr txBox="1"/>
          <p:nvPr/>
        </p:nvSpPr>
        <p:spPr>
          <a:xfrm>
            <a:off x="9500791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Hipovolemia não se corrige com amina"/>
          <p:cNvSpPr txBox="1"/>
          <p:nvPr/>
        </p:nvSpPr>
        <p:spPr>
          <a:xfrm>
            <a:off x="9500791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100" dirty="0"/>
          </a:p>
        </p:txBody>
      </p:sp>
      <p:sp>
        <p:nvSpPr>
          <p:cNvPr id="29" name="Raquianestesia na cesárea: fenilefrina p"/>
          <p:cNvSpPr txBox="1"/>
          <p:nvPr/>
        </p:nvSpPr>
        <p:spPr>
          <a:xfrm>
            <a:off x="812800" y="484052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Transplante hepático (UFRJ): em 19 pacie"/>
          <p:cNvSpPr txBox="1"/>
          <p:nvPr/>
        </p:nvSpPr>
        <p:spPr>
          <a:xfrm>
            <a:off x="812800" y="5325604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em todas as fases, inclusive após a reperfusão (Gouvêa et al., PLoS One 2022).</a:t>
            </a:r>
            <a:endParaRPr lang="en-US" sz="1300" dirty="0"/>
          </a:p>
        </p:txBody>
      </p:sp>
      <p:sp>
        <p:nvSpPr>
          <p:cNvPr id="31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Gouvêa, PLoS One 2022 · Miller’s Anesthesia, 10ª ed. (2025)</a:t>
            </a:r>
            <a:endParaRPr lang="en-US" sz="1200" dirty="0"/>
          </a:p>
        </p:txBody>
      </p:sp>
      <p:pic>
        <p:nvPicPr>
          <p:cNvPr id="3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20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41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ra discutir: no nosso serviço, como do"/>
          <p:cNvSpPr txBox="1"/>
          <p:nvPr/>
        </p:nvSpPr>
        <p:spPr>
          <a:xfrm>
            <a:off x="812800" y="537312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discutir: no nosso serviço, como documentamos o baixo débito antes do inotrópico, e quando associamos vasopressina?</a:t>
            </a:r>
            <a:endParaRPr lang="en-US" sz="1400" dirty="0"/>
          </a:p>
        </p:txBody>
      </p:sp>
      <p:sp>
        <p:nvSpPr>
          <p:cNvPr id="6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: detalhes, tabelas e r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detalhes, tabelas e referências.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sp>
        <p:nvSpPr>
          <p:cNvPr id="17" name="Referências"/>
          <p:cNvSpPr/>
          <p:nvPr/>
        </p:nvSpPr>
        <p:spPr>
          <a:xfrm>
            <a:off x="7959824" y="4391521"/>
            <a:ext cx="12159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4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22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 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2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 mortalidade. APROCCHSS: ↓ 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Inibidor da PDE3: inodilatador não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 no choque cardiogênico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dados para comparar com a dobutamina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Sensibilizador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benefício clínico demonstrado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32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anti-hipertensivos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383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o benefício demonstrado até agora foi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EFERÊNCI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7730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Antonelli · SSC 2026 · Crit Care Med 2026</a:t>
            </a:r>
            <a:endParaRPr lang="en-US" sz="115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19682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Monnet, Messina · ESICM 2025 · Intensive Care Med 2025</a:t>
            </a:r>
            <a:endParaRPr lang="en-US" sz="115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1635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· Elsevier 2025</a:t>
            </a:r>
            <a:endParaRPr lang="en-US" sz="115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3587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 · SOAP II · N Engl J Med 2010</a:t>
            </a:r>
            <a:endParaRPr lang="en-US" sz="115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5540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· VASST · N Engl J Med 2008</a:t>
            </a:r>
            <a:endParaRPr lang="en-US" sz="1150" dirty="0"/>
          </a:p>
        </p:txBody>
      </p:sp>
      <p:sp>
        <p:nvSpPr>
          <p:cNvPr id="9" name="Gordon · VANISH · JAMA 2016"/>
          <p:cNvSpPr txBox="1"/>
          <p:nvPr/>
        </p:nvSpPr>
        <p:spPr>
          <a:xfrm>
            <a:off x="812800" y="27493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· VANISH · JAMA 2016</a:t>
            </a:r>
            <a:endParaRPr lang="en-US" sz="1150" dirty="0"/>
          </a:p>
        </p:txBody>
      </p:sp>
      <p:sp>
        <p:nvSpPr>
          <p:cNvPr id="10" name="Peltan · VASSPR · JAMA 2026"/>
          <p:cNvSpPr txBox="1"/>
          <p:nvPr/>
        </p:nvSpPr>
        <p:spPr>
          <a:xfrm>
            <a:off x="812800" y="29445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Peltan · VASSPR · JAMA 2026</a:t>
            </a:r>
            <a:endParaRPr lang="en-US" sz="1150" dirty="0"/>
          </a:p>
        </p:txBody>
      </p:sp>
      <p:sp>
        <p:nvSpPr>
          <p:cNvPr id="11" name="Lamontagne · 65 trial · JAMA 2020"/>
          <p:cNvSpPr txBox="1"/>
          <p:nvPr/>
        </p:nvSpPr>
        <p:spPr>
          <a:xfrm>
            <a:off x="812800" y="31398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 · 65 trial · JAMA 2020</a:t>
            </a:r>
            <a:endParaRPr lang="en-US" sz="1150" dirty="0"/>
          </a:p>
        </p:txBody>
      </p:sp>
      <p:sp>
        <p:nvSpPr>
          <p:cNvPr id="12" name="Endo · OPTPRESS · Intensive Care Med 202"/>
          <p:cNvSpPr txBox="1"/>
          <p:nvPr/>
        </p:nvSpPr>
        <p:spPr>
          <a:xfrm>
            <a:off x="812800" y="33351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 · OPTPRESS · Intensive Care Med 2025</a:t>
            </a:r>
            <a:endParaRPr lang="en-US" sz="1150" dirty="0"/>
          </a:p>
        </p:txBody>
      </p:sp>
      <p:sp>
        <p:nvSpPr>
          <p:cNvPr id="13" name="Permpikul · CENSER · Am J Respir Crit Ca"/>
          <p:cNvSpPr txBox="1"/>
          <p:nvPr/>
        </p:nvSpPr>
        <p:spPr>
          <a:xfrm>
            <a:off x="812800" y="35303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 · CENSER · Am J Respir Crit Care Med 2019</a:t>
            </a:r>
            <a:endParaRPr lang="en-US" sz="1150" dirty="0"/>
          </a:p>
        </p:txBody>
      </p:sp>
      <p:sp>
        <p:nvSpPr>
          <p:cNvPr id="14" name="Annane · CATS · Lancet 2007"/>
          <p:cNvSpPr txBox="1"/>
          <p:nvPr/>
        </p:nvSpPr>
        <p:spPr>
          <a:xfrm>
            <a:off x="812800" y="37256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CATS · Lancet 2007</a:t>
            </a:r>
            <a:endParaRPr lang="en-US" sz="1150" dirty="0"/>
          </a:p>
        </p:txBody>
      </p:sp>
      <p:sp>
        <p:nvSpPr>
          <p:cNvPr id="15" name="Myburgh · CAT · Intensive Care Med 2008"/>
          <p:cNvSpPr txBox="1"/>
          <p:nvPr/>
        </p:nvSpPr>
        <p:spPr>
          <a:xfrm>
            <a:off x="812800" y="39208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Myburgh · CAT · Intensive Care Med 2008</a:t>
            </a:r>
            <a:endParaRPr lang="en-US" sz="1150" dirty="0"/>
          </a:p>
        </p:txBody>
      </p:sp>
      <p:sp>
        <p:nvSpPr>
          <p:cNvPr id="16" name="Levy · OptimaCC · J Am Coll Cardiol 2018"/>
          <p:cNvSpPr txBox="1"/>
          <p:nvPr/>
        </p:nvSpPr>
        <p:spPr>
          <a:xfrm>
            <a:off x="812800" y="41161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Levy · OptimaCC · J Am Coll Cardiol 2018</a:t>
            </a:r>
            <a:endParaRPr lang="en-US" sz="1150" dirty="0"/>
          </a:p>
        </p:txBody>
      </p:sp>
      <p:sp>
        <p:nvSpPr>
          <p:cNvPr id="17" name="Mathew · DOREMI · N Engl J Med 2021"/>
          <p:cNvSpPr txBox="1"/>
          <p:nvPr/>
        </p:nvSpPr>
        <p:spPr>
          <a:xfrm>
            <a:off x="812800" y="43114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· DOREMI · N Engl J Med 2021</a:t>
            </a:r>
            <a:endParaRPr lang="en-US" sz="1150" dirty="0"/>
          </a:p>
        </p:txBody>
      </p:sp>
      <p:sp>
        <p:nvSpPr>
          <p:cNvPr id="18" name="Di Santo · DOREMI, betabloqueador · Crit"/>
          <p:cNvSpPr txBox="1"/>
          <p:nvPr/>
        </p:nvSpPr>
        <p:spPr>
          <a:xfrm>
            <a:off x="812800" y="45066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Santo · DOREMI, betabloqueador · Crit Care 2021</a:t>
            </a:r>
            <a:endParaRPr lang="en-US" sz="1150" dirty="0"/>
          </a:p>
        </p:txBody>
      </p:sp>
      <p:sp>
        <p:nvSpPr>
          <p:cNvPr id="19" name="Cuffe · OPTIME-CHF · JAMA 2002"/>
          <p:cNvSpPr txBox="1"/>
          <p:nvPr/>
        </p:nvSpPr>
        <p:spPr>
          <a:xfrm>
            <a:off x="812800" y="47019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 · OPTIME-CHF · JAMA 2002</a:t>
            </a:r>
            <a:endParaRPr lang="en-US" sz="1150" dirty="0"/>
          </a:p>
        </p:txBody>
      </p:sp>
      <p:sp>
        <p:nvSpPr>
          <p:cNvPr id="20" name="Hajjar · VANCS · Anesthesiology 2017"/>
          <p:cNvSpPr txBox="1"/>
          <p:nvPr/>
        </p:nvSpPr>
        <p:spPr>
          <a:xfrm>
            <a:off x="812800" y="48972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Hajjar · VANCS · Anesthesiology 2017</a:t>
            </a:r>
            <a:endParaRPr lang="en-US" sz="1150" dirty="0"/>
          </a:p>
        </p:txBody>
      </p:sp>
      <p:sp>
        <p:nvSpPr>
          <p:cNvPr id="21" name="Khanna · ATHOS-3 · N Engl J Med 2017"/>
          <p:cNvSpPr txBox="1"/>
          <p:nvPr/>
        </p:nvSpPr>
        <p:spPr>
          <a:xfrm>
            <a:off x="812800" y="50924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Khanna · ATHOS-3 · N Engl J Med 2017</a:t>
            </a:r>
            <a:endParaRPr lang="en-US" sz="1150" dirty="0"/>
          </a:p>
        </p:txBody>
      </p:sp>
      <p:sp>
        <p:nvSpPr>
          <p:cNvPr id="22" name="Tongyoo · milrinona no choque séptico · "/>
          <p:cNvSpPr txBox="1"/>
          <p:nvPr/>
        </p:nvSpPr>
        <p:spPr>
          <a:xfrm>
            <a:off x="812800" y="52877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Tongyoo · milrinona no choque séptico · Ann Med 2025</a:t>
            </a:r>
            <a:endParaRPr lang="en-US" sz="1150" dirty="0"/>
          </a:p>
        </p:txBody>
      </p:sp>
      <p:sp>
        <p:nvSpPr>
          <p:cNvPr id="23" name="Gouvêa · VD no transplante hepático (UFR"/>
          <p:cNvSpPr txBox="1"/>
          <p:nvPr/>
        </p:nvSpPr>
        <p:spPr>
          <a:xfrm>
            <a:off x="812800" y="54829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 · VD no transplante hepático (UFRJ) · PLoS One 2022</a:t>
            </a:r>
            <a:endParaRPr lang="en-US" sz="1150" dirty="0"/>
          </a:p>
        </p:txBody>
      </p:sp>
      <p:sp>
        <p:nvSpPr>
          <p:cNvPr id="24" name="Bellomo · dopamina em dose baixa (ANZICS"/>
          <p:cNvSpPr txBox="1"/>
          <p:nvPr/>
        </p:nvSpPr>
        <p:spPr>
          <a:xfrm>
            <a:off x="6248400" y="17730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 · dopamina em dose baixa (ANZICS) · Lancet 2000</a:t>
            </a:r>
            <a:endParaRPr lang="en-US" sz="1150" dirty="0"/>
          </a:p>
        </p:txBody>
      </p:sp>
      <p:sp>
        <p:nvSpPr>
          <p:cNvPr id="25" name="Venkatesh · ADRENAL · N Engl J Med 2018"/>
          <p:cNvSpPr txBox="1"/>
          <p:nvPr/>
        </p:nvSpPr>
        <p:spPr>
          <a:xfrm>
            <a:off x="6248400" y="19682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 · ADRENAL · N Engl J Med 2018</a:t>
            </a:r>
            <a:endParaRPr lang="en-US" sz="1150" dirty="0"/>
          </a:p>
        </p:txBody>
      </p:sp>
      <p:sp>
        <p:nvSpPr>
          <p:cNvPr id="26" name="Annane · APROCCHSS · N Engl J Med 2018"/>
          <p:cNvSpPr txBox="1"/>
          <p:nvPr/>
        </p:nvSpPr>
        <p:spPr>
          <a:xfrm>
            <a:off x="6248400" y="21635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APROCCHSS · N Engl J Med 2018</a:t>
            </a:r>
            <a:endParaRPr lang="en-US" sz="1150" dirty="0"/>
          </a:p>
        </p:txBody>
      </p:sp>
      <p:sp>
        <p:nvSpPr>
          <p:cNvPr id="27" name="Kinsella · consenso cesárea · Anaesthesi"/>
          <p:cNvSpPr txBox="1"/>
          <p:nvPr/>
        </p:nvSpPr>
        <p:spPr>
          <a:xfrm>
            <a:off x="6248400" y="23587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 · consenso cesárea · Anaesthesia 2018</a:t>
            </a:r>
            <a:endParaRPr lang="en-US" sz="1150" dirty="0"/>
          </a:p>
        </p:txBody>
      </p:sp>
      <p:sp>
        <p:nvSpPr>
          <p:cNvPr id="28" name="Sharkey · NA vs. fenilefrina na cesárea "/>
          <p:cNvSpPr txBox="1"/>
          <p:nvPr/>
        </p:nvSpPr>
        <p:spPr>
          <a:xfrm>
            <a:off x="6248400" y="25540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Sharkey · NA vs. fenilefrina na cesárea · Anesth Analg 2019</a:t>
            </a:r>
            <a:endParaRPr lang="en-US" sz="1150" dirty="0"/>
          </a:p>
        </p:txBody>
      </p:sp>
      <p:sp>
        <p:nvSpPr>
          <p:cNvPr id="29" name="Park, Choi · vasopressores na cesárea · "/>
          <p:cNvSpPr txBox="1"/>
          <p:nvPr/>
        </p:nvSpPr>
        <p:spPr>
          <a:xfrm>
            <a:off x="6248400" y="27493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Park, Choi · vasopressores na cesárea · Anesth Pain Med 2024</a:t>
            </a:r>
            <a:endParaRPr lang="en-US" sz="1150" dirty="0"/>
          </a:p>
        </p:txBody>
      </p:sp>
      <p:sp>
        <p:nvSpPr>
          <p:cNvPr id="30" name="Marcucci · POISE-3 · Ann Intern Med 2023"/>
          <p:cNvSpPr txBox="1"/>
          <p:nvPr/>
        </p:nvSpPr>
        <p:spPr>
          <a:xfrm>
            <a:off x="6248400" y="29445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 · POISE-3 · Ann Intern Med 2023</a:t>
            </a:r>
            <a:endParaRPr lang="en-US" sz="1150" dirty="0"/>
          </a:p>
        </p:txBody>
      </p:sp>
      <p:sp>
        <p:nvSpPr>
          <p:cNvPr id="31" name="Saugel · POQI · Br J Anaesth 2024"/>
          <p:cNvSpPr txBox="1"/>
          <p:nvPr/>
        </p:nvSpPr>
        <p:spPr>
          <a:xfrm>
            <a:off x="6248400" y="31398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POQI · Br J Anaesth 2024</a:t>
            </a:r>
            <a:endParaRPr lang="en-US" sz="1150" dirty="0"/>
          </a:p>
        </p:txBody>
      </p:sp>
      <p:sp>
        <p:nvSpPr>
          <p:cNvPr id="32" name="Lineburger · custo da hipotensão · Braz "/>
          <p:cNvSpPr txBox="1"/>
          <p:nvPr/>
        </p:nvSpPr>
        <p:spPr>
          <a:xfrm>
            <a:off x="6248400" y="33351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 · custo da hipotensão · Braz J Anesthesiol 2025</a:t>
            </a:r>
            <a:endParaRPr lang="en-US" sz="1150" dirty="0"/>
          </a:p>
        </p:txBody>
      </p:sp>
      <p:sp>
        <p:nvSpPr>
          <p:cNvPr id="33" name="Salmasi · hipotensão e lesão orgânica · "/>
          <p:cNvSpPr txBox="1"/>
          <p:nvPr/>
        </p:nvSpPr>
        <p:spPr>
          <a:xfrm>
            <a:off x="6248400" y="35303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Salmasi · hipotensão e lesão orgânica · Anesthesiology 2017</a:t>
            </a:r>
            <a:endParaRPr lang="en-US" sz="1150" dirty="0"/>
          </a:p>
        </p:txBody>
      </p:sp>
      <p:sp>
        <p:nvSpPr>
          <p:cNvPr id="34" name="Saugel · IMPROVE-multi · JAMA 2025"/>
          <p:cNvSpPr txBox="1"/>
          <p:nvPr/>
        </p:nvSpPr>
        <p:spPr>
          <a:xfrm>
            <a:off x="6248400" y="37256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IMPROVE-multi · JAMA 2025</a:t>
            </a:r>
            <a:endParaRPr lang="en-US" sz="1150" dirty="0"/>
          </a:p>
        </p:txBody>
      </p:sp>
      <p:sp>
        <p:nvSpPr>
          <p:cNvPr id="35" name="Cecconi · HISTAP · Intensive Care Med 20"/>
          <p:cNvSpPr txBox="1"/>
          <p:nvPr/>
        </p:nvSpPr>
        <p:spPr>
          <a:xfrm>
            <a:off x="6248400" y="39208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HISTAP · Intensive Care Med 2026</a:t>
            </a:r>
            <a:endParaRPr lang="en-US" sz="1150" dirty="0"/>
          </a:p>
        </p:txBody>
      </p:sp>
      <p:sp>
        <p:nvSpPr>
          <p:cNvPr id="36" name="Tran · NA periférica · Am J Emerg Med 20"/>
          <p:cNvSpPr txBox="1"/>
          <p:nvPr/>
        </p:nvSpPr>
        <p:spPr>
          <a:xfrm>
            <a:off x="6248400" y="41161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 · NA periférica · Am J Emerg Med 2020</a:t>
            </a:r>
            <a:endParaRPr lang="en-US" sz="1150" dirty="0"/>
          </a:p>
        </p:txBody>
      </p:sp>
      <p:sp>
        <p:nvSpPr>
          <p:cNvPr id="37" name="Kattan · NA base vs. sal · Intensive Car"/>
          <p:cNvSpPr txBox="1"/>
          <p:nvPr/>
        </p:nvSpPr>
        <p:spPr>
          <a:xfrm>
            <a:off x="6248400" y="43114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Kattan · NA base vs. sal · Intensive Care Med 2024</a:t>
            </a:r>
            <a:endParaRPr lang="en-US" sz="1150" dirty="0"/>
          </a:p>
        </p:txBody>
      </p:sp>
      <p:sp>
        <p:nvSpPr>
          <p:cNvPr id="38" name="ANZCA/ANZAAG · anafilaxia perioperatória"/>
          <p:cNvSpPr txBox="1"/>
          <p:nvPr/>
        </p:nvSpPr>
        <p:spPr>
          <a:xfrm>
            <a:off x="6248400" y="45066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· anafilaxia perioperatória · 2022</a:t>
            </a:r>
            <a:endParaRPr lang="en-US" sz="1150" dirty="0"/>
          </a:p>
        </p:txBody>
      </p:sp>
      <p:sp>
        <p:nvSpPr>
          <p:cNvPr id="39" name="Overgaard, Džavík · revisão · Circulatio"/>
          <p:cNvSpPr txBox="1"/>
          <p:nvPr/>
        </p:nvSpPr>
        <p:spPr>
          <a:xfrm>
            <a:off x="6248400" y="47019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Overgaard, Džavík · revisão · Circulation 2008</a:t>
            </a:r>
            <a:endParaRPr lang="en-US" sz="1150" dirty="0"/>
          </a:p>
        </p:txBody>
      </p:sp>
      <p:sp>
        <p:nvSpPr>
          <p:cNvPr id="40" name="Persichini · NA e retorno venoso · Crit "/>
          <p:cNvSpPr txBox="1"/>
          <p:nvPr/>
        </p:nvSpPr>
        <p:spPr>
          <a:xfrm>
            <a:off x="6248400" y="48972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Persichini · NA e retorno venoso · Crit Care Med 2012</a:t>
            </a:r>
            <a:endParaRPr lang="en-US" sz="1150" dirty="0"/>
          </a:p>
        </p:txBody>
      </p:sp>
      <p:sp>
        <p:nvSpPr>
          <p:cNvPr id="41" name="Cecconi · consenso de choque (ESICM) · I"/>
          <p:cNvSpPr txBox="1"/>
          <p:nvPr/>
        </p:nvSpPr>
        <p:spPr>
          <a:xfrm>
            <a:off x="6248400" y="50924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consenso de choque (ESICM) · Intensive Care Med 2014</a:t>
            </a:r>
            <a:endParaRPr lang="en-US" sz="1150" dirty="0"/>
          </a:p>
        </p:txBody>
      </p:sp>
      <p:sp>
        <p:nvSpPr>
          <p:cNvPr id="42" name="Konstam · falência de VD (AHA) · Circula"/>
          <p:cNvSpPr txBox="1"/>
          <p:nvPr/>
        </p:nvSpPr>
        <p:spPr>
          <a:xfrm>
            <a:off x="6248400" y="52877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 · falência de VD (AHA) · Circulation 2018</a:t>
            </a:r>
            <a:endParaRPr lang="en-US" sz="1150" dirty="0"/>
          </a:p>
        </p:txBody>
      </p:sp>
      <p:sp>
        <p:nvSpPr>
          <p:cNvPr id="43" name="Zaccolo, Kovanich · AMPc em nanodomínios"/>
          <p:cNvSpPr txBox="1"/>
          <p:nvPr/>
        </p:nvSpPr>
        <p:spPr>
          <a:xfrm>
            <a:off x="6248400" y="54829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Zaccolo, Kovanich · AMPc em nanodomínios · Physiol Rev 2025</a:t>
            </a:r>
            <a:endParaRPr lang="en-US" sz="1150" dirty="0"/>
          </a:p>
        </p:txBody>
      </p:sp>
      <p:pic>
        <p:nvPicPr>
          <p:cNvPr id="4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2026-10-18T21:52:54Z</dcterms:created>
  <dcterms:modified xsi:type="dcterms:W3CDTF">2026-10-18T21:52:54Z</dcterms:modified>
</cp:coreProperties>
</file>