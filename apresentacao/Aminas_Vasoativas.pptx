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" id="{2f680ce0-4536-5c62-e112-c9cc19dde2aa}">
          <p14:sldIdLst>
            <p14:sldId id="256"/>
          </p14:sldIdLst>
        </p14:section>
        <p14:section name="Fisiologia da PAM e farmacologia dos receptores" id="{44067b34-da83-225b-298f-37d38b741238}">
          <p14:sldIdLst>
            <p14:sldId id="257"/>
            <p14:sldId id="258"/>
            <p14:sldId id="259"/>
          </p14:sldIdLst>
        </p14:section>
        <p14:section name="Drogas: noradrenalina, adrenalina, dopamina, dobutamina, milrinona, fenilefrina, efedrina e vasopressina" id="{4d7d076c-deb9-681a-de0f-b7dd038ea6d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hoque séptico: a sequência da SSC 2026" id="{a2aee6c1-3032-d3b6-900c-545e4d5807dc}">
          <p14:sldIdLst>
            <p14:sldId id="266"/>
          </p14:sldIdLst>
        </p14:section>
        <p14:section name="Perioperatório: escolha da droga e custo da hipotensão" id="{e911c6ea-25e4-3a41-d5f2-8ac09f2510da}">
          <p14:sldIdLst>
            <p14:sldId id="267"/>
            <p14:sldId id="268"/>
          </p14:sldIdLst>
        </p14:section>
        <p14:section name="Mensagens finais" id="{5203d649-d2f4-471a-b3e0-6f83890ef52c}">
          <p14:sldIdLst>
            <p14:sldId id="269"/>
          </p14:sldIdLst>
        </p14:section>
        <p14:section name="Slides de reserva para perguntas" id="{ad321c21-9682-3d23-d77e-a5bef315b2c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Duração-alvo: cerca de 13 minutos, em 14 slides, deixando folga nos 15 minutos; ensaiar para 13 a 14 minutos. Tempos: capa e objetivo (20 s), fisiologia (1 min), receptores (1 min), classificação (45 s), noradrenalina (1 min 15 s), adrenalina (1 min), dopamina e dobutamina (1 min 15 s), milrinona (1 min), fenilefrina e efedrina (1 min), vasopressina e adjuvantes (1 min), SSC 2026 (1 min), intraoperatório (1 min 15 s), hipotensão intraoperatória (45 s), mensagens finais (30 s), total de 13 min 05 s. O foco é a droga e o mecanismo de ação; cada estudo aparece em uma frase, com os números nas notas. Depois das mensagens finais ficam os slides de reserva, para perguntas. Fontes principais: Surviving Sepsis Campaign 2026, ESICM 2025 e ensaios clínicos-chave. Farmacologia básica a conferir no Miller’s Anesthesia 10ª ed. (inserir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Abrir com a pergunta clínica: qual componente da PAM está falhando? Vasoplegia pede vasopressor, falência de bomba pede inotrópico, hipovolemia pede volume. A relação completa é PAM − PVC = DC × RVS; a PVC costuma ser pequena, mas pesa quando está alta. O DC depende de FC × volume sistólico: agonistas β1 elevam os dois, à custa de consumo de O₂ miocárdico e arritmia. Ponto menos lembrado: a noradrenalina aumenta a pressão média de enchimento sistêmico e o retorno venoso no choque séptico (Persichini, CCM 2012), por isso o DC pode subir mesmo com aumento da pós-carga. Como saber qual componente falha (ESICM 2025): ecocardiograma como primeira imagem para o tipo de choque, responsividade a volume por parâmetros dinâmicos antes de dar mais fluido,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V1 entra na tabela porque a vasopressina é a principal alternativa não adrenérgica. α2 aparece para lembrar que agonistas α2 (clonidina, dexmedetomidina) são simpatolíticos, não vasopressores de uso clínico. A dessensibilização ajuda a explicar a taquifilaxia e a lógica de associar um vasopressor de outra via. PDE3 não é receptor: é a enzima que degrada o AMPc, logo depois do receptor β; entra na tabela porque é onde a milrinona age, e por isso ela funciona mesmo com betabloqueador.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A via de síntese explica duas coisas práticas: a dopamina age em parte por conversão e liberação de noradrenalina, e a adrenalina depende de cortisol para ser sintetizada na medula adrenal. A distinção direta versus indireta explica a taquifilaxia da efedrina, que depende dos estoques de noradrenalina.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Agonista α1 potente com β1 modesto: sobe a PAM pela RVS e pela venoconstrição, com DC preservado ou maior e FC estável ou menor por reflexo. SOAP II (n = 1.679): mortalidade em 28 dias 48,5% vs. 52,5% com dopamina (NS), arritmias 12,4% vs. 24,1%. SSC 2026: recomendação forte da noradrenalina sobre dopamina (certeza alta) e sobre adrenalina (certeza baixa). Prescrição no Brasil: ampolas de hemitartarato 2 mg/mL equivalem a 1 mg/mL de base; registrar se a dose está em base ou em sal. Início precoce (CENSER) e via periférica estão no slide de reserva sobre timing e via. Extravasamento: o antídoto clássico é a fentolamina infiltrada localmente.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Efeito dose-dependente: em dose baixa, β1 e β2 dominam (DC alto, RVS pode cair); em dose alta, α1 prevalece. SSC 2026: adicionar adrenalina quando a PAM segue inadequada com NA + vasopressina (condicional, certeza muito baixa); na disfunção cardíaca, NA ou adrenalina como primeira linha, com adrenalina preferível na bradiarritmia. No estudo CAT, 12,9% dos pacientes em adrenalina foram retirados por efeitos metabólicos transitórios. Anafilaxia (ANZCA 2022): as doses EV valem para o ambiente anestésico monitorizado, com diluição e titulação; iniciar infusão após três bolus; IM 0,5 mg se não houver acesso venoso, a via padrão fora desse ambiente. Estudos, se perguntarem: CATS (Annane, Lancet 2007), no choque séptico, mortalidade semelhante a NA + dobutamina (40% vs. 34%, NS), com mais acidose; OptimaCC (Levy, JACC 2018; n = 57, choque cardiogênico pós-IAM), mais choque refratário que com NA (37% vs. 7%), mas foi pequeno, interrompido precocemente, e choque refratário não era desfecho pré-especificado.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Dopamina: precursora da noradrenalina; a resposta a cada faixa de dose varia muito entre pacientes. A dose “renal” (ANZICS, n = 328) não mudou creatinina, diálise nem mortalidade. No SOAP II, mortalidade semelhante à da NA, com o dobro de arritmias; a SSC 2026 recomenda contra como primeira linha. Uso residual: bradicardia sintomática sem alternativa. Dobutamina: mistura racêmica; o isômero (+) é agonista β1 e β2 e antagonista α1, o isômero (−) é agonista α1, e o efeito líquido é inotropismo com queda discreta da RVS. Por isso, no paciente vasoplégico, entra junto com o vasopressor. SSC 2026: com disfunção cardíaca e hipoperfusão persistente, associar à NA ou usar adrenalina. A comparação com a milrinona está no próximo slide. As barras são uma escala qualitativa do efeito clínico, não afinidade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Inibidor da fosfodiesterase 3: impede a degradação do AMPc, a mesma via ativada pelo receptor β1, por isso funciona mesmo com betabloqueador ou com receptores β dessensibilizados. Inodilatador: aumenta a contratilidade e o relaxamento diastólico e reduz as resistências sistêmica e pulmonar, o que ajuda o VD com hipertensão pulmonar e o desmame da CEC. Por causar vasodilatação, muitas vezes precisa de noradrenalina junto. Eliminação renal e meia-vida bem mais longa que a da dobutamina: menos titulável e acumula na insuficiência renal; a dose máxima diária do rótulo é 1,13 mg/kg. Evidência em uma frase cada: OPTIME-CHF (JAMA 2002), na IC descompensada sem indicação clara de inotrópico, não trouxe benefício e causou mais hipotensão sustentada (10,7% vs. 3,2%) e arritmias atriais (4,6% vs. 1,5%); DOREMI (NEJM 2021), no choque cardiogênico, não mostrou diferença estatisticamente significativa no desfecho composto em relação à dobutamina. A SSC 2026 não encontrou dados suficientes para comparar dobutamina e milrinona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agonista α1 puro, sem ação β; a PAM sobe pela RVS e a FC cai por reflexo. Isso ajuda quando a taquicardia atrapalha, mas pode reduzir o DC quando ele depende da FC. Na estenose aórtica, os objetivos são manter a pós-carga e evitar taquicardia; a droga é escolhida conforme a FC e a função ventricular, não por regra fixa. Cesárea: o consenso internacional de 2018 recomenda vasopressor α-agonista em infusão profilática, titulado para manter a PAS perto do basal; metanálises recentes mostram menos bradicardia materna com noradrenalina e pH umbilical semelhante. Efedrina: a ação indireta explica a taquifilaxia e a resposta menor com estoques depletados; atravessa a placenta e se associa a mais acidose fetal. As barras são uma escala qualitativa do efeito clínico, não afinidade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Vasopressina: hormônio não adrenérgico (receptor V1 do músculo liso vascular), com deficiência relativa no choque séptico; por agir fora da via adrenérgica, poupa catecolamina e mantém efeito em acidose. Dose fixa, sem titulação; ao desmamar, reduzir a NA primeiro. Indicações: choque séptico com NA em escalada (SSC 2026: condicional, certeza moderada; na enquete dos painelistas, mediana de NA de 0,3 mcg/kg/min para associá-la), vasoplegia após CEC (VANCS, estudo brasileiro do InCor: menos morte ou complicação grave que a NA, 32% vs. 49%) e hipotensão refratária às catecolaminas em quem usa IECA ou BRA. Riscos: isquemia digital e mesentérica, hiponatremia. Choque refratário: antes de somar drogas, corrigir causas tratáveis (volume, foco, acidose, cálcio, disfunção ventricular). Hidrocortisona: esquema usual de 200 mg/dia (50 mg 6/6 h ou infusão). Angiotensina II: no ATHOS-3, elevou a PAM em 3 h em 69,9% vs. 23,4%, sem diferença de mortalidade; checar disponibilidade. Azul de metileno: inibe a óxido nítrico sintase e a guanilato ciclase; usado como resgate na vasoplegia pós-CEC e na reperfusão do enxerto hepático, com evidência limitada; causa interferência na oximetria; evitar com inibidores de recaptação de serotonina (síndrome serotoninérgica) e na deficiência de G6PD.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as drogas em sequência: NA primeiro (forte sobre dopamina; a preferência sobre vasopressina e angiotensina II virou sugestão), iniciada cedo e, se preciso, por veia periférica até o acesso central; vasopressina quando a NA está em escalada (condicional, certeza moderada; sem limiar numérico, e na enquete dos painelistas a mediana de NA para associá-la foi 0,3 mcg/kg/min); adrenalina se a PAM continuar inadequada (condicional, certeza muito baixa). Alvo: 65 mmHg para começar (forte, certeza moderada), 60–65 a partir dos 65 anos (condicional, baixa); no OPTPRESS, alvo de 80–85 em idosos aumentou a mortalidade. VASSPR (JAMA 2026, n = 3.959): comparou políticas de início da vasopressina por hospital, com NA de 0,1 vs. 0,4 mcg/kg/min; a vasopressina foi de fato usada em 52,4% vs. 32,9%, e a mortalidade foi 31,8% vs. 33,0%. Mostra que antecipar como regra não traz ganho, mas não prova que o momento seja irrelevante para todos. Disfunção cardíaca: dobutamina associada à NA ou adrenalina isolada; sugestão contra levosimendan e terlipressina.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excluir causas tratáveis: plano anestésico profundo, hipovolemia, compressão de cava, pneumotórax, anafilaxia. Se a hipotensão persistir, avaliar a resposta a volume com parâmetros dinâmicos e fazer eco (ESICM 2025). Tônus baixo com FC preservada pede α1; bradicardia associada pede ação β1; baixo débito pede inotrópico, e a milrinona tem a vantagem de reduzir a resistência pulmonar (VD, hipertensão pulmonar, saída de CEC). Vasoplegia que não responde às catecolaminas (pós-CEC, uso crônico de IECA ou BRA, reperfusão do enxerto hepático) responde melhor à vasopressina; o azul de metileno fica como resgate. VANCS (InCor): na vasoplegia pós-CEC, vasopressina teve menos morte ou complicação grave que a NA (32% vs. 49%). Cesárea: metanálises recentes mostram menos bradicardia materna com noradrenalina e pH umbilical semelhante ao da fenilefrina. Anafilaxia: adrenalina, como no slide da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Mensagem do editorial “The hidden cost of hypotension” (Braz J Anesthesiol 2025; entre os autores, Rodrigo Diaz, da UFRJ): mesmo episódios curtos de hipotensão intraoperatória se associam a lesão renal aguda, lesão miocárdica, delirium, AVC, reinternação e mortalidade, e o dano depende da profundidade e da duração (Salmasi: mais de 13 minutos acumulados com PAM abaixo de 65 aumentaram lesão miocárdica e renal). Em vez de corrigir só com bolus reativos, o editorial defende monitorização contínua e manejo proativo, com metas individualizadas; índice de previsão de hipotensão e sistemas em alça fechada reduzem a exposição à hipotensão, ainda sem benefício claro em desfechos. POQI 2024: PAM ≥60 mmHg em pacientes de risco é o limite mínimo, não garantia de perfusão; com pressão venosa ou de compartimento alta, o alvo é maior. HISTAP (n = 630): PAM ≥80 vs. ≥65 em hipertensos de alto risco reduziu morte ou disfunção orgânica (38,1% vs. 48,9%), sobretudo lesão renal aguda leve a moderada; a PAM alcançada foi 88 vs. 77 mmHg. IMPROVE-multi (n = 1.134): alvo individual pela PAM noturna não foi melhor que PAM ≥65. Detalhes no slide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Fechar voltando à pergunta do início: qual componente da PAM está falhando? A droga certa é a que corrige esse componente, na menor dose eficaz e pelo menor tempo. A pergunta final abre a discussão com o grupo sobre a prática do serviço. Depois deste slide ficam os slides de reserva,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apenas material de apoio: síntese das drogas, slides individuais de cada droga, vasopressina e choque refratário em detalhe, sequência da SSC 2026, alvo de PAM, timing e via periférica, alvo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consolidação: ler por coluna. Quem tem α1 alto sobe RVS (noradrenalina, fenilefrina); quem tem β1 alto sobe DC e FC (adrenalina, dobutamina, isoproterenol); β2 explica vasodilatação e lactato. A afinidade da dopamina varia com a dose. As faixas de dose são as usuais em adultos e devem ser tituladas pela resposta. Milrinona tem zero nas colunas de receptor porque não age em receptor: inibe a PDE3 e aumenta o AMPc. Isoproterenol aparece só aqui: uso restrito a bradicardia refratária e ponte para marca-passo.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barras mostram o perfil em toda a faixa de dose; na prática, a resposta a cada faixa é imprevisível. ANZICS (n = 328): dopamina 2 mcg/kg/min versus placebo sem diferença em pico de creatinina, necessidade de diálise ou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RVS. Por isso, no paciente vasoplégico, a dobutamina entra junto com o vasopressor, nunca no lugar dele. DOREMI (n = 192): mortalidade hospitalar 43% vs. 37% com milrinona, sem diferença significativa. A SSC 2026 não encontrou dados suficientes para comparar dobutamina e milrinona e sugere contra levosimendan.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FA com resposta rápida) e desvantagem quando o DC depende da FC. Consenso internacional obstétrico (Kinsella 2018): fenilefrina como agente de escolha, em infusão profilática; noradrenalina é alternativa crescente, com melhor preservação do DC materno e desfechos neonatais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menor resposta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o principal parceiro da noradrenalina. VASST: no subgrupo de choque menos grave (NA 5–14 mcg/min), mortalidade 26,5% vs. 35,7%, achado apenas gerador de hipótese. VANISH (vasopressina precoce): sem diferença em dias livres de falência renal. VASSPR, publicado em 14/10/2026, é a novidade: comparou políticas de início por hospital (vasopressina de fato usada em 52,4% vs. 32,9%), sem ganho de mortalidade nem de dias livres de diálise, com sinal de mais choque cardiogênico no grupo precoce (7,4% vs. 6,3%). Equivalência usada em escores: vasopressina 0,03 U/min corresponde a cerca de 0,075 mcg/kg/min de 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não subir indefinidamente a mesma droga. ATHOS-3 (n = 344): mortalidade em 28 dias 46% vs. 53,8% (NS). Azul de metileno: em pesquisa com os painelistas da SSC 2026, 69% nunca ou quase nunca o usam como resgate. Disponibilidade local de angiotensina II deve ser checada antes de citar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Mudanças em relação a 2021: a preferência da NA sobre vasopressina e angiotensina II virou sugestão (condicional); passou a haver sugestão explícita de iniciar vasopressor por via periférica em vez de esperar acesso central; terlipressina e levosimendan receberam sugestão contra; azul de metileno ficou sem recomendação por evidência insuficiente. A SSC não define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46,0 vs. 55,9 h; dose total média de noradrenalina-equivalente 31,5 vs. 44,3 mg), sem sinal de dano; a OR ajustada favoreceu a hipotensão permissiva (0,82). OPTPRESS (29 hospitais japoneses) foi interrompido precocemente por dano: diferença absoluta de 10,7 pontos percentuais (IC 95% 2,6–18,9), com menos dias livres de terapia renal substitutiva no alvo alto. O protocolo associava vasopressina cedo, com NA ≥ 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15,5% vs. 21,9% (NS). Na metanálise de Tran (Am J Emerg Med 2020), houve 122 complicações em 1.835 pacientes (7%), 96% delas leves; a prevalência combinada por efeitos aleatórios foi 8,6% (IC 95% 3,1–21%), e os estudos com protocolo de segurança tiveram menos complicações (2,9% vs. 12%). Na prática: veia calibrosa e proximal, inspeção frequente do sítio, plano para acesso central se a dose subir ou a infusão se prolongar; em extravasamento, fentolamina local. Dose em sal versus base: Ibarra-Estrada, Kattan e Jung (ICM 2024) defendem padronizar logo o relato da dose; a mesma infusão expressa em sal dá o dobro do número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Atenção: a PAM média alcançada foi 77 mmHg no controle e 88 mmHg no grupo de alvo alto, ou seja, o controle não ficou em 65; o alvo alto exigiu mais noradrenalina, efedrina e transfusão. Leitura prática: evitar PAM abaixo de 60–65 é consenso (POQI 2024: PAM ≥60 em pacientes de risco, como limite mínimo e não garantia de perfusão; alvo maior com pressão venosa ou de compartimento alta); subir o alvo é decisão individual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(a versão de 15 minutos começa direto na fisiologia). Estrutura: do raciocínio fisiológico para a farmacologia, depois cada droga, e por fim a aplicação no choque séptico e no centro cirúrgico. O bloco 03 é o núcleo da apresentação (cerca de 1 minuto por droga).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OPTIME-CHF: JAMA 2002;287(12):1541–1547. VANCS: Anesthesiology 2017;126(1):85–93.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307930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 E TERAPI"/>
          <p:cNvSpPr txBox="1"/>
          <p:nvPr/>
        </p:nvSpPr>
        <p:spPr>
          <a:xfrm>
            <a:off x="812800" y="3088609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CLÍNICA · ANESTESIOLOGIA E TERAPIA INTENSIVA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Objetivo: escolher a droga pelo mecanism"/>
          <p:cNvSpPr txBox="1"/>
          <p:nvPr/>
        </p:nvSpPr>
        <p:spPr>
          <a:xfrm>
            <a:off x="812800" y="4588436"/>
            <a:ext cx="105854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escolher a droga pelo mecanismo da hipotensão, no choque e na anestesia</a:t>
            </a:r>
            <a:endParaRPr lang="en-US" sz="1800" dirty="0"/>
          </a:p>
        </p:txBody>
      </p:sp>
      <p:sp>
        <p:nvSpPr>
          <p:cNvPr id="5" name="Bruno Dubois"/>
          <p:cNvSpPr txBox="1"/>
          <p:nvPr/>
        </p:nvSpPr>
        <p:spPr>
          <a:xfrm>
            <a:off x="812800" y="5165217"/>
            <a:ext cx="10585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Dubois</a:t>
            </a:r>
            <a:endParaRPr lang="en-US" sz="1500" dirty="0"/>
          </a:p>
        </p:txBody>
      </p:sp>
      <p:sp>
        <p:nvSpPr>
          <p:cNvPr id="6" name="Orientadores: Marcelo Bandeira e Glauber"/>
          <p:cNvSpPr txBox="1"/>
          <p:nvPr/>
        </p:nvSpPr>
        <p:spPr>
          <a:xfrm>
            <a:off x="812800" y="5483650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Orientadores: Marcelo Bandeira e Glauber Gouvea</a:t>
            </a:r>
            <a:endParaRPr lang="en-US" sz="1400" dirty="0"/>
          </a:p>
        </p:txBody>
      </p:sp>
      <p:sp>
        <p:nvSpPr>
          <p:cNvPr id="7" name="[Serviço] · [Data]"/>
          <p:cNvSpPr txBox="1"/>
          <p:nvPr/>
        </p:nvSpPr>
        <p:spPr>
          <a:xfrm>
            <a:off x="812800" y="578329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[Serviço] · [Data]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RVS: qual componente está falhando?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Vasoplegia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7" name="RVS baixa com DC preservado ou alto: sep"/>
          <p:cNvSpPr txBox="1"/>
          <p:nvPr/>
        </p:nvSpPr>
        <p:spPr>
          <a:xfrm>
            <a:off x="1073150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baixa com DC preservado ou alto: sepse, anestesia geral, neuroeixo, anafilaxia, pós-CEC. Alvo: tônus arterial, com vasopressor α1 ou V1.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Falência de bomba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11" name="DC baixo com RVS alta: choque cardiogêni"/>
          <p:cNvSpPr txBox="1"/>
          <p:nvPr/>
        </p:nvSpPr>
        <p:spPr>
          <a:xfrm>
            <a:off x="4662984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baixo com RVS alta: choque cardiogênico, depressão miocárdica da sepse. Alvo: contratilidade, com inotrópico β1, associado a vasopressor se a PAM cair.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é-carg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5" name="Hipovolemia não se corrige com amina. Ma"/>
          <p:cNvSpPr txBox="1"/>
          <p:nvPr/>
        </p:nvSpPr>
        <p:spPr>
          <a:xfrm>
            <a:off x="8252817" y="2517088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Hipovolemia não se corrige com amina. Mas o α1 também contrai veias: recruta volume não estressado e aumenta o retorno venoso.</a:t>
            </a:r>
            <a:endParaRPr lang="en-US" sz="1350" dirty="0"/>
          </a:p>
        </p:txBody>
      </p:sp>
      <p:sp>
        <p:nvSpPr>
          <p:cNvPr id="16" name="Cartão"/>
          <p:cNvSpPr/>
          <p:nvPr/>
        </p:nvSpPr>
        <p:spPr>
          <a:xfrm>
            <a:off x="812800" y="434012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Como saber?"/>
          <p:cNvSpPr txBox="1"/>
          <p:nvPr/>
        </p:nvSpPr>
        <p:spPr>
          <a:xfrm>
            <a:off x="1073150" y="4520821"/>
            <a:ext cx="233957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saber?</a:t>
            </a:r>
            <a:endParaRPr lang="en-US" sz="3200" dirty="0"/>
          </a:p>
        </p:txBody>
      </p:sp>
      <p:sp>
        <p:nvSpPr>
          <p:cNvPr id="18" name="Eco como primeira imagem para o tipo de "/>
          <p:cNvSpPr txBox="1"/>
          <p:nvPr/>
        </p:nvSpPr>
        <p:spPr>
          <a:xfrm>
            <a:off x="3596878" y="4553434"/>
            <a:ext cx="754102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 como primeira imagem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9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 · Persichini et al., Crit Care Med 2012 · ESICM 2025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Receptores: cada amina é um perfil de afinidade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Vasodilatação, broncodilatação, ↑glicemia e 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 inibe: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xposição prolongada dessensibiliza os a"/>
          <p:cNvSpPr txBox="1"/>
          <p:nvPr/>
        </p:nvSpPr>
        <p:spPr>
          <a:xfrm>
            <a:off x="812800" y="534464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prolongada dessensibiliza os adrenoceptores; vasopressina (V1) e milrinona (PDE3) agem por outra via.</a:t>
            </a:r>
            <a:endParaRPr lang="en-US" sz="1400" dirty="0"/>
          </a:p>
        </p:txBody>
      </p:sp>
      <p:sp>
        <p:nvSpPr>
          <p:cNvPr id="6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Estrutura: o anel catecol define a duração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1045865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960265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265065" y="1879501"/>
            <a:ext cx="855266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221930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526730" y="1879501"/>
            <a:ext cx="122574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854079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5158879" y="1879501"/>
            <a:ext cx="1585813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846292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7151092" y="1879501"/>
            <a:ext cx="1289348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9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Borda de destaque"/>
          <p:cNvSpPr/>
          <p:nvPr/>
        </p:nvSpPr>
        <p:spPr>
          <a:xfrm>
            <a:off x="8233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6" name="Catecolaminas"/>
          <p:cNvSpPr txBox="1"/>
          <p:nvPr/>
        </p:nvSpPr>
        <p:spPr>
          <a:xfrm>
            <a:off x="10731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7" name="Núcleo 3,4-di-hidroxifenil. Endógenas: d"/>
          <p:cNvSpPr txBox="1"/>
          <p:nvPr/>
        </p:nvSpPr>
        <p:spPr>
          <a:xfrm>
            <a:off x="1073150" y="3555908"/>
            <a:ext cx="46799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3,4-di-hidroxifenil. Endógenas: dopamina, noradrenalina, adrenalina. Sintéticas: dobutamina, isoproterenol. Recaptação neuronal, MAO e COMT encurtam a meia-vida para minutos: uso em infusão contínua e titulável.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62081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Não catecolaminas"/>
          <p:cNvSpPr txBox="1"/>
          <p:nvPr/>
        </p:nvSpPr>
        <p:spPr>
          <a:xfrm>
            <a:off x="64579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21" name="Sem o anel catecol, escapam da COMT: dur"/>
          <p:cNvSpPr txBox="1"/>
          <p:nvPr/>
        </p:nvSpPr>
        <p:spPr>
          <a:xfrm>
            <a:off x="6457950" y="3555908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anel catecol, escapam da COMT: duram mais e servem para bolus. Fenilefrina: agonista direto α1. Efedrina e metaraminol: ação mista, direta e por liberação de noradrenalina das terminações.</a:t>
            </a:r>
            <a:endParaRPr lang="en-US" sz="1350" dirty="0"/>
          </a:p>
        </p:txBody>
      </p:sp>
      <p:sp>
        <p:nvSpPr>
          <p:cNvPr id="22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Noradrenalina: o vasopressor de primeira linha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3" name="Ação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α1 potente com β1 modesto: eleva a PAM p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 potente com β1 modesto: eleva a PAM pela RVS e pela venoconstrição, que aumenta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7" name="Dose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8" name="0,01–0,5 mcg/kg/min, sem teto fixo no ch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0,01–0,5 mcg/kg/min, sem teto fixo no choque refratário; bolus de 5–10 mcg no centro cirúrgico. Pode começar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9" name="De Backer, N Engl J Med 2010 (SOAP II) ·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Adrenalina: β e α1, com custo metabólico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 ou 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 ou 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Ação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5" name="Dose-dependente: em dose baixa predomina"/>
          <p:cNvSpPr txBox="1"/>
          <p:nvPr/>
        </p:nvSpPr>
        <p:spPr>
          <a:xfrm>
            <a:off x="43243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Dose-dependente: em dose baixa predomina β (↑DC; a RVS pode cair); em dose alta, α1. Droga de escolha na anafilaxia; no choque séptico, entra se a PAM seguir inadequada com NA + vasopressina.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Dose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9" name="0,01–0,1 mcg/kg/min, mais no refratário.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0,01–0,1 mcg/kg/min, mais no refratário. Na anafilaxia durante a anestesia, bolus titulado: 10–20 mcg EV no grau 2, 50–100 mcg no grau 3. Taquicardia, arritmia e hiperglicemia; o lactato sobe por efeito β2, sem excluir hipoperfusão.</a:t>
            </a:r>
            <a:endParaRPr lang="en-US" sz="1350" dirty="0"/>
          </a:p>
        </p:txBody>
      </p:sp>
      <p:sp>
        <p:nvSpPr>
          <p:cNvPr id="30" name="ANZCA/ANZAAG 2022 · SSC 2026 · barras: e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2022 · SSC 2026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dobutamina: β1 com custos diferentes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4386"/>
            <a:ext cx="1062732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53694" y="2076916"/>
            <a:ext cx="160575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759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759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4412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Borda de destaque"/>
          <p:cNvSpPr/>
          <p:nvPr/>
        </p:nvSpPr>
        <p:spPr>
          <a:xfrm>
            <a:off x="8233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1" name="Efeito dose-dependente e imprevisível: D"/>
          <p:cNvSpPr txBox="1"/>
          <p:nvPr/>
        </p:nvSpPr>
        <p:spPr>
          <a:xfrm>
            <a:off x="10731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dose-dependente e imprevisível: D1, depois β1 (em parte por liberar noradrenalina) e, em doses altas, α1. Dose “renal” não protege o rim. Mais arritmia que a NA: fora da primeira linha no choque.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23" name="Dobutamina"/>
          <p:cNvSpPr txBox="1"/>
          <p:nvPr/>
        </p:nvSpPr>
        <p:spPr>
          <a:xfrm>
            <a:off x="6451600" y="2054386"/>
            <a:ext cx="1266527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4" name="DC ↑↑ · FC ↑ · RVS ↓"/>
          <p:cNvSpPr txBox="1"/>
          <p:nvPr/>
        </p:nvSpPr>
        <p:spPr>
          <a:xfrm>
            <a:off x="9565878" y="2076916"/>
            <a:ext cx="157837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5" name="α1"/>
          <p:cNvSpPr txBox="1"/>
          <p:nvPr/>
        </p:nvSpPr>
        <p:spPr>
          <a:xfrm>
            <a:off x="6451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26" name="Cartão"/>
          <p:cNvSpPr/>
          <p:nvPr/>
        </p:nvSpPr>
        <p:spPr>
          <a:xfrm>
            <a:off x="6858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7" name="Cartão"/>
          <p:cNvSpPr/>
          <p:nvPr/>
        </p:nvSpPr>
        <p:spPr>
          <a:xfrm>
            <a:off x="6858000" y="247759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8" name="β1"/>
          <p:cNvSpPr txBox="1"/>
          <p:nvPr/>
        </p:nvSpPr>
        <p:spPr>
          <a:xfrm>
            <a:off x="89154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0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1" name="β2"/>
          <p:cNvSpPr txBox="1"/>
          <p:nvPr/>
        </p:nvSpPr>
        <p:spPr>
          <a:xfrm>
            <a:off x="6451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32" name="Cartão"/>
          <p:cNvSpPr/>
          <p:nvPr/>
        </p:nvSpPr>
        <p:spPr>
          <a:xfrm>
            <a:off x="6858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3" name="Cartão"/>
          <p:cNvSpPr/>
          <p:nvPr/>
        </p:nvSpPr>
        <p:spPr>
          <a:xfrm>
            <a:off x="6858000" y="2754412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4" name="D1"/>
          <p:cNvSpPr txBox="1"/>
          <p:nvPr/>
        </p:nvSpPr>
        <p:spPr>
          <a:xfrm>
            <a:off x="89154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3218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6" name="Cartão"/>
          <p:cNvSpPr/>
          <p:nvPr/>
        </p:nvSpPr>
        <p:spPr>
          <a:xfrm>
            <a:off x="61976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7" name="Borda de destaque"/>
          <p:cNvSpPr/>
          <p:nvPr/>
        </p:nvSpPr>
        <p:spPr>
          <a:xfrm>
            <a:off x="62081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38" name="Inotrópico β1 com vasodilatação β2: pode"/>
          <p:cNvSpPr txBox="1"/>
          <p:nvPr/>
        </p:nvSpPr>
        <p:spPr>
          <a:xfrm>
            <a:off x="64579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Inotrópico β1 com vasodilatação β2: pode baixar a PAM e entra com o vasopressor, nunca no lugar dele. Indicada no baixo débito com hipoperfusão. Taquicardia e arritmia limitam a dose.</a:t>
            </a:r>
            <a:endParaRPr lang="en-US" sz="1350" dirty="0"/>
          </a:p>
        </p:txBody>
      </p:sp>
      <p:sp>
        <p:nvSpPr>
          <p:cNvPr id="39" name="Bellomo, Lancet 2000 · De Backer, N Eng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Milrinona: inodilatador sem receptor β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674765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passar"/>
          <p:cNvSpPr txBox="1"/>
          <p:nvPr/>
        </p:nvSpPr>
        <p:spPr>
          <a:xfrm>
            <a:off x="1066800" y="2466087"/>
            <a:ext cx="25590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Inibe a PDE3 e aumenta o AMPc sem passar pelo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282861"/>
            <a:ext cx="25590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Coração: inotropismo e lusitropismo. Vasos: vasodilatação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404982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438827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438827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71331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71331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503835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503835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65883"/>
          </a:xfrm>
          <a:prstGeom prst="roundRect">
            <a:avLst>
              <a:gd name="adj" fmla="val 45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orda de destaque"/>
          <p:cNvSpPr/>
          <p:nvPr/>
        </p:nvSpPr>
        <p:spPr>
          <a:xfrm>
            <a:off x="4074579" y="1879501"/>
            <a:ext cx="7294043" cy="38100"/>
          </a:xfrm>
          <a:custGeom>
            <a:avLst/>
            <a:gdLst/>
            <a:ahLst/>
            <a:cxnLst/>
            <a:rect l="l" t="t" r="r" b="b"/>
            <a:pathLst>
              <a:path w="7294043" h="38100">
                <a:moveTo>
                  <a:pt x="7228421" y="0"/>
                </a:moveTo>
                <a:lnTo>
                  <a:pt x="7243287" y="1464"/>
                </a:lnTo>
                <a:lnTo>
                  <a:pt x="7257582" y="5800"/>
                </a:lnTo>
                <a:lnTo>
                  <a:pt x="7270756" y="12842"/>
                </a:lnTo>
                <a:lnTo>
                  <a:pt x="7282303" y="22318"/>
                </a:lnTo>
                <a:lnTo>
                  <a:pt x="7291779" y="33866"/>
                </a:lnTo>
                <a:lnTo>
                  <a:pt x="72940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7" name="Indicações"/>
          <p:cNvSpPr txBox="1"/>
          <p:nvPr/>
        </p:nvSpPr>
        <p:spPr>
          <a:xfrm>
            <a:off x="4324350" y="216868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8" name="IC descompensada com baixo débito e sínd"/>
          <p:cNvSpPr txBox="1"/>
          <p:nvPr/>
        </p:nvSpPr>
        <p:spPr>
          <a:xfrm>
            <a:off x="4324350" y="2517088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 descompensada com baixo débito e síndrome de baixo débito após CEC. Disfunção de VD e hipertensão pulmonar. Ponte para transplante ou assistência ventricular. Preferível à dobutamina em uso de betabloqueador.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4064000" y="3646984"/>
            <a:ext cx="73152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Borda de destaque"/>
          <p:cNvSpPr/>
          <p:nvPr/>
        </p:nvSpPr>
        <p:spPr>
          <a:xfrm>
            <a:off x="4074579" y="3646984"/>
            <a:ext cx="7294043" cy="38100"/>
          </a:xfrm>
          <a:custGeom>
            <a:avLst/>
            <a:gdLst/>
            <a:ahLst/>
            <a:cxnLst/>
            <a:rect l="l" t="t" r="r" b="b"/>
            <a:pathLst>
              <a:path w="7294043" h="38100">
                <a:moveTo>
                  <a:pt x="7228421" y="0"/>
                </a:moveTo>
                <a:lnTo>
                  <a:pt x="7243287" y="1464"/>
                </a:lnTo>
                <a:lnTo>
                  <a:pt x="7257582" y="5800"/>
                </a:lnTo>
                <a:lnTo>
                  <a:pt x="7270756" y="12842"/>
                </a:lnTo>
                <a:lnTo>
                  <a:pt x="7282303" y="22318"/>
                </a:lnTo>
                <a:lnTo>
                  <a:pt x="7291779" y="33866"/>
                </a:lnTo>
                <a:lnTo>
                  <a:pt x="72940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1" name="Dose e cuidados"/>
          <p:cNvSpPr txBox="1"/>
          <p:nvPr/>
        </p:nvSpPr>
        <p:spPr>
          <a:xfrm>
            <a:off x="4324350" y="393616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2" name="Ataque de 50 mcg/kg em 10 min, muitas ve"/>
          <p:cNvSpPr txBox="1"/>
          <p:nvPr/>
        </p:nvSpPr>
        <p:spPr>
          <a:xfrm>
            <a:off x="4324350" y="4284570"/>
            <a:ext cx="68135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Ataque de 50 mcg/kg em 10 min, muitas vezes omitido; manutenção de 0,375–0,75 mcg/kg/min. Eliminação renal: reduzir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3" name="Mathew, N Engl J Med 2021 (DOREMI) · Cuf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Cuffe, JAMA 2002 (OPTIME-CHF)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efedrina: as drogas de bolus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4386"/>
            <a:ext cx="1110853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970139" y="2076916"/>
            <a:ext cx="178931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8233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8" name="Agonista α1 direto, em bolus de 50–100 m"/>
          <p:cNvSpPr txBox="1"/>
          <p:nvPr/>
        </p:nvSpPr>
        <p:spPr>
          <a:xfrm>
            <a:off x="10731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Agonista α1 direto, em bolus de 50–100 mcg. A bradicardia reflexa pode reduzir o DC; ajuda quando a taquicardia é o problema (por exemplo, na estenose aórtica, conforme o contexto). Cesárea: infusão profilática de 25–50 mcg/min.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61976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20" name="Efedrina"/>
          <p:cNvSpPr txBox="1"/>
          <p:nvPr/>
        </p:nvSpPr>
        <p:spPr>
          <a:xfrm>
            <a:off x="6451600" y="2054386"/>
            <a:ext cx="882948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1" name="PAM ↑ · FC ↑ · DC ↑"/>
          <p:cNvSpPr txBox="1"/>
          <p:nvPr/>
        </p:nvSpPr>
        <p:spPr>
          <a:xfrm>
            <a:off x="9621044" y="2076916"/>
            <a:ext cx="152320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2" name="α1"/>
          <p:cNvSpPr txBox="1"/>
          <p:nvPr/>
        </p:nvSpPr>
        <p:spPr>
          <a:xfrm>
            <a:off x="6451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858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4" name="Cartão"/>
          <p:cNvSpPr/>
          <p:nvPr/>
        </p:nvSpPr>
        <p:spPr>
          <a:xfrm>
            <a:off x="6858000" y="247759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5" name="β1"/>
          <p:cNvSpPr txBox="1"/>
          <p:nvPr/>
        </p:nvSpPr>
        <p:spPr>
          <a:xfrm>
            <a:off x="89154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26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7" name="Cartão"/>
          <p:cNvSpPr/>
          <p:nvPr/>
        </p:nvSpPr>
        <p:spPr>
          <a:xfrm>
            <a:off x="9321800" y="247759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8" name="β2"/>
          <p:cNvSpPr txBox="1"/>
          <p:nvPr/>
        </p:nvSpPr>
        <p:spPr>
          <a:xfrm>
            <a:off x="6451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6858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0" name="Cartão"/>
          <p:cNvSpPr/>
          <p:nvPr/>
        </p:nvSpPr>
        <p:spPr>
          <a:xfrm>
            <a:off x="6858000" y="2754412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1" name="D1"/>
          <p:cNvSpPr txBox="1"/>
          <p:nvPr/>
        </p:nvSpPr>
        <p:spPr>
          <a:xfrm>
            <a:off x="89154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32" name="Cartão"/>
          <p:cNvSpPr/>
          <p:nvPr/>
        </p:nvSpPr>
        <p:spPr>
          <a:xfrm>
            <a:off x="93218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3" name="Cartão"/>
          <p:cNvSpPr/>
          <p:nvPr/>
        </p:nvSpPr>
        <p:spPr>
          <a:xfrm>
            <a:off x="61976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4" name="Borda de destaque"/>
          <p:cNvSpPr/>
          <p:nvPr/>
        </p:nvSpPr>
        <p:spPr>
          <a:xfrm>
            <a:off x="62081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35" name="Ação mista: direta em α e β e indireta, "/>
          <p:cNvSpPr txBox="1"/>
          <p:nvPr/>
        </p:nvSpPr>
        <p:spPr>
          <a:xfrm>
            <a:off x="64579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mista: direta em α e β e indireta, liberando noradrenalina. Bolus de 5–10 mg, boa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6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adjuvantes: outras vias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2299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Dose fixa (até 0,04), sem titular; age m"/>
          <p:cNvSpPr txBox="1"/>
          <p:nvPr/>
        </p:nvSpPr>
        <p:spPr>
          <a:xfrm>
            <a:off x="1066800" y="3037688"/>
            <a:ext cx="35750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(até 0,04), sem titular; age mesmo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636374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Indicações: choque séptico com NA em escalada, vasoplegia pós-CEC e hipotensão refratária com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Borda de destaque"/>
          <p:cNvSpPr/>
          <p:nvPr/>
        </p:nvSpPr>
        <p:spPr>
          <a:xfrm>
            <a:off x="5080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1" name="Hidrocortisona"/>
          <p:cNvSpPr txBox="1"/>
          <p:nvPr/>
        </p:nvSpPr>
        <p:spPr>
          <a:xfrm>
            <a:off x="5321300" y="2035679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2" name="Restaura a resposta vascular às catecola"/>
          <p:cNvSpPr txBox="1"/>
          <p:nvPr/>
        </p:nvSpPr>
        <p:spPr>
          <a:xfrm>
            <a:off x="5321300" y="2305516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Borda de destaque"/>
          <p:cNvSpPr/>
          <p:nvPr/>
        </p:nvSpPr>
        <p:spPr>
          <a:xfrm>
            <a:off x="5080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5" name="Angiotensina II"/>
          <p:cNvSpPr txBox="1"/>
          <p:nvPr/>
        </p:nvSpPr>
        <p:spPr>
          <a:xfrm>
            <a:off x="5321300" y="3196340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6" name="Agonista AT1: eleva a PAM rapidamente e "/>
          <p:cNvSpPr txBox="1"/>
          <p:nvPr/>
        </p:nvSpPr>
        <p:spPr>
          <a:xfrm>
            <a:off x="5321300" y="3466177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orda de destaque"/>
          <p:cNvSpPr/>
          <p:nvPr/>
        </p:nvSpPr>
        <p:spPr>
          <a:xfrm>
            <a:off x="5080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9" name="Azul de metileno"/>
          <p:cNvSpPr txBox="1"/>
          <p:nvPr/>
        </p:nvSpPr>
        <p:spPr>
          <a:xfrm>
            <a:off x="5321300" y="4357001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20" name="Bloqueia a via óxido nítrico–GMPc: resga"/>
          <p:cNvSpPr txBox="1"/>
          <p:nvPr/>
        </p:nvSpPr>
        <p:spPr>
          <a:xfrm>
            <a:off x="5321300" y="4626838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 a via óxido nítrico–GMPc: resgate na vasoplegia refratária (pós-CEC, reperfusão hepática). Evitar com ISRS e na deficiência de G6PD.</a:t>
            </a:r>
            <a:endParaRPr lang="en-US" sz="1300" dirty="0"/>
          </a:p>
        </p:txBody>
      </p:sp>
      <p:sp>
        <p:nvSpPr>
          <p:cNvPr id="21" name="SSC 2026 · Hajjar, Anesthesiology 2017 (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cedo; pode começar em veia per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linha, cedo; pode começar em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58234" y="2659727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500467" y="2659727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58739"/>
          </a:xfrm>
          <a:prstGeom prst="roundRect">
            <a:avLst>
              <a:gd name="adj" fmla="val 459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0" name="Alvo e momento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1" name="PAM 65 mmHg para começar (60–65 a partir"/>
          <p:cNvSpPr txBox="1"/>
          <p:nvPr/>
        </p:nvSpPr>
        <p:spPr>
          <a:xfrm>
            <a:off x="10731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65 mmHg para começar (60–65 a partir dos 65 anos). Iniciar a vasopressina mais cedo como regra não reduziu a mortalidade (VASSPR).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658739"/>
          </a:xfrm>
          <a:prstGeom prst="roundRect">
            <a:avLst>
              <a:gd name="adj" fmla="val 459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4" name="Disfunção cardíaca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5" name="Hipoperfusão com volume e PAM adequados: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com volume e PAM adequados: dobutamina com NA, ou adrenalina. Hidrocortisona EV sugerida. Levosimendan e terlipressina: contra.</a:t>
            </a:r>
            <a:endParaRPr lang="en-US" sz="1350" dirty="0"/>
          </a:p>
        </p:txBody>
      </p:sp>
      <p:sp>
        <p:nvSpPr>
          <p:cNvPr id="26" name="Prescott, Crit Care Med 2026 (SSC) · Pe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Intraoperatório: a droga segue o mecanismo</a:t>
            </a:r>
            <a:endParaRPr lang="en-US" sz="32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Cenário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Racional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após indução ou neuroeixo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50–100 mcg ou NA 5–10 mcg em bolus; NA em infusão se persistir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 e liberação de 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débito, disfunção de VD ou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 ou milrinona, com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Inotropismo; a milrinona também reduz a RVP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 refratária: pós-CEC, IECA/BRA, reperfusão hepática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Vasopressina; azul de metileno como resgate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Outras vias: V1 e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 ≥90% da basal; NA com menos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roativo: antecipar e tratar cedo; bolus"/>
          <p:cNvSpPr txBox="1"/>
          <p:nvPr/>
        </p:nvSpPr>
        <p:spPr>
          <a:xfrm>
            <a:off x="812800" y="540298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Proativo: antecipar e tratar cedo; bolus para o transitório, infusão para o persistente.</a:t>
            </a:r>
            <a:endParaRPr lang="en-US" sz="1400" dirty="0"/>
          </a:p>
        </p:txBody>
      </p:sp>
      <p:sp>
        <p:nvSpPr>
          <p:cNvPr id="6" name="Kinsella, Anaesthesia 2018 · Hajjar, Ane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Hajjar, Anesthesiology 2017 (VANCS)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intraoperatória: o custo oculto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O QUE CUSTA"/>
          <p:cNvSpPr txBox="1"/>
          <p:nvPr/>
        </p:nvSpPr>
        <p:spPr>
          <a:xfrm>
            <a:off x="1066800" y="2122299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Poucos minutos abaixo do limiar já se as"/>
          <p:cNvSpPr txBox="1"/>
          <p:nvPr/>
        </p:nvSpPr>
        <p:spPr>
          <a:xfrm>
            <a:off x="1066800" y="3149508"/>
            <a:ext cx="3067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minutos abaixo do limiar já se associam a lesão renal aguda, lesão miocárdica e delirium.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Piso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Piso</a:t>
            </a:r>
            <a:endParaRPr lang="en-US" sz="1500" dirty="0"/>
          </a:p>
        </p:txBody>
      </p:sp>
      <p:sp>
        <p:nvSpPr>
          <p:cNvPr id="11" name="PAM ≥60 em pacientes de risco (POQI 2024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≥60 em pacientes de risco (POQI 2024): limite mínimo, não garantia de perfusão; pressão venosa alta pede alvo maior.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4" name="Acima do piso, só em selecionados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do piso, só em selecionados</a:t>
            </a:r>
            <a:endParaRPr lang="en-US" sz="1500" dirty="0"/>
          </a:p>
        </p:txBody>
      </p:sp>
      <p:sp>
        <p:nvSpPr>
          <p:cNvPr id="15" name="PAM ≥80 reduziu lesão renal aguda em hip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≥80 reduziu lesão renal aguda em hipertensos de alto risco (HISTAP); alvo pela PA noturna não ajudou (IMPROVE-multi).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Proativo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Proativo</a:t>
            </a:r>
            <a:endParaRPr lang="en-US" sz="1500" dirty="0"/>
          </a:p>
        </p:txBody>
      </p:sp>
      <p:sp>
        <p:nvSpPr>
          <p:cNvPr id="19" name="Antecipar e tratar cedo; monitorização f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Antecipar e tratar cedo; monitorização funcional (VPP, volume sistólico, eco) decide entre volume, vasopressor e inotrópico.</a:t>
            </a:r>
            <a:endParaRPr lang="en-US" sz="1300" dirty="0"/>
          </a:p>
        </p:txBody>
      </p:sp>
      <p:sp>
        <p:nvSpPr>
          <p:cNvPr id="20" name="Lineburger et al., Braz J Anesthesiol 20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Lineburger et al., Braz J Anesthesiol 2025 · Saugel, Br J Anaesth 2024 (POQI) · HISTAP, Intensive Care Med 2026 · Saugel, JAMA 2025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para o problema certo</a:t>
            </a:r>
            <a:endParaRPr lang="en-US" sz="3200" dirty="0"/>
          </a:p>
        </p:txBody>
      </p:sp>
      <p:graphicFrame>
        <p:nvGraphicFramePr>
          <p:cNvPr id="1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 ou milrinona, com vasopressor se a PAM cair; 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Tratar cedo: PAM ≥60–65 como piso,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quando "/>
          <p:cNvSpPr txBox="1"/>
          <p:nvPr/>
        </p:nvSpPr>
        <p:spPr>
          <a:xfrm>
            <a:off x="812800" y="5134004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discutir: no nosso serviço, quando preferimos milrinona a dobutamina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Saugel, Br J Anaesth 2024 (POQI) · Lineburger et al., Braz J Anesthesiol 2025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307930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: detalhes, tabelas e r"/>
          <p:cNvSpPr txBox="1"/>
          <p:nvPr/>
        </p:nvSpPr>
        <p:spPr>
          <a:xfrm>
            <a:off x="812800" y="1869330"/>
            <a:ext cx="10179050" cy="115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reserva: detalhes, tabelas e referências para as perguntas.</a:t>
            </a:r>
            <a:endParaRPr lang="en-US" sz="3800" dirty="0"/>
          </a:p>
        </p:txBody>
      </p:sp>
      <p:sp>
        <p:nvSpPr>
          <p:cNvPr id="4" name="Não entram nos 15 minutos. Use para resp"/>
          <p:cNvSpPr txBox="1"/>
          <p:nvPr/>
        </p:nvSpPr>
        <p:spPr>
          <a:xfrm>
            <a:off x="812800" y="3322585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entram nos 15 minutos. Use para responder a perguntas ou se sobrar tempo.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926780"/>
            <a:ext cx="198606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900462" y="3926780"/>
            <a:ext cx="121513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4217194" y="3926780"/>
            <a:ext cx="138291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701705" y="3926780"/>
            <a:ext cx="12547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7058025" y="3926780"/>
            <a:ext cx="1066998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8226623" y="3926780"/>
            <a:ext cx="1511995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12800" y="4429621"/>
            <a:ext cx="184745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2761853" y="4429621"/>
            <a:ext cx="165993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4523383" y="4429621"/>
            <a:ext cx="144234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Timing e via"/>
          <p:cNvSpPr/>
          <p:nvPr/>
        </p:nvSpPr>
        <p:spPr>
          <a:xfrm>
            <a:off x="6067326" y="4429621"/>
            <a:ext cx="1383209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7552134" y="4429621"/>
            <a:ext cx="20548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9708555" y="4429621"/>
            <a:ext cx="97790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812800" y="4932462"/>
            <a:ext cx="136376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Síntese: as drogas lado a lado</a:t>
            </a:r>
            <a:endParaRPr lang="en-US" sz="3200" dirty="0"/>
          </a:p>
        </p:txBody>
      </p:sp>
      <p:graphicFrame>
        <p:nvGraphicFramePr>
          <p:cNvPr id="1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não afin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qualitativa (0 a ++++), não afinidade medida · faixas usuais, titular pelo efeito · Overgaard &amp; Džavík, Circulation 2008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Dopamina: efeito dose-dependente e mais arritmia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5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6" name="Faixa de 2 a 20 mcg/kg/min. Até ~3: D1 ("/>
          <p:cNvSpPr txBox="1"/>
          <p:nvPr/>
        </p:nvSpPr>
        <p:spPr>
          <a:xfrm>
            <a:off x="4324350" y="2517088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2 a 20 mcg/kg/min. Até ~3: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7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8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9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30" name="Dose renal não protege o rim (ANZICS, La"/>
          <p:cNvSpPr txBox="1"/>
          <p:nvPr/>
        </p:nvSpPr>
        <p:spPr>
          <a:xfrm>
            <a:off x="80835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renal não protege o rim (ANZICS, Lancet 2000). SOAP II: arritmias 24,1% vs. 12,4% e maior mortalidade no subgrupo cardiogênico. SSC 2026: recomendação forte contra como primeira linha (certeza alta).</a:t>
            </a:r>
            <a:endParaRPr lang="en-US" sz="1350" dirty="0"/>
          </a:p>
        </p:txBody>
      </p:sp>
      <p:sp>
        <p:nvSpPr>
          <p:cNvPr id="31" name="Bellomo, Lancet 2000 · De Backer, N Eng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Dobutamina: inotrópico que pode baixar a PAM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2,5 a 20 mcg/kg/min. Mistura 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2,5 a 20 mcg/kg/min. Mistura racêmica cujos efeitos α1 se anulam: efeito líquido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cardia, arritmia e maior consumo de"/>
          <p:cNvSpPr txBox="1"/>
          <p:nvPr/>
        </p:nvSpPr>
        <p:spPr>
          <a:xfrm>
            <a:off x="80835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Taquicardia, arritmia e maior consumo de O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baseline="-400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miocárdico; tolerância após uso prolongado. Hipotensão se hipovolêmico ou vasoplégico.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30" name="Mathew, N Engl J Med 2021 (DOREMI) · SS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Fenilefrina: α1 puro e bradicardia reflexa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2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3" name="Bolus de 50–100 mcg, início imediato e e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50–100 mcg, início imediato e efeito curto. Na cesárea sob raqui, infusão profilática de 25–50 mcg/min, mantendo a PAS ≥90% da basal. Útil na vasodilatação com FC normal ou alta e, conforme o contexto, na estenose aórtica ou na obstrução dinâmica da via de saída do VE.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6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O barorreflexo reduz a FC e pode reduzir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barorreflexo reduz a FC e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(Sharkey et al.)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Efedrina: ação mista e taquifilaxia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Bolus de 5–10 mg EV, repetível. Agonista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5–10 mg EV, repetível. Agonista direto α e β e indireto, liberando noradrenalina das terminações. Sem catecol, resiste a MAO e COMT e dura mais que as catecolaminas. Boa opção na hipotensão com bradicardia após indução ou raqui.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filaxia por depleção dos estoques d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fica como resgate.</a:t>
            </a:r>
            <a:endParaRPr lang="en-US" sz="1350" dirty="0"/>
          </a:p>
        </p:txBody>
      </p:sp>
      <p:sp>
        <p:nvSpPr>
          <p:cNvPr id="30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Vasopressina: adjuvante que poupa catecolamina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Mecanismo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7" name="Hormônio não adrenérgico: receptor V1 no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Hormônio não adrenérgico: receptor V1 no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Us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700" dirty="0"/>
          </a:p>
        </p:txBody>
      </p:sp>
      <p:sp>
        <p:nvSpPr>
          <p:cNvPr id="11" name="Dose fixa de 0,03 U/min (até 0,04), sem "/>
          <p:cNvSpPr txBox="1"/>
          <p:nvPr/>
        </p:nvSpPr>
        <p:spPr>
          <a:xfrm>
            <a:off x="4662984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de 0,03 U/min (até 0,04), sem titulação como a NA. SSC 2026: associar quando a NA está em escalada (condicional, certeza moderada); entre os painelistas, o início típico foi com NA ~0,3 mcg/kg/min.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Evidênci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5" name="VASST: sem redução de mortalidade em 28 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VASST: sem redução de mortalidade em 28 dias (35,4% vs. 39,3%). VASSPR (JAMA 2026; n = 3.959): políticas por hospital de iniciar com NA 0,1 vs. 0,4 mcg/kg/min não mudaram a mortalidade (31,8% vs. 33,0%).</a:t>
            </a:r>
            <a:endParaRPr lang="en-US" sz="1350" dirty="0"/>
          </a:p>
        </p:txBody>
      </p:sp>
      <p:sp>
        <p:nvSpPr>
          <p:cNvPr id="16" name="Russell, N Engl J Med 2008 (VASST) · Pe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 além das aminas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ADRENAL: choque resolve mais rápido. APROCCHSS: ↓ mortalidade com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Sugere usar (condicional,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ATHOS-3: resposta da PAM em 3 h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Inibe a via NO–GMPc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Milrinona, levosimendan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levosimendan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EJM 2018 · Annane, NEJM 2018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Venkatesh, NEJM 2018 · Annane, NEJM 2018 · Khanna, NEJM 2017 · Mathew, NEJM 2021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SSC 2026: a sequência de vasopressores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até por 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 (forte); iniciar cedo, até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muito"/>
          <p:cNvSpPr txBox="1"/>
          <p:nvPr/>
        </p:nvSpPr>
        <p:spPr>
          <a:xfrm>
            <a:off x="8500467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ainda inadequada (condicional,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Disfunção cardíaca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1" name="Hipoperfusão apesar de volume e PAM adeq"/>
          <p:cNvSpPr txBox="1"/>
          <p:nvPr/>
        </p:nvSpPr>
        <p:spPr>
          <a:xfrm>
            <a:off x="1073150" y="417800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apesar de volume e PAM adequados: dobutamina + NA, ou adrenalina isolada. Na escolha inicial, NA se taquiarritmia, adrenalina se bradiarritmia. Levosimendan: contra.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24" name="Adjuvantes e o que evitar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5" name="Hidrocortisona EV sugerida (condicional,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 EV sugerida (condicional, baixa). Dopamina como primeira linha: contra (forte). Terlipressina: contra. Azul de metileno: evidência insuficiente.</a:t>
            </a:r>
            <a:endParaRPr lang="en-US" sz="1350" dirty="0"/>
          </a:p>
        </p:txBody>
      </p:sp>
      <p:sp>
        <p:nvSpPr>
          <p:cNvPr id="26" name="Prescott, Antonelli et al., Crit Care Me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et al., Crit Care Med 2026;54(4):725–812 (Surviving Sepsis Campaign 2026)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PAM: começar em 65 mmHg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468092"/>
          </a:xfrm>
          <a:prstGeom prst="roundRect">
            <a:avLst>
              <a:gd name="adj" fmla="val 2197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117600" y="2171232"/>
            <a:ext cx="296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</a:t>
            </a:r>
            <a:endParaRPr lang="en-US" sz="1400" dirty="0"/>
          </a:p>
        </p:txBody>
      </p:sp>
      <p:sp>
        <p:nvSpPr>
          <p:cNvPr id="6" name="65"/>
          <p:cNvSpPr txBox="1"/>
          <p:nvPr/>
        </p:nvSpPr>
        <p:spPr>
          <a:xfrm>
            <a:off x="1117600" y="2635325"/>
            <a:ext cx="29654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117600" y="3738206"/>
            <a:ext cx="2965450" cy="128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mmHg como alvo inicial no choque séptico (forte, certeza moderada), titulando dentro de ~5 mmHg. Em ≥65 anos: 60–65 mmHg (condicional,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65 trial · JAMA 2020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1" name="≥65 anos, PAM 60–65 vs. cuidado usual: m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anos, PAM 60–65 vs. cuidado usual: mortalidade em 90 dias 41,0% vs. 43,8% (NS), com menos noradrenalina e menor duração.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4" name="OPTPRESS · 2025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OPTPRESS · 2025</a:t>
            </a:r>
            <a:endParaRPr lang="en-US" sz="1500" dirty="0"/>
          </a:p>
        </p:txBody>
      </p:sp>
      <p:sp>
        <p:nvSpPr>
          <p:cNvPr id="15" name="≥65 anos com choque séptico, alvo 80–85 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ESICM 2025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9" name="Individualizar: considerar alvo maior em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20" name="Lamontagne, JAMA 2020 · Endo, Intensive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Lamontagne, JAMA 2020 · Endo, Intensive Care Med 2025 (OPTPRESS) · Monnet, Intensive Care Med 2025 (ESICM)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TIMING E V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TIMING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Timing e via: começar cedo, mesmo periférico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Precoce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Precoce</a:t>
            </a:r>
            <a:endParaRPr lang="en-US" sz="1700" dirty="0"/>
          </a:p>
        </p:txBody>
      </p:sp>
      <p:sp>
        <p:nvSpPr>
          <p:cNvPr id="7" name="CENSER: NA 0,05 mcg/kg/min desde a admis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CENSER: NA 0,05 mcg/kg/min desde a admissão elevou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Periféric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Periférico</a:t>
            </a:r>
            <a:endParaRPr lang="en-US" sz="1700" dirty="0"/>
          </a:p>
        </p:txBody>
      </p:sp>
      <p:sp>
        <p:nvSpPr>
          <p:cNvPr id="11" name="Metanálise de Tran (n = 1.835): complica"/>
          <p:cNvSpPr txBox="1"/>
          <p:nvPr/>
        </p:nvSpPr>
        <p:spPr>
          <a:xfrm>
            <a:off x="4662984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Metanálise de Tran (n = 1.835): complicações em 7% (combinada 8,6%), 96% leves; menos com protocolo de segurança (2,9% vs. 12%). SSC 2026: iniciar periférico em vez de esperar o acesso central.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escrição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5" name="No Brasil, a ampola de hemitartarato 2 m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6" name="Permpikul, AJRCCM 2019 · Tran, Am J Emer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Permpikul, AJRCCM 2019 · Tran, Am J Emerg Med 2020 · Ibarra-Estrada, ICM 2024 · InCor/HC-FMUSP 2020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intraoperatório: PAM 60–65 como piso</a:t>
            </a:r>
            <a:endParaRPr lang="en-US" sz="3200" dirty="0"/>
          </a:p>
        </p:txBody>
      </p:sp>
      <p:graphicFrame>
        <p:nvGraphicFramePr>
          <p:cNvPr id="2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535932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≥60, com manejo de anti-hipertensivos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Eventos vasculares em 30 dias: 13,9% vs. 14,0%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ou disfunção orgânica: 38,1% vs. 48,9% (RR 0,78), sobretudo LRA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4725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POQI 2024: PAM ≥60 em pacientes de risco é limite mínimo, não garantia de perfusão; com pressão venosa alta, o alvo é maior. Acima do piso, benefício só em hipertensos de alto risco, e os ECRs divergem.</a:t>
            </a:r>
            <a:endParaRPr lang="en-US" sz="1400" dirty="0"/>
          </a:p>
        </p:txBody>
      </p:sp>
      <p:sp>
        <p:nvSpPr>
          <p:cNvPr id="6" name="Marcucci, Ann Intern Med 2023 · Saugel,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Marcucci, Ann Intern Med 2023 · Saugel, JAMA 2025 · HISTAP (SIAARTI), Intensive Care Med 2026 · Saugel, Br J Anaesth 2024 (POQI)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vamos discutir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 cardíaco e resis"/>
          <p:cNvSpPr txBox="1"/>
          <p:nvPr/>
        </p:nvSpPr>
        <p:spPr>
          <a:xfrm>
            <a:off x="1371600" y="1959009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Fisiologia: PAM, débito cardíaco e resistência vascular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adrenérgicos e classificação "/>
          <p:cNvSpPr txBox="1"/>
          <p:nvPr/>
        </p:nvSpPr>
        <p:spPr>
          <a:xfrm>
            <a:off x="6858000" y="1959009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 adrenérgicos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03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6149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Drogas: noradrenalina, adrenalina, dopamina, dobutamina, milrinona, fenilefrina e efedrina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03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6149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4628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563972"/>
            <a:ext cx="414803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4628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custo"/>
          <p:cNvSpPr txBox="1"/>
          <p:nvPr/>
        </p:nvSpPr>
        <p:spPr>
          <a:xfrm>
            <a:off x="6858000" y="3563972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Perioperatório: escolha da droga e custo da hipotensão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26530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: a droga certa para o p"/>
          <p:cNvSpPr txBox="1"/>
          <p:nvPr/>
        </p:nvSpPr>
        <p:spPr>
          <a:xfrm>
            <a:off x="1371600" y="436645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 finais: a droga certa para o problema certo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Miller’s Anesthesia, 10ª ed. (2024)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base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2119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3711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6225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8739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Peltan · VASSPR · JAMA 2026"/>
          <p:cNvSpPr txBox="1"/>
          <p:nvPr/>
        </p:nvSpPr>
        <p:spPr>
          <a:xfrm>
            <a:off x="812800" y="3125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0" name="Lamontagne · 65 trial · JAMA 2020"/>
          <p:cNvSpPr txBox="1"/>
          <p:nvPr/>
        </p:nvSpPr>
        <p:spPr>
          <a:xfrm>
            <a:off x="812800" y="33768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1" name="Endo · OPTPRESS · Intensive Care Med 202"/>
          <p:cNvSpPr txBox="1"/>
          <p:nvPr/>
        </p:nvSpPr>
        <p:spPr>
          <a:xfrm>
            <a:off x="812800" y="36282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2" name="Permpikul · CENSER · Am J Respir Crit Ca"/>
          <p:cNvSpPr txBox="1"/>
          <p:nvPr/>
        </p:nvSpPr>
        <p:spPr>
          <a:xfrm>
            <a:off x="812800" y="38796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3" name="Annane · CATS · Lancet 2007"/>
          <p:cNvSpPr txBox="1"/>
          <p:nvPr/>
        </p:nvSpPr>
        <p:spPr>
          <a:xfrm>
            <a:off x="812800" y="41310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4" name="Levy · OptimaCC · J Am Coll Cardiol 2018"/>
          <p:cNvSpPr txBox="1"/>
          <p:nvPr/>
        </p:nvSpPr>
        <p:spPr>
          <a:xfrm>
            <a:off x="812800" y="4382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5" name="Mathew · DOREMI · N Engl J Med 2021"/>
          <p:cNvSpPr txBox="1"/>
          <p:nvPr/>
        </p:nvSpPr>
        <p:spPr>
          <a:xfrm>
            <a:off x="812800" y="46339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6" name="Cuffe · OPTIME-CHF · JAMA 2002"/>
          <p:cNvSpPr txBox="1"/>
          <p:nvPr/>
        </p:nvSpPr>
        <p:spPr>
          <a:xfrm>
            <a:off x="812800" y="48853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17" name="Hajjar · VANCS · Anesthesiology 2017"/>
          <p:cNvSpPr txBox="1"/>
          <p:nvPr/>
        </p:nvSpPr>
        <p:spPr>
          <a:xfrm>
            <a:off x="812800" y="513676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18" name="Khanna · ATHOS-3 · N Engl J Med 2017"/>
          <p:cNvSpPr txBox="1"/>
          <p:nvPr/>
        </p:nvSpPr>
        <p:spPr>
          <a:xfrm>
            <a:off x="812800" y="5388184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19" name="Bellomo · dopamina em dose baixa (ANZICS"/>
          <p:cNvSpPr txBox="1"/>
          <p:nvPr/>
        </p:nvSpPr>
        <p:spPr>
          <a:xfrm>
            <a:off x="62484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0" name="Venkatesh · ADRENAL · N Engl J Med 2018"/>
          <p:cNvSpPr txBox="1"/>
          <p:nvPr/>
        </p:nvSpPr>
        <p:spPr>
          <a:xfrm>
            <a:off x="6248400" y="2119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1" name="Annane · APROCCHSS · N Engl J Med 2018"/>
          <p:cNvSpPr txBox="1"/>
          <p:nvPr/>
        </p:nvSpPr>
        <p:spPr>
          <a:xfrm>
            <a:off x="6248400" y="23711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2" name="Kinsella · consenso cesárea · Anaesthesi"/>
          <p:cNvSpPr txBox="1"/>
          <p:nvPr/>
        </p:nvSpPr>
        <p:spPr>
          <a:xfrm>
            <a:off x="6248400" y="26225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3" name="Park, Choi · vasopressores na cesárea · "/>
          <p:cNvSpPr txBox="1"/>
          <p:nvPr/>
        </p:nvSpPr>
        <p:spPr>
          <a:xfrm>
            <a:off x="6248400" y="28739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4" name="Marcucci · POISE-3 · Ann Intern Med 2023"/>
          <p:cNvSpPr txBox="1"/>
          <p:nvPr/>
        </p:nvSpPr>
        <p:spPr>
          <a:xfrm>
            <a:off x="6248400" y="3125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5" name="Saugel · POQI · Br J Anaesth 2024"/>
          <p:cNvSpPr txBox="1"/>
          <p:nvPr/>
        </p:nvSpPr>
        <p:spPr>
          <a:xfrm>
            <a:off x="6248400" y="33768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26" name="Lineburger · custo da hipotensão · Braz "/>
          <p:cNvSpPr txBox="1"/>
          <p:nvPr/>
        </p:nvSpPr>
        <p:spPr>
          <a:xfrm>
            <a:off x="6248400" y="36282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27" name="Saugel · IMPROVE-multi · JAMA 2025"/>
          <p:cNvSpPr txBox="1"/>
          <p:nvPr/>
        </p:nvSpPr>
        <p:spPr>
          <a:xfrm>
            <a:off x="6248400" y="38796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28" name="SIAARTI · HISTAP · Intensive Care Med 20"/>
          <p:cNvSpPr txBox="1"/>
          <p:nvPr/>
        </p:nvSpPr>
        <p:spPr>
          <a:xfrm>
            <a:off x="6248400" y="41310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29" name="Tran · NA periférica · Am J Emerg Med 20"/>
          <p:cNvSpPr txBox="1"/>
          <p:nvPr/>
        </p:nvSpPr>
        <p:spPr>
          <a:xfrm>
            <a:off x="6248400" y="4382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0" name="Ibarra-Estrada · NA base vs. sal · Inten"/>
          <p:cNvSpPr txBox="1"/>
          <p:nvPr/>
        </p:nvSpPr>
        <p:spPr>
          <a:xfrm>
            <a:off x="6248400" y="46339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1" name="ANZCA/ANZAAG · anafilaxia perioperatória"/>
          <p:cNvSpPr txBox="1"/>
          <p:nvPr/>
        </p:nvSpPr>
        <p:spPr>
          <a:xfrm>
            <a:off x="6248400" y="48853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2" name="Overgaard, Džavík · revisão · Circulatio"/>
          <p:cNvSpPr txBox="1"/>
          <p:nvPr/>
        </p:nvSpPr>
        <p:spPr>
          <a:xfrm>
            <a:off x="6248400" y="513676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3" name="Persichini · NA e retorno venoso · Crit "/>
          <p:cNvSpPr txBox="1"/>
          <p:nvPr/>
        </p:nvSpPr>
        <p:spPr>
          <a:xfrm>
            <a:off x="6248400" y="5388184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Persichini · NA e retorno venoso · Crit Care Med 2012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2026-10-18T18:25:08Z</dcterms:created>
  <dcterms:modified xsi:type="dcterms:W3CDTF">2026-10-18T18:25:08Z</dcterms:modified>
</cp:coreProperties>
</file>