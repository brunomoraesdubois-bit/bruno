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 e objetivos" id="{4750fe30-4418-6a83-9bea-42a6255d423e}">
          <p14:sldIdLst>
            <p14:sldId id="256"/>
            <p14:sldId id="257"/>
          </p14:sldIdLst>
        </p14:section>
        <p14:section name="01 · Fisiologia: pressão, débito e perfusão" id="{ec17183f-5f01-6684-434d-b990a3d82cc6}">
          <p14:sldIdLst>
            <p14:sldId id="258"/>
            <p14:sldId id="259"/>
            <p14:sldId id="260"/>
          </p14:sldIdLst>
        </p14:section>
        <p14:section name="02 · Receptores" id="{cc8712c9-0ebd-5bac-9116-396719dbe108}">
          <p14:sldIdLst>
            <p14:sldId id="261"/>
          </p14:sldIdLst>
        </p14:section>
        <p14:section name="03 · Drogas: noradrenalina, adrenalina, dobutamina (e dopamina), milrinona (escolha), fenilefrina e efedrina" id="{a3c5034f-e156-de0c-7877-3d6b15b00e7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4 · Além das aminas: vasopressina, hidrocortisona e azul de metileno" id="{c3a34828-079e-78c8-fcef-46d23204f92f}">
          <p14:sldIdLst>
            <p14:sldId id="268"/>
          </p14:sldIdLst>
        </p14:section>
        <p14:section name="05 · Choque séptico: a sequência da SSC 2026" id="{6035ed89-68ff-6efc-d807-9612e507f37d}">
          <p14:sldIdLst>
            <p14:sldId id="269"/>
          </p14:sldIdLst>
        </p14:section>
        <p14:section name="06 · Perioperatório: escolha da droga" id="{92065686-7731-ded1-053b-225461f6dcf4}">
          <p14:sldIdLst>
            <p14:sldId id="270"/>
          </p14:sldIdLst>
        </p14:section>
        <p14:section name="07 · Mensagens finais e encerramento" id="{8e7c6245-28dd-05ba-125c-2a25a99c7c45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Bom dia. Sou Bruno Dubois; meus orientadores são Marcelo Bandeira e Glauber Gouvêa. O tema é aminas vasoativas, e a aula nasceu de uma pergunta prática: quando a milrinona tem indicação, e quando a dobutamina ou um vasopressor seriam a escolha.</a:t>
            </a:r>
            <a:endParaRPr lang="en-US" dirty="0"/>
          </a:p>
          <a:p>
            <a:r>
              <a:rPr lang="en-US" dirty="0"/>
              <a:t>TEMPO: 25 s (0:00 → 0:25). Total previsto: 15 min 25 s nos 17 slides; ensaiar mirando 12 minutos.</a:t>
            </a:r>
            <a:endParaRPr lang="en-US" dirty="0"/>
          </a:p>
          <a:p>
            <a:r>
              <a:rPr lang="en-US" dirty="0"/>
              <a:t>PONTO-CHAVE: A aula nasceu de uma pergunta prática: quando a milrinona tem indicação?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Quatro objetivos. Distinguir vasoplegia, falência de bomba e pré-carga baixa. Ligar o perfil de receptores de cada droga ao seu efeito hemodinâmico. Conhecer doses, indicações e cuidados de cada droga. Aplicar isso no choque séptico e no centro cirúrgico. A pergunta que organiza a aula: qual componente da pressão arterial média está falhando?</a:t>
            </a:r>
            <a:endParaRPr lang="en-US" dirty="0"/>
          </a:p>
          <a:p>
            <a:r>
              <a:rPr lang="en-US" dirty="0"/>
              <a:t>TEMPO: 25 s (0:25 → 0:50)</a:t>
            </a:r>
            <a:endParaRPr lang="en-US" dirty="0"/>
          </a:p>
          <a:p>
            <a:r>
              <a:rPr lang="en-US" dirty="0"/>
              <a:t>PONTO-CHAVE: Qual componente da PAM está falhando?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Começo pela fisiologia. Na prática, a PAM é o débito cardíaco multiplicado pela resistência vascular sistêmica, somado à pressão venosa central. Como a PVC costuma ser baixa, a PAM depende sobretudo do débito e da resistência; quando a PVC sobe, o que cai é a perfusão, porque, na prática, a pressão de perfusão do órgão aproxima-se da diferença entre a PAM e a PVC. Três situações. Na vasoplegia o problema é o tônus vascular, sobretudo arterial, como na sepse, na anestesia geral e no bloqueio de neuroeixo: a droga é o vasopressor. Na falência de bomba o débito é baixo e a resistência em geral alta: o alvo é a contratilidade. Na pré-carga baixa, a hipovolemia pede volume; o α1 contrai veias e recruta volume não estressado, mas não substitui a reposição.</a:t>
            </a:r>
            <a:endParaRPr lang="en-US" dirty="0"/>
          </a:p>
          <a:p>
            <a:r>
              <a:rPr lang="en-US" dirty="0"/>
              <a:t>TEMPO: 1 min (0:50 → 1:50)</a:t>
            </a:r>
            <a:endParaRPr lang="en-US" dirty="0"/>
          </a:p>
          <a:p>
            <a:r>
              <a:rPr lang="en-US" dirty="0"/>
              <a:t>PONTO-CHAVE: PAM ≈ DC × RVS + PVC: vasoplegia pede vasopressor; bomba fraca, inotrópico; pré-carga baixa, volume.</a:t>
            </a:r>
            <a:endParaRPr lang="en-US" dirty="0"/>
          </a:p>
          <a:p>
            <a:r>
              <a:rPr lang="en-US" dirty="0"/>
              <a:t>SE PERGUNTAREM: A relação PAM = DC × RVS + PVC é a definição da RVS, não uma causa (Magder, Crit Care 2018): a RVS é calculada como (PAM − PVC)/DC. A pressão a jusante efetiva do leito arterial é uma pressão crítica de fechamento, acima da PVC; a PVC importa para a pressão de perfusão dos órgãos (PAM − PVC) e para o gradiente do retorno venoso (pressão sistêmica média − pressão de átrio direito). Persichini (Crit Care Med 2012; 16 pacientes com choque séptico): reduzir a dose de noradrenalina baixou a pressão sistêmica média mais do que a resistência ao retorno venoso, com queda do retorno venoso e, portanto, do débito; é evidência de que a venoconstrição α recruta volume não estressado. O esquema cobre os determinantes da PAM; a obstrução (tamponamento, embolia pulmonar, pneumotórax hipertensivo, auto-PEEP) é o quarto tipo de choque da classificação da ESICM 2014: o eco precoce a identifica, e o tratamento é da causa, não com amina. No intraoperatório, pneumotórax e compressão aortocava estão entre as causas a afastar (slide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Mas pressão não é fluxo: uma resistência alta pode manter a PAM com débito baixo. No intraoperatório a perfusão raramente é medida de forma direta, então o caminho é combinar métodos. O eco, transesofágico ou transtorácico à beira do leito, é o primeiro recurso para definir o tipo de choque, e a diretriz europeia de terapia intensiva de 2025 o sugere como primeira linha de imagem para isso: função do VE e do VD, com a variação fracional de área e o TAPSE para o VD; dimensões cavitárias como pistas de enchimento, sem definir isoladamente a resposta a volume; pericárdio; e o VTI na via de saída, que multiplicado pela área da via de saída dá o volume sistólico e, repetido, mostra a resposta a volume ou a droga. Os monitores de débito dão o número, contínuo ou seriado, e a resposta a uma intervenção. E os marcadores de perfusão tissular dizem se o fluxo está bastando: lactato e sua tendência, saturação venosa central, gap de CO₂, diurese, enchimento capilar e temperatura das extremidades. A decisão de usar inotrópico vem daí, não da pressão.</a:t>
            </a:r>
            <a:endParaRPr lang="en-US" dirty="0"/>
          </a:p>
          <a:p>
            <a:r>
              <a:rPr lang="en-US" dirty="0"/>
              <a:t>TEMPO: 1 min 20 s (1:50 → 3:10)</a:t>
            </a:r>
            <a:endParaRPr lang="en-US" dirty="0"/>
          </a:p>
          <a:p>
            <a:r>
              <a:rPr lang="en-US" dirty="0"/>
              <a:t>PONTO-CHAVE: Pressão não é fluxo: combinar eco, débito e marcadores de perfusão antes de decidir por inotrópico.</a:t>
            </a:r>
            <a:endParaRPr lang="en-US" dirty="0"/>
          </a:p>
          <a:p>
            <a:r>
              <a:rPr lang="en-US" dirty="0"/>
              <a:t>SE PERGUNTAREM: no OPTIME-CHF (Cuffe, JAMA 2002; 951 pacientes com IC descompensada sem indicação clara de inotrópico), milrinona vs. placebo por 48 h: sem benefício, com mais hipotensão sustentada e arritmia atrial. Em um ECR (Tongyoo, Ann Med 2025; 64 pacientes em choque séptico), a milrinona aumentou o débito em 6 horas em relação ao placebo, mas a mortalidade em 28 dias foi de 50% nos dois grupos. Na sepse a SvcO₂ pode estar normal ou alta apesar da hipoperfusão (defeito de extração e shunt microcirculatório); nesse caso, a diferença venoarterial de CO₂ acima de 6 mmHg sugere fluxo insuficiente para remover o CO₂ produzido (Vallée, Intensive Care Med 2008). Limites de VPP e VVS: ventilação controlada sem esforço espontâneo, volume corrente de pelo menos 8 mL/kg, ritmo regular, tórax fechado, sem disfunção de VD nem hipertensão intra-abdominal; com volume corrente baixo a sensibilidade cai. Fora dessas condições: elevação passiva das pernas ou minidesafio hídrico com medida direta do débito (ESICM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Monitores de débito: o que cada um mede e onde falha. A termodiluição pelo cateter de artéria pulmonar continua a referência clínica: bolus frio no átrio direito e curva de temperatura na artéria pulmonar; dá também as pressões pulmonares e a saturação venosa mista; é invasiva e, no modo clássico, intermitente; fica sugerida sobretudo no choque refratário, na disfunção de VD e na hipertensão pulmonar. A termodiluição transpulmonar, como o PiCCO, lê o bolus em artéria femoral, calibra o contorno de pulso e estima volumes cardíacos e água pulmonar extravascular. O contorno de pulso não calibrado, como o FloTrac, estima o volume sistólico pela forma da onda arterial; é contínuo e pouco invasivo, mas perde acurácia quando o tônus vascular muda, com resistência baixa ou vasopressor: no cirrótico, em um estudo de 2009 com uma versão anterior do FloTrac, o erro contra a termodiluição chegou a 54%, bem acima dos 30% aceitáveis. O Doppler esofágico estima o volume sistólico pela velocidade na aorta descendente e um nomograma; depende da posição e do ângulo da sonda. VPP e VVS exigem ventilação controlada sem esforço, volume corrente de pelo menos 8 mL/kg, ritmo regular, tórax fechado, sem disfunção de VD nem hipertensão intra-abdominal; para a VPP, entre 9 e 13% há uma zona cinzenta. Quando a limitação é o volume corrente baixo, mantidas as demais condições: desafio de volume corrente, de 6 para 8 mL/kg por um minuto. Fora dessas condições: elevação passiva das pernas, com aumento do débito de 10% ou mais, ou minidesafio de 100 mL, medindo o débito, não a pressão.</a:t>
            </a:r>
            <a:endParaRPr lang="en-US" dirty="0"/>
          </a:p>
          <a:p>
            <a:r>
              <a:rPr lang="en-US" dirty="0"/>
              <a:t>TEMPO: 1 min 55 s (3:10 → 5:05)</a:t>
            </a:r>
            <a:endParaRPr lang="en-US" dirty="0"/>
          </a:p>
          <a:p>
            <a:r>
              <a:rPr lang="en-US" dirty="0"/>
              <a:t>PONTO-CHAVE: Saber o que cada monitor mede e onde falha; VPP e VVS têm condições; fora delas, teste dinâmico medindo o débito.</a:t>
            </a:r>
            <a:endParaRPr lang="en-US" dirty="0"/>
          </a:p>
          <a:p>
            <a:r>
              <a:rPr lang="en-US" dirty="0"/>
              <a:t>SE PERGUNTAREM: Cannesson (Anesthesiology 2011): zona cinzenta da VPP entre 9 e 13% em pacientes sob anestesia geral e ventilação mecânica. Myatra (Crit Care Med 2017; 20 pacientes ventilados com 6 mL/kg): o aumento da VPP ou da VVS após elevar o volume corrente para 8 mL/kg por 1 min previu a resposta a volume. Monnet (Intensive Care Med 2016; metanálise, 21 estudos, 991 pacientes): elevação passiva das pernas com aumento do débito de 10% ou mais tem sensibilidade de 85% e especificidade de 91%; medida pela pressão de pulso, a sensibilidade cai para 56%. Biais (Anesthesiology 2017; 44 pacientes em neurocirurgia): 100 mL de cristaloide em dois passos de 50 mL, 1 min cada, com o índice sistólico medido ao contorno de pulso após cada passo; aumento acima de 6% após os 100 mL previu a resposta a 250 mL (sensibilidade 93%, especificidade 85%; zona cinzenta de 4 a 7%). Biancofiore (Br J Anaesth 2009; cirróticos em cirurgia hepática): FloTrac/Vigileo de segunda geração vs. termodiluição pulmonar, erro percentual de 54% (limite aceito de 30%), pior com resistência baixa; o software seguinte ficou em 52%, e um estudo de 2022 com a quarta geração no transplante hepático manteve erro em torno de 54%. ESICM 2025: eco como primeira linha para definir o tipo de choque; monitorização de débito ou volume sistólico em quem não responde ao tratamento inicial; avaliar a responsividade antes de mais volume; perfusão tissular avaliada de forma seriada. Doppler esofágico: supõe que cerca de 70% do débito passa pela aorta descendente, proporção que varia entre pacientes. Sob anestesia, o ETE também permite ver a variação do diâmetro da veia cava superior com a ventilação, outro índice dinâmico, e a área diastólica final do VE para estimar a volemia.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Uma revisão breve dos receptores, apenas o que importa para as drogas de hoje. α1 contrai artérias e veias: sobe a resistência e o retorno venoso. α2 está em três lugares que importam aqui: pré-sináptico, reduzindo a liberação de noradrenalina; no sistema nervoso central, com sedação pelo locus coeruleus e simpatólise pelos centros vasomotores do tronco encefálico, que é o efeito da dexmedetomidina; e no músculo liso vascular, onde a noradrenalina e a adrenalina também agem, somando vasoconstrição, e onde um bolus de dexmedetomidina causa hipertensão transitória. β1 aumenta contratilidade e frequência. β2 dilata vasos e brônquios e eleva glicemia e lactato. D1 dilata os leitos renal e mesentérico. V1 e PDE3 estão na tabela porque vasopressina e milrinona não dependem do adrenoceptor. Dois pontos práticos: as catecolaminas têm meia-vida de minutos, por isso vão em geral em infusão; fenilefrina e efedrina duram mais, por isso são as drogas habituais de bolus. E o uso prolongado dessensibiliza os receptores, sobretudo os β.</a:t>
            </a:r>
            <a:endParaRPr lang="en-US" dirty="0"/>
          </a:p>
          <a:p>
            <a:r>
              <a:rPr lang="en-US" dirty="0"/>
              <a:t>TEMPO: 1 min 15 s (5:05 → 6:20)</a:t>
            </a:r>
            <a:endParaRPr lang="en-US" dirty="0"/>
          </a:p>
          <a:p>
            <a:r>
              <a:rPr lang="en-US" dirty="0"/>
              <a:t>PONTO-CHAVE: Cada droga tem um perfil de receptores; vasopressina e milrinona usam outras vias.</a:t>
            </a:r>
            <a:endParaRPr lang="en-US" dirty="0"/>
          </a:p>
          <a:p>
            <a:r>
              <a:rPr lang="en-US" dirty="0"/>
              <a:t>SE PERGUNTAREM: Subtipos: α2A medeia a sedação (locus coeruleus) e a simpatólise (centros vasomotores do tronco encefálico); α2B, no músculo liso vascular, a vasoconstrição e a hipertensão transitória do bolus de dexmedetomidina; a hipotensão e a bradicardia que se seguem vêm da simpatólise e do aumento do tônus vagal. A clonidina tem perfil semelhante, com menor seletividade para α2.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Começo pela noradrenalina, a droga de primeira linha no choque séptico, com ação α1 potente e efeito β1 clinicamente modesto: sobe a PAM pela resistência e pela venoconstrição, com débito em geral mantido, que pode subir pelo retorno venoso ou cair pela pós-carga, e frequência estável ou menor, por reflexo. Dose de 0,01 a 0,5 microgramas por quilo por minuto, sem teto fixo no choque refratário; no centro cirúrgico, bolus de 5 a 10 microgramas; pode começar em veia periférica calibrosa. Riscos: isquemia digital e esplâncnica, além de extravasamento.</a:t>
            </a:r>
            <a:endParaRPr lang="en-US" dirty="0"/>
          </a:p>
          <a:p>
            <a:r>
              <a:rPr lang="en-US" dirty="0"/>
              <a:t>TEMPO: 40 s (6:20 → 7:00)</a:t>
            </a:r>
            <a:endParaRPr lang="en-US" dirty="0"/>
          </a:p>
          <a:p>
            <a:r>
              <a:rPr lang="en-US" dirty="0"/>
              <a:t>PONTO-CHAVE: α1 potente com β1 modesto: sobe a PAM com débito em geral mantido.</a:t>
            </a:r>
            <a:endParaRPr lang="en-US" dirty="0"/>
          </a:p>
          <a:p>
            <a:r>
              <a:rPr lang="en-US" dirty="0"/>
              <a:t>SE PERGUNTAREM: no SOAP II (De Backer, N Engl J Med 2010; n = 1.679), a mortalidade em 28 dias foi semelhante à da dopamina (48,5% vs. 52,5%), com metade das arritmias (12,4% vs. 24,1%); a SSC 2026 mantém a noradrenalina como primeira linha, à frente da dopamina. No Brasil, a ampola de hemitartarato de 2 mg/mL equivale a 1 mg/mL de base: registrar na prescrição se a dose está em base ou em sal. Início precoce (CENSER, Permpikul 2019: controle do choque em 6 h em 76% vs. 48%) e via periférica com protocolo (Tran 2020) estão nas referências. No extravasamento, fentolamina infiltrada no local. Afinidade por β1: a da noradrenalina é da mesma ordem da adrenalina; o que é modesto é o efeito cardíaco líquido, porque o barorreflexo e a pós-carga contêm a taquicardia e o aumento do débito; a ação β2 é pequena, por isso praticamente não há vasodilatação e o lactato sobe pouco. As barras do slide representam o efeito clínico esperado em cada via, não a afinidade pelo receptor.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Adrenalina: potente em α1, β1 e β2. O efeito depende da dose: em dose baixa predominam β1 e β2, com débito alto e resistência que pode cair; em dose alta prevalece o α1. É a droga da anafilaxia e, no choque séptico, a terceira droga. Na anafilaxia, bolus endovenosos pequenos e titulados, repetíveis a cada um ou dois minutos, com infusão se forem necessários mais de três bolus. O lactato pode subir por efeito β2, e isso não autoriza ignorar hipoperfusão.</a:t>
            </a:r>
            <a:endParaRPr lang="en-US" dirty="0"/>
          </a:p>
          <a:p>
            <a:r>
              <a:rPr lang="en-US" dirty="0"/>
              <a:t>TEMPO: 40 s (7:00 → 7:40)</a:t>
            </a:r>
            <a:endParaRPr lang="en-US" dirty="0"/>
          </a:p>
          <a:p>
            <a:r>
              <a:rPr lang="en-US" dirty="0"/>
              <a:t>PONTO-CHAVE: Dose baixa, β; dose alta, α. Droga da anafilaxia; terceira droga no choque séptico.</a:t>
            </a:r>
            <a:endParaRPr lang="en-US" dirty="0"/>
          </a:p>
          <a:p>
            <a:r>
              <a:rPr lang="en-US" dirty="0"/>
              <a:t>SE PERGUNTAREM: no CATS (Annane, Lancet 2007), mortalidade semelhante à do grupo noradrenalina + dobutamina (40% vs. 34%, NS), com mais acidose; no CAT (Myburgh, Intensive Care Med 2008), 12,9% dos pacientes em adrenalina foram retirados do estudo por efeitos metabólicos transitórios. No OptimaCC (Levy, J Am Coll Cardiol 2018; n = 57, choque cardiogênico pós-IAM), o índice cardíaco foi semelhante, mas houve mais choque refratário com adrenalina (37% vs. 7%), que o artigo apresenta como desfecho de segurança; o estudo foi interrompido precocemente. Dose no choque séptico: a bula americana de epinefrina prevê infusão de 0,05–2 mcg/kg/min, titulada pela PAM. Cartão ANZCA/ANZAAG 2022 (adulto; 1 mg em 10 mL = 100 mcg/mL): reação moderada (grau 2), 10–20 mcg, e 50 mcg se não houver resposta; reação ameaçadora à vida (grau 3), 50–100 mcg, e 200 mcg se não houver resposta; repetir a cada 1–2 min; após mais de três bolus, infusão de 3 mg em 50 mL, de 3 a 40 mL/h; sem acesso venoso ou sem monitorização, 500 mcg IM na face lateral da coxa, repetível a cada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Dobutamina: inotrópico β1 com vasodilatação β2; sobe o débito, baixa um pouco a resistência e pode baixar a PAM. Indicada no baixo débito com hipoperfusão, de 2,5 a 20 microgramas por quilo por minuto; se a PAM cair, associar vasopressor; taquicardia e arritmia limitam a dose. A dopamina, em uma frase: efeito pouco previsível, risco de taquicardia e arritmias, e a chamada dose renal não protege o rim; hoje tem uso restrito.</a:t>
            </a:r>
            <a:endParaRPr lang="en-US" dirty="0"/>
          </a:p>
          <a:p>
            <a:r>
              <a:rPr lang="en-US" dirty="0"/>
              <a:t>TEMPO: 35 s (7:40 → 8:15)</a:t>
            </a:r>
            <a:endParaRPr lang="en-US" dirty="0"/>
          </a:p>
          <a:p>
            <a:r>
              <a:rPr lang="en-US" dirty="0"/>
              <a:t>PONTO-CHAVE: Dobutamina para baixo débito com hipoperfusão; dopamina de uso restrito.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A milrinona chega ao mesmo ponto por outra via: a dobutamina aumenta a produção de AMPc pelo receptor β1; a milrinona inibe a PDE3, uma das fosfodiesterases que degradam o AMPc no miocárdio e no vaso, e por isso age depois do receptor. É um inodilatador: aumenta contratilidade e relaxamento e reduz as resistências sistêmica e pulmonar. A indicação é a disfunção ventricular com baixo débito que exige inotrópico, sobretudo quando há hipertensão pulmonar ou falência de VD. Dose: ataque de 50 microgramas por quilo em 10 minutos, muitas vezes omitido, e manutenção de 0,375 a 0,75 microgramas por quilo por minuto. Costuma exigir noradrenalina; tem eliminação renal e meia-vida bem mais longa que a da dobutamina, acumulando na insuficiência renal.</a:t>
            </a:r>
            <a:endParaRPr lang="en-US" dirty="0"/>
          </a:p>
          <a:p>
            <a:r>
              <a:rPr lang="en-US" dirty="0"/>
              <a:t>TEMPO: 55 s (8:15 → 9:10)</a:t>
            </a:r>
            <a:endParaRPr lang="en-US" dirty="0"/>
          </a:p>
          <a:p>
            <a:r>
              <a:rPr lang="en-US" dirty="0"/>
              <a:t>PONTO-CHAVE: Inodilatador que age depois do receptor β; meia-vida longa e eliminação renal; costuma exigir noradrenalina.</a:t>
            </a:r>
            <a:endParaRPr lang="en-US" dirty="0"/>
          </a:p>
          <a:p>
            <a:r>
              <a:rPr lang="en-US" dirty="0"/>
              <a:t>SE PERGUNTAREM: no OPTIME-CHF (JAMA 2002), na IC descompensada sem indicação clara de inotrópico, não houve benefício, com mais hipotensão sustentada (10,7% vs. 3,2%) e arritmias atriais (4,6% vs. 1,5%). No DOREMI (N Engl J Med 2021), no choque cardiogênico, não houve diferença estatisticamente significativa no desfecho composto em relação à dobutamina, o que não prova equivalência. A SSC 2026 não encontrou dados para comparar as duas no choque séptico.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Então, quando escolher? Primeiro, a indicação: inotrópico quando há disfunção ventricular com baixo débito e hipoperfusão, depois de otimizar volume e PAM; se a hipotensão é por vasoplegia, a droga é o vasopressor, e um inodilatador baixa ainda mais a pressão. Depois, o perfil farmacológico, que está na tabela. Milrinona quando a circulação pulmonar e o VD são o problema, como na hipertensão pulmonar e na saída de CEC com resistência pulmonar alta, e quando o betabloqueio ou a taquicardia limitam a dobutamina; a milrinona precisa de uma PAM sustentada, em geral com noradrenalina. Dobutamina, junto com o vasopressor, quando o baixo débito vem acompanhado de hipotensão ou vasoplegia, em que a vasodilatação e a meia-vida longa da milrinona pesam contra; na insuficiência renal; e quando se quer titulação rápida, porque a meia-vida é de minutos. No choque séptico com disfunção miocárdica e hipoperfusão persistente, a Surviving Sepsis Campaign de 2026, a SSC, sugere dobutamina associada à noradrenalina, ou adrenalina isolada, e reconhece que faltam dados para preferir a dobutamina à milrinona: é preferência prática, não superioridade demonstrada.</a:t>
            </a:r>
            <a:endParaRPr lang="en-US" dirty="0"/>
          </a:p>
          <a:p>
            <a:r>
              <a:rPr lang="en-US" dirty="0"/>
              <a:t>TEMPO: 1 min 20 s (9:10 → 10:30)</a:t>
            </a:r>
            <a:endParaRPr lang="en-US" dirty="0"/>
          </a:p>
          <a:p>
            <a:r>
              <a:rPr lang="en-US" dirty="0"/>
              <a:t>PONTO-CHAVE: Primeiro a indicação; depois o perfil: milrinona para VD e circulação pulmonar com PAM sustentada; dobutamina com pressão baixa ou para titular rápido. Na sepse, dobutamina é preferência prática, não superioridade demonstrada.</a:t>
            </a:r>
            <a:endParaRPr lang="en-US" dirty="0"/>
          </a:p>
          <a:p>
            <a:r>
              <a:rPr lang="en-US" dirty="0"/>
              <a:t>SE PERGUNTAREM: no DOREMI (n = 192, choque cardiogênico), o desfecho composto foi 49% com milrinona e 54% com dobutamina (RR 0,90; IC 95% 0,69–1,19); arritmias, hipotensão sustentada e necessidade de vasopressor também não diferiram; por isso, as diferenças da tabela são expectativa farmacológica. Na subanálise por betabloqueador (93 pacientes, 48%), o betabloqueio prévio não piorou o desfecho e não houve vantagem demonstrada da milrinona (Di Santo, Crit Care 2021). Isso não prova equivalência, mas também não mostra vantagem de uma sobre a outra. A meia-vida da milrinona é de cerca de 2,4 horas na insuficiência cardíaca e aumenta na insuficiência renal, que pede dose de manutenção menor; a da dobutamina é de cerca de 2 minutos. Sem hipoperfusão, não há benefício demonstrado de inotrópico: no OPTIME-CHF, a milrinona causou mais hipotensão e mais arritmia atrial.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Agora duas aminas simpaticomiméticas que não são catecolaminas, as drogas habituais de bolus do centro cirúrgico. Fenilefrina: agonista α1 direto, praticamente sem ação β; a PAM sobe pela resistência e a frequência cai por reflexo, o que pode reduzir o débito quando ele depende da frequência; é a escolha na hipotensão vasodilatadora com frequência normal ou alta. Efedrina: age diretamente em α e β e também, de forma indireta, libera noradrenalina das terminações; sobe pressão, frequência e débito, por isso é a escolha quando há bradicardia; perde efeito com doses repetidas, em parte porque depleta a noradrenalina, e na cesárea atravessa a placenta e associa-se a mais acidose fetal que a fenilefrina.</a:t>
            </a:r>
            <a:endParaRPr lang="en-US" dirty="0"/>
          </a:p>
          <a:p>
            <a:r>
              <a:rPr lang="en-US" dirty="0"/>
              <a:t>TEMPO: 50 s (10:30 → 11:20)</a:t>
            </a:r>
            <a:endParaRPr lang="en-US" dirty="0"/>
          </a:p>
          <a:p>
            <a:r>
              <a:rPr lang="en-US" dirty="0"/>
              <a:t>PONTO-CHAVE: Fenilefrina: hipotensão vasodilatadora com FC normal ou alta. Efedrina: com bradicardia.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Quando a via adrenérgica não basta, três recursos além das aminas. A vasopressina age no receptor V1, fora da via adrenérgica: poupa catecolamina e costuma manter efeito em acidose; no choque séptico há deficiência relativa do hormônio endógeno. No choque séptico, com noradrenalina em escalada, a dose é em geral fixa, 0,03 unidades por minuto; na vasoplegia após CEC, o VANCS titulou de 0,01 a 0,06 unidades por minuto; na hipotensão refratária com IECA ou BRA, bolus pequenos ou infusão titulada; o risco é isquemia digital e mesentérica. A hidrocortisona restaura a resposta vascular às catecolaminas, 200 mg por dia no choque séptico. O azul de metileno inibe a óxido nítrico sintase e a guanilato ciclase solúvel, e fica como resgate na vasoplegia refratária: após CEC, onde há mais estudos, e na reperfusão do enxerto hepático, onde a base são relatos e séries; um ensaio pequeno mostrou PAM maior e menos adrenalina com a dose dada antes da reperfusão, mas uma coorte pareada de 715 transplantes não confirmou benefício do uso profilático. Outras indicações, apenas para citar: metemoglobinemia, a indicação clássica, e choque séptico refratário, ainda em estudo. Cuidados: deficiência de G6PD, interferência na oximetria e no BIS, e síndrome serotoninérgica com serotoninérgicos, inclusive certos opioides.</a:t>
            </a:r>
            <a:endParaRPr lang="en-US" dirty="0"/>
          </a:p>
          <a:p>
            <a:r>
              <a:rPr lang="en-US" dirty="0"/>
              <a:t>TEMPO: 1 min 35 s (11:20 → 12:55)</a:t>
            </a:r>
            <a:endParaRPr lang="en-US" dirty="0"/>
          </a:p>
          <a:p>
            <a:r>
              <a:rPr lang="en-US" dirty="0"/>
              <a:t>PONTO-CHAVE: Fora das aminas: vasopressina (V1), hidrocortisona e azul de metileno, cada uma por um mecanismo diferente.</a:t>
            </a:r>
            <a:endParaRPr lang="en-US" dirty="0"/>
          </a:p>
          <a:p>
            <a:r>
              <a:rPr lang="en-US" dirty="0"/>
              <a:t>SE PERGUNTAREM: no VANCS (Hajjar, Anesthesiology 2017, InCor), na vasoplegia pós-CEC, a vasopressina teve menos morte ou complicação grave que a noradrenalina (32% vs. 49%); é uma população de cirurgia cardíaca, e o resultado não deve ser extrapolado para o choque séptico. Hidrocortisona: 200 mg/dia (50 mg de 6/6 h ou em infusão). Angiotensina II: no ATHOS-3, a resposta da PAM em 3 h ocorreu em 69,9% vs. 23,4% dos pacientes, sem diferença de mortalidade; é pouco disponível. Azul de metileno: inibe a óxido nítrico sintase e a guanilato ciclase solúvel; na vasoplegia, em geral 1,5 a 2 mg/kg EV em 20 a 30 min. Pós-CEC: ensaios pequenos e séries. Transplante hepático: ECR de 36 pacientes com 1,5 mg/kg antes da reperfusão (Koelzow, Anesth Analg 2002): PAM maior e menos adrenalina; coorte pareada por propensão de 715 transplantes, 105 com azul de metileno profilático de 1 a 1,5 mg/kg (Fukazawa, J Hepatobiliary Pancreat Sci 2011): sem redução da hipotensão da reperfusão, do vasopressor ou da transfusão, e sem efeito na função do enxerto; revisões de 2021 e 2025 apontam a falta de ECRs no transplante e a hidroxocobalamina como alternativa em estudo. Outras indicações: metemoglobinemia (1 a 2 mg/kg EV, a indicação clássica); choque séptico (metanálise de ECRs: menos tempo de vasopressor e de UTI, sem substituir a vasopressina); encefalopatia por ifosfamida; relatos em anafilaxia refratária e em intoxicação por betabloqueador ou bloqueador de canal de cálcio. Contraindicado na deficiência de G6PD (hemólise, com anemia que pode aparecer dias depois); subestima a SpO₂ e pode reduzir o BIS (a bula recomenda outro método para avaliar a profundidade anestésica); síndrome serotoninérgica com ISRS, IRSN, IMAO e alguns opioides, por inibir a MAO-A.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No choque séptico, a Surviving Sepsis Campaign, a diretriz internacional de sepse, atualizada em 2026, organiza os vasopressores em sequência: noradrenalina primeiro, cedo, mesmo por veia periférica; vasopressina quando a dose de noradrenalina sobe, sem limiar definido; adrenalina se a PAM continuar inadequada. É o mesmo raciocínio da aula: tônus com noradrenalina, outra via com vasopressina, e inotrópico reservado à disfunção cardíaca com hipoperfusão, com volume e PAM já otimizados.</a:t>
            </a:r>
            <a:endParaRPr lang="en-US" dirty="0"/>
          </a:p>
          <a:p>
            <a:r>
              <a:rPr lang="en-US" dirty="0"/>
              <a:t>TEMPO: 35 s (12:55 → 13:30)</a:t>
            </a:r>
            <a:endParaRPr lang="en-US" dirty="0"/>
          </a:p>
          <a:p>
            <a:r>
              <a:rPr lang="en-US" dirty="0"/>
              <a:t>PONTO-CHAVE: Noradrenalina, depois vasopressina, depois adrenalina; inotrópico reservado à disfunção cardíaca com hipoperfusão.</a:t>
            </a:r>
            <a:endParaRPr lang="en-US" dirty="0"/>
          </a:p>
          <a:p>
            <a:r>
              <a:rPr lang="en-US" dirty="0"/>
              <a:t>SE PERGUNTAREM: o VASSPR (JAMA 2026, n = 3.959; 13 hospitais, desenho cluster-crossover com ordem sorteada) comparou políticas hospitalares de iniciar a vasopressina com 0,1 vs. 0,4 mcg/kg/min de noradrenalina-equivalente; a vasopressina foi usada em 52,4% vs. 32,9%, e a mortalidade foi 31,8% vs. 33,0%. A antecipação sistemática não trouxe benefício, o que não exclui ganho em pacientes selecionados. No OPTPRESS, alvo de PAM de 80–85 mmHg em idosos aumentou a mortalidade.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No centro cirúrgico, antes da droga, afastar causas tratáveis: plano profundo, hipovolemia, compressão aortocava, pneumotórax e anafilaxia. Depois, o mecanismo: tônus baixo com frequência normal ou alta, agonista α1; bradicardia, efedrina ou, se grave, adrenalina; baixo débito, inotrópico; vasoplegia refratária às catecolaminas, que é a do pós-CEC, do paciente em IECA ou BRA e da reperfusão do enxerto hepático: vasopressina, e azul de metileno como resgate; pré-carga baixa, volume. Um dado do nosso serviço ajuda nessa decisão: Gouvêa, Diaz e colaboradores acompanharam por ecocardiografia transesofágica o ventrículo direito de 19 pacientes selecionados em cinco fases do transplante hepático, e a função sistólica do VD se manteve preservada nos momentos avaliados, inclusive trinta minutos após a reperfusão. O estudo não mediu os primeiros minutos da reperfusão, então não diz se a instabilidade aguda é vasoplegia ou disfunção transitória do VD. O que fica dele para a prática é o método: usar o eco para separar disfunção de VD de vasoplegia antes de escolher entre inotrópico e vasopressor.</a:t>
            </a:r>
            <a:endParaRPr lang="en-US" dirty="0"/>
          </a:p>
          <a:p>
            <a:r>
              <a:rPr lang="en-US" dirty="0"/>
              <a:t>TEMPO: 1 min 15 s (13:30 → 14:45)</a:t>
            </a:r>
            <a:endParaRPr lang="en-US" dirty="0"/>
          </a:p>
          <a:p>
            <a:r>
              <a:rPr lang="en-US" dirty="0"/>
              <a:t>PONTO-CHAVE: Afastar causas, identificar o mecanismo, escolher a droga; o eco separa vasoplegia de falência de VD.</a:t>
            </a:r>
            <a:endParaRPr lang="en-US" dirty="0"/>
          </a:p>
          <a:p>
            <a:r>
              <a:rPr lang="en-US" dirty="0"/>
              <a:t>SE PERGUNTAREM: Gouvêa G, Feiner J, Joshi S, Diaz R, et al., PLoS One 2022;17(10):e0275301: estudo observacional, 19 adultos de 18 a 65 anos, TAPSE e variação fracional de área do VD em cinco fases (basal, fase de hepatectomia, fase anepática, 30 min após a reperfusão e fechamento); função sistólica do VD preservada nos cinco momentos; excluídos hipertensão portopulmonar, síndrome hepatopulmonar, doença cardiopulmonar e insuficiência hepática fulminante. População selecionada e medida feita 30 min depois da reperfusão: o estudo não mediu os primeiros minutos, quando ocorre a síndrome pós-reperfusão, não exclui disfunção transitória do VD nesse período e não permite atribuir a instabilidade aguda a vasoplegia. TAPSE e variação fracional de área dependem da carga, e o TAPSE mede apenas a excursão longitudinal do anel lateral; normais sob anestesia, com pós-carga baixa, afastam disfunção sistólica evidente nos momentos avaliados, não medem reserva contrátil. O estudo mediu a função do VD; não testou a capacidade do eco de diferenciar vasoplegia de disfunção ventricular na hipotensão aguda: essa é a aplicação clínica proposta na aula, não um resultado do estudo.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Voltando à pergunta do início: qual componente da PAM está falhando? Vasoplegia: noradrenalina e, quando a dose sobe, vasopressina. Baixo débito com hipoperfusão: inotrópico, com a milrinona sobretudo no VD com hipertensão pulmonar. Hipotensão vasodilatadora da anestesia com bradicardia: efedrina; com frequência normal ou alta: fenilefrina. Anafilaxia: adrenalina. A droga certa corrige o componente que falha, na menor dose eficaz e pelo menor tempo.</a:t>
            </a:r>
            <a:endParaRPr lang="en-US" dirty="0"/>
          </a:p>
          <a:p>
            <a:r>
              <a:rPr lang="en-US" dirty="0"/>
              <a:t>TEMPO: 30 s (14:45 → 15:15)</a:t>
            </a:r>
            <a:endParaRPr lang="en-US" dirty="0"/>
          </a:p>
          <a:p>
            <a:r>
              <a:rPr lang="en-US" dirty="0"/>
              <a:t>PONTO-CHAVE: A droga certa corrige o componente que falha, na menor dose e pelo menor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Obrigado pela atenção. As referências completas da aula estão no QR code. Fico à disposição para perguntas.</a:t>
            </a:r>
            <a:endParaRPr lang="en-US" dirty="0"/>
          </a:p>
          <a:p>
            <a:r>
              <a:rPr lang="en-US" dirty="0"/>
              <a:t>TEMPO: 10 s (15:15 → 15:25)</a:t>
            </a:r>
            <a:endParaRPr lang="en-US" dirty="0"/>
          </a:p>
          <a:p>
            <a:r>
              <a:rPr lang="en-US" dirty="0"/>
              <a:t>PONTO-CHAVE: Referências completas no QR code;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4245839"/>
            <a:ext cx="9042400" cy="1493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110042"/>
            <a:ext cx="10718800" cy="894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792781"/>
            <a:ext cx="6502400" cy="1493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SSÃO CLÍNICA · ANESTESIOLOGIA"/>
          <p:cNvSpPr txBox="1"/>
          <p:nvPr/>
        </p:nvSpPr>
        <p:spPr>
          <a:xfrm>
            <a:off x="812800" y="3704861"/>
            <a:ext cx="105854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spc="15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CLÍNICA · ANESTESIOLOGIA</a:t>
            </a:r>
            <a:endParaRPr lang="en-US" sz="14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4245839"/>
            <a:ext cx="90424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pt-BR" altLang="en-US" sz="56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Aminas vasoativas</a:t>
            </a:r>
            <a:endParaRPr lang="en-US" sz="5600" dirty="0"/>
          </a:p>
        </p:txBody>
      </p:sp>
      <p:sp>
        <p:nvSpPr>
          <p:cNvPr id="4" name="Fisiologia, farmacologia e escolha da dr"/>
          <p:cNvSpPr txBox="1"/>
          <p:nvPr/>
        </p:nvSpPr>
        <p:spPr>
          <a:xfrm>
            <a:off x="812800" y="5204434"/>
            <a:ext cx="890905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pt-BR" altLang="en-US" sz="18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Fisiologia, farmacologia e escolha da droga no choque e no perioperatório</a:t>
            </a:r>
            <a:endParaRPr lang="en-US" sz="1800" dirty="0"/>
          </a:p>
        </p:txBody>
      </p:sp>
      <p:sp>
        <p:nvSpPr>
          <p:cNvPr id="5" name="Bruno Dubois · Orientadores: Marcelo Ban"/>
          <p:cNvSpPr txBox="1"/>
          <p:nvPr/>
        </p:nvSpPr>
        <p:spPr>
          <a:xfrm>
            <a:off x="812800" y="5782402"/>
            <a:ext cx="105854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Dubois · Orientadores: Marcelo Bandeira e Glauber Gouvêa · UFRJ</a:t>
            </a:r>
            <a:endParaRPr lang="en-US" sz="1400" dirty="0"/>
          </a:p>
        </p:txBody>
      </p:sp>
      <p:pic>
        <p:nvPicPr>
          <p:cNvPr id="6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IVOS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Escolher a droga pelo mecanismo da hipotensão</a:t>
            </a:r>
            <a:endParaRPr lang="en-US" sz="3200" dirty="0"/>
          </a:p>
        </p:txBody>
      </p:sp>
      <p:sp>
        <p:nvSpPr>
          <p:cNvPr id="4" name="01"/>
          <p:cNvSpPr txBox="1"/>
          <p:nvPr/>
        </p:nvSpPr>
        <p:spPr>
          <a:xfrm>
            <a:off x="812800" y="1857860"/>
            <a:ext cx="42545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pt-BR" altLang="en-US" sz="2400" dirty="0">
                <a:solidFill>
                  <a:srgbClr val="B95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Distinguir vasoplegia, falência de bomba"/>
          <p:cNvSpPr txBox="1"/>
          <p:nvPr/>
        </p:nvSpPr>
        <p:spPr>
          <a:xfrm>
            <a:off x="1371600" y="1964280"/>
            <a:ext cx="511026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pt-BR" alt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vasoplegia, falência de bomba e pré-carga baixa</a:t>
            </a:r>
            <a:endParaRPr lang="en-US" sz="1700" dirty="0"/>
          </a:p>
        </p:txBody>
      </p:sp>
      <p:sp>
        <p:nvSpPr>
          <p:cNvPr id="6" name="02"/>
          <p:cNvSpPr txBox="1"/>
          <p:nvPr/>
        </p:nvSpPr>
        <p:spPr>
          <a:xfrm>
            <a:off x="812800" y="2462301"/>
            <a:ext cx="42545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pt-BR" altLang="en-US" sz="2400" dirty="0">
                <a:solidFill>
                  <a:srgbClr val="B95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Ligar o perfil de receptores de cada dro"/>
          <p:cNvSpPr txBox="1"/>
          <p:nvPr/>
        </p:nvSpPr>
        <p:spPr>
          <a:xfrm>
            <a:off x="1371600" y="2568720"/>
            <a:ext cx="621377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pt-BR" alt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o perfil de receptores de cada droga ao seu efeito hemodinâmico</a:t>
            </a:r>
            <a:endParaRPr lang="en-US" sz="1700" dirty="0"/>
          </a:p>
        </p:txBody>
      </p:sp>
      <p:sp>
        <p:nvSpPr>
          <p:cNvPr id="8" name="03"/>
          <p:cNvSpPr txBox="1"/>
          <p:nvPr/>
        </p:nvSpPr>
        <p:spPr>
          <a:xfrm>
            <a:off x="812800" y="3066741"/>
            <a:ext cx="42545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pt-BR" altLang="en-US" sz="2400" dirty="0">
                <a:solidFill>
                  <a:srgbClr val="B95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Conhecer doses, indicações e cuidados de"/>
          <p:cNvSpPr txBox="1"/>
          <p:nvPr/>
        </p:nvSpPr>
        <p:spPr>
          <a:xfrm>
            <a:off x="1371600" y="3173161"/>
            <a:ext cx="470346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pt-BR" alt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doses, indicações e cuidados de cada droga</a:t>
            </a:r>
            <a:endParaRPr lang="en-US" sz="1700" dirty="0"/>
          </a:p>
        </p:txBody>
      </p:sp>
      <p:sp>
        <p:nvSpPr>
          <p:cNvPr id="10" name="04"/>
          <p:cNvSpPr txBox="1"/>
          <p:nvPr/>
        </p:nvSpPr>
        <p:spPr>
          <a:xfrm>
            <a:off x="812800" y="3671182"/>
            <a:ext cx="42545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pt-BR" altLang="en-US" sz="2400" dirty="0">
                <a:solidFill>
                  <a:srgbClr val="B95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Aplicar no choque séptico e na hipotensã"/>
          <p:cNvSpPr txBox="1"/>
          <p:nvPr/>
        </p:nvSpPr>
        <p:spPr>
          <a:xfrm>
            <a:off x="1371600" y="3777602"/>
            <a:ext cx="51318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pt-BR" alt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no choque séptico e na hipotensão intraoperatória</a:t>
            </a:r>
            <a:endParaRPr lang="en-US" sz="1700" dirty="0"/>
          </a:p>
        </p:txBody>
      </p:sp>
      <p:sp>
        <p:nvSpPr>
          <p:cNvPr id="12" name="Cartão"/>
          <p:cNvSpPr/>
          <p:nvPr/>
        </p:nvSpPr>
        <p:spPr>
          <a:xfrm>
            <a:off x="812800" y="4424263"/>
            <a:ext cx="10566400" cy="988020"/>
          </a:xfrm>
          <a:prstGeom prst="roundRect">
            <a:avLst>
              <a:gd name="adj" fmla="val 771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3" name="Pergunta central"/>
          <p:cNvSpPr txBox="1"/>
          <p:nvPr/>
        </p:nvSpPr>
        <p:spPr>
          <a:xfrm>
            <a:off x="1073150" y="4604959"/>
            <a:ext cx="300275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pt-BR" altLang="en-US" sz="3200" dirty="0">
                <a:solidFill>
                  <a:srgbClr val="B95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central</a:t>
            </a:r>
            <a:endParaRPr lang="en-US" sz="3200" dirty="0"/>
          </a:p>
        </p:txBody>
      </p:sp>
      <p:sp>
        <p:nvSpPr>
          <p:cNvPr id="14" name="Qual componente da PAM está falhando?"/>
          <p:cNvSpPr txBox="1"/>
          <p:nvPr/>
        </p:nvSpPr>
        <p:spPr>
          <a:xfrm>
            <a:off x="4463256" y="4769969"/>
            <a:ext cx="32455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pt-BR" alt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componente da PAM está falhando?</a:t>
            </a:r>
            <a:endParaRPr lang="en-US" sz="1500" dirty="0"/>
          </a:p>
        </p:txBody>
      </p:sp>
      <p:pic>
        <p:nvPicPr>
          <p:cNvPr id="15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· FISIOLOGIA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FISIOLOGIA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Determinantes da pressão arterial média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3386634" cy="2124075"/>
          </a:xfrm>
          <a:prstGeom prst="roundRect">
            <a:avLst>
              <a:gd name="adj" fmla="val 358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5" name="Vasoplegia"/>
          <p:cNvSpPr txBox="1"/>
          <p:nvPr/>
        </p:nvSpPr>
        <p:spPr>
          <a:xfrm>
            <a:off x="1073150" y="2135857"/>
            <a:ext cx="28849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Vasoplegia</a:t>
            </a:r>
            <a:endParaRPr lang="en-US" sz="1700" dirty="0"/>
          </a:p>
        </p:txBody>
      </p:sp>
      <p:sp>
        <p:nvSpPr>
          <p:cNvPr id="6" name="RVS baixa, DC em geral preservado ou alt"/>
          <p:cNvSpPr txBox="1"/>
          <p:nvPr/>
        </p:nvSpPr>
        <p:spPr>
          <a:xfrm>
            <a:off x="1073150" y="2484480"/>
            <a:ext cx="2884984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RVS baixa, DC em geral preservado ou alto: sepse, anestesia geral, bloqueio de neuroeixo, anafilaxia, pós-CEC. Alvo: tônus arterial (α1 ou V1).</a:t>
            </a:r>
            <a:endParaRPr lang="en-US" sz="1350" dirty="0"/>
          </a:p>
        </p:txBody>
      </p:sp>
      <p:sp>
        <p:nvSpPr>
          <p:cNvPr id="7" name="Cartão"/>
          <p:cNvSpPr/>
          <p:nvPr/>
        </p:nvSpPr>
        <p:spPr>
          <a:xfrm>
            <a:off x="4402634" y="1879501"/>
            <a:ext cx="3386634" cy="2124075"/>
          </a:xfrm>
          <a:prstGeom prst="roundRect">
            <a:avLst>
              <a:gd name="adj" fmla="val 358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8" name="Falência de bomba"/>
          <p:cNvSpPr txBox="1"/>
          <p:nvPr/>
        </p:nvSpPr>
        <p:spPr>
          <a:xfrm>
            <a:off x="4662984" y="2135857"/>
            <a:ext cx="28849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Falência de bomba</a:t>
            </a:r>
            <a:endParaRPr lang="en-US" sz="1700" dirty="0"/>
          </a:p>
        </p:txBody>
      </p:sp>
      <p:sp>
        <p:nvSpPr>
          <p:cNvPr id="9" name="DC baixo, RVS em geral alta: choque card"/>
          <p:cNvSpPr txBox="1"/>
          <p:nvPr/>
        </p:nvSpPr>
        <p:spPr>
          <a:xfrm>
            <a:off x="4662984" y="2484480"/>
            <a:ext cx="2884984" cy="1242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baixo, RVS em geral alta: choque cardiogênico; na sepse pode coexistir com vasoplegia. Alvo: contratilidade (β1 ou PDE3), com vasopressor se a PAM cair.</a:t>
            </a:r>
            <a:endParaRPr lang="en-US" sz="1350" dirty="0"/>
          </a:p>
        </p:txBody>
      </p:sp>
      <p:sp>
        <p:nvSpPr>
          <p:cNvPr id="10" name="Cartão"/>
          <p:cNvSpPr/>
          <p:nvPr/>
        </p:nvSpPr>
        <p:spPr>
          <a:xfrm>
            <a:off x="7992467" y="1879501"/>
            <a:ext cx="3386634" cy="2124075"/>
          </a:xfrm>
          <a:prstGeom prst="roundRect">
            <a:avLst>
              <a:gd name="adj" fmla="val 358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1" name="Pré-carga baixa"/>
          <p:cNvSpPr txBox="1"/>
          <p:nvPr/>
        </p:nvSpPr>
        <p:spPr>
          <a:xfrm>
            <a:off x="8252817" y="2135857"/>
            <a:ext cx="28849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Pré-carga baixa</a:t>
            </a:r>
            <a:endParaRPr lang="en-US" sz="1700" dirty="0"/>
          </a:p>
        </p:txBody>
      </p:sp>
      <p:sp>
        <p:nvSpPr>
          <p:cNvPr id="12" name="Hipovolemia pede volume. O α1 contrai ve"/>
          <p:cNvSpPr txBox="1"/>
          <p:nvPr/>
        </p:nvSpPr>
        <p:spPr>
          <a:xfrm>
            <a:off x="8252817" y="2484480"/>
            <a:ext cx="2884984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Hipovolemia pede volume. O α1 contrai veias e recruta volume não estressado, mas não substitui a reposição.</a:t>
            </a:r>
            <a:endParaRPr lang="en-US" sz="1350" dirty="0"/>
          </a:p>
        </p:txBody>
      </p:sp>
      <p:sp>
        <p:nvSpPr>
          <p:cNvPr id="13" name="Cartão"/>
          <p:cNvSpPr/>
          <p:nvPr/>
        </p:nvSpPr>
        <p:spPr>
          <a:xfrm>
            <a:off x="812800" y="4308376"/>
            <a:ext cx="10566400" cy="1219200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4" name="PAM ≈ DC × RVS + PVC"/>
          <p:cNvSpPr txBox="1"/>
          <p:nvPr/>
        </p:nvSpPr>
        <p:spPr>
          <a:xfrm>
            <a:off x="1073150" y="4604661"/>
            <a:ext cx="4379317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pt-BR" altLang="en-US" sz="3200" dirty="0">
                <a:solidFill>
                  <a:srgbClr val="B95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PAM ≈ DC × RVS + PVC</a:t>
            </a:r>
            <a:endParaRPr lang="en-US" sz="3200" dirty="0"/>
          </a:p>
        </p:txBody>
      </p:sp>
      <p:sp>
        <p:nvSpPr>
          <p:cNvPr id="15" name="A PVC costuma ser baixa: a PAM depende s"/>
          <p:cNvSpPr txBox="1"/>
          <p:nvPr/>
        </p:nvSpPr>
        <p:spPr>
          <a:xfrm>
            <a:off x="5839817" y="4502972"/>
            <a:ext cx="529808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pt-BR" alt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PVC costuma ser baixa: a PAM depende sobretudo do débito e da resistência. Quando a PVC sobe, o que cai é a perfusão (PAM − PVC) e o retorno venoso.</a:t>
            </a:r>
            <a:endParaRPr lang="en-US" sz="1500" dirty="0"/>
          </a:p>
        </p:txBody>
      </p:sp>
      <p:sp>
        <p:nvSpPr>
          <p:cNvPr id="16" name="Miller’s Anesthesia, 10ª ed. (2025), cap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Miller’s Anesthesia, 10ª ed. (2025), cap. 13, 43 · Persichini, Crit Care Med 2012 · ESICM 2025</a:t>
            </a:r>
            <a:endParaRPr lang="en-US" sz="1200" dirty="0"/>
          </a:p>
        </p:txBody>
      </p:sp>
      <p:pic>
        <p:nvPicPr>
          <p:cNvPr id="17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· FISIOLOGIA · PERFUSÃO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FISIOLOGIA · PERFUSÃO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avaliar a perfusão no intraoperatório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03301"/>
            <a:ext cx="3386634" cy="2612231"/>
          </a:xfrm>
          <a:prstGeom prst="roundRect">
            <a:avLst>
              <a:gd name="adj" fmla="val 291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5" name="Ecocardiografia (ETE ou POCUS)"/>
          <p:cNvSpPr txBox="1"/>
          <p:nvPr/>
        </p:nvSpPr>
        <p:spPr>
          <a:xfrm>
            <a:off x="1047750" y="2008857"/>
            <a:ext cx="29357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Ecocardiografia (ETE ou POCUS)</a:t>
            </a:r>
            <a:endParaRPr lang="en-US" sz="1700" dirty="0"/>
          </a:p>
        </p:txBody>
      </p:sp>
      <p:sp>
        <p:nvSpPr>
          <p:cNvPr id="6" name="Tipo de choque em minutos: função de VE "/>
          <p:cNvSpPr txBox="1"/>
          <p:nvPr/>
        </p:nvSpPr>
        <p:spPr>
          <a:xfrm>
            <a:off x="1047750" y="2385452"/>
            <a:ext cx="29357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choque em minutos: função de VE e VD, volemia, pericárdio</a:t>
            </a:r>
            <a:endParaRPr lang="en-US" sz="1350" dirty="0"/>
          </a:p>
        </p:txBody>
      </p:sp>
      <p:sp>
        <p:nvSpPr>
          <p:cNvPr id="7" name="VTI na via de saída do VE: estimativa se"/>
          <p:cNvSpPr txBox="1"/>
          <p:nvPr/>
        </p:nvSpPr>
        <p:spPr>
          <a:xfrm>
            <a:off x="1047750" y="2928972"/>
            <a:ext cx="29357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VTI na via de saída do VE: estimativa seriada do volume sistólico</a:t>
            </a:r>
            <a:endParaRPr lang="en-US" sz="1350" dirty="0"/>
          </a:p>
        </p:txBody>
      </p:sp>
      <p:sp>
        <p:nvSpPr>
          <p:cNvPr id="8" name="Reavaliar após volume ou droga"/>
          <p:cNvSpPr txBox="1"/>
          <p:nvPr/>
        </p:nvSpPr>
        <p:spPr>
          <a:xfrm>
            <a:off x="1047750" y="3472493"/>
            <a:ext cx="293578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Reavaliar após volume ou droga</a:t>
            </a:r>
            <a:endParaRPr lang="en-US" sz="1350" dirty="0"/>
          </a:p>
        </p:txBody>
      </p:sp>
      <p:sp>
        <p:nvSpPr>
          <p:cNvPr id="9" name="Cartão"/>
          <p:cNvSpPr/>
          <p:nvPr/>
        </p:nvSpPr>
        <p:spPr>
          <a:xfrm>
            <a:off x="4402634" y="1803301"/>
            <a:ext cx="3386634" cy="2612231"/>
          </a:xfrm>
          <a:prstGeom prst="roundRect">
            <a:avLst>
              <a:gd name="adj" fmla="val 291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0" name="Débito e parâmetros dinâmicos"/>
          <p:cNvSpPr txBox="1"/>
          <p:nvPr/>
        </p:nvSpPr>
        <p:spPr>
          <a:xfrm>
            <a:off x="4637584" y="2008857"/>
            <a:ext cx="29357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e parâmetros dinâmicos</a:t>
            </a:r>
            <a:endParaRPr lang="en-US" sz="1700" dirty="0"/>
          </a:p>
        </p:txBody>
      </p:sp>
      <p:sp>
        <p:nvSpPr>
          <p:cNvPr id="11" name="Monitores de débito: contorno de pulso, "/>
          <p:cNvSpPr txBox="1"/>
          <p:nvPr/>
        </p:nvSpPr>
        <p:spPr>
          <a:xfrm>
            <a:off x="4637584" y="2385452"/>
            <a:ext cx="29357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de débito: contorno de pulso, termodiluição, Doppler</a:t>
            </a:r>
            <a:endParaRPr lang="en-US" sz="1350" dirty="0"/>
          </a:p>
        </p:txBody>
      </p:sp>
      <p:sp>
        <p:nvSpPr>
          <p:cNvPr id="12" name="VPP e VVS em ventilação controlada, dent"/>
          <p:cNvSpPr txBox="1"/>
          <p:nvPr/>
        </p:nvSpPr>
        <p:spPr>
          <a:xfrm>
            <a:off x="4637584" y="2928972"/>
            <a:ext cx="29357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e VVS em ventilação controlada, dentro dos limites do método</a:t>
            </a:r>
            <a:endParaRPr lang="en-US" sz="1350" dirty="0"/>
          </a:p>
        </p:txBody>
      </p:sp>
      <p:sp>
        <p:nvSpPr>
          <p:cNvPr id="13" name="Minidesafio hídrico ou, se o posicioname"/>
          <p:cNvSpPr txBox="1"/>
          <p:nvPr/>
        </p:nvSpPr>
        <p:spPr>
          <a:xfrm>
            <a:off x="4637584" y="3472493"/>
            <a:ext cx="293578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Minidesafio hídrico ou, se o posicionamento permitir, elevação passiva das pernas, medindo o débito</a:t>
            </a:r>
            <a:endParaRPr lang="en-US" sz="1350" dirty="0"/>
          </a:p>
        </p:txBody>
      </p:sp>
      <p:sp>
        <p:nvSpPr>
          <p:cNvPr id="14" name="Cartão"/>
          <p:cNvSpPr/>
          <p:nvPr/>
        </p:nvSpPr>
        <p:spPr>
          <a:xfrm>
            <a:off x="7992467" y="1803301"/>
            <a:ext cx="3386634" cy="2612231"/>
          </a:xfrm>
          <a:prstGeom prst="roundRect">
            <a:avLst>
              <a:gd name="adj" fmla="val 291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5" name="Perfusão tissular"/>
          <p:cNvSpPr txBox="1"/>
          <p:nvPr/>
        </p:nvSpPr>
        <p:spPr>
          <a:xfrm>
            <a:off x="8227417" y="2008857"/>
            <a:ext cx="293578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Perfusão tissular</a:t>
            </a:r>
            <a:endParaRPr lang="en-US" sz="1700" dirty="0"/>
          </a:p>
        </p:txBody>
      </p:sp>
      <p:sp>
        <p:nvSpPr>
          <p:cNvPr id="16" name="Lactato e sua tendência; SvcO₂; gap veno"/>
          <p:cNvSpPr txBox="1"/>
          <p:nvPr/>
        </p:nvSpPr>
        <p:spPr>
          <a:xfrm>
            <a:off x="8227417" y="2385452"/>
            <a:ext cx="29357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Lactato e sua tendência; SvcO</a:t>
            </a:r>
            <a:r>
              <a:rPr lang="pt-BR" altLang="en-US" sz="1350" baseline="-2500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gap venoarterial de CO</a:t>
            </a:r>
            <a:r>
              <a:rPr lang="pt-BR" altLang="en-US" sz="1350" baseline="-2500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Diurese"/>
          <p:cNvSpPr txBox="1"/>
          <p:nvPr/>
        </p:nvSpPr>
        <p:spPr>
          <a:xfrm>
            <a:off x="8227417" y="2928972"/>
            <a:ext cx="293578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Diurese</a:t>
            </a:r>
            <a:endParaRPr lang="en-US" sz="1350" dirty="0"/>
          </a:p>
        </p:txBody>
      </p:sp>
      <p:sp>
        <p:nvSpPr>
          <p:cNvPr id="18" name="Enchimento capilar e temperatura das ext"/>
          <p:cNvSpPr txBox="1"/>
          <p:nvPr/>
        </p:nvSpPr>
        <p:spPr>
          <a:xfrm>
            <a:off x="8227417" y="3232483"/>
            <a:ext cx="29357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ts val="1890"/>
              </a:lnSpc>
              <a:buSzPct val="100000"/>
              <a:buChar char="•"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Enchimento capilar e temperatura das extremidades</a:t>
            </a:r>
            <a:endParaRPr lang="en-US" sz="1350" dirty="0"/>
          </a:p>
        </p:txBody>
      </p:sp>
      <p:sp>
        <p:nvSpPr>
          <p:cNvPr id="19" name="Cartão"/>
          <p:cNvSpPr/>
          <p:nvPr/>
        </p:nvSpPr>
        <p:spPr>
          <a:xfrm>
            <a:off x="812800" y="4644132"/>
            <a:ext cx="10566400" cy="886420"/>
          </a:xfrm>
          <a:prstGeom prst="roundRect">
            <a:avLst>
              <a:gd name="adj" fmla="val 859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20" name="Atenção"/>
          <p:cNvSpPr txBox="1"/>
          <p:nvPr/>
        </p:nvSpPr>
        <p:spPr>
          <a:xfrm>
            <a:off x="1073150" y="4774028"/>
            <a:ext cx="1476970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pt-BR" altLang="en-US" sz="3200" dirty="0">
                <a:solidFill>
                  <a:srgbClr val="B95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Atenção</a:t>
            </a:r>
            <a:endParaRPr lang="en-US" sz="3200" dirty="0"/>
          </a:p>
        </p:txBody>
      </p:sp>
      <p:sp>
        <p:nvSpPr>
          <p:cNvPr id="21" name="PAM normal não exclui débito baixo: comb"/>
          <p:cNvSpPr txBox="1"/>
          <p:nvPr/>
        </p:nvSpPr>
        <p:spPr>
          <a:xfrm>
            <a:off x="2937470" y="4805688"/>
            <a:ext cx="82004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pt-BR" alt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normal não exclui débito baixo: combinar eco, débito e marcadores de perfusão antes de decidir por inotrópico.</a:t>
            </a:r>
            <a:endParaRPr lang="en-US" sz="1500" dirty="0"/>
          </a:p>
        </p:txBody>
      </p:sp>
      <p:sp>
        <p:nvSpPr>
          <p:cNvPr id="22" name="Cecconi, Intensive Care Med 2014 (ESICM)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Cecconi, Intensive Care Med 2014 (ESICM) · Monnet, Intensive Care Med 2025 (ESICM) · Miller’s Anesthesia, 10ª ed. (2025), cap. 13, 33</a:t>
            </a:r>
            <a:endParaRPr lang="en-US" sz="1200" dirty="0"/>
          </a:p>
        </p:txBody>
      </p:sp>
      <p:pic>
        <p:nvPicPr>
          <p:cNvPr id="23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· FISIOLOGIA · MONITORES DE DÉBITO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FISIOLOGIA · MONITORES DE DÉBITO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100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Monitores de débito: o que medem e onde falham</a:t>
            </a:r>
            <a:endParaRPr lang="en-US" sz="3200" dirty="0"/>
          </a:p>
        </p:txBody>
      </p:sp>
      <p:graphicFrame>
        <p:nvGraphicFramePr>
          <p:cNvPr id="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76301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4649192"/>
                <a:gridCol w="3803948"/>
              </a:tblGrid>
              <a:tr h="30986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4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00" dirty="0"/>
                    </a:p>
                  </a:txBody>
                  <a:tcPr marL="101600" marR="1016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4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Princípio e o que oferece</a:t>
                      </a:r>
                      <a:endParaRPr lang="en-US" sz="1200" dirty="0"/>
                    </a:p>
                  </a:txBody>
                  <a:tcPr marL="101600" marR="1016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4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</a:t>
                      </a:r>
                      <a:endParaRPr lang="en-US" sz="1200" dirty="0"/>
                    </a:p>
                  </a:txBody>
                  <a:tcPr marL="101600" marR="1016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</a:tr>
              <a:tr h="649486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Termodiluição pulmonar (cateter de artéria pulmonar)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clínica: bolus frio no átrio direito, curva de temperatura na artéria pulmonar; dá também PAP, POAP e SvO</a:t>
                      </a:r>
                      <a:r>
                        <a:rPr lang="pt-BR" altLang="en-US" sz="1100" baseline="-250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Invasivo; intermitente ou semicontínuo; sugerido no choque refratário e na disfunção de VD (ESICM); usado também na hipertensão pulmonar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09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Termodiluição transpulmonar (PiCCO, VolumeView)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Bolus frio pelo acesso central, curva em artéria femoral; calibra o contorno de pulso; estima volumes e água pulmonar extravascular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cateter central e arterial calibroso, em geral femoral; recalibrar quando o tônus vascular muda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266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Contorno de pulso não calibrado (FloTrac, ClearSight)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 o volume sistólico pela forma da onda arterial e dados demográficos; contínuo; pouco invasivo (FloTrac) ou não invasivo (ClearSight); fornece a VVS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Perde acurácia com RVS baixa e vasopressor: em cirróticos, versão antiga do FloTrac com erro de 54% vs. termodiluição (limite aceito: 30%)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09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Doppler esofágico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 do fluxo na aorta descendente; volume sistólico por nomograma do diâmetro aórtico; base das metas hemodinâmicas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da posição e do ângulo da sonda; assume o diâmetro aórtico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09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Ecocardiografia (ETE)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sistólico = VTI × área da via de saída do VE; função de VE e VD (variação fracional de área, TAPSE), volemia, pericárdio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30"/>
                        </a:lnSpc>
                        <a:buNone/>
                      </a:pPr>
                      <a:r>
                        <a:rPr lang="pt-BR" alt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Intermitente e dependente do operador; VTI seriado mais confiável que o valor absoluto</a:t>
                      </a:r>
                      <a:endParaRPr lang="en-US" sz="1200" dirty="0"/>
                    </a:p>
                  </a:txBody>
                  <a:tcPr marL="101600" marR="1016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tão"/>
          <p:cNvSpPr/>
          <p:nvPr/>
        </p:nvSpPr>
        <p:spPr>
          <a:xfrm>
            <a:off x="812800" y="4831755"/>
            <a:ext cx="10566400" cy="781447"/>
          </a:xfrm>
          <a:prstGeom prst="roundRect">
            <a:avLst>
              <a:gd name="adj" fmla="val 9751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6" name="Responsividade a volume"/>
          <p:cNvSpPr txBox="1"/>
          <p:nvPr/>
        </p:nvSpPr>
        <p:spPr>
          <a:xfrm>
            <a:off x="1022350" y="4975096"/>
            <a:ext cx="192405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5"/>
              </a:lnSpc>
              <a:buNone/>
            </a:pPr>
            <a:r>
              <a:rPr lang="pt-BR" altLang="en-US" sz="1700" dirty="0">
                <a:solidFill>
                  <a:srgbClr val="B95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Responsividade a volume</a:t>
            </a:r>
            <a:endParaRPr lang="en-US" sz="1700" dirty="0"/>
          </a:p>
        </p:txBody>
      </p:sp>
      <p:sp>
        <p:nvSpPr>
          <p:cNvPr id="7" name="VPP e VVS: ventilação controlada sem esf"/>
          <p:cNvSpPr txBox="1"/>
          <p:nvPr/>
        </p:nvSpPr>
        <p:spPr>
          <a:xfrm>
            <a:off x="3105150" y="4930834"/>
            <a:ext cx="8083550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pt-BR" alt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e VVS: ventilação controlada sem esforço, volume corrente ≥ 8 mL/kg, ritmo regular, tórax fechado, sem disfunção de VD nem hipertensão intra-abdominal; zona cinzenta da VPP de 9–13%. Limitação apenas do volume corrente: desafio de volume corrente (6 → 8 mL/kg por 1 min). Demais situações: elevação passiva das pernas (↑DC ≥ 10%) ou minidesafio de 100 mL, medindo o débito.</a:t>
            </a:r>
            <a:endParaRPr lang="en-US" sz="1100" dirty="0"/>
          </a:p>
        </p:txBody>
      </p:sp>
      <p:sp>
        <p:nvSpPr>
          <p:cNvPr id="8" name="ESICM 2014 e 2025 · Cannesson, Anesthesi"/>
          <p:cNvSpPr txBox="1"/>
          <p:nvPr/>
        </p:nvSpPr>
        <p:spPr>
          <a:xfrm>
            <a:off x="812800" y="6245073"/>
            <a:ext cx="1043305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pt-BR" altLang="en-US" sz="11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ESICM 2014 e 2025 · Cannesson, Anesthesiology 2011 · Monnet, Intensive Care Med 2016 · Biancofiore, Br J Anaesth 2009 · Miller’s Anesthesia, 10ª ed. (2025), cap. 33</a:t>
            </a:r>
            <a:endParaRPr lang="en-US" sz="1100" dirty="0"/>
          </a:p>
        </p:txBody>
      </p:sp>
      <p:pic>
        <p:nvPicPr>
          <p:cNvPr id="9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· RECEPTORES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RECEPTORES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Receptores das aminas</a:t>
            </a:r>
            <a:endParaRPr lang="en-US" sz="3200" dirty="0"/>
          </a:p>
        </p:txBody>
      </p:sp>
      <p:graphicFrame>
        <p:nvGraphicFramePr>
          <p:cNvPr id="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3698180"/>
                <a:gridCol w="5811639"/>
              </a:tblGrid>
              <a:tr h="35302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Receptor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Localização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principal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</a:tr>
              <a:tr h="35619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α1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Músculo liso de artérias e veias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Vasoconstrição: ↑RVS e ↑retorno venoso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69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α2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Pré-sináptico; tronco encefálico (locus coeruleus e centros vasomotores); músculo liso vascular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↓liberação de NA; sedação e simpatólise central (dexmedetomidina); vasoconstrição pós-sináptica (hipertensão transitória do bolus de dexmedetomidina)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164582"/>
          <a:ext cx="10566400" cy="914400"/>
        </p:xfrm>
        <a:graphic>
          <a:graphicData uri="http://schemas.openxmlformats.org/drawingml/2006/table">
            <a:tbl>
              <a:tblPr/>
              <a:tblGrid>
                <a:gridCol w="1320701"/>
                <a:gridCol w="3962301"/>
                <a:gridCol w="5283398"/>
              </a:tblGrid>
              <a:tr h="35619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β1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Miocárdio, nós SA e AV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↑inotropismo, cronotropismo e dromotropismo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7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β2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Vasos, brônquios, fígado, músculo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Vasodilatação, broncodilatação, ↑glicemia e ↑lactato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883323"/>
          <a:ext cx="10566400" cy="914400"/>
        </p:xfrm>
        <a:graphic>
          <a:graphicData uri="http://schemas.openxmlformats.org/drawingml/2006/table">
            <a:tbl>
              <a:tblPr/>
              <a:tblGrid>
                <a:gridCol w="1320701"/>
                <a:gridCol w="3962301"/>
                <a:gridCol w="5283398"/>
              </a:tblGrid>
              <a:tr h="35619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Leitos renal, mesentérico, coronariano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Vasodilatação e natriurese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4242693"/>
          <a:ext cx="10566400" cy="914400"/>
        </p:xfrm>
        <a:graphic>
          <a:graphicData uri="http://schemas.openxmlformats.org/drawingml/2006/table">
            <a:tbl>
              <a:tblPr/>
              <a:tblGrid>
                <a:gridCol w="1320701"/>
                <a:gridCol w="3962301"/>
                <a:gridCol w="5283398"/>
              </a:tblGrid>
              <a:tr h="35619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Músculo liso vascular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Vasoconstrição por via não adrenérgica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7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PDE3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Miocárdio e vasos (enzima)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Inibida pela milrinona: inotropismo e vasodilatação</a:t>
                      </a:r>
                      <a:endParaRPr lang="en-US" sz="1200" dirty="0"/>
                    </a:p>
                  </a:txBody>
                  <a:tcPr marL="127000" marR="127000" marT="69850" marB="698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atecolaminas: meia-vida de minutos, em "/>
          <p:cNvSpPr txBox="1"/>
          <p:nvPr/>
        </p:nvSpPr>
        <p:spPr>
          <a:xfrm>
            <a:off x="812800" y="5253273"/>
            <a:ext cx="105854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Catecolaminas: meia-vida de minutos, em geral infusão; fenilefrina e efedrina duram mais (as drogas habituais de bolus). Uso prolongado: dessensibilização.</a:t>
            </a:r>
            <a:endParaRPr lang="en-US" sz="1300" dirty="0"/>
          </a:p>
        </p:txBody>
      </p:sp>
      <p:sp>
        <p:nvSpPr>
          <p:cNvPr id="9" name="Miller’s Anesthesia, 10ª ed. (2025), cap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Miller’s Anesthesia, 10ª ed. (2025), cap. 16</a:t>
            </a:r>
            <a:endParaRPr lang="en-US" sz="1200" dirty="0"/>
          </a:p>
        </p:txBody>
      </p:sp>
      <p:pic>
        <p:nvPicPr>
          <p:cNvPr id="10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· DROGAS · NORADRENALINA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DROGAS · NORADRENALINA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Noradrenalina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3048000" cy="3194844"/>
          </a:xfrm>
          <a:prstGeom prst="roundRect">
            <a:avLst>
              <a:gd name="adj" fmla="val 2500"/>
            </a:avLst>
          </a:prstGeom>
          <a:solidFill>
            <a:srgbClr val="1B2A3A"/>
          </a:solidFill>
          <a:ln/>
        </p:spPr>
      </p:sp>
      <p:sp>
        <p:nvSpPr>
          <p:cNvPr id="5" name="RECEPTORES"/>
          <p:cNvSpPr txBox="1"/>
          <p:nvPr/>
        </p:nvSpPr>
        <p:spPr>
          <a:xfrm>
            <a:off x="1066800" y="2121537"/>
            <a:ext cx="2559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RECEPTORES</a:t>
            </a:r>
            <a:endParaRPr lang="en-US" sz="1200" dirty="0"/>
          </a:p>
        </p:txBody>
      </p:sp>
      <p:sp>
        <p:nvSpPr>
          <p:cNvPr id="6" name="α1"/>
          <p:cNvSpPr txBox="1"/>
          <p:nvPr/>
        </p:nvSpPr>
        <p:spPr>
          <a:xfrm>
            <a:off x="1066800" y="2460861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</a:t>
            </a:r>
            <a:endParaRPr lang="en-US" sz="1300" dirty="0"/>
          </a:p>
        </p:txBody>
      </p:sp>
      <p:sp>
        <p:nvSpPr>
          <p:cNvPr id="7" name="Cartão"/>
          <p:cNvSpPr/>
          <p:nvPr/>
        </p:nvSpPr>
        <p:spPr>
          <a:xfrm>
            <a:off x="1524000" y="2532162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8" name="Cartão"/>
          <p:cNvSpPr/>
          <p:nvPr/>
        </p:nvSpPr>
        <p:spPr>
          <a:xfrm>
            <a:off x="1524000" y="2532162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9" name="β1"/>
          <p:cNvSpPr txBox="1"/>
          <p:nvPr/>
        </p:nvSpPr>
        <p:spPr>
          <a:xfrm>
            <a:off x="1066800" y="2818941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β1</a:t>
            </a:r>
            <a:endParaRPr lang="en-US" sz="1300" dirty="0"/>
          </a:p>
        </p:txBody>
      </p:sp>
      <p:sp>
        <p:nvSpPr>
          <p:cNvPr id="10" name="Cartão"/>
          <p:cNvSpPr/>
          <p:nvPr/>
        </p:nvSpPr>
        <p:spPr>
          <a:xfrm>
            <a:off x="1524000" y="2890242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1" name="Cartão"/>
          <p:cNvSpPr/>
          <p:nvPr/>
        </p:nvSpPr>
        <p:spPr>
          <a:xfrm>
            <a:off x="1524000" y="2890242"/>
            <a:ext cx="889000" cy="1143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12" name="β2"/>
          <p:cNvSpPr txBox="1"/>
          <p:nvPr/>
        </p:nvSpPr>
        <p:spPr>
          <a:xfrm>
            <a:off x="1066800" y="3177022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β2</a:t>
            </a:r>
            <a:endParaRPr lang="en-US" sz="1300" dirty="0"/>
          </a:p>
        </p:txBody>
      </p:sp>
      <p:sp>
        <p:nvSpPr>
          <p:cNvPr id="13" name="Cartão"/>
          <p:cNvSpPr/>
          <p:nvPr/>
        </p:nvSpPr>
        <p:spPr>
          <a:xfrm>
            <a:off x="1524000" y="3248323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4" name="D1"/>
          <p:cNvSpPr txBox="1"/>
          <p:nvPr/>
        </p:nvSpPr>
        <p:spPr>
          <a:xfrm>
            <a:off x="1066800" y="3535102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15" name="Cartão"/>
          <p:cNvSpPr/>
          <p:nvPr/>
        </p:nvSpPr>
        <p:spPr>
          <a:xfrm>
            <a:off x="1524000" y="3606403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6" name="EFEITO HEMODINÂMICO"/>
          <p:cNvSpPr txBox="1"/>
          <p:nvPr/>
        </p:nvSpPr>
        <p:spPr>
          <a:xfrm>
            <a:off x="1066800" y="3894180"/>
            <a:ext cx="2559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HEMODINÂMICO</a:t>
            </a:r>
            <a:endParaRPr lang="en-US" sz="1200" dirty="0"/>
          </a:p>
        </p:txBody>
      </p:sp>
      <p:sp>
        <p:nvSpPr>
          <p:cNvPr id="17" name="PAM ↑↑"/>
          <p:cNvSpPr txBox="1"/>
          <p:nvPr/>
        </p:nvSpPr>
        <p:spPr>
          <a:xfrm>
            <a:off x="1066800" y="423250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↑↑</a:t>
            </a:r>
            <a:endParaRPr lang="en-US" sz="1400" dirty="0"/>
          </a:p>
        </p:txBody>
      </p:sp>
      <p:sp>
        <p:nvSpPr>
          <p:cNvPr id="18" name="DC ↔ (↑/↓)"/>
          <p:cNvSpPr txBox="1"/>
          <p:nvPr/>
        </p:nvSpPr>
        <p:spPr>
          <a:xfrm>
            <a:off x="2413000" y="423250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 (↑/↓)</a:t>
            </a:r>
            <a:endParaRPr lang="en-US" sz="1400" dirty="0"/>
          </a:p>
        </p:txBody>
      </p:sp>
      <p:sp>
        <p:nvSpPr>
          <p:cNvPr id="19" name="FC ↔/↓"/>
          <p:cNvSpPr txBox="1"/>
          <p:nvPr/>
        </p:nvSpPr>
        <p:spPr>
          <a:xfrm>
            <a:off x="1066800" y="4557547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↔/↓</a:t>
            </a:r>
            <a:endParaRPr lang="en-US" sz="1400" dirty="0"/>
          </a:p>
        </p:txBody>
      </p:sp>
      <p:sp>
        <p:nvSpPr>
          <p:cNvPr id="20" name="RVS ↑↑"/>
          <p:cNvSpPr txBox="1"/>
          <p:nvPr/>
        </p:nvSpPr>
        <p:spPr>
          <a:xfrm>
            <a:off x="2413000" y="4557547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RVS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↑↑</a:t>
            </a:r>
            <a:endParaRPr lang="en-US" sz="1400" dirty="0"/>
          </a:p>
        </p:txBody>
      </p:sp>
      <p:sp>
        <p:nvSpPr>
          <p:cNvPr id="21" name="Cartão"/>
          <p:cNvSpPr/>
          <p:nvPr/>
        </p:nvSpPr>
        <p:spPr>
          <a:xfrm>
            <a:off x="4064000" y="1879501"/>
            <a:ext cx="7315200" cy="1626989"/>
          </a:xfrm>
          <a:prstGeom prst="roundRect">
            <a:avLst>
              <a:gd name="adj" fmla="val 468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22" name="Ação e uso"/>
          <p:cNvSpPr txBox="1"/>
          <p:nvPr/>
        </p:nvSpPr>
        <p:spPr>
          <a:xfrm>
            <a:off x="4324350" y="2135857"/>
            <a:ext cx="681355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e uso</a:t>
            </a:r>
            <a:endParaRPr lang="en-US" sz="1700" dirty="0"/>
          </a:p>
        </p:txBody>
      </p:sp>
      <p:sp>
        <p:nvSpPr>
          <p:cNvPr id="23" name="α1 potente, β1 de efeito modesto: sobe a"/>
          <p:cNvSpPr txBox="1"/>
          <p:nvPr/>
        </p:nvSpPr>
        <p:spPr>
          <a:xfrm>
            <a:off x="4324350" y="2484480"/>
            <a:ext cx="681355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 potente, β1 de efeito modesto: sobe a PAM pela RVS e pelo retorno venoso; DC em geral mantido: pode subir pelo retorno venoso ou cair pela pós-carga; FC estável ou menor. 1ª linha no choque séptico.</a:t>
            </a:r>
            <a:endParaRPr lang="en-US" sz="1350" dirty="0"/>
          </a:p>
        </p:txBody>
      </p:sp>
      <p:sp>
        <p:nvSpPr>
          <p:cNvPr id="24" name="Cartão"/>
          <p:cNvSpPr/>
          <p:nvPr/>
        </p:nvSpPr>
        <p:spPr>
          <a:xfrm>
            <a:off x="4064000" y="3608090"/>
            <a:ext cx="7315200" cy="1466255"/>
          </a:xfrm>
          <a:prstGeom prst="roundRect">
            <a:avLst>
              <a:gd name="adj" fmla="val 519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25" name="Dose e cuidados"/>
          <p:cNvSpPr txBox="1"/>
          <p:nvPr/>
        </p:nvSpPr>
        <p:spPr>
          <a:xfrm>
            <a:off x="4324350" y="3864446"/>
            <a:ext cx="681355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e cuidados</a:t>
            </a:r>
            <a:endParaRPr lang="en-US" sz="1700" dirty="0"/>
          </a:p>
        </p:txBody>
      </p:sp>
      <p:sp>
        <p:nvSpPr>
          <p:cNvPr id="26" name="0,01–0,5 mcg/kg/min, sem teto fixo; bolu"/>
          <p:cNvSpPr txBox="1"/>
          <p:nvPr/>
        </p:nvSpPr>
        <p:spPr>
          <a:xfrm>
            <a:off x="4324350" y="4213069"/>
            <a:ext cx="681355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0,01–0,5 mcg/kg/min, sem teto fixo; bolus de 5–10 mcg no centro cirúrgico. Pode começar em veia periférica calibrosa. Riscos: isquemia digital e esplâncnica, extravasamento.</a:t>
            </a:r>
            <a:endParaRPr lang="en-US" sz="1350" dirty="0"/>
          </a:p>
        </p:txBody>
      </p:sp>
      <p:sp>
        <p:nvSpPr>
          <p:cNvPr id="27" name="SSC 2026 · Miller’s Anesthesia, 10ª ed. 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2026 · Miller’s Anesthesia, 10ª ed. (2025), cap. 16, 79 · barras: escala qualitativa</a:t>
            </a:r>
            <a:endParaRPr lang="en-US" sz="1200" dirty="0"/>
          </a:p>
        </p:txBody>
      </p:sp>
      <p:pic>
        <p:nvPicPr>
          <p:cNvPr id="28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· DROGAS · ADRENALINA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DROGAS · ADRENALINA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Adrenalina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3048000" cy="3194844"/>
          </a:xfrm>
          <a:prstGeom prst="roundRect">
            <a:avLst>
              <a:gd name="adj" fmla="val 2500"/>
            </a:avLst>
          </a:prstGeom>
          <a:solidFill>
            <a:srgbClr val="1B2A3A"/>
          </a:solidFill>
          <a:ln/>
        </p:spPr>
      </p:sp>
      <p:sp>
        <p:nvSpPr>
          <p:cNvPr id="5" name="RECEPTORES"/>
          <p:cNvSpPr txBox="1"/>
          <p:nvPr/>
        </p:nvSpPr>
        <p:spPr>
          <a:xfrm>
            <a:off x="1066800" y="2121537"/>
            <a:ext cx="2559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RECEPTORES</a:t>
            </a:r>
            <a:endParaRPr lang="en-US" sz="1200" dirty="0"/>
          </a:p>
        </p:txBody>
      </p:sp>
      <p:sp>
        <p:nvSpPr>
          <p:cNvPr id="6" name="α1"/>
          <p:cNvSpPr txBox="1"/>
          <p:nvPr/>
        </p:nvSpPr>
        <p:spPr>
          <a:xfrm>
            <a:off x="1066800" y="2460861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</a:t>
            </a:r>
            <a:endParaRPr lang="en-US" sz="1300" dirty="0"/>
          </a:p>
        </p:txBody>
      </p:sp>
      <p:sp>
        <p:nvSpPr>
          <p:cNvPr id="7" name="Cartão"/>
          <p:cNvSpPr/>
          <p:nvPr/>
        </p:nvSpPr>
        <p:spPr>
          <a:xfrm>
            <a:off x="1524000" y="2532162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8" name="Cartão"/>
          <p:cNvSpPr/>
          <p:nvPr/>
        </p:nvSpPr>
        <p:spPr>
          <a:xfrm>
            <a:off x="1524000" y="2532162"/>
            <a:ext cx="1333500" cy="1143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9" name="β1"/>
          <p:cNvSpPr txBox="1"/>
          <p:nvPr/>
        </p:nvSpPr>
        <p:spPr>
          <a:xfrm>
            <a:off x="1066800" y="2818941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β1</a:t>
            </a:r>
            <a:endParaRPr lang="en-US" sz="1300" dirty="0"/>
          </a:p>
        </p:txBody>
      </p:sp>
      <p:sp>
        <p:nvSpPr>
          <p:cNvPr id="10" name="Cartão"/>
          <p:cNvSpPr/>
          <p:nvPr/>
        </p:nvSpPr>
        <p:spPr>
          <a:xfrm>
            <a:off x="1524000" y="2890242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1" name="Cartão"/>
          <p:cNvSpPr/>
          <p:nvPr/>
        </p:nvSpPr>
        <p:spPr>
          <a:xfrm>
            <a:off x="1524000" y="2890242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12" name="β2"/>
          <p:cNvSpPr txBox="1"/>
          <p:nvPr/>
        </p:nvSpPr>
        <p:spPr>
          <a:xfrm>
            <a:off x="1066800" y="3177022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β2</a:t>
            </a:r>
            <a:endParaRPr lang="en-US" sz="1300" dirty="0"/>
          </a:p>
        </p:txBody>
      </p:sp>
      <p:sp>
        <p:nvSpPr>
          <p:cNvPr id="13" name="Cartão"/>
          <p:cNvSpPr/>
          <p:nvPr/>
        </p:nvSpPr>
        <p:spPr>
          <a:xfrm>
            <a:off x="1524000" y="3248323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4" name="Cartão"/>
          <p:cNvSpPr/>
          <p:nvPr/>
        </p:nvSpPr>
        <p:spPr>
          <a:xfrm>
            <a:off x="1524000" y="3248323"/>
            <a:ext cx="1333500" cy="1143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15" name="D1"/>
          <p:cNvSpPr txBox="1"/>
          <p:nvPr/>
        </p:nvSpPr>
        <p:spPr>
          <a:xfrm>
            <a:off x="1066800" y="3535102"/>
            <a:ext cx="3746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16" name="Cartão"/>
          <p:cNvSpPr/>
          <p:nvPr/>
        </p:nvSpPr>
        <p:spPr>
          <a:xfrm>
            <a:off x="1524000" y="3606403"/>
            <a:ext cx="1778000" cy="1143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7" name="EFEITO HEMODINÂMICO"/>
          <p:cNvSpPr txBox="1"/>
          <p:nvPr/>
        </p:nvSpPr>
        <p:spPr>
          <a:xfrm>
            <a:off x="1066800" y="3894180"/>
            <a:ext cx="2559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HEMODINÂMICO</a:t>
            </a:r>
            <a:endParaRPr lang="en-US" sz="1200" dirty="0"/>
          </a:p>
        </p:txBody>
      </p:sp>
      <p:sp>
        <p:nvSpPr>
          <p:cNvPr id="18" name="PAM ↑↑"/>
          <p:cNvSpPr txBox="1"/>
          <p:nvPr/>
        </p:nvSpPr>
        <p:spPr>
          <a:xfrm>
            <a:off x="1066800" y="423250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↑↑</a:t>
            </a:r>
            <a:endParaRPr lang="en-US" sz="1400" dirty="0"/>
          </a:p>
        </p:txBody>
      </p:sp>
      <p:sp>
        <p:nvSpPr>
          <p:cNvPr id="19" name="DC ↑↑"/>
          <p:cNvSpPr txBox="1"/>
          <p:nvPr/>
        </p:nvSpPr>
        <p:spPr>
          <a:xfrm>
            <a:off x="2413000" y="423250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↑↑</a:t>
            </a:r>
            <a:endParaRPr lang="en-US" sz="1400" dirty="0"/>
          </a:p>
        </p:txBody>
      </p:sp>
      <p:sp>
        <p:nvSpPr>
          <p:cNvPr id="20" name="FC ↑↑"/>
          <p:cNvSpPr txBox="1"/>
          <p:nvPr/>
        </p:nvSpPr>
        <p:spPr>
          <a:xfrm>
            <a:off x="1066800" y="4557547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↑↑</a:t>
            </a:r>
            <a:endParaRPr lang="en-US" sz="1400" dirty="0"/>
          </a:p>
        </p:txBody>
      </p:sp>
      <p:sp>
        <p:nvSpPr>
          <p:cNvPr id="21" name="RVS ↓/↑"/>
          <p:cNvSpPr txBox="1"/>
          <p:nvPr/>
        </p:nvSpPr>
        <p:spPr>
          <a:xfrm>
            <a:off x="2413000" y="4557547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RVS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↓/↑</a:t>
            </a:r>
            <a:endParaRPr lang="en-US" sz="1400" dirty="0"/>
          </a:p>
        </p:txBody>
      </p:sp>
      <p:sp>
        <p:nvSpPr>
          <p:cNvPr id="22" name="Cartão"/>
          <p:cNvSpPr/>
          <p:nvPr/>
        </p:nvSpPr>
        <p:spPr>
          <a:xfrm>
            <a:off x="4064000" y="1879501"/>
            <a:ext cx="7315200" cy="1466255"/>
          </a:xfrm>
          <a:prstGeom prst="roundRect">
            <a:avLst>
              <a:gd name="adj" fmla="val 519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23" name="Ação e uso"/>
          <p:cNvSpPr txBox="1"/>
          <p:nvPr/>
        </p:nvSpPr>
        <p:spPr>
          <a:xfrm>
            <a:off x="4324350" y="2135857"/>
            <a:ext cx="681355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e uso</a:t>
            </a:r>
            <a:endParaRPr lang="en-US" sz="1700" dirty="0"/>
          </a:p>
        </p:txBody>
      </p:sp>
      <p:sp>
        <p:nvSpPr>
          <p:cNvPr id="24" name="Dose baixa: predomina β (↑DC; a RVS pode"/>
          <p:cNvSpPr txBox="1"/>
          <p:nvPr/>
        </p:nvSpPr>
        <p:spPr>
          <a:xfrm>
            <a:off x="4324350" y="2484480"/>
            <a:ext cx="681355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baixa: predomina β (↑DC; a RVS pode cair); dose alta: α1. Droga da anafilaxia; no choque séptico, 3ª droga, se a PAM seguir inadequada com NA e vasopressina.</a:t>
            </a:r>
            <a:endParaRPr lang="en-US" sz="1350" dirty="0"/>
          </a:p>
        </p:txBody>
      </p:sp>
      <p:sp>
        <p:nvSpPr>
          <p:cNvPr id="25" name="Cartão"/>
          <p:cNvSpPr/>
          <p:nvPr/>
        </p:nvSpPr>
        <p:spPr>
          <a:xfrm>
            <a:off x="4064000" y="3447355"/>
            <a:ext cx="7315200" cy="1626989"/>
          </a:xfrm>
          <a:prstGeom prst="roundRect">
            <a:avLst>
              <a:gd name="adj" fmla="val 468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26" name="Dose e cuidados"/>
          <p:cNvSpPr txBox="1"/>
          <p:nvPr/>
        </p:nvSpPr>
        <p:spPr>
          <a:xfrm>
            <a:off x="4324350" y="3703711"/>
            <a:ext cx="681355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e cuidados</a:t>
            </a:r>
            <a:endParaRPr lang="en-US" sz="1700" dirty="0"/>
          </a:p>
        </p:txBody>
      </p:sp>
      <p:sp>
        <p:nvSpPr>
          <p:cNvPr id="27" name="0,01–0,1 mcg/kg/min (em geral, predomíni"/>
          <p:cNvSpPr txBox="1"/>
          <p:nvPr/>
        </p:nvSpPr>
        <p:spPr>
          <a:xfrm>
            <a:off x="4324350" y="4052335"/>
            <a:ext cx="681355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0,01–0,1 mcg/kg/min (em geral, predomínio β); no choque, dose maior, titulada pela PAM. Anafilaxia: bolus endovenosos pequenos e titulados, repetidos a cada 1–2 min; infusão após mais de três bolus. Riscos: taquiarritmia, hiperglicemia; lactato ↑ por β2.</a:t>
            </a:r>
            <a:endParaRPr lang="en-US" sz="1350" dirty="0"/>
          </a:p>
        </p:txBody>
      </p:sp>
      <p:sp>
        <p:nvSpPr>
          <p:cNvPr id="28" name="ANZCA/ANZAAG 2022 · SSC 2026 · barras: e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ANZCA/ANZAAG 2022 · SSC 2026 · barras: escala qualitativa</a:t>
            </a:r>
            <a:endParaRPr lang="en-US" sz="1200" dirty="0"/>
          </a:p>
        </p:txBody>
      </p:sp>
      <p:pic>
        <p:nvPicPr>
          <p:cNvPr id="29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· DROGAS · DOBUTAMINA E DOPAMINA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DROGAS · DOBUTAMINA E DOPAMINA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Dobutamina e dopamina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5181600" cy="1206401"/>
          </a:xfrm>
          <a:prstGeom prst="roundRect">
            <a:avLst>
              <a:gd name="adj" fmla="val 6316"/>
            </a:avLst>
          </a:prstGeom>
          <a:solidFill>
            <a:srgbClr val="1B2A3A"/>
          </a:solidFill>
          <a:ln/>
        </p:spPr>
      </p:sp>
      <p:sp>
        <p:nvSpPr>
          <p:cNvPr id="5" name="Dobutamina"/>
          <p:cNvSpPr txBox="1"/>
          <p:nvPr/>
        </p:nvSpPr>
        <p:spPr>
          <a:xfrm>
            <a:off x="1066800" y="2053307"/>
            <a:ext cx="113545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Dobutamina</a:t>
            </a:r>
            <a:endParaRPr lang="en-US" sz="1700" dirty="0"/>
          </a:p>
        </p:txBody>
      </p:sp>
      <p:sp>
        <p:nvSpPr>
          <p:cNvPr id="6" name="PAM ↔/↓ · DC ↑↑ · FC ↑ · RVS ↓"/>
          <p:cNvSpPr txBox="1"/>
          <p:nvPr/>
        </p:nvSpPr>
        <p:spPr>
          <a:xfrm>
            <a:off x="3244552" y="2069740"/>
            <a:ext cx="251489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↔/↓ · DC ↑↑ · FC ↑ · RVS ↓</a:t>
            </a:r>
            <a:endParaRPr lang="en-US" sz="1300" dirty="0"/>
          </a:p>
        </p:txBody>
      </p:sp>
      <p:sp>
        <p:nvSpPr>
          <p:cNvPr id="7" name="α1"/>
          <p:cNvSpPr txBox="1"/>
          <p:nvPr/>
        </p:nvSpPr>
        <p:spPr>
          <a:xfrm>
            <a:off x="10668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</a:t>
            </a:r>
            <a:endParaRPr lang="en-US" sz="1200" dirty="0"/>
          </a:p>
        </p:txBody>
      </p:sp>
      <p:sp>
        <p:nvSpPr>
          <p:cNvPr id="8" name="Cartão"/>
          <p:cNvSpPr/>
          <p:nvPr/>
        </p:nvSpPr>
        <p:spPr>
          <a:xfrm>
            <a:off x="14732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9" name="Cartão"/>
          <p:cNvSpPr/>
          <p:nvPr/>
        </p:nvSpPr>
        <p:spPr>
          <a:xfrm>
            <a:off x="1473200" y="2473821"/>
            <a:ext cx="381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10" name="β1"/>
          <p:cNvSpPr txBox="1"/>
          <p:nvPr/>
        </p:nvSpPr>
        <p:spPr>
          <a:xfrm>
            <a:off x="35306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β1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39370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2" name="Cartão"/>
          <p:cNvSpPr/>
          <p:nvPr/>
        </p:nvSpPr>
        <p:spPr>
          <a:xfrm>
            <a:off x="39370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13" name="β2"/>
          <p:cNvSpPr txBox="1"/>
          <p:nvPr/>
        </p:nvSpPr>
        <p:spPr>
          <a:xfrm>
            <a:off x="10668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β2</a:t>
            </a:r>
            <a:endParaRPr lang="en-US" sz="1200" dirty="0"/>
          </a:p>
        </p:txBody>
      </p:sp>
      <p:sp>
        <p:nvSpPr>
          <p:cNvPr id="14" name="Cartão"/>
          <p:cNvSpPr/>
          <p:nvPr/>
        </p:nvSpPr>
        <p:spPr>
          <a:xfrm>
            <a:off x="14732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5" name="Cartão"/>
          <p:cNvSpPr/>
          <p:nvPr/>
        </p:nvSpPr>
        <p:spPr>
          <a:xfrm>
            <a:off x="1473200" y="2750641"/>
            <a:ext cx="762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16" name="D1"/>
          <p:cNvSpPr txBox="1"/>
          <p:nvPr/>
        </p:nvSpPr>
        <p:spPr>
          <a:xfrm>
            <a:off x="35306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39370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8" name="Cartão"/>
          <p:cNvSpPr/>
          <p:nvPr/>
        </p:nvSpPr>
        <p:spPr>
          <a:xfrm>
            <a:off x="812800" y="3162102"/>
            <a:ext cx="5181600" cy="1413272"/>
          </a:xfrm>
          <a:prstGeom prst="roundRect">
            <a:avLst>
              <a:gd name="adj" fmla="val 539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9" name="Inotrópico β1 com vasodilatação β2: ↑DC,"/>
          <p:cNvSpPr txBox="1"/>
          <p:nvPr/>
        </p:nvSpPr>
        <p:spPr>
          <a:xfrm>
            <a:off x="1073150" y="3355621"/>
            <a:ext cx="4679950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Inotrópico β1 com vasodilatação β2: ↑DC, ↓RVS, pode baixar a PAM. Indicação: baixo débito com hipoperfusão, 2,5–20 mcg/kg/min; associar vasopressor se a PAM cair; taquicardia e arritmia limitam a dose.</a:t>
            </a:r>
            <a:endParaRPr lang="en-US" sz="1350" dirty="0"/>
          </a:p>
        </p:txBody>
      </p:sp>
      <p:sp>
        <p:nvSpPr>
          <p:cNvPr id="20" name="Cartão"/>
          <p:cNvSpPr/>
          <p:nvPr/>
        </p:nvSpPr>
        <p:spPr>
          <a:xfrm>
            <a:off x="6197600" y="1879501"/>
            <a:ext cx="5181600" cy="1206401"/>
          </a:xfrm>
          <a:prstGeom prst="roundRect">
            <a:avLst>
              <a:gd name="adj" fmla="val 6316"/>
            </a:avLst>
          </a:prstGeom>
          <a:solidFill>
            <a:srgbClr val="1B2A3A"/>
          </a:solidFill>
          <a:ln/>
        </p:spPr>
      </p:sp>
      <p:sp>
        <p:nvSpPr>
          <p:cNvPr id="21" name="Dopamina"/>
          <p:cNvSpPr txBox="1"/>
          <p:nvPr/>
        </p:nvSpPr>
        <p:spPr>
          <a:xfrm>
            <a:off x="6451600" y="2053307"/>
            <a:ext cx="94476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Dopamina</a:t>
            </a:r>
            <a:endParaRPr lang="en-US" sz="1700" dirty="0"/>
          </a:p>
        </p:txBody>
      </p:sp>
      <p:sp>
        <p:nvSpPr>
          <p:cNvPr id="22" name="PAM ↑ · DC ↑ · FC ↑↑ · RVS ↔/↑"/>
          <p:cNvSpPr txBox="1"/>
          <p:nvPr/>
        </p:nvSpPr>
        <p:spPr>
          <a:xfrm>
            <a:off x="8629352" y="2069740"/>
            <a:ext cx="251489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↑ · DC ↑ · FC ↑↑ · RVS ↔/↑</a:t>
            </a:r>
            <a:endParaRPr lang="en-US" sz="1300" dirty="0"/>
          </a:p>
        </p:txBody>
      </p:sp>
      <p:sp>
        <p:nvSpPr>
          <p:cNvPr id="23" name="α1"/>
          <p:cNvSpPr txBox="1"/>
          <p:nvPr/>
        </p:nvSpPr>
        <p:spPr>
          <a:xfrm>
            <a:off x="64516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</a:t>
            </a:r>
            <a:endParaRPr lang="en-US" sz="1200" dirty="0"/>
          </a:p>
        </p:txBody>
      </p:sp>
      <p:sp>
        <p:nvSpPr>
          <p:cNvPr id="24" name="Cartão"/>
          <p:cNvSpPr/>
          <p:nvPr/>
        </p:nvSpPr>
        <p:spPr>
          <a:xfrm>
            <a:off x="68580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25" name="Cartão"/>
          <p:cNvSpPr/>
          <p:nvPr/>
        </p:nvSpPr>
        <p:spPr>
          <a:xfrm>
            <a:off x="6858000" y="2473821"/>
            <a:ext cx="1143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26" name="β1"/>
          <p:cNvSpPr txBox="1"/>
          <p:nvPr/>
        </p:nvSpPr>
        <p:spPr>
          <a:xfrm>
            <a:off x="89154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β1</a:t>
            </a:r>
            <a:endParaRPr lang="en-US" sz="1200" dirty="0"/>
          </a:p>
        </p:txBody>
      </p:sp>
      <p:sp>
        <p:nvSpPr>
          <p:cNvPr id="27" name="Cartão"/>
          <p:cNvSpPr/>
          <p:nvPr/>
        </p:nvSpPr>
        <p:spPr>
          <a:xfrm>
            <a:off x="93218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28" name="Cartão"/>
          <p:cNvSpPr/>
          <p:nvPr/>
        </p:nvSpPr>
        <p:spPr>
          <a:xfrm>
            <a:off x="9321800" y="2473821"/>
            <a:ext cx="1143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29" name="β2"/>
          <p:cNvSpPr txBox="1"/>
          <p:nvPr/>
        </p:nvSpPr>
        <p:spPr>
          <a:xfrm>
            <a:off x="64516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β2</a:t>
            </a:r>
            <a:endParaRPr lang="en-US" sz="1200" dirty="0"/>
          </a:p>
        </p:txBody>
      </p:sp>
      <p:sp>
        <p:nvSpPr>
          <p:cNvPr id="30" name="Cartão"/>
          <p:cNvSpPr/>
          <p:nvPr/>
        </p:nvSpPr>
        <p:spPr>
          <a:xfrm>
            <a:off x="68580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31" name="Cartão"/>
          <p:cNvSpPr/>
          <p:nvPr/>
        </p:nvSpPr>
        <p:spPr>
          <a:xfrm>
            <a:off x="6858000" y="2750641"/>
            <a:ext cx="381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32" name="D1"/>
          <p:cNvSpPr txBox="1"/>
          <p:nvPr/>
        </p:nvSpPr>
        <p:spPr>
          <a:xfrm>
            <a:off x="89154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33" name="Cartão"/>
          <p:cNvSpPr/>
          <p:nvPr/>
        </p:nvSpPr>
        <p:spPr>
          <a:xfrm>
            <a:off x="93218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34" name="Cartão"/>
          <p:cNvSpPr/>
          <p:nvPr/>
        </p:nvSpPr>
        <p:spPr>
          <a:xfrm>
            <a:off x="93218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35" name="Cartão"/>
          <p:cNvSpPr/>
          <p:nvPr/>
        </p:nvSpPr>
        <p:spPr>
          <a:xfrm>
            <a:off x="6197600" y="3162102"/>
            <a:ext cx="5181600" cy="1413272"/>
          </a:xfrm>
          <a:prstGeom prst="roundRect">
            <a:avLst>
              <a:gd name="adj" fmla="val 539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36" name="Efeito pouco previsível; risco de taquic"/>
          <p:cNvSpPr txBox="1"/>
          <p:nvPr/>
        </p:nvSpPr>
        <p:spPr>
          <a:xfrm>
            <a:off x="6457950" y="3355621"/>
            <a:ext cx="467995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pouco previsível; risco de taquicardia e arritmias; a chamada dose “renal” não protege o rim. Uso restrito.</a:t>
            </a:r>
            <a:endParaRPr lang="en-US" sz="1350" dirty="0"/>
          </a:p>
        </p:txBody>
      </p:sp>
      <p:sp>
        <p:nvSpPr>
          <p:cNvPr id="37" name="Bellomo, Lancet 2000 (ANZICS) · Miller’s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Bellomo, Lancet 2000 (ANZICS) · Miller’s Anesthesia, 10ª ed. (2025), cap. 16, 79 · barras: escala qualitativa</a:t>
            </a:r>
            <a:endParaRPr lang="en-US" sz="1200" dirty="0"/>
          </a:p>
        </p:txBody>
      </p:sp>
      <p:pic>
        <p:nvPicPr>
          <p:cNvPr id="38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· DROGAS · MILRINONA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DROGAS · MILRINONA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Milrinona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3048000" cy="3230364"/>
          </a:xfrm>
          <a:prstGeom prst="roundRect">
            <a:avLst>
              <a:gd name="adj" fmla="val 2500"/>
            </a:avLst>
          </a:prstGeom>
          <a:solidFill>
            <a:srgbClr val="1B2A3A"/>
          </a:solidFill>
          <a:ln/>
        </p:spPr>
      </p:sp>
      <p:sp>
        <p:nvSpPr>
          <p:cNvPr id="5" name="MECANISMO"/>
          <p:cNvSpPr txBox="1"/>
          <p:nvPr/>
        </p:nvSpPr>
        <p:spPr>
          <a:xfrm>
            <a:off x="1066800" y="2121537"/>
            <a:ext cx="2559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200" dirty="0"/>
          </a:p>
        </p:txBody>
      </p:sp>
      <p:sp>
        <p:nvSpPr>
          <p:cNvPr id="6" name="Inibe a PDE3 e aumenta o AMPc sem depend"/>
          <p:cNvSpPr txBox="1"/>
          <p:nvPr/>
        </p:nvSpPr>
        <p:spPr>
          <a:xfrm>
            <a:off x="1066800" y="2465198"/>
            <a:ext cx="2559050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Inibe a PDE3 e aumenta o AMPc sem depender do receptor β</a:t>
            </a:r>
            <a:endParaRPr lang="en-US" sz="1400" dirty="0"/>
          </a:p>
        </p:txBody>
      </p:sp>
      <p:sp>
        <p:nvSpPr>
          <p:cNvPr id="7" name="Coração: inotropismo e lusitropismo. Vas"/>
          <p:cNvSpPr txBox="1"/>
          <p:nvPr/>
        </p:nvSpPr>
        <p:spPr>
          <a:xfrm>
            <a:off x="1066800" y="3051019"/>
            <a:ext cx="255905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Coração: inotropismo e lusitropismo. Vasos: dilatação sistêmica e pulmonar.</a:t>
            </a:r>
            <a:endParaRPr lang="en-US" sz="1200" dirty="0"/>
          </a:p>
        </p:txBody>
      </p:sp>
      <p:sp>
        <p:nvSpPr>
          <p:cNvPr id="8" name="EFEITO HEMODINÂMICO"/>
          <p:cNvSpPr txBox="1"/>
          <p:nvPr/>
        </p:nvSpPr>
        <p:spPr>
          <a:xfrm>
            <a:off x="1066800" y="3604659"/>
            <a:ext cx="2559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HEMODINÂMICO</a:t>
            </a:r>
            <a:endParaRPr lang="en-US" sz="1200" dirty="0"/>
          </a:p>
        </p:txBody>
      </p:sp>
      <p:sp>
        <p:nvSpPr>
          <p:cNvPr id="9" name="DC ↑↑"/>
          <p:cNvSpPr txBox="1"/>
          <p:nvPr/>
        </p:nvSpPr>
        <p:spPr>
          <a:xfrm>
            <a:off x="1066800" y="394298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↑↑</a:t>
            </a:r>
            <a:endParaRPr lang="en-US" sz="1400" dirty="0"/>
          </a:p>
        </p:txBody>
      </p:sp>
      <p:sp>
        <p:nvSpPr>
          <p:cNvPr id="10" name="FC ↔/↑"/>
          <p:cNvSpPr txBox="1"/>
          <p:nvPr/>
        </p:nvSpPr>
        <p:spPr>
          <a:xfrm>
            <a:off x="2413000" y="394298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↔/↑</a:t>
            </a:r>
            <a:endParaRPr lang="en-US" sz="1400" dirty="0"/>
          </a:p>
        </p:txBody>
      </p:sp>
      <p:sp>
        <p:nvSpPr>
          <p:cNvPr id="11" name="RVS ↓"/>
          <p:cNvSpPr txBox="1"/>
          <p:nvPr/>
        </p:nvSpPr>
        <p:spPr>
          <a:xfrm>
            <a:off x="1066800" y="426802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RVS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↓</a:t>
            </a:r>
            <a:endParaRPr lang="en-US" sz="1400" dirty="0"/>
          </a:p>
        </p:txBody>
      </p:sp>
      <p:sp>
        <p:nvSpPr>
          <p:cNvPr id="12" name="RVP ↓"/>
          <p:cNvSpPr txBox="1"/>
          <p:nvPr/>
        </p:nvSpPr>
        <p:spPr>
          <a:xfrm>
            <a:off x="2413000" y="4268026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RVP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↓</a:t>
            </a:r>
            <a:endParaRPr lang="en-US" sz="1400" dirty="0"/>
          </a:p>
        </p:txBody>
      </p:sp>
      <p:sp>
        <p:nvSpPr>
          <p:cNvPr id="13" name="PAM ↔/↓"/>
          <p:cNvSpPr txBox="1"/>
          <p:nvPr/>
        </p:nvSpPr>
        <p:spPr>
          <a:xfrm>
            <a:off x="1066800" y="4593067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↔/↓</a:t>
            </a:r>
            <a:endParaRPr lang="en-US" sz="1400" dirty="0"/>
          </a:p>
        </p:txBody>
      </p:sp>
      <p:sp>
        <p:nvSpPr>
          <p:cNvPr id="14" name="POAP ↓"/>
          <p:cNvSpPr txBox="1"/>
          <p:nvPr/>
        </p:nvSpPr>
        <p:spPr>
          <a:xfrm>
            <a:off x="2413000" y="4593067"/>
            <a:ext cx="12128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POAP</a:t>
            </a:r>
            <a:r>
              <a:rPr lang="pt-BR" alt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↓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064000" y="1879501"/>
            <a:ext cx="7315200" cy="1501775"/>
          </a:xfrm>
          <a:prstGeom prst="roundRect">
            <a:avLst>
              <a:gd name="adj" fmla="val 5074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6" name="Indicações"/>
          <p:cNvSpPr txBox="1"/>
          <p:nvPr/>
        </p:nvSpPr>
        <p:spPr>
          <a:xfrm>
            <a:off x="4324350" y="2135857"/>
            <a:ext cx="681355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Indicações</a:t>
            </a:r>
            <a:endParaRPr lang="en-US" sz="1700" dirty="0"/>
          </a:p>
        </p:txBody>
      </p:sp>
      <p:sp>
        <p:nvSpPr>
          <p:cNvPr id="17" name="Disfunção ventricular com baixo débito q"/>
          <p:cNvSpPr txBox="1"/>
          <p:nvPr/>
        </p:nvSpPr>
        <p:spPr>
          <a:xfrm>
            <a:off x="4324350" y="2484480"/>
            <a:ext cx="681355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Disfunção ventricular com baixo débito que exige inotrópico, sobretudo com hipertensão pulmonar ou falência de VD; saída de CEC com RVP alta ou betabloqueio.</a:t>
            </a:r>
            <a:endParaRPr lang="en-US" sz="1350" dirty="0"/>
          </a:p>
        </p:txBody>
      </p:sp>
      <p:sp>
        <p:nvSpPr>
          <p:cNvPr id="18" name="Cartão"/>
          <p:cNvSpPr/>
          <p:nvPr/>
        </p:nvSpPr>
        <p:spPr>
          <a:xfrm>
            <a:off x="4064000" y="3482876"/>
            <a:ext cx="7315200" cy="1626989"/>
          </a:xfrm>
          <a:prstGeom prst="roundRect">
            <a:avLst>
              <a:gd name="adj" fmla="val 468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9" name="Dose e cuidados"/>
          <p:cNvSpPr txBox="1"/>
          <p:nvPr/>
        </p:nvSpPr>
        <p:spPr>
          <a:xfrm>
            <a:off x="4324350" y="3739232"/>
            <a:ext cx="681355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e cuidados</a:t>
            </a:r>
            <a:endParaRPr lang="en-US" sz="1700" dirty="0"/>
          </a:p>
        </p:txBody>
      </p:sp>
      <p:sp>
        <p:nvSpPr>
          <p:cNvPr id="20" name="Ataque de 50 mcg/kg em 10 min (muitas ve"/>
          <p:cNvSpPr txBox="1"/>
          <p:nvPr/>
        </p:nvSpPr>
        <p:spPr>
          <a:xfrm>
            <a:off x="4324350" y="4087855"/>
            <a:ext cx="681355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de 50 mcg/kg em 10 min (muitas vezes omitido); manutenção de 0,375–0,75 mcg/kg/min. Eliminação renal: reduzir na insuficiência renal. Riscos: hipotensão (associar NA) e arritmias.</a:t>
            </a:r>
            <a:endParaRPr lang="en-US" sz="1350" dirty="0"/>
          </a:p>
        </p:txBody>
      </p:sp>
      <p:sp>
        <p:nvSpPr>
          <p:cNvPr id="21" name="bula da milrinona · Miller’s Anesthesia,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 da milrinona · Miller’s Anesthesia, 10ª ed. (2025), cap. 16, 50</a:t>
            </a:r>
            <a:endParaRPr lang="en-US" sz="1200" dirty="0"/>
          </a:p>
        </p:txBody>
      </p:sp>
      <p:pic>
        <p:nvPicPr>
          <p:cNvPr id="22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· DROGAS · MILRINONA OU DOBUTAMINA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DROGAS · MILRINONA OU DOBUTAMINA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Milrinona ou dobutamina: quando escolher</a:t>
            </a:r>
            <a:endParaRPr lang="en-US" sz="3200" dirty="0"/>
          </a:p>
        </p:txBody>
      </p:sp>
      <p:sp>
        <p:nvSpPr>
          <p:cNvPr id="4" name="Antes da escolha: há disfunção ventricul"/>
          <p:cNvSpPr txBox="1"/>
          <p:nvPr/>
        </p:nvSpPr>
        <p:spPr>
          <a:xfrm>
            <a:off x="812800" y="1763943"/>
            <a:ext cx="105854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escolha:</a:t>
            </a:r>
            <a:r>
              <a:rPr lang="pt-BR" alt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há disfunção ventricular com baixo débito que exige inotrópico, com volume e PAM já otimizados?</a:t>
            </a:r>
            <a:endParaRPr lang="en-US" sz="1400" dirty="0"/>
          </a:p>
        </p:txBody>
      </p:sp>
      <p:graphicFrame>
        <p:nvGraphicFramePr>
          <p:cNvPr id="5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29941"/>
          <a:ext cx="10566400" cy="914400"/>
        </p:xfrm>
        <a:graphic>
          <a:graphicData uri="http://schemas.openxmlformats.org/drawingml/2006/table">
            <a:tbl>
              <a:tblPr/>
              <a:tblGrid>
                <a:gridCol w="2324596"/>
                <a:gridCol w="3803848"/>
                <a:gridCol w="4437955"/>
              </a:tblGrid>
              <a:tr h="36572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esperado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Dobutamina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Milrinona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</a:tr>
              <a:tr h="36889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Meia-vida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2 min: início e fim rápidos, fácil de titular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2,4 h na IC; maior na insuficiência renal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 e circulação pulmonar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modesto na RVP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↓RVP e ↓POAP: útil no VD com hipertensão pulmonar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e PAM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 a mais taquicardia; vasodilatação discreta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 a mais vasodilatação e hipotensão (associar NA)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betabloqueador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atenuada; pode exigir dose maior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80"/>
                        </a:lnSpc>
                        <a:buNone/>
                      </a:pPr>
                      <a:r>
                        <a:rPr lang="pt-BR" alt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após o receptor β: efeito em grande parte preservado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tão"/>
          <p:cNvSpPr/>
          <p:nvPr/>
        </p:nvSpPr>
        <p:spPr>
          <a:xfrm>
            <a:off x="812800" y="4287143"/>
            <a:ext cx="5181600" cy="1521222"/>
          </a:xfrm>
          <a:prstGeom prst="roundRect">
            <a:avLst>
              <a:gd name="adj" fmla="val 500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7" name="Considere milrinona"/>
          <p:cNvSpPr txBox="1"/>
          <p:nvPr/>
        </p:nvSpPr>
        <p:spPr>
          <a:xfrm>
            <a:off x="1022350" y="4442369"/>
            <a:ext cx="4781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milrinona</a:t>
            </a:r>
            <a:endParaRPr lang="en-US" sz="1500" dirty="0"/>
          </a:p>
        </p:txBody>
      </p:sp>
      <p:sp>
        <p:nvSpPr>
          <p:cNvPr id="8" name="VD com hipertensão pulmonar, inclusive n"/>
          <p:cNvSpPr txBox="1"/>
          <p:nvPr/>
        </p:nvSpPr>
        <p:spPr>
          <a:xfrm>
            <a:off x="1022350" y="4712333"/>
            <a:ext cx="478155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com hipertensão pulmonar, inclusive na saída de CEC com RVP alta; betabloqueio ou taquicardia limitando a dobutamina; PAM sustentada (em geral com NA).</a:t>
            </a:r>
            <a:endParaRPr lang="en-US" sz="1300" dirty="0"/>
          </a:p>
        </p:txBody>
      </p:sp>
      <p:sp>
        <p:nvSpPr>
          <p:cNvPr id="9" name="Cartão"/>
          <p:cNvSpPr/>
          <p:nvPr/>
        </p:nvSpPr>
        <p:spPr>
          <a:xfrm>
            <a:off x="6197600" y="4287143"/>
            <a:ext cx="5181600" cy="1521222"/>
          </a:xfrm>
          <a:prstGeom prst="roundRect">
            <a:avLst>
              <a:gd name="adj" fmla="val 500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0" name="Considere dobutamina"/>
          <p:cNvSpPr txBox="1"/>
          <p:nvPr/>
        </p:nvSpPr>
        <p:spPr>
          <a:xfrm>
            <a:off x="6407150" y="4442369"/>
            <a:ext cx="4781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dobutamina</a:t>
            </a:r>
            <a:endParaRPr lang="en-US" sz="1500" dirty="0"/>
          </a:p>
        </p:txBody>
      </p:sp>
      <p:sp>
        <p:nvSpPr>
          <p:cNvPr id="11" name="Hipotensão ou vasoplegia associada; insu"/>
          <p:cNvSpPr txBox="1"/>
          <p:nvPr/>
        </p:nvSpPr>
        <p:spPr>
          <a:xfrm>
            <a:off x="6407150" y="4712333"/>
            <a:ext cx="4781550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Hipotensão ou vasoplegia associada; insuficiência renal; necessidade de titulação rápida (meia-vida de minutos). No choque séptico, a SSC 2026 sugere dobutamina com noradrenalina, ou adrenalina; faltam dados comparando com milrinona.</a:t>
            </a:r>
            <a:endParaRPr lang="en-US" sz="1300" dirty="0"/>
          </a:p>
        </p:txBody>
      </p:sp>
      <p:sp>
        <p:nvSpPr>
          <p:cNvPr id="12" name="bula da milrinona · Miller’s Anesthesia,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 da milrinona · Miller’s Anesthesia, 10ª ed. (2025), cap. 16, 50</a:t>
            </a:r>
            <a:endParaRPr lang="en-US" sz="1200" dirty="0"/>
          </a:p>
        </p:txBody>
      </p:sp>
      <p:pic>
        <p:nvPicPr>
          <p:cNvPr id="13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· DROGAS · NÃO CATECOLAMINAS DE BOLUS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DROGAS · NÃO CATECOLAMINAS DE BOLUS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Fenilefrina e efedrina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5181600" cy="1206401"/>
          </a:xfrm>
          <a:prstGeom prst="roundRect">
            <a:avLst>
              <a:gd name="adj" fmla="val 6316"/>
            </a:avLst>
          </a:prstGeom>
          <a:solidFill>
            <a:srgbClr val="1B2A3A"/>
          </a:solidFill>
          <a:ln/>
        </p:spPr>
      </p:sp>
      <p:sp>
        <p:nvSpPr>
          <p:cNvPr id="5" name="Fenilefrina"/>
          <p:cNvSpPr txBox="1"/>
          <p:nvPr/>
        </p:nvSpPr>
        <p:spPr>
          <a:xfrm>
            <a:off x="1066800" y="2053307"/>
            <a:ext cx="97799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Fenilefrina</a:t>
            </a:r>
            <a:endParaRPr lang="en-US" sz="1700" dirty="0"/>
          </a:p>
        </p:txBody>
      </p:sp>
      <p:sp>
        <p:nvSpPr>
          <p:cNvPr id="6" name="PAM ↑ · DC ↔/↓ · FC ↓ · RVS ↑↑"/>
          <p:cNvSpPr txBox="1"/>
          <p:nvPr/>
        </p:nvSpPr>
        <p:spPr>
          <a:xfrm>
            <a:off x="3244552" y="2069740"/>
            <a:ext cx="251489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↑ · DC ↔/↓ · FC ↓ · RVS ↑↑</a:t>
            </a:r>
            <a:endParaRPr lang="en-US" sz="1300" dirty="0"/>
          </a:p>
        </p:txBody>
      </p:sp>
      <p:sp>
        <p:nvSpPr>
          <p:cNvPr id="7" name="α1"/>
          <p:cNvSpPr txBox="1"/>
          <p:nvPr/>
        </p:nvSpPr>
        <p:spPr>
          <a:xfrm>
            <a:off x="10668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</a:t>
            </a:r>
            <a:endParaRPr lang="en-US" sz="1200" dirty="0"/>
          </a:p>
        </p:txBody>
      </p:sp>
      <p:sp>
        <p:nvSpPr>
          <p:cNvPr id="8" name="Cartão"/>
          <p:cNvSpPr/>
          <p:nvPr/>
        </p:nvSpPr>
        <p:spPr>
          <a:xfrm>
            <a:off x="14732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9" name="Cartão"/>
          <p:cNvSpPr/>
          <p:nvPr/>
        </p:nvSpPr>
        <p:spPr>
          <a:xfrm>
            <a:off x="14732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10" name="β1"/>
          <p:cNvSpPr txBox="1"/>
          <p:nvPr/>
        </p:nvSpPr>
        <p:spPr>
          <a:xfrm>
            <a:off x="35306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β1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39370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2" name="β2"/>
          <p:cNvSpPr txBox="1"/>
          <p:nvPr/>
        </p:nvSpPr>
        <p:spPr>
          <a:xfrm>
            <a:off x="10668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β2</a:t>
            </a:r>
            <a:endParaRPr lang="en-US" sz="1200" dirty="0"/>
          </a:p>
        </p:txBody>
      </p:sp>
      <p:sp>
        <p:nvSpPr>
          <p:cNvPr id="13" name="Cartão"/>
          <p:cNvSpPr/>
          <p:nvPr/>
        </p:nvSpPr>
        <p:spPr>
          <a:xfrm>
            <a:off x="14732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4" name="D1"/>
          <p:cNvSpPr txBox="1"/>
          <p:nvPr/>
        </p:nvSpPr>
        <p:spPr>
          <a:xfrm>
            <a:off x="35306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15" name="Cartão"/>
          <p:cNvSpPr/>
          <p:nvPr/>
        </p:nvSpPr>
        <p:spPr>
          <a:xfrm>
            <a:off x="39370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16" name="Cartão"/>
          <p:cNvSpPr/>
          <p:nvPr/>
        </p:nvSpPr>
        <p:spPr>
          <a:xfrm>
            <a:off x="812800" y="3162102"/>
            <a:ext cx="5181600" cy="1413272"/>
          </a:xfrm>
          <a:prstGeom prst="roundRect">
            <a:avLst>
              <a:gd name="adj" fmla="val 539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7" name="Agonista α1 direto: sobe a RVS e a PAM; "/>
          <p:cNvSpPr txBox="1"/>
          <p:nvPr/>
        </p:nvSpPr>
        <p:spPr>
          <a:xfrm>
            <a:off x="1073150" y="3355621"/>
            <a:ext cx="467995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Agonista α1 direto: sobe a RVS e a PAM; bradicardia reflexa, que pode reduzir o DC. Escolha na hipotensão vasodilatadora com FC normal ou alta.</a:t>
            </a:r>
            <a:endParaRPr lang="en-US" sz="1350" dirty="0"/>
          </a:p>
        </p:txBody>
      </p:sp>
      <p:sp>
        <p:nvSpPr>
          <p:cNvPr id="18" name="Cartão"/>
          <p:cNvSpPr/>
          <p:nvPr/>
        </p:nvSpPr>
        <p:spPr>
          <a:xfrm>
            <a:off x="6197600" y="1879501"/>
            <a:ext cx="5181600" cy="1206401"/>
          </a:xfrm>
          <a:prstGeom prst="roundRect">
            <a:avLst>
              <a:gd name="adj" fmla="val 6316"/>
            </a:avLst>
          </a:prstGeom>
          <a:solidFill>
            <a:srgbClr val="1B2A3A"/>
          </a:solidFill>
          <a:ln/>
        </p:spPr>
      </p:sp>
      <p:sp>
        <p:nvSpPr>
          <p:cNvPr id="19" name="Efedrina"/>
          <p:cNvSpPr txBox="1"/>
          <p:nvPr/>
        </p:nvSpPr>
        <p:spPr>
          <a:xfrm>
            <a:off x="6451600" y="2053307"/>
            <a:ext cx="76944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pt-BR" altLang="en-US" sz="17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Efedrina</a:t>
            </a:r>
            <a:endParaRPr lang="en-US" sz="1700" dirty="0"/>
          </a:p>
        </p:txBody>
      </p:sp>
      <p:sp>
        <p:nvSpPr>
          <p:cNvPr id="20" name="PAM ↑ · DC ↑ · FC ↑ · RVS ↔/↑"/>
          <p:cNvSpPr txBox="1"/>
          <p:nvPr/>
        </p:nvSpPr>
        <p:spPr>
          <a:xfrm>
            <a:off x="8778875" y="2069740"/>
            <a:ext cx="236537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↑ · DC ↑ · FC ↑ · RVS ↔/↑</a:t>
            </a:r>
            <a:endParaRPr lang="en-US" sz="1300" dirty="0"/>
          </a:p>
        </p:txBody>
      </p:sp>
      <p:sp>
        <p:nvSpPr>
          <p:cNvPr id="21" name="α1"/>
          <p:cNvSpPr txBox="1"/>
          <p:nvPr/>
        </p:nvSpPr>
        <p:spPr>
          <a:xfrm>
            <a:off x="64516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</a:t>
            </a:r>
            <a:endParaRPr lang="en-US" sz="1200" dirty="0"/>
          </a:p>
        </p:txBody>
      </p:sp>
      <p:sp>
        <p:nvSpPr>
          <p:cNvPr id="22" name="Cartão"/>
          <p:cNvSpPr/>
          <p:nvPr/>
        </p:nvSpPr>
        <p:spPr>
          <a:xfrm>
            <a:off x="68580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23" name="Cartão"/>
          <p:cNvSpPr/>
          <p:nvPr/>
        </p:nvSpPr>
        <p:spPr>
          <a:xfrm>
            <a:off x="6858000" y="2473821"/>
            <a:ext cx="762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24" name="β1"/>
          <p:cNvSpPr txBox="1"/>
          <p:nvPr/>
        </p:nvSpPr>
        <p:spPr>
          <a:xfrm>
            <a:off x="8915400" y="240599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β1</a:t>
            </a:r>
            <a:endParaRPr lang="en-US" sz="1200" dirty="0"/>
          </a:p>
        </p:txBody>
      </p:sp>
      <p:sp>
        <p:nvSpPr>
          <p:cNvPr id="25" name="Cartão"/>
          <p:cNvSpPr/>
          <p:nvPr/>
        </p:nvSpPr>
        <p:spPr>
          <a:xfrm>
            <a:off x="9321800" y="247382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26" name="Cartão"/>
          <p:cNvSpPr/>
          <p:nvPr/>
        </p:nvSpPr>
        <p:spPr>
          <a:xfrm>
            <a:off x="9321800" y="2473821"/>
            <a:ext cx="762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27" name="β2"/>
          <p:cNvSpPr txBox="1"/>
          <p:nvPr/>
        </p:nvSpPr>
        <p:spPr>
          <a:xfrm>
            <a:off x="64516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β2</a:t>
            </a:r>
            <a:endParaRPr lang="en-US" sz="1200" dirty="0"/>
          </a:p>
        </p:txBody>
      </p:sp>
      <p:sp>
        <p:nvSpPr>
          <p:cNvPr id="28" name="Cartão"/>
          <p:cNvSpPr/>
          <p:nvPr/>
        </p:nvSpPr>
        <p:spPr>
          <a:xfrm>
            <a:off x="68580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29" name="Cartão"/>
          <p:cNvSpPr/>
          <p:nvPr/>
        </p:nvSpPr>
        <p:spPr>
          <a:xfrm>
            <a:off x="6858000" y="2750641"/>
            <a:ext cx="381000" cy="101600"/>
          </a:xfrm>
          <a:prstGeom prst="roundRect">
            <a:avLst>
              <a:gd name="adj" fmla="val 50000"/>
            </a:avLst>
          </a:prstGeom>
          <a:solidFill>
            <a:srgbClr val="E49A5C"/>
          </a:solidFill>
          <a:ln/>
        </p:spPr>
      </p:sp>
      <p:sp>
        <p:nvSpPr>
          <p:cNvPr id="30" name="D1"/>
          <p:cNvSpPr txBox="1"/>
          <p:nvPr/>
        </p:nvSpPr>
        <p:spPr>
          <a:xfrm>
            <a:off x="8915400" y="2682818"/>
            <a:ext cx="3238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31" name="Cartão"/>
          <p:cNvSpPr/>
          <p:nvPr/>
        </p:nvSpPr>
        <p:spPr>
          <a:xfrm>
            <a:off x="9321800" y="2750641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475E"/>
          </a:solidFill>
          <a:ln/>
        </p:spPr>
      </p:sp>
      <p:sp>
        <p:nvSpPr>
          <p:cNvPr id="32" name="Cartão"/>
          <p:cNvSpPr/>
          <p:nvPr/>
        </p:nvSpPr>
        <p:spPr>
          <a:xfrm>
            <a:off x="6197600" y="3162102"/>
            <a:ext cx="5181600" cy="1413272"/>
          </a:xfrm>
          <a:prstGeom prst="roundRect">
            <a:avLst>
              <a:gd name="adj" fmla="val 539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33" name="Ação direta em α e β e indireta, liberan"/>
          <p:cNvSpPr txBox="1"/>
          <p:nvPr/>
        </p:nvSpPr>
        <p:spPr>
          <a:xfrm>
            <a:off x="6457950" y="3355621"/>
            <a:ext cx="4679950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direta em α e β e indireta, liberando noradrenalina: sobe pressão, frequência e débito. Escolha na hipotensão com bradicardia. Taquifilaxia; na cesárea, mais acidose fetal que a fenilefrina.</a:t>
            </a:r>
            <a:endParaRPr lang="en-US" sz="1350" dirty="0"/>
          </a:p>
        </p:txBody>
      </p:sp>
      <p:sp>
        <p:nvSpPr>
          <p:cNvPr id="34" name="Kinsella, Anaesthesia 2018 · Park &amp; Choi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Kinsella, Anaesthesia 2018 · Park &amp; Choi, Anesth Pain Med 2024 · Miller’s Anesthesia, 10ª ed. (2025), cap. 16, 58 · barras: escala qualitativa</a:t>
            </a:r>
            <a:endParaRPr lang="en-US" sz="1200" dirty="0"/>
          </a:p>
        </p:txBody>
      </p:sp>
      <p:pic>
        <p:nvPicPr>
          <p:cNvPr id="35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4 · ALÉM DAS AMINAS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ALÉM DAS AMINAS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Além das aminas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4064000" cy="3517305"/>
          </a:xfrm>
          <a:prstGeom prst="roundRect">
            <a:avLst>
              <a:gd name="adj" fmla="val 2166"/>
            </a:avLst>
          </a:prstGeom>
          <a:solidFill>
            <a:srgbClr val="1B2A3A"/>
          </a:solidFill>
          <a:ln/>
        </p:spPr>
      </p:sp>
      <p:sp>
        <p:nvSpPr>
          <p:cNvPr id="5" name="VASOPRESSINA · RECEPTOR V1"/>
          <p:cNvSpPr txBox="1"/>
          <p:nvPr/>
        </p:nvSpPr>
        <p:spPr>
          <a:xfrm>
            <a:off x="1066800" y="2121537"/>
            <a:ext cx="3575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VASOPRESSINA · RECEPTOR V1</a:t>
            </a:r>
            <a:endParaRPr lang="en-US" sz="1200" dirty="0"/>
          </a:p>
        </p:txBody>
      </p:sp>
      <p:sp>
        <p:nvSpPr>
          <p:cNvPr id="6" name="0,03 U/min"/>
          <p:cNvSpPr txBox="1"/>
          <p:nvPr/>
        </p:nvSpPr>
        <p:spPr>
          <a:xfrm>
            <a:off x="1066800" y="2457108"/>
            <a:ext cx="3575050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pt-BR" altLang="en-US" sz="360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0,03 U/min</a:t>
            </a:r>
            <a:endParaRPr lang="en-US" sz="3600" dirty="0"/>
          </a:p>
        </p:txBody>
      </p:sp>
      <p:sp>
        <p:nvSpPr>
          <p:cNvPr id="7" name="Choque séptico: dose em geral fixa, até "/>
          <p:cNvSpPr txBox="1"/>
          <p:nvPr/>
        </p:nvSpPr>
        <p:spPr>
          <a:xfrm>
            <a:off x="1066800" y="3036831"/>
            <a:ext cx="3575050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D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 séptico: dose em geral fixa, até 0,04 U/min. Vasoplegia pós-CEC: titulada (0,01–0,06 U/min no VANCS). Costuma manter efeito com acidose e dessensibilização adrenérgica.</a:t>
            </a:r>
            <a:endParaRPr lang="en-US" sz="1350" dirty="0"/>
          </a:p>
        </p:txBody>
      </p:sp>
      <p:sp>
        <p:nvSpPr>
          <p:cNvPr id="8" name="Indicações: choque séptico com noradrena"/>
          <p:cNvSpPr txBox="1"/>
          <p:nvPr/>
        </p:nvSpPr>
        <p:spPr>
          <a:xfrm>
            <a:off x="1066800" y="4132603"/>
            <a:ext cx="3575050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7"/>
              </a:lnSpc>
              <a:buNone/>
            </a:pPr>
            <a:r>
              <a:rPr lang="pt-BR" altLang="en-US" sz="1350" dirty="0">
                <a:solidFill>
                  <a:srgbClr val="D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Indicações: choque séptico com noradrenalina em escalada, vasoplegia pós-CEC e hipotensão refratária em uso de IECA/BRA. Risco: isquemia digital e mesentérica.</a:t>
            </a:r>
            <a:endParaRPr lang="en-US" sz="1350" dirty="0"/>
          </a:p>
        </p:txBody>
      </p:sp>
      <p:sp>
        <p:nvSpPr>
          <p:cNvPr id="9" name="Cartão"/>
          <p:cNvSpPr/>
          <p:nvPr/>
        </p:nvSpPr>
        <p:spPr>
          <a:xfrm>
            <a:off x="5080000" y="1879501"/>
            <a:ext cx="6299200" cy="827980"/>
          </a:xfrm>
          <a:prstGeom prst="roundRect">
            <a:avLst>
              <a:gd name="adj" fmla="val 920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0" name="Hidrocortisona"/>
          <p:cNvSpPr txBox="1"/>
          <p:nvPr/>
        </p:nvSpPr>
        <p:spPr>
          <a:xfrm>
            <a:off x="5289550" y="2034727"/>
            <a:ext cx="5899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Hidrocortisona</a:t>
            </a:r>
            <a:endParaRPr lang="en-US" sz="1500" dirty="0"/>
          </a:p>
        </p:txBody>
      </p:sp>
      <p:sp>
        <p:nvSpPr>
          <p:cNvPr id="11" name="Restaura a resposta vascular às catecola"/>
          <p:cNvSpPr txBox="1"/>
          <p:nvPr/>
        </p:nvSpPr>
        <p:spPr>
          <a:xfrm>
            <a:off x="5289550" y="2304690"/>
            <a:ext cx="589915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a resposta vascular às catecolaminas; 200 mg/dia no choque séptico.</a:t>
            </a:r>
            <a:endParaRPr lang="en-US" sz="1300" dirty="0"/>
          </a:p>
        </p:txBody>
      </p:sp>
      <p:sp>
        <p:nvSpPr>
          <p:cNvPr id="12" name="Cartão"/>
          <p:cNvSpPr/>
          <p:nvPr/>
        </p:nvSpPr>
        <p:spPr>
          <a:xfrm>
            <a:off x="5080000" y="2809081"/>
            <a:ext cx="6299200" cy="1290141"/>
          </a:xfrm>
          <a:prstGeom prst="roundRect">
            <a:avLst>
              <a:gd name="adj" fmla="val 590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3" name="Azul de metileno"/>
          <p:cNvSpPr txBox="1"/>
          <p:nvPr/>
        </p:nvSpPr>
        <p:spPr>
          <a:xfrm>
            <a:off x="5289550" y="2964307"/>
            <a:ext cx="5899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de metileno</a:t>
            </a:r>
            <a:endParaRPr lang="en-US" sz="1500" dirty="0"/>
          </a:p>
        </p:txBody>
      </p:sp>
      <p:sp>
        <p:nvSpPr>
          <p:cNvPr id="14" name="Inibe a via óxido nítrico–GMPc: resgate "/>
          <p:cNvSpPr txBox="1"/>
          <p:nvPr/>
        </p:nvSpPr>
        <p:spPr>
          <a:xfrm>
            <a:off x="5289550" y="3234271"/>
            <a:ext cx="589915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Inibe a via óxido nítrico–GMPc: resgate na vasoplegia refratária (pós-CEC; reperfusão do enxerto hepático, com base em relatos e séries). Também: metemoglobinemia; choque séptico refratário, em estudo.</a:t>
            </a:r>
            <a:endParaRPr lang="en-US" sz="1300" dirty="0"/>
          </a:p>
        </p:txBody>
      </p:sp>
      <p:sp>
        <p:nvSpPr>
          <p:cNvPr id="15" name="SSC 2026 · Hajjar, Anesthesiology 2017 ("/>
          <p:cNvSpPr txBox="1"/>
          <p:nvPr/>
        </p:nvSpPr>
        <p:spPr>
          <a:xfrm>
            <a:off x="812800" y="6245073"/>
            <a:ext cx="1043305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pt-BR" altLang="en-US" sz="11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2026 · Hajjar, Anesthesiology 2017 (VANCS) · Koelzow, Anesth Analg 2002 · Fukazawa, J Hepatobiliary Pancreat Sci 2011 · Miller’s Anesthesia, 10ª ed. (2025), cap. 79</a:t>
            </a:r>
            <a:endParaRPr lang="en-US" sz="1100" dirty="0"/>
          </a:p>
        </p:txBody>
      </p:sp>
      <p:pic>
        <p:nvPicPr>
          <p:cNvPr id="16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 · CHOQUE SÉPTICO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CHOQUE SÉPTICO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Choque séptico: a sequência da SSC 2026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812800" y="1879501"/>
            <a:ext cx="3138190" cy="1457722"/>
          </a:xfrm>
          <a:prstGeom prst="roundRect">
            <a:avLst>
              <a:gd name="adj" fmla="val 5227"/>
            </a:avLst>
          </a:prstGeom>
          <a:solidFill>
            <a:srgbClr val="1B2A3A"/>
          </a:solidFill>
          <a:ln/>
        </p:spPr>
      </p:sp>
      <p:sp>
        <p:nvSpPr>
          <p:cNvPr id="5" name="PASSO 1"/>
          <p:cNvSpPr txBox="1"/>
          <p:nvPr/>
        </p:nvSpPr>
        <p:spPr>
          <a:xfrm>
            <a:off x="1016000" y="2070737"/>
            <a:ext cx="275084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200" dirty="0"/>
          </a:p>
        </p:txBody>
      </p:sp>
      <p:sp>
        <p:nvSpPr>
          <p:cNvPr id="6" name="Noradrenalina"/>
          <p:cNvSpPr txBox="1"/>
          <p:nvPr/>
        </p:nvSpPr>
        <p:spPr>
          <a:xfrm>
            <a:off x="1016000" y="2342592"/>
            <a:ext cx="275084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pt-BR" alt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Noradrenalina</a:t>
            </a:r>
            <a:endParaRPr lang="en-US" sz="1800" dirty="0"/>
          </a:p>
        </p:txBody>
      </p:sp>
      <p:sp>
        <p:nvSpPr>
          <p:cNvPr id="7" name="1ª linha, iniciada cedo, mesmo em veia p"/>
          <p:cNvSpPr txBox="1"/>
          <p:nvPr/>
        </p:nvSpPr>
        <p:spPr>
          <a:xfrm>
            <a:off x="1016000" y="2658901"/>
            <a:ext cx="2750840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linha, iniciada cedo, mesmo em veia periférica.</a:t>
            </a:r>
            <a:endParaRPr lang="en-US" sz="1300" dirty="0"/>
          </a:p>
        </p:txBody>
      </p:sp>
      <p:sp>
        <p:nvSpPr>
          <p:cNvPr id="8" name="→"/>
          <p:cNvSpPr txBox="1"/>
          <p:nvPr/>
        </p:nvSpPr>
        <p:spPr>
          <a:xfrm>
            <a:off x="4077990" y="2445319"/>
            <a:ext cx="341015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pt-BR" altLang="en-US" sz="2800" b="1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Cartão"/>
          <p:cNvSpPr/>
          <p:nvPr/>
        </p:nvSpPr>
        <p:spPr>
          <a:xfrm>
            <a:off x="4526955" y="1879501"/>
            <a:ext cx="3138190" cy="1457722"/>
          </a:xfrm>
          <a:prstGeom prst="roundRect">
            <a:avLst>
              <a:gd name="adj" fmla="val 5227"/>
            </a:avLst>
          </a:prstGeom>
          <a:solidFill>
            <a:srgbClr val="1B2A3A"/>
          </a:solidFill>
          <a:ln/>
        </p:spPr>
      </p:sp>
      <p:sp>
        <p:nvSpPr>
          <p:cNvPr id="10" name="PASSO 2"/>
          <p:cNvSpPr txBox="1"/>
          <p:nvPr/>
        </p:nvSpPr>
        <p:spPr>
          <a:xfrm>
            <a:off x="4730155" y="2070737"/>
            <a:ext cx="275084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200" dirty="0"/>
          </a:p>
        </p:txBody>
      </p:sp>
      <p:sp>
        <p:nvSpPr>
          <p:cNvPr id="11" name="+ Vasopressina"/>
          <p:cNvSpPr txBox="1"/>
          <p:nvPr/>
        </p:nvSpPr>
        <p:spPr>
          <a:xfrm>
            <a:off x="4730155" y="2342592"/>
            <a:ext cx="275084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pt-BR" alt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Vasopressina</a:t>
            </a:r>
            <a:endParaRPr lang="en-US" sz="1800" dirty="0"/>
          </a:p>
        </p:txBody>
      </p:sp>
      <p:sp>
        <p:nvSpPr>
          <p:cNvPr id="12" name="Quando a dose de NA está subindo."/>
          <p:cNvSpPr txBox="1"/>
          <p:nvPr/>
        </p:nvSpPr>
        <p:spPr>
          <a:xfrm>
            <a:off x="4730155" y="2658901"/>
            <a:ext cx="275084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dose de NA está subindo.</a:t>
            </a:r>
            <a:endParaRPr lang="en-US" sz="1300" dirty="0"/>
          </a:p>
        </p:txBody>
      </p:sp>
      <p:sp>
        <p:nvSpPr>
          <p:cNvPr id="13" name="→"/>
          <p:cNvSpPr txBox="1"/>
          <p:nvPr/>
        </p:nvSpPr>
        <p:spPr>
          <a:xfrm>
            <a:off x="7792145" y="2445319"/>
            <a:ext cx="341015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pt-BR" altLang="en-US" sz="2800" b="1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Cartão"/>
          <p:cNvSpPr/>
          <p:nvPr/>
        </p:nvSpPr>
        <p:spPr>
          <a:xfrm>
            <a:off x="8241109" y="1879501"/>
            <a:ext cx="3138190" cy="1457722"/>
          </a:xfrm>
          <a:prstGeom prst="roundRect">
            <a:avLst>
              <a:gd name="adj" fmla="val 5227"/>
            </a:avLst>
          </a:prstGeom>
          <a:solidFill>
            <a:srgbClr val="1B2A3A"/>
          </a:solidFill>
          <a:ln/>
        </p:spPr>
      </p:sp>
      <p:sp>
        <p:nvSpPr>
          <p:cNvPr id="15" name="PASSO 3"/>
          <p:cNvSpPr txBox="1"/>
          <p:nvPr/>
        </p:nvSpPr>
        <p:spPr>
          <a:xfrm>
            <a:off x="8444309" y="2070737"/>
            <a:ext cx="275084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200" dirty="0"/>
          </a:p>
        </p:txBody>
      </p:sp>
      <p:sp>
        <p:nvSpPr>
          <p:cNvPr id="16" name="+ Adrenalina"/>
          <p:cNvSpPr txBox="1"/>
          <p:nvPr/>
        </p:nvSpPr>
        <p:spPr>
          <a:xfrm>
            <a:off x="8444309" y="2342592"/>
            <a:ext cx="275084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pt-BR" alt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Adrenalina</a:t>
            </a:r>
            <a:endParaRPr lang="en-US" sz="1800" dirty="0"/>
          </a:p>
        </p:txBody>
      </p:sp>
      <p:sp>
        <p:nvSpPr>
          <p:cNvPr id="17" name="Se a PAM continuar inadequada."/>
          <p:cNvSpPr txBox="1"/>
          <p:nvPr/>
        </p:nvSpPr>
        <p:spPr>
          <a:xfrm>
            <a:off x="8444309" y="2658901"/>
            <a:ext cx="275084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PAM continuar inadequada.</a:t>
            </a:r>
            <a:endParaRPr lang="en-US" sz="1300" dirty="0"/>
          </a:p>
        </p:txBody>
      </p:sp>
      <p:sp>
        <p:nvSpPr>
          <p:cNvPr id="18" name="Cartão"/>
          <p:cNvSpPr/>
          <p:nvPr/>
        </p:nvSpPr>
        <p:spPr>
          <a:xfrm>
            <a:off x="812800" y="3540423"/>
            <a:ext cx="10566400" cy="1219200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9" name="Em comum"/>
          <p:cNvSpPr txBox="1"/>
          <p:nvPr/>
        </p:nvSpPr>
        <p:spPr>
          <a:xfrm>
            <a:off x="1073150" y="3875835"/>
            <a:ext cx="1834555" cy="4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pt-BR" altLang="en-US" sz="2800" dirty="0">
                <a:solidFill>
                  <a:srgbClr val="B95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comum</a:t>
            </a:r>
            <a:endParaRPr lang="en-US" sz="2800" dirty="0"/>
          </a:p>
        </p:txBody>
      </p:sp>
      <p:sp>
        <p:nvSpPr>
          <p:cNvPr id="20" name="Vasopressor cedo, pelo mecanismo: tônus "/>
          <p:cNvSpPr txBox="1"/>
          <p:nvPr/>
        </p:nvSpPr>
        <p:spPr>
          <a:xfrm>
            <a:off x="3295055" y="3735018"/>
            <a:ext cx="78428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pt-BR" alt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 cedo, pelo mecanismo: tônus com noradrenalina, outra via com vasopressina, e adrenalina quando as duas não bastam. Inotrópico reservado à disfunção cardíaca com hipoperfusão.</a:t>
            </a:r>
            <a:endParaRPr lang="en-US" sz="1500" dirty="0"/>
          </a:p>
        </p:txBody>
      </p:sp>
      <p:sp>
        <p:nvSpPr>
          <p:cNvPr id="21" name="Prescott, Crit Care Med 2026 (Surviving 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Prescott, Crit Care Med 2026 (Surviving Sepsis Campaign)</a:t>
            </a:r>
            <a:endParaRPr lang="en-US" sz="1200" dirty="0"/>
          </a:p>
        </p:txBody>
      </p:sp>
      <p:pic>
        <p:nvPicPr>
          <p:cNvPr id="22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6 · PERIOPERATÓRIO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PERIOPERATÓRIO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Escolha da droga no intraoperatório</a:t>
            </a:r>
            <a:endParaRPr lang="en-US" sz="3200" dirty="0"/>
          </a:p>
        </p:txBody>
      </p:sp>
      <p:sp>
        <p:nvSpPr>
          <p:cNvPr id="4" name="Hipotensão"/>
          <p:cNvSpPr/>
          <p:nvPr/>
        </p:nvSpPr>
        <p:spPr>
          <a:xfrm>
            <a:off x="812800" y="1835051"/>
            <a:ext cx="1005979" cy="391120"/>
          </a:xfrm>
          <a:prstGeom prst="roundRect">
            <a:avLst>
              <a:gd name="adj" fmla="val 19483"/>
            </a:avLst>
          </a:prstGeom>
          <a:solidFill>
            <a:srgbClr val="1B2A3A"/>
          </a:solidFill>
          <a:ln/>
        </p:spPr>
        <p:txBody>
          <a:bodyPr wrap="none" lIns="139700" tIns="88900" rIns="139700" bIns="88900" rtlCol="0" anchor="ctr"/>
          <a:lstStyle/>
          <a:p>
            <a:pPr algn="ctr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Hipotensão</a:t>
            </a:r>
            <a:endParaRPr lang="en-US" sz="1200" dirty="0"/>
          </a:p>
        </p:txBody>
      </p:sp>
      <p:sp>
        <p:nvSpPr>
          <p:cNvPr id="5" name="→"/>
          <p:cNvSpPr txBox="1"/>
          <p:nvPr/>
        </p:nvSpPr>
        <p:spPr>
          <a:xfrm>
            <a:off x="1920379" y="1902506"/>
            <a:ext cx="27205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pt-BR" altLang="en-US" sz="2200" b="1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Afastar plano profundo, hipovolemia, com"/>
          <p:cNvSpPr/>
          <p:nvPr/>
        </p:nvSpPr>
        <p:spPr>
          <a:xfrm>
            <a:off x="2274987" y="1828701"/>
            <a:ext cx="5829399" cy="403820"/>
          </a:xfrm>
          <a:prstGeom prst="roundRect">
            <a:avLst>
              <a:gd name="adj" fmla="val 18870"/>
            </a:avLst>
          </a:prstGeom>
          <a:solidFill>
            <a:srgbClr val="FFFDF8"/>
          </a:solidFill>
          <a:ln w="6350">
            <a:solidFill>
              <a:srgbClr val="E2DDD2"/>
            </a:solidFill>
          </a:ln>
        </p:spPr>
        <p:txBody>
          <a:bodyPr wrap="none" lIns="146050" tIns="95250" rIns="146050" bIns="95250" rtlCol="0" anchor="ctr"/>
          <a:lstStyle/>
          <a:p>
            <a:pPr algn="ctr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Afastar plano profundo, hipovolemia, compressão aortocava, pneumotórax e anafilaxia</a:t>
            </a:r>
            <a:endParaRPr lang="en-US" sz="1200" dirty="0"/>
          </a:p>
        </p:txBody>
      </p:sp>
      <p:sp>
        <p:nvSpPr>
          <p:cNvPr id="7" name="→"/>
          <p:cNvSpPr txBox="1"/>
          <p:nvPr/>
        </p:nvSpPr>
        <p:spPr>
          <a:xfrm>
            <a:off x="8205986" y="1902506"/>
            <a:ext cx="27205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pt-BR" altLang="en-US" sz="2200" b="1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Qual mecanismo?"/>
          <p:cNvSpPr/>
          <p:nvPr/>
        </p:nvSpPr>
        <p:spPr>
          <a:xfrm>
            <a:off x="8560594" y="1835051"/>
            <a:ext cx="1409105" cy="391120"/>
          </a:xfrm>
          <a:prstGeom prst="roundRect">
            <a:avLst>
              <a:gd name="adj" fmla="val 19483"/>
            </a:avLst>
          </a:prstGeom>
          <a:solidFill>
            <a:srgbClr val="1B2A3A"/>
          </a:solidFill>
          <a:ln/>
        </p:spPr>
        <p:txBody>
          <a:bodyPr wrap="none" lIns="139700" tIns="88900" rIns="139700" bIns="88900" rtlCol="0" anchor="ctr"/>
          <a:lstStyle/>
          <a:p>
            <a:pPr algn="ctr" indent="0" marL="0">
              <a:lnSpc>
                <a:spcPts val="168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mecanismo?</a:t>
            </a:r>
            <a:endParaRPr lang="en-US" sz="1200" dirty="0"/>
          </a:p>
        </p:txBody>
      </p:sp>
      <p:sp>
        <p:nvSpPr>
          <p:cNvPr id="9" name="Cartão"/>
          <p:cNvSpPr/>
          <p:nvPr/>
        </p:nvSpPr>
        <p:spPr>
          <a:xfrm>
            <a:off x="812800" y="2486521"/>
            <a:ext cx="2011660" cy="1740694"/>
          </a:xfrm>
          <a:prstGeom prst="roundRect">
            <a:avLst>
              <a:gd name="adj" fmla="val 437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0" name="Tônus baixo, FC normal ou alta"/>
          <p:cNvSpPr/>
          <p:nvPr/>
        </p:nvSpPr>
        <p:spPr>
          <a:xfrm>
            <a:off x="819150" y="2492871"/>
            <a:ext cx="1998960" cy="573881"/>
          </a:xfrm>
          <a:prstGeom prst="roundRect">
            <a:avLst>
              <a:gd name="adj" fmla="val 13278"/>
            </a:avLst>
          </a:prstGeom>
          <a:solidFill>
            <a:srgbClr val="1B2A3A"/>
          </a:solidFill>
          <a:ln/>
        </p:spPr>
        <p:txBody>
          <a:bodyPr wrap="square" lIns="127000" tIns="88900" rIns="127000" bIns="8890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Tônus baixo, FC normal ou alta</a:t>
            </a:r>
            <a:endParaRPr lang="en-US" sz="1200" dirty="0"/>
          </a:p>
        </p:txBody>
      </p:sp>
      <p:sp>
        <p:nvSpPr>
          <p:cNvPr id="11" name="Fenilefrina 50–100 mcg ou NA 5–10 mcg; i"/>
          <p:cNvSpPr txBox="1"/>
          <p:nvPr/>
        </p:nvSpPr>
        <p:spPr>
          <a:xfrm>
            <a:off x="946150" y="3170165"/>
            <a:ext cx="1764010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Fenilefrina 50–100 mcg ou NA 5–10 mcg; infusão se persistir</a:t>
            </a:r>
            <a:endParaRPr lang="en-US" sz="1350" dirty="0"/>
          </a:p>
        </p:txBody>
      </p:sp>
      <p:sp>
        <p:nvSpPr>
          <p:cNvPr id="12" name="Cartão"/>
          <p:cNvSpPr/>
          <p:nvPr/>
        </p:nvSpPr>
        <p:spPr>
          <a:xfrm>
            <a:off x="2951460" y="2486521"/>
            <a:ext cx="2011660" cy="1740694"/>
          </a:xfrm>
          <a:prstGeom prst="roundRect">
            <a:avLst>
              <a:gd name="adj" fmla="val 437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3" name="Tônus baixo com bradicardia"/>
          <p:cNvSpPr/>
          <p:nvPr/>
        </p:nvSpPr>
        <p:spPr>
          <a:xfrm>
            <a:off x="2957810" y="2492871"/>
            <a:ext cx="1998960" cy="573881"/>
          </a:xfrm>
          <a:prstGeom prst="roundRect">
            <a:avLst>
              <a:gd name="adj" fmla="val 13278"/>
            </a:avLst>
          </a:prstGeom>
          <a:solidFill>
            <a:srgbClr val="1B2A3A"/>
          </a:solidFill>
          <a:ln/>
        </p:spPr>
        <p:txBody>
          <a:bodyPr wrap="square" lIns="127000" tIns="88900" rIns="127000" bIns="8890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Tônus baixo com bradicardia</a:t>
            </a:r>
            <a:endParaRPr lang="en-US" sz="1200" dirty="0"/>
          </a:p>
        </p:txBody>
      </p:sp>
      <p:sp>
        <p:nvSpPr>
          <p:cNvPr id="14" name="Efedrina 5–10 mg; adrenalina se grave"/>
          <p:cNvSpPr txBox="1"/>
          <p:nvPr/>
        </p:nvSpPr>
        <p:spPr>
          <a:xfrm>
            <a:off x="3084810" y="3170165"/>
            <a:ext cx="176401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Efedrina 5–10 mg; adrenalina se grave</a:t>
            </a:r>
            <a:endParaRPr lang="en-US" sz="1350" dirty="0"/>
          </a:p>
        </p:txBody>
      </p:sp>
      <p:sp>
        <p:nvSpPr>
          <p:cNvPr id="15" name="Cartão"/>
          <p:cNvSpPr/>
          <p:nvPr/>
        </p:nvSpPr>
        <p:spPr>
          <a:xfrm>
            <a:off x="5090120" y="2486521"/>
            <a:ext cx="2011660" cy="1740694"/>
          </a:xfrm>
          <a:prstGeom prst="roundRect">
            <a:avLst>
              <a:gd name="adj" fmla="val 437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6" name="Baixo débito com hipoperfusão"/>
          <p:cNvSpPr/>
          <p:nvPr/>
        </p:nvSpPr>
        <p:spPr>
          <a:xfrm>
            <a:off x="5096470" y="2492871"/>
            <a:ext cx="1998960" cy="573881"/>
          </a:xfrm>
          <a:prstGeom prst="roundRect">
            <a:avLst>
              <a:gd name="adj" fmla="val 13278"/>
            </a:avLst>
          </a:prstGeom>
          <a:solidFill>
            <a:srgbClr val="1B2A3A"/>
          </a:solidFill>
          <a:ln/>
        </p:spPr>
        <p:txBody>
          <a:bodyPr wrap="square" lIns="127000" tIns="88900" rIns="127000" bIns="8890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débito com hipoperfusão</a:t>
            </a:r>
            <a:endParaRPr lang="en-US" sz="1200" dirty="0"/>
          </a:p>
        </p:txBody>
      </p:sp>
      <p:sp>
        <p:nvSpPr>
          <p:cNvPr id="17" name="Dobutamina; milrinona no VD com hiperten"/>
          <p:cNvSpPr txBox="1"/>
          <p:nvPr/>
        </p:nvSpPr>
        <p:spPr>
          <a:xfrm>
            <a:off x="5223470" y="3170165"/>
            <a:ext cx="1764010" cy="925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Dobutamina; milrinona no VD com hipertensão pulmonar; NA se a PAM cair</a:t>
            </a:r>
            <a:endParaRPr lang="en-US" sz="1350" dirty="0"/>
          </a:p>
        </p:txBody>
      </p:sp>
      <p:sp>
        <p:nvSpPr>
          <p:cNvPr id="18" name="Cartão"/>
          <p:cNvSpPr/>
          <p:nvPr/>
        </p:nvSpPr>
        <p:spPr>
          <a:xfrm>
            <a:off x="7228780" y="2486521"/>
            <a:ext cx="2011660" cy="1740694"/>
          </a:xfrm>
          <a:prstGeom prst="roundRect">
            <a:avLst>
              <a:gd name="adj" fmla="val 437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9" name="Vasoplegia refratária"/>
          <p:cNvSpPr/>
          <p:nvPr/>
        </p:nvSpPr>
        <p:spPr>
          <a:xfrm>
            <a:off x="7235130" y="2492871"/>
            <a:ext cx="1998960" cy="571500"/>
          </a:xfrm>
          <a:prstGeom prst="roundRect">
            <a:avLst>
              <a:gd name="adj" fmla="val 13333"/>
            </a:avLst>
          </a:prstGeom>
          <a:solidFill>
            <a:srgbClr val="1B2A3A"/>
          </a:solidFill>
          <a:ln/>
        </p:spPr>
        <p:txBody>
          <a:bodyPr wrap="square" lIns="127000" tIns="88900" rIns="127000" bIns="8890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Vasoplegia refratária</a:t>
            </a:r>
            <a:endParaRPr lang="en-US" sz="1200" dirty="0"/>
          </a:p>
        </p:txBody>
      </p:sp>
      <p:sp>
        <p:nvSpPr>
          <p:cNvPr id="20" name="Vasopressina; azul de metileno como resg"/>
          <p:cNvSpPr txBox="1"/>
          <p:nvPr/>
        </p:nvSpPr>
        <p:spPr>
          <a:xfrm>
            <a:off x="7362130" y="3167784"/>
            <a:ext cx="1764010" cy="925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Vasopressina; azul de metileno como resgate (pós-CEC, IECA/BRA, reperfusão hepática)</a:t>
            </a:r>
            <a:endParaRPr lang="en-US" sz="1350" dirty="0"/>
          </a:p>
        </p:txBody>
      </p:sp>
      <p:sp>
        <p:nvSpPr>
          <p:cNvPr id="21" name="Cartão"/>
          <p:cNvSpPr/>
          <p:nvPr/>
        </p:nvSpPr>
        <p:spPr>
          <a:xfrm>
            <a:off x="9367441" y="2486521"/>
            <a:ext cx="2011660" cy="1740694"/>
          </a:xfrm>
          <a:prstGeom prst="roundRect">
            <a:avLst>
              <a:gd name="adj" fmla="val 4378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22" name="Pré-carga baixa"/>
          <p:cNvSpPr/>
          <p:nvPr/>
        </p:nvSpPr>
        <p:spPr>
          <a:xfrm>
            <a:off x="9373791" y="2492871"/>
            <a:ext cx="1998960" cy="571500"/>
          </a:xfrm>
          <a:prstGeom prst="roundRect">
            <a:avLst>
              <a:gd name="adj" fmla="val 13333"/>
            </a:avLst>
          </a:prstGeom>
          <a:solidFill>
            <a:srgbClr val="1B2A3A"/>
          </a:solidFill>
          <a:ln/>
        </p:spPr>
        <p:txBody>
          <a:bodyPr wrap="square" lIns="127000" tIns="88900" rIns="127000" bIns="8890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pt-BR" alt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Pré-carga baixa</a:t>
            </a:r>
            <a:endParaRPr lang="en-US" sz="1200" dirty="0"/>
          </a:p>
        </p:txBody>
      </p:sp>
      <p:sp>
        <p:nvSpPr>
          <p:cNvPr id="23" name="Volume, se o débito responde"/>
          <p:cNvSpPr txBox="1"/>
          <p:nvPr/>
        </p:nvSpPr>
        <p:spPr>
          <a:xfrm>
            <a:off x="9500791" y="3167784"/>
            <a:ext cx="176401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se o débito responde</a:t>
            </a:r>
            <a:endParaRPr lang="en-US" sz="1350" dirty="0"/>
          </a:p>
        </p:txBody>
      </p:sp>
      <p:sp>
        <p:nvSpPr>
          <p:cNvPr id="24" name="Transplante hepático (UFRJ): em 19 pacie"/>
          <p:cNvSpPr txBox="1"/>
          <p:nvPr/>
        </p:nvSpPr>
        <p:spPr>
          <a:xfrm>
            <a:off x="812800" y="4468254"/>
            <a:ext cx="1058545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Transplante hepático (UFRJ):</a:t>
            </a:r>
            <a:r>
              <a:rPr lang="pt-BR" altLang="en-US" sz="1300" dirty="0">
                <a:solidFill>
                  <a:srgbClr val="2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19 pacientes selecionados, a função sistólica do VD ao ETE manteve-se preservada nos momentos avaliados, inclusive 30 min após a reperfusão. O estudo não mediu os primeiros minutos da reperfusão nem a causa da instabilidade aguda; a lição é usar o eco para separar disfunção de VD de vasoplegia antes de escolher entre inotrópico e vasopressor (Gouvêa et al., PLoS One 2022).</a:t>
            </a:r>
            <a:endParaRPr lang="en-US" sz="1300" dirty="0"/>
          </a:p>
        </p:txBody>
      </p:sp>
      <p:sp>
        <p:nvSpPr>
          <p:cNvPr id="25" name="Gouvêa, PLoS One 2022 · Hajjar, Anesthes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Gouvêa, PLoS One 2022 · Hajjar, Anesthesiology 2017 (VANCS) · Miller’s Anesthesia, 10ª ed. (2025), cap. 33, 56</a:t>
            </a:r>
            <a:endParaRPr lang="en-US" sz="1200" dirty="0"/>
          </a:p>
        </p:txBody>
      </p:sp>
      <p:pic>
        <p:nvPicPr>
          <p:cNvPr id="26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7 · MENSAGENS FINAIS"/>
          <p:cNvSpPr txBox="1"/>
          <p:nvPr/>
        </p:nvSpPr>
        <p:spPr>
          <a:xfrm>
            <a:off x="812800" y="800837"/>
            <a:ext cx="105854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b="1" spc="100" kern="0" dirty="0">
                <a:solidFill>
                  <a:srgbClr val="B95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MENSAGENS FINAIS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1135442"/>
            <a:ext cx="107188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pt-BR" altLang="en-US" sz="32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hemodinâmico e droga de escolha</a:t>
            </a:r>
            <a:endParaRPr lang="en-US" sz="3200" dirty="0"/>
          </a:p>
        </p:txBody>
      </p:sp>
      <p:graphicFrame>
        <p:nvGraphicFramePr>
          <p:cNvPr id="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914400"/>
        </p:xfrm>
        <a:graphic>
          <a:graphicData uri="http://schemas.openxmlformats.org/drawingml/2006/table">
            <a:tbl>
              <a:tblPr/>
              <a:tblGrid>
                <a:gridCol w="3592513"/>
                <a:gridCol w="6973888"/>
              </a:tblGrid>
              <a:tr h="41781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b="1" dirty="0">
                          <a:solidFill>
                            <a:srgbClr val="F5F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Conduta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97311"/>
          <a:ext cx="10566400" cy="914400"/>
        </p:xfrm>
        <a:graphic>
          <a:graphicData uri="http://schemas.openxmlformats.org/drawingml/2006/table">
            <a:tbl>
              <a:tblPr/>
              <a:tblGrid>
                <a:gridCol w="3592513"/>
                <a:gridCol w="6973888"/>
              </a:tblGrid>
              <a:tr h="42098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Vasoplegia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Noradrenalina; vasopressina quando a dose sobe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21471"/>
          <a:ext cx="10566400" cy="914400"/>
        </p:xfrm>
        <a:graphic>
          <a:graphicData uri="http://schemas.openxmlformats.org/drawingml/2006/table">
            <a:tbl>
              <a:tblPr/>
              <a:tblGrid>
                <a:gridCol w="3592513"/>
                <a:gridCol w="6973888"/>
              </a:tblGrid>
              <a:tr h="66099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débito com hipoperfusão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Dobutamina (ou adrenalina, no choque séptico); milrinona sobretudo no VD com hipertensão pulmonar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385641"/>
          <a:ext cx="10566400" cy="914400"/>
        </p:xfrm>
        <a:graphic>
          <a:graphicData uri="http://schemas.openxmlformats.org/drawingml/2006/table">
            <a:tbl>
              <a:tblPr/>
              <a:tblGrid>
                <a:gridCol w="3592513"/>
                <a:gridCol w="6973888"/>
              </a:tblGrid>
              <a:tr h="42098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Hipotensão da anestesia com bradicardia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Efedrina; adrenalina se grave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809802"/>
          <a:ext cx="10566400" cy="914400"/>
        </p:xfrm>
        <a:graphic>
          <a:graphicData uri="http://schemas.openxmlformats.org/drawingml/2006/table">
            <a:tbl>
              <a:tblPr/>
              <a:tblGrid>
                <a:gridCol w="3592513"/>
                <a:gridCol w="6973888"/>
              </a:tblGrid>
              <a:tr h="66099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Hipotensão da anestesia com FC normal ou alta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Fenilefrina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4473972"/>
          <a:ext cx="10566400" cy="914400"/>
        </p:xfrm>
        <a:graphic>
          <a:graphicData uri="http://schemas.openxmlformats.org/drawingml/2006/table">
            <a:tbl>
              <a:tblPr/>
              <a:tblGrid>
                <a:gridCol w="3592513"/>
                <a:gridCol w="6973888"/>
              </a:tblGrid>
              <a:tr h="42098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Anafilaxia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pt-BR" alt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Adrenalina</a:t>
                      </a:r>
                      <a:endParaRPr lang="en-US" sz="1200" dirty="0"/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SC 2026 · Miller’s Anesthesia, 10ª ed. "/>
          <p:cNvSpPr txBox="1"/>
          <p:nvPr/>
        </p:nvSpPr>
        <p:spPr>
          <a:xfrm>
            <a:off x="812800" y="6226316"/>
            <a:ext cx="104330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pt-BR" altLang="en-US" sz="12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2026 · Miller’s Anesthesia, 10ª ed. (2025), cap. 16, 79</a:t>
            </a:r>
            <a:endParaRPr lang="en-US" sz="1200" dirty="0"/>
          </a:p>
        </p:txBody>
      </p:sp>
      <p:pic>
        <p:nvPicPr>
          <p:cNvPr id="11" name="Símbolo da UFRJ" descr="Símbolo da UFR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SSÃO CLÍNICA · ANESTESIOLOGIA"/>
          <p:cNvSpPr txBox="1"/>
          <p:nvPr/>
        </p:nvSpPr>
        <p:spPr>
          <a:xfrm>
            <a:off x="812800" y="2251802"/>
            <a:ext cx="63690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b="1" spc="15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CLÍNICA · ANESTESIOLOGIA</a:t>
            </a:r>
            <a:endParaRPr lang="en-US" sz="14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812800" y="2792781"/>
            <a:ext cx="65024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pt-BR" altLang="en-US" sz="56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5600" dirty="0"/>
          </a:p>
        </p:txBody>
      </p:sp>
      <p:sp>
        <p:nvSpPr>
          <p:cNvPr id="4" name="As referências completas da aula estão n"/>
          <p:cNvSpPr txBox="1"/>
          <p:nvPr/>
        </p:nvSpPr>
        <p:spPr>
          <a:xfrm>
            <a:off x="812800" y="3751375"/>
            <a:ext cx="573405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pt-BR" altLang="en-US" sz="18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referências completas da aula estão no QR code.</a:t>
            </a:r>
            <a:endParaRPr lang="en-US" sz="1800" dirty="0"/>
          </a:p>
        </p:txBody>
      </p:sp>
      <p:sp>
        <p:nvSpPr>
          <p:cNvPr id="5" name="Bruno Dubois · Orientadores: Marcelo Ban"/>
          <p:cNvSpPr txBox="1"/>
          <p:nvPr/>
        </p:nvSpPr>
        <p:spPr>
          <a:xfrm>
            <a:off x="812800" y="4329343"/>
            <a:ext cx="63690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pt-BR" altLang="en-US" sz="14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Dubois · Orientadores: Marcelo Bandeira e Glauber Gouvêa · UFRJ</a:t>
            </a:r>
            <a:endParaRPr lang="en-US" sz="1400" dirty="0"/>
          </a:p>
        </p:txBody>
      </p:sp>
      <p:sp>
        <p:nvSpPr>
          <p:cNvPr id="6" name="Cartão"/>
          <p:cNvSpPr/>
          <p:nvPr/>
        </p:nvSpPr>
        <p:spPr>
          <a:xfrm>
            <a:off x="8280400" y="1687810"/>
            <a:ext cx="3098800" cy="3098800"/>
          </a:xfrm>
          <a:prstGeom prst="roundRect">
            <a:avLst>
              <a:gd name="adj" fmla="val 3279"/>
            </a:avLst>
          </a:prstGeom>
          <a:solidFill>
            <a:srgbClr val="F5F3EE"/>
          </a:solidFill>
          <a:ln/>
        </p:spPr>
      </p:sp>
      <p:pic>
        <p:nvPicPr>
          <p:cNvPr id="7" name="QR code com o link da lista de referências" descr="QR code com o link da lista de referênc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800" y="1840210"/>
            <a:ext cx="2794000" cy="2794000"/>
          </a:xfrm>
          <a:prstGeom prst="rect">
            <a:avLst/>
          </a:prstGeom>
        </p:spPr>
      </p:pic>
      <p:sp>
        <p:nvSpPr>
          <p:cNvPr id="8" name="REFERÊNCIAS"/>
          <p:cNvSpPr txBox="1"/>
          <p:nvPr/>
        </p:nvSpPr>
        <p:spPr>
          <a:xfrm>
            <a:off x="9299178" y="4926050"/>
            <a:ext cx="108029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pt-BR" altLang="en-US" sz="1300" b="1" spc="100" kern="0" dirty="0">
                <a:solidFill>
                  <a:srgbClr val="E4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300" dirty="0"/>
          </a:p>
        </p:txBody>
      </p:sp>
      <p:pic>
        <p:nvPicPr>
          <p:cNvPr id="9" name="Símbolo da UFRJ" descr="Símbolo da UFRJ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5894381"/>
            <a:ext cx="508000" cy="758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Aminas Vasoativas">
      <a:dk1>
        <a:srgbClr val="1B2A3A"/>
      </a:dk1>
      <a:lt1>
        <a:srgbClr val="FFFDF8"/>
      </a:lt1>
      <a:dk2>
        <a:srgbClr val="2C3A48"/>
      </a:dk2>
      <a:lt2>
        <a:srgbClr val="F5F3EE"/>
      </a:lt2>
      <a:accent1>
        <a:srgbClr val="B9581A"/>
      </a:accent1>
      <a:accent2>
        <a:srgbClr val="2E5E8C"/>
      </a:accent2>
      <a:accent3>
        <a:srgbClr val="56606B"/>
      </a:accent3>
      <a:accent4>
        <a:srgbClr val="E49A5C"/>
      </a:accent4>
      <a:accent5>
        <a:srgbClr val="33475E"/>
      </a:accent5>
      <a:accent6>
        <a:srgbClr val="E2DDD2"/>
      </a:accent6>
      <a:hlink>
        <a:srgbClr val="2E5E8C"/>
      </a:hlink>
      <a:folHlink>
        <a:srgbClr val="56606B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Georgia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Aminas Vasoativas</dc:title>
  <dc:subject>Sessão clínica</dc:subject>
  <dc:creator>Bruno Dubois</dc:creator>
  <cp:lastModifiedBy>Bruno Dubois</cp:lastModifiedBy>
  <cp:revision>1</cp:revision>
  <dcterms:created xsi:type="dcterms:W3CDTF">2026-10-20T16:00:44Z</dcterms:created>
  <dcterms:modified xsi:type="dcterms:W3CDTF">2026-10-20T16:00:44Z</dcterms:modified>
</cp:coreProperties>
</file>