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76842dbc-ef0f-b700-c57c-58f4220c3a9e}">
          <p14:sldIdLst>
            <p14:sldId id="256"/>
            <p14:sldId id="257"/>
          </p14:sldIdLst>
        </p14:section>
        <p14:section name="01 · Fisiologia: pressão, débito e perfusão" id="{f6ab8c14-3b1c-2356-1857-ed88a34975dc}">
          <p14:sldIdLst>
            <p14:sldId id="258"/>
            <p14:sldId id="259"/>
          </p14:sldIdLst>
        </p14:section>
        <p14:section name="02 · Receptores" id="{0528d84a-d34d-8301-4a5c-6d845fe1d83c}">
          <p14:sldIdLst>
            <p14:sldId id="260"/>
          </p14:sldIdLst>
        </p14:section>
        <p14:section name="03 · Drogas: noradrenalina, adrenalina, dobutamina (e dopamina), milrinona (escolha), fenilefrina e efedrina" id="{17357479-016a-74d6-d8a5-f9d24d383bea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04 · Além das aminas: vasopressina, hidrocortisona e azul de metileno" id="{0e85d24b-4503-7a36-5690-ad52c0099428}">
          <p14:sldIdLst>
            <p14:sldId id="267"/>
          </p14:sldIdLst>
        </p14:section>
        <p14:section name="05 · Choque séptico: a sequência da SSC 2026" id="{7d632dab-38f9-6e63-34e4-5fdfa66997c5}">
          <p14:sldIdLst>
            <p14:sldId id="268"/>
          </p14:sldIdLst>
        </p14:section>
        <p14:section name="06 · Perioperatório: escolha da droga" id="{a42979ce-ca67-2280-b408-7253cb46f4f7}">
          <p14:sldIdLst>
            <p14:sldId id="269"/>
          </p14:sldIdLst>
        </p14:section>
        <p14:section name="07 · Mensagens finais e encerramento" id="{4659c61d-bfd4-4c88-1871-63cabab9f0e9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TEMPO: 25 s (0:00 → 0:25). Total previsto: 12 min 25 s nos 16 slides; ensaiar mirando 12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doses, indicações e cuidados de cada droga.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TEMPO: 25 s (0:25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fisiologia. Na prática, a PAM é o débito cardíaco multiplicado pela resistência vascular sistêmica, somado à pressão venosa central. Como a PVC costuma ser baixa, a PAM depende sobretudo do débito e da resistência; quando a PVC sobe, o que cai é a perfusão, porque, na prática, a pressão de perfusão do órgão aproxima-se da diferença entre a PAM e a PVC. Três situações. Na vasoplegia o problema é o tônus vascular, sobretudo arterial, como na sepse, na anestesia geral e no bloqueio de neuroeixo: a droga é o vasopressor. Na falência de bomba o débito é baixo e a resistência em geral alta: o alvo é a contratilidade. Na pré-carga baixa, a hipovolemia pede volume; o α1 contrai veias e recruta volume não estressado, mas não substitui a reposição.</a:t>
            </a:r>
            <a:endParaRPr lang="en-US" dirty="0"/>
          </a:p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PAM ≈ DC × RVS + PVC: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mais do que a resistência ao retorno venoso, com queda do retorno venoso e, portanto, do débito; é evidência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Mas pressão não é fluxo: uma resistência alta pode manter a PAM com débito baixo. No intraoperatório o caminho é combinar métodos. O eco, transesofágico ou transtorácico à beira do leito, é o primeiro recurso para definir o tipo de choque: função do VE e do VD, com a variação fracional de área e o TAPSE; dimensões cavitárias como pistas de enchimento; pericárdio; e o VTI na via de saída, que vezes a área dá o volume sistólico e, repetido, mostra a resposta a volume ou a droga. Os monitores de débito dão o número e a resposta a uma intervenção. E os marcadores de perfusão tissular dizem se o fluxo está bastando: lactato e sua tendência, saturação venosa central, gap de CO₂, diurese, enchimento capilar e temperatura das extremidades. A decisão de usar inotrópico vem daí, não da pressão.</a:t>
            </a:r>
            <a:endParaRPr lang="en-US" dirty="0"/>
          </a:p>
          <a:p>
            <a:r>
              <a:rPr lang="en-US" dirty="0"/>
              <a:t>TEMPO: 1 min 5 s (1:50 → 2:55)</a:t>
            </a:r>
            <a:endParaRPr lang="en-US" dirty="0"/>
          </a:p>
          <a:p>
            <a:r>
              <a:rPr lang="en-US" dirty="0"/>
              <a:t>PONTO-CHAVE: Pressão não é fluxo: combinar eco, débito e marcadores de perfusão antes de decidir por inotrópico.</a:t>
            </a:r>
            <a:endParaRPr lang="en-US" dirty="0"/>
          </a:p>
          <a:p>
            <a:r>
              <a:rPr lang="en-US" dirty="0"/>
              <a:t>SE PERGUNTAREM: no OPTIME-CHF (Cuffe, JAMA 2002; 951 pacientes com IC descompensada sem indicação clara de inotrópico), milrinona vs. placebo por 48 h: sem benefício, com mais hipotensão sustentada e arritmia atrial. Em um ECR (Tongyoo, Ann Med 2025;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sugere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 Monitores de débito: termodiluição pelo cateter de artéria pulmonar é a referência clínica (invasiva, intermitente ou semicontínua; sugerida no choque refratário e na disfunção de VD); termodiluição transpulmonar (PiCCO) calibra o contorno de pulso e estima volumes e água pulmonar extravascular; contorno de pulso não calibrado (FloTrac, ClearSight) perde acurácia com RVS baixa e vasopressor: em cirróticos, versão antiga do FloTrac teve erro percentual de 54% vs. termodiluição, limite aceito 30% (Biancofiore, Br J Anaesth 2009); Doppler esofágico depende da posição e do ângulo da sonda e assume o diâmetro aórtico. Zona cinzenta da VPP de 9–13% (Cannesson, Anesthesiology 2011); desafio de volume corrente 6 → 8 mL/kg por 1 min quando a limitação é apenas o volume corrente baixo (Myatra, Crit Care Med 2017); elevação passiva das pernas com ↑DC ≥ 10%: sensibilidade 85%, especificidade 91% (Monnet, Intensive Care Med 2016, metanálise de 21 estudos); minidesafio de 100 mL em dois passos de 50 mL, ↑índice sistólico &gt; 6% (Biais, Anesthesiology 2017; 44 pacientes em neurocirurgia).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Uma revisão breve dos receptores, apenas o que importa para as drogas de hoje. α1 contrai artérias e veias: sobe a resistência e o retorno venoso. α2 reduz a liberação de noradrenalina no terminal pré-sináptico e, no tronco encefálico, dá sedação e simpatólise, o efeito da dexmedetomidina. β1 aumenta contratilidade e frequência. β2 dilata vasos e brônquios e eleva glicemia e lactato. D1 dilata os leitos renal e mesentérico. V1 e PDE3 estão na tabela porque vasopressina e milrinona não dependem do adrenoceptor. Catecolaminas têm meia-vida de minutos e vão em infusão; fenilefrina e efedrina duram mais e são as drogas habituais de bolus. O uso prolongado dessensibiliza os receptores, sobretudo os β.</a:t>
            </a:r>
            <a:endParaRPr lang="en-US" dirty="0"/>
          </a:p>
          <a:p>
            <a:r>
              <a:rPr lang="en-US" dirty="0"/>
              <a:t>TEMPO: 50 s (2:55 → 3:45)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Subtipos: α2A medeia a sedação (locus coeruleus) e a simpatólise (centros vasomotores do tronco encefálico); α2B, no músculo liso vascular, a vasoconstrição e a hipertensão transitória do bolus de dexmedetomidina; a hipotensão e a bradicardia que se seguem vêm da simpatólise e do aumento do tônus vagal. A clonidina tem perfil semelhante, com menor seletividade para α2.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noradrenalina, a droga de primeira linha no choque séptico, com ação α1 potente e efeito β1 clinicamente modesto: sobe a PAM pela resistência e pela venoconstrição, com débito em geral mantido, que pode subir pelo retorno venoso ou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TEMPO: 40 s (3:45 → 4:25)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(De Backer, N Engl J Med 2010; n = 1.679), a mortalidade em 28 dias foi semelhante à da dopamina (48,5% vs. 52,5%), com metade das arritmias (12,4% vs. 24,1%); a SSC 2026 mantém a noradrenalina como primeira linha, à frente da dopamina.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praticamente não há vasodilatação e o lactato sobe pouco. As barras do slide representam o efeito clínico esperado em cada via, não a afinidade pelo receptor.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anafilaxia, bolus endovenosos pequenos e titulados, repetíveis a cada um ou dois minutos, com infusão se forem necessários mais de três bolus. O lactato pode subir por efeito β2, e isso não autoriza ignorar hipoperfusão.</a:t>
            </a:r>
            <a:endParaRPr lang="en-US" dirty="0"/>
          </a:p>
          <a:p>
            <a:r>
              <a:rPr lang="en-US" dirty="0"/>
              <a:t>TEMPO: 40 s (4:25 → 5:05)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o artigo apresenta como desfecho de segurança; o estudo foi interrompido precocemente. Dose no choque séptico: a bula americana de epinefrina prevê infusão de 0,05–2 mcg/kg/min, titulada pela PAM. Cartão ANZCA/ANZAAG 2022 (adulto; 1 mg em 10 mL = 100 mcg/mL): reação moderada (grau 2), 10–20 mcg, e 50 mcg se não houver resposta; reação ameaçadora à vida (grau 3),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A dopamina, em uma frase: efeito pouco previsível, risco de taquicardia e arritmias, e a chamada dose renal não protege o rim; hoje tem uso restrito.</a:t>
            </a:r>
            <a:endParaRPr lang="en-US" dirty="0"/>
          </a:p>
          <a:p>
            <a:r>
              <a:rPr lang="en-US" dirty="0"/>
              <a:t>TEMPO: 35 s (5:05 → 5:40)</a:t>
            </a:r>
            <a:endParaRPr lang="en-US" dirty="0"/>
          </a:p>
          <a:p>
            <a:r>
              <a:rPr lang="en-US" dirty="0"/>
              <a:t>PONTO-CHAVE: Dobutamina para baixo débito com hipoperfusão; dopamina de uso restrito.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chega ao mesmo ponto por outra via: a dobutamina aumenta a produção de AMPc pelo receptor β1; a milrinona inibe a PDE3, uma das fosfodiesterases que degradam o AMPc no miocárdio e no vaso, e por isso age depois do receptor. É um inodilatador: aumenta contratilidade e relaxamento e reduz as resistências sistêmica e pulmonar. A indicação é a disfunção ventricular com baixo débito que exige inotrópico, sobretudo quando há hipertensão pulmonar ou falência de VD.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TEMPO: 55 s (5:40 → 6:35)</a:t>
            </a:r>
            <a:endParaRPr lang="en-US" dirty="0"/>
          </a:p>
          <a:p>
            <a:r>
              <a:rPr lang="en-US" dirty="0"/>
              <a:t>PONTO-CHAVE: Inodilatador que age depois do receptor β; meia-vida longa e eliminação renal; costuma exigir noradrenalina.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Então, quando escolher? Primeiro, a indicação: inotrópico quando há disfunção ventricular com baixo débito e hipoperfusão, depois de otimizar volume e PAM; se a hipotensão é por vasoplegia, a droga é o vasopressor, e um inodilatador baixa ainda mais a pressão. Depois, o perfil, que está na tabela. Milrinona quando a circulação pulmonar e o VD são o problema, como na hipertensão pulmonar e na saída de CEC com resistência pulmonar alta, ou quando betabloqueio ou taquicardia limitam a dobutamina; a milrinona exige PAM sustentada, em geral com noradrenalina. Dobutamina, com vasopressor, quando o baixo débito vem com hipotensão ou vasoplegia, em que a vasodilatação e a meia-vida longa da milrinona pesam contra; na insuficiência renal; e para titulação rápida, com meia-vida de minutos. No choque séptico com disfunção miocárdica e hipoperfusão persistente, a Surviving Sepsis Campaign de 2026, a SSC, sugere dobutamina com noradrenalina, ou adrenalina, sem dados que a prefiram à milrinona: preferência prática, não superioridade demonstrada.</a:t>
            </a:r>
            <a:endParaRPr lang="en-US" dirty="0"/>
          </a:p>
          <a:p>
            <a:r>
              <a:rPr lang="en-US" dirty="0"/>
              <a:t>TEMPO: 1 min 15 s (6:35 → 7:50)</a:t>
            </a:r>
            <a:endParaRPr lang="en-US" dirty="0"/>
          </a:p>
          <a:p>
            <a:r>
              <a:rPr lang="en-US" dirty="0"/>
              <a:t>PONTO-CHAVE: Primeiro a indicação; depois o perfil: milrinona para VD e circulação pulmonar com PAM sustentada; dobutamina com pressão baixa ou para titular rápido. Na sepse, dobutamina é preferência prática, não superioridade demonstrada.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Agora duas aminas simpaticomiméticas que não são catecolaminas, as drogas habituais de bolus do centro cirúrgico. Fenilefrina: agonista α1 direto, praticamente sem ação β; a PAM sobe pela resistência e a frequência cai por reflexo, o que pode reduzir o débito quando ele depende da frequência; é a escolha na hipotensão vasodilatadora com frequência normal ou alta. Efedrina: age diretamente em α e β e também, de forma indireta, libera noradrenalina das terminações; sobe pressão, frequência e débito, por isso é a escolha quando há bradicardia; perde efeito com doses repetidas, em parte porque depleta a noradrenalina, e na cesárea atravessa a placenta e associa-se a mais acidose fetal que a fenilefrina.</a:t>
            </a:r>
            <a:endParaRPr lang="en-US" dirty="0"/>
          </a:p>
          <a:p>
            <a:r>
              <a:rPr lang="en-US" dirty="0"/>
              <a:t>TEMPO: 50 s (7:50 → 8:40)</a:t>
            </a:r>
            <a:endParaRPr lang="en-US" dirty="0"/>
          </a:p>
          <a:p>
            <a:r>
              <a:rPr lang="en-US" dirty="0"/>
              <a:t>PONTO-CHAVE: Fenilefrina: hipotensão vasodilatadora com FC normal ou alta. Efedrina: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recursos além das aminas. A vasopressina age no receptor V1, fora da via adrenérgica, e costuma manter efeito em acidose; no choque séptico há deficiência relativa do hormônio. No choque séptico, com noradrenalina em escalada, a dose é em geral fixa, 0,03 unidades por minuto; na vasoplegia após CEC, o VANCS titulou de 0,01 a 0,06 unidades por minuto; com IECA ou BRA, bolus pequenos ou infusão titulada; o risco é isquemia digital e mesentérica. A hidrocortisona restaura a resposta vascular às catecolaminas, 200 mg por dia no choque séptico. O azul de metileno inibe a via do óxido nítrico e fica como resgate na vasoplegia refratária: após CEC, onde há mais estudos, e na reperfusão do enxerto hepático, com base em relatos, séries e um ensaio pequeno; o uso profilático não mostrou benefício em uma coorte pareada. Outras indicações, apenas para citar: metemoglobinemia e choque séptico refratário. Cuidados: deficiência de G6PD, interferência na oximetria e no BIS, e síndrome serotoninérgica, inclusive com certos opioides.</a:t>
            </a:r>
            <a:endParaRPr lang="en-US" dirty="0"/>
          </a:p>
          <a:p>
            <a:r>
              <a:rPr lang="en-US" dirty="0"/>
              <a:t>TEMPO: 1 min 15 s (8:40 → 9:55)</a:t>
            </a:r>
            <a:endParaRPr lang="en-US" dirty="0"/>
          </a:p>
          <a:p>
            <a:r>
              <a:rPr lang="en-US" dirty="0"/>
              <a:t>PONTO-CHAVE: Fora das aminas: vasopressina (V1), hidrocortisona e azul de metileno, cada uma por um mecanismo diferente.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na vasoplegia, em geral 1,5 a 2 mg/kg EV em 20 a 30 min. Pós-CEC: ensaios pequenos e séries. Transplante hepático: ECR de 36 pacientes com 1,5 mg/kg antes da reperfusão (Koelzow, Anesth Analg 2002): PAM maior e menos adrenalina; coorte pareada por propensão de 715 transplantes, 105 com azul de metileno profilático de 1 a 1,5 mg/kg (Fukazawa, J Hepatobiliary Pancreat Sci 2011): sem redução da hipotensão da reperfusão, do vasopressor ou da transfusão, e sem efeito na função do enxerto; revisões de 2021 e 2025 apontam a falta de ECRs no transplante e a hidroxocobalamina como alternativa em estudo. Outras indicações: metemoglobinemia (1 a 2 mg/kg EV, a indicação clássica); choque séptico (metanálise de ECRs: menos tempo de vasopressor e de UTI, sem substituir a vasopressina); encefalopatia por ifosfamida; relatos em anafilaxia refratária e em intoxicação por betabloqueador ou bloqueador de canal de cálcio. Contraindicado na deficiência de G6PD (hemólise, com anemia que pode aparecer dias depois); subestima a SpO₂ e pode reduzir o BIS (a bula recomenda outro método para avaliar a profundidade anestésica); síndrome serotoninérgica com ISRS, IRSN, IMAO e alguns opioides,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choque séptico, a Surviving Sepsis Campaign, a diretriz internacional de sepse, atualizada em 2026, organiza os vasopressores em sequência: noradrenalina primeiro, cedo, mesmo por veia periférica; vasopressina quando a dose de noradrenalina sobe, sem limiar definido; adrenalina se a PAM continuar inadequada. É o mesmo raciocínio da aula: tônus com noradrenalina, outra via com vasopressina, e inotrópico reservado à disfunção cardíaca com hipoperfusão, com volume e PAM já otimizados.</a:t>
            </a:r>
            <a:endParaRPr lang="en-US" dirty="0"/>
          </a:p>
          <a:p>
            <a:r>
              <a:rPr lang="en-US" dirty="0"/>
              <a:t>TEMPO: 35 s (9:55 → 10:30)</a:t>
            </a:r>
            <a:endParaRPr lang="en-US" dirty="0"/>
          </a:p>
          <a:p>
            <a:r>
              <a:rPr lang="en-US" dirty="0"/>
              <a:t>PONTO-CHAVE: Noradrenalina, depois vasopressina, depois adrenalina; inotrópico reservado à disfunção cardíaca com hipoperfusão.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PAM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centro cirúrgico, antes da droga, afastar causas tratáveis: plano profundo, hipovolemia, compressão aortocava, pneumotórax e anafilaxia. Depois, o mecanismo: tônus baixo com frequência normal ou alta, agonista α1; bradicardia, efedrina ou, se grave, adrenalina; baixo débito, inotrópico; vasoplegia refratária às catecolaminas, do pós-CEC, do uso de IECA ou BRA e da reperfusão do enxerto hepático: vasopressina, com azul de metileno como resgate; pré-carga baixa, volume. Um dado do nosso serviço ajuda nessa decisão: Gouvêa, Diaz e colaboradores acompanharam por ecocardiografia transesofágica o VD de 19 pacientes selecionados em cinco fases do transplante hepático, e a função sistólica se manteve preservada nos momentos avaliados, inclusive trinta minutos após a reperfusão. Como não mediu os primeiros minutos da reperfusão, o estudo não diz se a instabilidade aguda é vasoplegia ou disfunção transitória do VD; o que fica para a prática é o método: usar o eco para separar disfunção de VD de vasoplegia antes de escolher entre inotrópico e vasopressor.</a:t>
            </a:r>
            <a:endParaRPr lang="en-US" dirty="0"/>
          </a:p>
          <a:p>
            <a:r>
              <a:rPr lang="en-US" dirty="0"/>
              <a:t>TEMPO: 1 min 15 s (10:30 → 11:45)</a:t>
            </a:r>
            <a:endParaRPr lang="en-US" dirty="0"/>
          </a:p>
          <a:p>
            <a:r>
              <a:rPr lang="en-US" dirty="0"/>
              <a:t>PONTO-CHAVE: Afastar causas, identificar o mecanismo, escolher a droga; o eco separa vasoplegia de falência de VD.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30 min após a reperfusão e fechamento); função sistólica do VD preservada nos cinco momentos; excluídos hipertensão portopulmonar, síndrome hepatopulmonar, doença cardiopulmonar e insuficiência hepática fulminante. População selecionada e medida feita 30 min depois da reperfusão: o estudo não mediu os primeiros minutos, quando ocorre a síndrome pós-reperfusão, não exclui disfunção transitória do VD nesse período e não permite atribuir a instabilidade aguda a vasoplegia. TAPSE e variação fracional de área dependem da carga, e o TAPSE mede apenas a excursão longitudinal do anel lateral; normais sob anestesia, com pós-carga baixa, afastam disfunção sistólica evidente nos momentos avaliados, não medem reserva contrátil. O estudo mediu a função do VD; não testou a capacidade do eco de diferenciar vasoplegia de disfunção ventricular na hipotensão aguda: essa é a aplicação clínica proposta na aula, não um resultado do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Vasoplegia: noradrenalina e, quando a dose sobe, vasopressina. Baixo débito com hipoperfusão: inotrópico, com a milrinona sobretudo no VD com hipertensão pulmonar. Hipotensão vasodilatadora da anestesia com bradicardia: efedrina; com frequência normal ou alta: fenilefrina. Anafilaxia: adrenalina.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TEMPO: 30 s (11:45 → 12:15)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(12:15 → 12:25)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doses, indicações e cuidados de"/>
          <p:cNvSpPr txBox="1"/>
          <p:nvPr/>
        </p:nvSpPr>
        <p:spPr>
          <a:xfrm>
            <a:off x="1371600" y="3173161"/>
            <a:ext cx="470346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doses, indicações e cuidados de cada droga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"/>
          <p:cNvSpPr txBox="1"/>
          <p:nvPr/>
        </p:nvSpPr>
        <p:spPr>
          <a:xfrm>
            <a:off x="4463256" y="4769969"/>
            <a:ext cx="324554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contrai ve"/>
          <p:cNvSpPr txBox="1"/>
          <p:nvPr/>
        </p:nvSpPr>
        <p:spPr>
          <a:xfrm>
            <a:off x="8252817" y="2484480"/>
            <a:ext cx="2884984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contrai veias e recruta volume não estressado, mas não substitui a reposição.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PAM ≈ DC × RVS + PVC"/>
          <p:cNvSpPr txBox="1"/>
          <p:nvPr/>
        </p:nvSpPr>
        <p:spPr>
          <a:xfrm>
            <a:off x="1073150" y="4604661"/>
            <a:ext cx="437931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+ PVC</a:t>
            </a:r>
            <a:endParaRPr lang="en-US" sz="3200" dirty="0"/>
          </a:p>
        </p:txBody>
      </p:sp>
      <p:sp>
        <p:nvSpPr>
          <p:cNvPr id="15" name="A PVC costuma ser baixa: a PAM depende s"/>
          <p:cNvSpPr txBox="1"/>
          <p:nvPr/>
        </p:nvSpPr>
        <p:spPr>
          <a:xfrm>
            <a:off x="5839817" y="4502972"/>
            <a:ext cx="529808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PVC costuma ser baixa: a PAM depende sobretudo do débito e da resistência. Quando a PVC sobe, o que cai é a perfusão (PAM − PVC) e o retorno venoso.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 a perfusão no intraoperatório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Ecocardiografia (ETE ou POCUS)"/>
          <p:cNvSpPr txBox="1"/>
          <p:nvPr/>
        </p:nvSpPr>
        <p:spPr>
          <a:xfrm>
            <a:off x="1047750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(ETE ou POCUS)</a:t>
            </a:r>
            <a:endParaRPr lang="en-US" sz="1700" dirty="0"/>
          </a:p>
        </p:txBody>
      </p:sp>
      <p:sp>
        <p:nvSpPr>
          <p:cNvPr id="6" name="Tipo de choque em minutos: função de VE "/>
          <p:cNvSpPr txBox="1"/>
          <p:nvPr/>
        </p:nvSpPr>
        <p:spPr>
          <a:xfrm>
            <a:off x="1047750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choque em minutos: função de VE e VD, volemia, pericárdio</a:t>
            </a:r>
            <a:endParaRPr lang="en-US" sz="1350" dirty="0"/>
          </a:p>
        </p:txBody>
      </p:sp>
      <p:sp>
        <p:nvSpPr>
          <p:cNvPr id="7" name="VTI na via de saída do VE: estimativa se"/>
          <p:cNvSpPr txBox="1"/>
          <p:nvPr/>
        </p:nvSpPr>
        <p:spPr>
          <a:xfrm>
            <a:off x="1047750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VTI na via de saída do VE: estimativa seriada do volume sistólico</a:t>
            </a:r>
            <a:endParaRPr lang="en-US" sz="1350" dirty="0"/>
          </a:p>
        </p:txBody>
      </p:sp>
      <p:sp>
        <p:nvSpPr>
          <p:cNvPr id="8" name="Reavaliar após volume ou droga"/>
          <p:cNvSpPr txBox="1"/>
          <p:nvPr/>
        </p:nvSpPr>
        <p:spPr>
          <a:xfrm>
            <a:off x="1047750" y="3472493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após volume ou droga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4402634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Débito e parâmetros dinâmicos"/>
          <p:cNvSpPr txBox="1"/>
          <p:nvPr/>
        </p:nvSpPr>
        <p:spPr>
          <a:xfrm>
            <a:off x="4637584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parâmetros dinâmicos</a:t>
            </a:r>
            <a:endParaRPr lang="en-US" sz="1700" dirty="0"/>
          </a:p>
        </p:txBody>
      </p:sp>
      <p:sp>
        <p:nvSpPr>
          <p:cNvPr id="11" name="Monitores de débito: contorno de pulso, "/>
          <p:cNvSpPr txBox="1"/>
          <p:nvPr/>
        </p:nvSpPr>
        <p:spPr>
          <a:xfrm>
            <a:off x="4637584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de débito: contorno de pulso, termodiluição, Doppler</a:t>
            </a:r>
            <a:endParaRPr lang="en-US" sz="1350" dirty="0"/>
          </a:p>
        </p:txBody>
      </p:sp>
      <p:sp>
        <p:nvSpPr>
          <p:cNvPr id="12" name="VPP e VVS em ventilação controlada, dent"/>
          <p:cNvSpPr txBox="1"/>
          <p:nvPr/>
        </p:nvSpPr>
        <p:spPr>
          <a:xfrm>
            <a:off x="4637584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 em ventilação controlada, dentro dos limites do método</a:t>
            </a:r>
            <a:endParaRPr lang="en-US" sz="1350" dirty="0"/>
          </a:p>
        </p:txBody>
      </p:sp>
      <p:sp>
        <p:nvSpPr>
          <p:cNvPr id="13" name="Minidesafio hídrico ou, se o posicioname"/>
          <p:cNvSpPr txBox="1"/>
          <p:nvPr/>
        </p:nvSpPr>
        <p:spPr>
          <a:xfrm>
            <a:off x="4637584" y="3472493"/>
            <a:ext cx="2935784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Minidesafio hídrico ou, se o posicionamento permitir, elevação passiva das pernas, medindo o débito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7992467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Perfusão tissular"/>
          <p:cNvSpPr txBox="1"/>
          <p:nvPr/>
        </p:nvSpPr>
        <p:spPr>
          <a:xfrm>
            <a:off x="8227417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Perfusão tissular</a:t>
            </a:r>
            <a:endParaRPr lang="en-US" sz="1700" dirty="0"/>
          </a:p>
        </p:txBody>
      </p:sp>
      <p:sp>
        <p:nvSpPr>
          <p:cNvPr id="16" name="Lactato e sua tendência; SvcO₂; gap veno"/>
          <p:cNvSpPr txBox="1"/>
          <p:nvPr/>
        </p:nvSpPr>
        <p:spPr>
          <a:xfrm>
            <a:off x="8227417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e sua tendência;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Diurese"/>
          <p:cNvSpPr txBox="1"/>
          <p:nvPr/>
        </p:nvSpPr>
        <p:spPr>
          <a:xfrm>
            <a:off x="8227417" y="2928972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Diurese</a:t>
            </a:r>
            <a:endParaRPr lang="en-US" sz="1350" dirty="0"/>
          </a:p>
        </p:txBody>
      </p:sp>
      <p:sp>
        <p:nvSpPr>
          <p:cNvPr id="18" name="Enchimento capilar e temperatura das ext"/>
          <p:cNvSpPr txBox="1"/>
          <p:nvPr/>
        </p:nvSpPr>
        <p:spPr>
          <a:xfrm>
            <a:off x="8227417" y="323248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e temperatura das extremidades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812800" y="4644132"/>
            <a:ext cx="10566400" cy="886420"/>
          </a:xfrm>
          <a:prstGeom prst="roundRect">
            <a:avLst>
              <a:gd name="adj" fmla="val 859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Atenção"/>
          <p:cNvSpPr txBox="1"/>
          <p:nvPr/>
        </p:nvSpPr>
        <p:spPr>
          <a:xfrm>
            <a:off x="1073150" y="4774028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21" name="PAM normal não exclui débito baixo: comb"/>
          <p:cNvSpPr txBox="1"/>
          <p:nvPr/>
        </p:nvSpPr>
        <p:spPr>
          <a:xfrm>
            <a:off x="2937470" y="4805688"/>
            <a:ext cx="82004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baixo: combinar eco, débito e marcadores de perfusão antes de decidir por inotrópico.</a:t>
            </a:r>
            <a:endParaRPr lang="en-US" sz="1500" dirty="0"/>
          </a:p>
        </p:txBody>
      </p:sp>
      <p:sp>
        <p:nvSpPr>
          <p:cNvPr id="22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Miller’s Anesthesia, 10ª ed. (2025), cap. 13, 33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das aminas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803848"/>
                <a:gridCol w="5705971"/>
              </a:tblGrid>
              <a:tr h="3530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6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Pré-sináptico; tronco encefálico; 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NA; sedação e simpatólise (dexmedetomidina); vasoconstrição (hipertensão transitória do bolus)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tecolaminas: meia-vida de minutos, em "/>
          <p:cNvSpPr txBox="1"/>
          <p:nvPr/>
        </p:nvSpPr>
        <p:spPr>
          <a:xfrm>
            <a:off x="812800" y="525327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(as drogas habituais de bolus). Uso prolongado: dessensibilização.</a:t>
            </a:r>
            <a:endParaRPr lang="en-US" sz="1300" dirty="0"/>
          </a:p>
        </p:txBody>
      </p:sp>
      <p:sp>
        <p:nvSpPr>
          <p:cNvPr id="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de efeito modesto: sobe a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de efeito modesto: sobe a PAM pela RVS e pelo retorno venoso; DC em geral mantido: pode subir pelo retorno venoso ou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608090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213069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Anafilaxia: bolus endovenosos pequenos e titulados, repetidos a cada 1–2 min; infusão após mais de três bolus.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pouco previsível; risco de taquic"/>
          <p:cNvSpPr txBox="1"/>
          <p:nvPr/>
        </p:nvSpPr>
        <p:spPr>
          <a:xfrm>
            <a:off x="6457950" y="3355621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pouco previsível; risco de taquicardia e arritmias; a chamada dose “renal” não protege o rim. Uso restrito.</a:t>
            </a:r>
            <a:endParaRPr lang="en-US" sz="1350" dirty="0"/>
          </a:p>
        </p:txBody>
      </p:sp>
      <p:sp>
        <p:nvSpPr>
          <p:cNvPr id="37" name="Bellomo, Lancet 2000 (ANZICS) · Miller’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inotrópico, sobretudo com hipertensão pulmonar ou falência de VD; saída de CEC com RVP alta ou betabloqueio.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β: efeito em grande parte preservado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 com RVP alta; betabloqueio ou taquicardia limitando a dobutamina; PAM sustentada (em geral com NA).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 associada; insu"/>
          <p:cNvSpPr txBox="1"/>
          <p:nvPr/>
        </p:nvSpPr>
        <p:spPr>
          <a:xfrm>
            <a:off x="6407150" y="4712333"/>
            <a:ext cx="4781550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 associada; insuficiência renal; necessidade de titulação rápida (meia-vida de minutos). No choque séptico, a SSC 2026 sugere dobutamina com noradrenalina, ou adrenalina; faltam dados comparando com milrinona.</a:t>
            </a:r>
            <a:endParaRPr lang="en-US" sz="1300" dirty="0"/>
          </a:p>
        </p:txBody>
      </p:sp>
      <p:sp>
        <p:nvSpPr>
          <p:cNvPr id="12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ÃO CATECOLAMINAS DE BOLU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NÃO CATECOLAMINAS DE BOLUS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: sobe a RVS e a PAM; 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direto: sobe a RVS e a PAM; bradicardia reflexa, que pode reduzir o DC. Escolha na hipotensão vasodilatadora com FC normal ou alta.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direta em α e β e indireta, liberan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em α e β e indireta, liberando noradrenalina: sobe pressão, frequência e débito. Escolha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Além das aminas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517305"/>
          </a:xfrm>
          <a:prstGeom prst="roundRect">
            <a:avLst>
              <a:gd name="adj" fmla="val 2166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Choque séptico: dose em geral fixa, até "/>
          <p:cNvSpPr txBox="1"/>
          <p:nvPr/>
        </p:nvSpPr>
        <p:spPr>
          <a:xfrm>
            <a:off x="1066800" y="3036831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dose em geral fixa, até 0,04 U/min. Vasoplegia pós-CEC: titulada (0,01–0,06 U/min no VANCS).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oradrena"/>
          <p:cNvSpPr txBox="1"/>
          <p:nvPr/>
        </p:nvSpPr>
        <p:spPr>
          <a:xfrm>
            <a:off x="1066800" y="4132603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noradrenalina em escalada, vasoplegia pós-CEC e hipotensão refratária em uso de IECA/BRA. Risco: isquemia digital e mesentérica.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catecolaminas; 200 mg/dia no choque séptico.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2809081"/>
            <a:ext cx="62992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zul de metileno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4" name="Inibe a via óxido nítrico–GMPc: resgate "/>
          <p:cNvSpPr txBox="1"/>
          <p:nvPr/>
        </p:nvSpPr>
        <p:spPr>
          <a:xfrm>
            <a:off x="5289550" y="3234271"/>
            <a:ext cx="58991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(pós-CEC; reperfusão do enxerto hepático, com base em relatos e séries). Também: metemoglobinemia; choque séptico refratário, em estudo.</a:t>
            </a:r>
            <a:endParaRPr lang="en-US" sz="1300" dirty="0"/>
          </a:p>
        </p:txBody>
      </p:sp>
      <p:sp>
        <p:nvSpPr>
          <p:cNvPr id="15" name="SSC 2026 · Hajjar, Anesthesiology 2017 ("/>
          <p:cNvSpPr txBox="1"/>
          <p:nvPr/>
        </p:nvSpPr>
        <p:spPr>
          <a:xfrm>
            <a:off x="812800" y="6245073"/>
            <a:ext cx="10433050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Koelzow, Anesth Analg 2002 · Fukazawa, J Hepatobiliary Pancreat Sci 2011 · Miller’s Anesthesia, 10ª ed. (2025), cap. 79</a:t>
            </a:r>
            <a:endParaRPr lang="en-US" sz="11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a sequência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Em comum"/>
          <p:cNvSpPr txBox="1"/>
          <p:nvPr/>
        </p:nvSpPr>
        <p:spPr>
          <a:xfrm>
            <a:off x="1073150" y="3875835"/>
            <a:ext cx="183455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comum</a:t>
            </a:r>
            <a:endParaRPr lang="en-US" sz="2800" dirty="0"/>
          </a:p>
        </p:txBody>
      </p:sp>
      <p:sp>
        <p:nvSpPr>
          <p:cNvPr id="20" name="Vasopressor cedo, pelo mecanismo: tônus "/>
          <p:cNvSpPr txBox="1"/>
          <p:nvPr/>
        </p:nvSpPr>
        <p:spPr>
          <a:xfrm>
            <a:off x="3295055" y="3735018"/>
            <a:ext cx="784284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Vasopressor cedo, pelo mecanismo: tônus com noradrenalina, outra via com vasopressina, e adrenalina quando as duas não bastam. Inotrópico reservado à disfunção cardíaca com hipoperfusão.</a:t>
            </a:r>
            <a:endParaRPr lang="en-US" sz="1500" dirty="0"/>
          </a:p>
        </p:txBody>
      </p:sp>
      <p:sp>
        <p:nvSpPr>
          <p:cNvPr id="21" name="Prescott, Crit Care Med 2026 (Surviving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(Surviving Sepsis Campaign)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Efedrina 5–10 mg; adrenalina se grave"/>
          <p:cNvSpPr txBox="1"/>
          <p:nvPr/>
        </p:nvSpPr>
        <p:spPr>
          <a:xfrm>
            <a:off x="3084810" y="3170165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mg; adrenalina se grave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Transplante hepático (UFRJ): em 19 pacie"/>
          <p:cNvSpPr txBox="1"/>
          <p:nvPr/>
        </p:nvSpPr>
        <p:spPr>
          <a:xfrm>
            <a:off x="812800" y="4468254"/>
            <a:ext cx="105854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sistólica do VD ao ETE manteve-se preservada nos momentos avaliados, inclusive 30 min após a reperfusão. O estudo não mediu os primeiros minutos da reperfusão nem a causa da instabilidade aguda; a lição é usar o eco para separar disfunção de VD de vasoplegia antes de escolher entre inotrópico e vasopressor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(2025), cap. 33, 56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(ou adrenalina, no choque séptico);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38564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da anestesia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0980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da anestesia com FC normal ou alta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47397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</a:t>
            </a:r>
            <a:endParaRPr lang="en-US" sz="1200" dirty="0"/>
          </a:p>
        </p:txBody>
      </p:sp>
      <p:pic>
        <p:nvPicPr>
          <p:cNvPr id="1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2026-10-20T17:11:42Z</dcterms:created>
  <dcterms:modified xsi:type="dcterms:W3CDTF">2026-10-20T17:11:42Z</dcterms:modified>
</cp:coreProperties>
</file>