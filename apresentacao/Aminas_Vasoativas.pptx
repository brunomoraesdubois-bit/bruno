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 e objetivos" id="{f10647b6-ef12-4766-beae-1b1b5c528beb}">
          <p14:sldIdLst>
            <p14:sldId id="256"/>
            <p14:sldId id="257"/>
          </p14:sldIdLst>
        </p14:section>
        <p14:section name="01 · Fisiologia: pressão, débito e perfusão" id="{db7d6926-8231-a237-8584-623647cc94d3}">
          <p14:sldIdLst>
            <p14:sldId id="258"/>
            <p14:sldId id="259"/>
          </p14:sldIdLst>
        </p14:section>
        <p14:section name="02 · Receptores" id="{6ec7c805-6cc5-efd2-c5b8-fe53ba564418}">
          <p14:sldIdLst>
            <p14:sldId id="260"/>
          </p14:sldIdLst>
        </p14:section>
        <p14:section name="03 · Drogas: noradrenalina, adrenalina, dobutamina (e dopamina), milrinona (escolha), fenilefrina e efedrina" id="{40b04b43-5346-9895-56ed-3605b01baf1f}">
          <p14:sldIdLst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04 · Além das aminas: vasopressina, hidrocortisona e azul de metileno" id="{331aded4-bf74-e2bc-6c35-e9381cd8d1e3}">
          <p14:sldIdLst>
            <p14:sldId id="267"/>
          </p14:sldIdLst>
        </p14:section>
        <p14:section name="05 · Perioperatório: escolha da droga e mensagem final" id="{286f362b-6728-43f6-34c9-f64bc4866387}">
          <p14:sldIdLst>
            <p14:sldId id="268"/>
          </p14:sldIdLst>
        </p14:section>
        <p14:section name="06 · Encerramento" id="{e40a9a66-86c4-50bc-c226-8e1fac8b3784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Bom dia. Sou Bruno Dubois; meus orientadores são Marcelo Bandeira e Glauber Gouvêa. O tema é aminas vasoativas, e a aula nasceu de uma pergunta prática: quando a milrinona tem indicação, e quando a dobutamina ou um vasopressor seriam a escolha.</a:t>
            </a:r>
            <a:endParaRPr lang="en-US" dirty="0"/>
          </a:p>
          <a:p>
            <a:r>
              <a:rPr lang="en-US" dirty="0"/>
              <a:t>TEMPO: 25 s (0:00 → 0:25). Total previsto: 10 min 00 s nos 14 slides; ensaiar mirando 12 minutos.</a:t>
            </a:r>
            <a:endParaRPr lang="en-US" dirty="0"/>
          </a:p>
          <a:p>
            <a:r>
              <a:rPr lang="en-US" dirty="0"/>
              <a:t>PONTO-CHAVE: A aula nasceu de uma pergunta prática: quando a milrinona tem indicação?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Quatro objetivos. Distinguir vasoplegia, falência de bomba e pré-carga baixa. Ligar o perfil de receptores de cada droga ao seu efeito hemodinâmico. Conhecer doses, indicações e cuidados de cada droga. Aplicar isso no choque séptico e no centro cirúrgico. A pergunta que organiza a aula: qual componente da pressão arterial média está falhando?</a:t>
            </a:r>
            <a:endParaRPr lang="en-US" dirty="0"/>
          </a:p>
          <a:p>
            <a:r>
              <a:rPr lang="en-US" dirty="0"/>
              <a:t>TEMPO: 25 s (0:25 → 0:50)</a:t>
            </a:r>
            <a:endParaRPr lang="en-US" dirty="0"/>
          </a:p>
          <a:p>
            <a:r>
              <a:rPr lang="en-US" dirty="0"/>
              <a:t>PONTO-CHAVE: Qual componente da PAM está falhando?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Começo pela fisiologia. Na prática, a PAM é o débito cardíaco multiplicado pela resistência vascular sistêmica, somado à pressão venosa central. Como a PVC costuma ser baixa, a PAM depende sobretudo do débito e da resistência; quando a PVC sobe, o que cai é a perfusão, porque, na prática, a pressão de perfusão do órgão aproxima-se da diferença entre a PAM e a PVC. Três situações. Na vasoplegia o problema é o tônus vascular, sobretudo arterial, como na sepse, na anestesia geral e no bloqueio de neuroeixo: a droga é o vasopressor. Na falência de bomba o débito é baixo e a resistência em geral alta: o alvo é a contratilidade. Na pré-carga baixa, a hipovolemia pede volume; o α1 contrai veias e recruta volume não estressado, mas não substitui a reposição.</a:t>
            </a:r>
            <a:endParaRPr lang="en-US" dirty="0"/>
          </a:p>
          <a:p>
            <a:r>
              <a:rPr lang="en-US" dirty="0"/>
              <a:t>TEMPO: 1 min (0:50 → 1:50)</a:t>
            </a:r>
            <a:endParaRPr lang="en-US" dirty="0"/>
          </a:p>
          <a:p>
            <a:r>
              <a:rPr lang="en-US" dirty="0"/>
              <a:t>PONTO-CHAVE: PAM ≈ DC × RVS + PVC: vasoplegia pede vasopressor; bomba fraca, inotrópico; pré-carga baixa, volume.</a:t>
            </a:r>
            <a:endParaRPr lang="en-US" dirty="0"/>
          </a:p>
          <a:p>
            <a:r>
              <a:rPr lang="en-US" dirty="0"/>
              <a:t>SE PERGUNTAREM: A relação PAM = DC × RVS + PVC é a definição da RVS, não uma causa (Magder, Crit Care 2018): a RVS é calculada como (PAM − PVC)/DC. A pressão a jusante efetiva do leito arterial é uma pressão crítica de fechamento, acima da PVC; a PVC importa para a pressão de perfusão dos órgãos (PAM − PVC) e para o gradiente do retorno venoso (pressão sistêmica média − pressão de átrio direito). Persichini (Crit Care Med 2012; 16 pacientes com choque séptico): reduzir a dose de noradrenalina baixou a pressão sistêmica média mais do que a resistência ao retorno venoso, com queda do retorno venoso e, portanto, do débito; é evidência de que a venoconstrição α recruta volume não estressado. O esquema cobre os determinantes da PAM; a obstrução (tamponamento, embolia pulmonar, pneumotórax hipertensivo, auto-PEEP) é o quarto tipo de choque da classificação da ESICM 2014: o eco precoce a identifica, e o tratamento é da causa, não com amina. No intraoperatório, pneumotórax e compressão aortocava estão entre as causas a afastar (slide 15).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Mas pressão não é fluxo: uma resistência alta pode manter a PAM com débito baixo. O eco, transesofágico ou transtorácico, é sugerido como imagem de primeira linha para definir o tipo de choque: função do VE e do VD, tamanho das cavidades, pericárdio e o VTI na via de saída, que estima o volume sistólico e, repetido, mostra a resposta a volume ou a droga. Os monitores de débito dão o número e a resposta a uma intervenção. Os marcadores de perfusão tissular, lidos em conjunto, dizem se o fluxo está bastando: lactato e sua tendência, saturação venosa central, gap de CO₂, diurese, enchimento capilar e temperatura das extremidades. A decisão de usar inotrópico vem daí, não da pressão.</a:t>
            </a:r>
            <a:endParaRPr lang="en-US" dirty="0"/>
          </a:p>
          <a:p>
            <a:r>
              <a:rPr lang="en-US" dirty="0"/>
              <a:t>TEMPO: 55 s (1:50 → 2:45)</a:t>
            </a:r>
            <a:endParaRPr lang="en-US" dirty="0"/>
          </a:p>
          <a:p>
            <a:r>
              <a:rPr lang="en-US" dirty="0"/>
              <a:t>PONTO-CHAVE: Pressão não é fluxo: combinar eco, débito e marcadores de perfusão antes de decidir por inotrópico.</a:t>
            </a:r>
            <a:endParaRPr lang="en-US" dirty="0"/>
          </a:p>
          <a:p>
            <a:r>
              <a:rPr lang="en-US" dirty="0"/>
              <a:t>SE PERGUNTAREM: Eco: a ESICM 2025 sugere a ecocardiografia como imagem de primeira linha para definir o tipo de choque. VD: TAPSE abaixo de 17 mm e variação fracional de área abaixo de 35% indicam disfunção sistólica (ASE/EACVI 2015, quantificação de câmaras); ao ETE, o TAPSE sofre com o alinhamento do feixe nos cortes médio-esofágicos, por isso usa-se a variação fracional de área no corte médio-esofágico de quatro câmaras, o TAPSE por M-mode anatômico nos cortes transgástricos ou o TAPSE modificado (distância ânulo-ápice). Volume sistólico = área da via de saída do VE × VTI; débito = volume sistólico × FC; como a área é fixa no mesmo paciente, a variação do VTI acompanha a do volume sistólico. Na elevação passiva das pernas, aumento do débito de cerca de 10% prediz resposta (Monnet, Intensive Care Med 2016, metanálise de 21 estudos e 991 pacientes); nos estudos ecocardiográficos, pequenos, o limiar do VTI ficou em torno de 12%; após a prova de volume, aumento do VTI de 10 a 15% é a definição usual de respondedor. A área diastólica final do VE no corte transgástrico é índice estático de pré-carga, útil nos extremos, e não prediz isoladamente a resposta a volume. No OPTIME-CHF (Cuffe, JAMA 2002; 951 pacientes com IC descompensada sem indicação clara de inotrópico), milrinona vs. placebo por 48 h: sem benefício, com mais hipotensão sustentada e arritmia atrial. Em um ECR (Tongyoo, Ann Med 2025; 64 pacientes em choque séptico), a milrinona aumentou o débito em 6 horas em relação ao placebo, mas a mortalidade em 28 dias foi de 50% nos dois grupos. Na sepse a SvcO₂ pode estar normal ou alta apesar da hipoperfusão (defeito de extração e shunt microcirculatório); nesse caso, a diferença venoarterial de CO₂ acima de 6 mmHg sugere fluxo insuficiente para remover o CO₂ produzido (Vallée, Intensive Care Med 2008). Limites de VPP e VVS: ventilação controlada sem esforço espontâneo, volume corrente de pelo menos 8 mL/kg, ritmo regular, tórax fechado, sem disfunção de VD nem hipertensão intra-abdominal; com volume corrente baixo a sensibilidade cai. Fora dessas condições: elevação passiva das pernas ou minidesafio hídrico com medida direta do débito (ESICM 2025). Monitores de débito: termodiluição pelo cateter de artéria pulmonar é a referência clínica (invasiva, intermitente ou semicontínua; sugerida no choque refratário e na disfunção de VD); contorno de pulso não calibrado (FloTrac, ClearSight) perde acurácia com RVS baixa e vasopressor: em cirróticos, versão antiga do FloTrac teve erro percentual de 54% vs. termodiluição, limite aceito 30% (Biancofiore, Br J Anaesth 2009); Zona cinzenta da VPP de 9–13% (Cannesson, Anesthesiology 2011); desafio de volume corrente 6 → 8 mL/kg por 1 min quando a limitação é apenas o volume corrente baixo (Myatra, Crit Care Med 2017); elevação passiva das pernas com ↑DC ≥ 10%: sensibilidade 85%, especificidade 91% (Monnet, Intensive Care Med 2016, metanálise de 21 estudos); minidesafio de 100 mL, ↑índice sistólico &gt; 6% (Biais, Anesthesiology 2017).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Uma revisão breve dos receptores, apenas o que importa para as drogas de hoje. α1 contrai artérias e veias: sobe a resistência e o retorno venoso. α2 reduz a liberação de noradrenalina no terminal pré-sináptico e, no tronco encefálico, dá sedação e simpatólise, o efeito da dexmedetomidina. β1 aumenta contratilidade e frequência. β2 dilata vasos e brônquios e eleva glicemia e lactato. D1 dilata os leitos renal e mesentérico. V1 e PDE3 estão na tabela porque vasopressina e milrinona não dependem do adrenoceptor. Catecolaminas têm meia-vida de minutos e vão em infusão; fenilefrina e efedrina duram mais e são as drogas habituais de bolus. O uso prolongado dessensibiliza os receptores, sobretudo os β.</a:t>
            </a:r>
            <a:endParaRPr lang="en-US" dirty="0"/>
          </a:p>
          <a:p>
            <a:r>
              <a:rPr lang="en-US" dirty="0"/>
              <a:t>TEMPO: 50 s (2:45 → 3:35)</a:t>
            </a:r>
            <a:endParaRPr lang="en-US" dirty="0"/>
          </a:p>
          <a:p>
            <a:r>
              <a:rPr lang="en-US" dirty="0"/>
              <a:t>PONTO-CHAVE: Cada droga tem um perfil de receptores; vasopressina e milrinona usam outras vias.</a:t>
            </a:r>
            <a:endParaRPr lang="en-US" dirty="0"/>
          </a:p>
          <a:p>
            <a:r>
              <a:rPr lang="en-US" dirty="0"/>
              <a:t>SE PERGUNTAREM: Subtipos: α2A medeia a sedação (locus coeruleus) e a simpatólise (centros vasomotores do tronco encefálico); α2B, no músculo liso vascular, a vasoconstrição e a hipertensão transitória do bolus de dexmedetomidina; a hipotensão e a bradicardia que se seguem vêm da simpatólise e do aumento do tônus vagal. A clonidina tem perfil semelhante, com menor seletividade para α2.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Começo pela noradrenalina, a droga de primeira linha no choque séptico, com ação α1 potente e efeito β1 clinicamente modesto: sobe a PAM pela resistência e pela venoconstrição, com débito em geral mantido, que pode subir pelo retorno venoso ou cair pela pós-carga, e frequência estável ou menor, por reflexo. Dose de 0,01 a 0,5 microgramas por quilo por minuto, sem teto fixo no choque refratário; no centro cirúrgico, bolus de 5 a 10 microgramas; pode começar em veia periférica calibrosa. Riscos: isquemia digital e esplâncnica, além de extravasamento.</a:t>
            </a:r>
            <a:endParaRPr lang="en-US" dirty="0"/>
          </a:p>
          <a:p>
            <a:r>
              <a:rPr lang="en-US" dirty="0"/>
              <a:t>TEMPO: 40 s (3:35 → 4:15)</a:t>
            </a:r>
            <a:endParaRPr lang="en-US" dirty="0"/>
          </a:p>
          <a:p>
            <a:r>
              <a:rPr lang="en-US" dirty="0"/>
              <a:t>PONTO-CHAVE: α1 potente com β1 modesto: sobe a PAM com débito em geral mantido.</a:t>
            </a:r>
            <a:endParaRPr lang="en-US" dirty="0"/>
          </a:p>
          <a:p>
            <a:r>
              <a:rPr lang="en-US" dirty="0"/>
              <a:t>SE PERGUNTAREM: no SOAP II (De Backer, N Engl J Med 2010; n = 1.679), a mortalidade em 28 dias foi semelhante à da dopamina (48,5% vs. 52,5%), com metade das arritmias (12,4% vs. 24,1%); a SSC 2026 mantém a noradrenalina como primeira linha, à frente da dopamina. No Brasil, a ampola de hemitartarato de 2 mg/mL equivale a 1 mg/mL de base: registrar na prescrição se a dose está em base ou em sal. Início precoce (CENSER, Permpikul 2019: controle do choque em 6 h em 76% vs. 48%) e via periférica com protocolo (Tran 2020) estão nas referências. No extravasamento, fentolamina infiltrada no local. Afinidade por β1: a da noradrenalina é da mesma ordem da adrenalina; o que é modesto é o efeito cardíaco líquido, porque o barorreflexo e a pós-carga contêm a taquicardia e o aumento do débito; a ação β2 é pequena, por isso praticamente não há vasodilatação e o lactato sobe pouco. As barras do slide representam o efeito clínico esperado em cada via, não a afinidade pelo receptor.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Adrenalina: potente em α1, β1 e β2. O efeito depende da dose: em dose baixa predominam β1 e β2, com débito alto e resistência que pode cair; em dose alta prevalece o α1. É a droga da anafilaxia e, no choque séptico, a terceira droga. Na anafilaxia, bolus endovenosos pequenos e titulados, repetíveis a cada um ou dois minutos, com infusão se forem necessários mais de três bolus. O lactato pode subir por efeito β2, e isso não autoriza ignorar hipoperfusão.</a:t>
            </a:r>
            <a:endParaRPr lang="en-US" dirty="0"/>
          </a:p>
          <a:p>
            <a:r>
              <a:rPr lang="en-US" dirty="0"/>
              <a:t>TEMPO: 40 s (4:15 → 4:55)</a:t>
            </a:r>
            <a:endParaRPr lang="en-US" dirty="0"/>
          </a:p>
          <a:p>
            <a:r>
              <a:rPr lang="en-US" dirty="0"/>
              <a:t>PONTO-CHAVE: Dose baixa, β; dose alta, α. Droga da anafilaxia; terceira droga no choque séptico.</a:t>
            </a:r>
            <a:endParaRPr lang="en-US" dirty="0"/>
          </a:p>
          <a:p>
            <a:r>
              <a:rPr lang="en-US" dirty="0"/>
              <a:t>SE PERGUNTAREM: no CATS (Annane, Lancet 2007), mortalidade semelhante à do grupo noradrenalina + dobutamina (40% vs. 34%, NS), com mais acidose; no CAT (Myburgh, Intensive Care Med 2008), 12,9% dos pacientes em adrenalina foram retirados do estudo por efeitos metabólicos transitórios. No OptimaCC (Levy, J Am Coll Cardiol 2018; n = 57, choque cardiogênico pós-IAM), o índice cardíaco foi semelhante, mas houve mais choque refratário com adrenalina (37% vs. 7%), que o artigo apresenta como desfecho de segurança; o estudo foi interrompido precocemente. Dose no choque séptico: a bula americana de epinefrina prevê infusão de 0,05–2 mcg/kg/min, titulada pela PAM. Cartão ANZCA/ANZAAG 2022 (adulto; 1 mg em 10 mL = 100 mcg/mL): reação moderada (grau 2), 10–20 mcg, e 50 mcg se não houver resposta; reação ameaçadora à vida (grau 3), 50–100 mcg, e 200 mcg se não houver resposta; repetir a cada 1–2 min; após mais de três bolus, infusão de 3 mg em 50 mL, de 3 a 40 mL/h; sem acesso venoso ou sem monitorização, 500 mcg IM na face lateral da coxa, repetível a cada 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Dobutamina: inotrópico β1 com vasodilatação β2; sobe o débito, baixa um pouco a resistência e pode baixar a PAM. Indicada no baixo débito com hipoperfusão, de 2,5 a 20 microgramas por quilo por minuto; se a PAM cair, associar vasopressor; taquicardia e arritmia limitam a dose. A dopamina, em uma frase: efeito pouco previsível, risco de taquicardia e arritmias, e a chamada dose renal não protege o rim; hoje tem uso restrito.</a:t>
            </a:r>
            <a:endParaRPr lang="en-US" dirty="0"/>
          </a:p>
          <a:p>
            <a:r>
              <a:rPr lang="en-US" dirty="0"/>
              <a:t>TEMPO: 35 s (4:55 → 5:30)</a:t>
            </a:r>
            <a:endParaRPr lang="en-US" dirty="0"/>
          </a:p>
          <a:p>
            <a:r>
              <a:rPr lang="en-US" dirty="0"/>
              <a:t>PONTO-CHAVE: Dobutamina para baixo débito com hipoperfusão; dopamina de uso restrito.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milrinona chega ao mesmo ponto por outra via: a dobutamina aumenta a produção de AMPc pelo receptor β1; a milrinona inibe a PDE3, uma das fosfodiesterases que degradam o AMPc no miocárdio e no vaso, e por isso age depois do receptor. É um inodilatador: aumenta contratilidade e relaxamento e reduz as resistências sistêmica e pulmonar. A indicação é a disfunção ventricular com baixo débito que exige inotrópico, sobretudo quando há hipertensão pulmonar ou falência de VD. Dose: ataque de 50 microgramas por quilo em 10 minutos, muitas vezes omitido, e manutenção de 0,375 a 0,75 microgramas por quilo por minuto. Costuma exigir noradrenalina; tem eliminação renal e meia-vida bem mais longa que a da dobutamina, acumulando na insuficiência renal.</a:t>
            </a:r>
            <a:endParaRPr lang="en-US" dirty="0"/>
          </a:p>
          <a:p>
            <a:r>
              <a:rPr lang="en-US" dirty="0"/>
              <a:t>TEMPO: 55 s (5:30 → 6:25)</a:t>
            </a:r>
            <a:endParaRPr lang="en-US" dirty="0"/>
          </a:p>
          <a:p>
            <a:r>
              <a:rPr lang="en-US" dirty="0"/>
              <a:t>PONTO-CHAVE: Inodilatador que age depois do receptor β; meia-vida longa e eliminação renal; costuma exigir noradrenalina.</a:t>
            </a:r>
            <a:endParaRPr lang="en-US" dirty="0"/>
          </a:p>
          <a:p>
            <a:r>
              <a:rPr lang="en-US" dirty="0"/>
              <a:t>SE PERGUNTAREM: no OPTIME-CHF (JAMA 2002), na IC descompensada sem indicação clara de inotrópico, não houve benefício, com mais hipotensão sustentada (10,7% vs. 3,2%) e arritmias atriais (4,6% vs. 1,5%). No DOREMI (N Engl J Med 2021), no choque cardiogênico, não houve diferença estatisticamente significativa no desfecho composto em relação à dobutamina, o que não prova equivalência. A SSC 2026 não encontrou dados para comparar as duas no choque séptico.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Então, quando escolher? Primeiro, a indicação: inotrópico quando há disfunção ventricular com baixo débito e hipoperfusão, depois de otimizar volume e PAM; se a hipotensão é por vasoplegia, a droga é o vasopressor. Depois, o perfil da tabela. Milrinona quando a circulação pulmonar e o VD são o problema, como na hipertensão pulmonar e na saída de CEC com resistência pulmonar alta, ou quando betabloqueio ou taquicardia limitam a dobutamina; a milrinona exige PAM sustentada, em geral com noradrenalina. Dobutamina, com vasopressor, quando o baixo débito vem com hipotensão ou vasoplegia, na insuficiência renal e para titulação rápida. No choque séptico, a Surviving Sepsis Campaign de 2026 sugere dobutamina com noradrenalina, ou adrenalina, sem dados que a prefiram à milrinona: preferência prática, não superioridade demonstrada.</a:t>
            </a:r>
            <a:endParaRPr lang="en-US" dirty="0"/>
          </a:p>
          <a:p>
            <a:r>
              <a:rPr lang="en-US" dirty="0"/>
              <a:t>TEMPO: 1 min (6:25 → 7:25)</a:t>
            </a:r>
            <a:endParaRPr lang="en-US" dirty="0"/>
          </a:p>
          <a:p>
            <a:r>
              <a:rPr lang="en-US" dirty="0"/>
              <a:t>PONTO-CHAVE: Primeiro a indicação; depois o perfil: milrinona para VD e circulação pulmonar com PAM sustentada; dobutamina com pressão baixa ou para titular rápido. Na sepse, dobutamina é preferência prática, não superioridade demonstrada.</a:t>
            </a:r>
            <a:endParaRPr lang="en-US" dirty="0"/>
          </a:p>
          <a:p>
            <a:r>
              <a:rPr lang="en-US" dirty="0"/>
              <a:t>SE PERGUNTAREM: no DOREMI (n = 192, choque cardiogênico), o desfecho composto foi 49% com milrinona e 54% com dobutamina (RR 0,90; IC 95% 0,69–1,19); arritmias, hipotensão sustentada e necessidade de vasopressor também não diferiram; por isso, as diferenças da tabela são expectativa farmacológica. Na subanálise por betabloqueador (93 pacientes, 48%), o betabloqueio prévio não piorou o desfecho e não houve vantagem demonstrada da milrinona (Di Santo, Crit Care 2021). Isso não prova equivalência, mas também não mostra vantagem de uma sobre a outra. A meia-vida da milrinona é de cerca de 2,4 horas na insuficiência cardíaca e aumenta na insuficiência renal, que pede dose de manutenção menor; a da dobutamina é de cerca de 2 minutos. Sem hipoperfusão, não há benefício demonstrado de inotrópico: no OPTIME-CHF, a milrinona causou mais hipotensão e mais arritmia atrial.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Duas aminas que não são catecolaminas, as drogas habituais de bolus do centro cirúrgico. Fenilefrina: agonista α1 direto; a PAM sobe pela resistência e a frequência cai por reflexo, o que pode reduzir o débito; é a escolha na hipotensão vasodilatadora com frequência normal ou alta. Efedrina: ação direta em α e β e indireta, liberando noradrenalina; sobe pressão, frequência e débito, por isso é a escolha quando há bradicardia; faz taquifilaxia e, na cesárea, associa-se a mais acidose fetal que a fenilefrina.</a:t>
            </a:r>
            <a:endParaRPr lang="en-US" dirty="0"/>
          </a:p>
          <a:p>
            <a:r>
              <a:rPr lang="en-US" dirty="0"/>
              <a:t>TEMPO: 40 s (7:25 → 8:05)</a:t>
            </a:r>
            <a:endParaRPr lang="en-US" dirty="0"/>
          </a:p>
          <a:p>
            <a:r>
              <a:rPr lang="en-US" dirty="0"/>
              <a:t>PONTO-CHAVE: Fenilefrina: hipotensão vasodilatadora com FC normal ou alta. Efedrina: com bradicardia.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Três recursos além das aminas. A vasopressina age no receptor V1, fora da via adrenérgica, e costuma manter efeito em acidose: no choque séptico com noradrenalina em escalada, dose em geral fixa de 0,03 unidades por minuto; na vasoplegia após CEC, dose titulada; o risco é isquemia digital e mesentérica. A hidrocortisona restaura a resposta vascular às catecolaminas, 200 mg por dia no choque séptico. O azul de metileno inibe a via do óxido nítrico e pode ser considerado como resgate na vasoplegia refratária, após CEC ou na reperfusão do enxerto hepático, com base em relatos e séries. Cuidados: deficiência de G6PD, oximetria e síndrome serotoninérgica.</a:t>
            </a:r>
            <a:endParaRPr lang="en-US" dirty="0"/>
          </a:p>
          <a:p>
            <a:r>
              <a:rPr lang="en-US" dirty="0"/>
              <a:t>TEMPO: 50 s (8:05 → 8:55)</a:t>
            </a:r>
            <a:endParaRPr lang="en-US" dirty="0"/>
          </a:p>
          <a:p>
            <a:r>
              <a:rPr lang="en-US" dirty="0"/>
              <a:t>PONTO-CHAVE: Fora das aminas: vasopressina (V1), hidrocortisona e azul de metileno, cada uma por um mecanismo diferente.</a:t>
            </a:r>
            <a:endParaRPr lang="en-US" dirty="0"/>
          </a:p>
          <a:p>
            <a:r>
              <a:rPr lang="en-US" dirty="0"/>
              <a:t>SE PERGUNTAREM: no VANCS (Hajjar, Anesthesiology 2017, InCor), na vasoplegia pós-CEC, a vasopressina teve menos morte ou complicação grave que a noradrenalina (32% vs. 49%); é uma população de cirurgia cardíaca, e o resultado não deve ser extrapolado para o choque séptico. Hidrocortisona: 200 mg/dia (50 mg de 6/6 h ou em infusão). Angiotensina II: no ATHOS-3, a resposta da PAM em 3 h ocorreu em 69,9% vs. 23,4% dos pacientes, sem diferença de mortalidade; é pouco disponível. Azul de metileno: inibe a óxido nítrico sintase e a guanilato ciclase solúvel; na vasoplegia, em geral 1,5 a 2 mg/kg EV em 20 a 30 min. Pós-CEC: ensaios pequenos e séries. Transplante hepático: ECR de 36 pacientes com 1,5 mg/kg antes da reperfusão (Koelzow, Anesth Analg 2002): PAM maior e menos adrenalina; coorte pareada por propensão de 715 transplantes, 105 com azul de metileno profilático de 1 a 1,5 mg/kg (Fukazawa, J Hepatobiliary Pancreat Sci 2011): sem redução da hipotensão da reperfusão, do vasopressor ou da transfusão, e sem efeito na função do enxerto; revisões de 2021 e 2025 apontam a falta de ECRs no transplante e a hidroxocobalamina como alternativa em estudo. Outras indicações: metemoglobinemia (1 a 2 mg/kg EV, a indicação clássica); choque séptico (metanálise de ECRs: menos tempo de vasopressor e de UTI, sem substituir a vasopressina); encefalopatia por ifosfamida; relatos em anafilaxia refratária e em intoxicação por betabloqueador ou bloqueador de canal de cálcio. Contraindicado na deficiência de G6PD (hemólise, com anemia que pode aparecer dias depois); subestima a SpO₂ e pode reduzir o BIS (a bula recomenda outro método para avaliar a profundidade anestésica); síndrome serotoninérgica com ISRS, IRSN, IMAO e alguns opioides, por inibir a MAO-A.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No centro cirúrgico, antes da droga, afastar causas tratáveis: plano profundo, hipovolemia, compressão aortocava, pneumotórax e anafilaxia. Depois, o mecanismo: tônus baixo, agonista α1; bradicardia, efedrina ou, se grave, adrenalina; baixo débito com hipoperfusão, inotrópico, com noradrenalina se a PAM cair; vasoplegia persistente, vasopressina, e, no choque séptico, a sequência da Surviving Sepsis Campaign: noradrenalina, depois vasopressina e, se preciso, adrenalina; azul de metileno como resgate em casos selecionados; pré-carga baixa, volume; anafilaxia, adrenalina. Na dúvida entre vasoplegia e falência de VD, o eco separa as duas antes de escolher entre vasopressor e inotrópico. Voltando à pergunta do início: a droga certa corrige o componente da PAM que falha, na menor dose eficaz e pelo menor tempo.</a:t>
            </a:r>
            <a:endParaRPr lang="en-US" dirty="0"/>
          </a:p>
          <a:p>
            <a:r>
              <a:rPr lang="en-US" dirty="0"/>
              <a:t>TEMPO: 55 s (8:55 → 9:50)</a:t>
            </a:r>
            <a:endParaRPr lang="en-US" dirty="0"/>
          </a:p>
          <a:p>
            <a:r>
              <a:rPr lang="en-US" dirty="0"/>
              <a:t>PONTO-CHAVE: Afastar causas, identificar o mecanismo, escolher a droga; o eco separa vasoplegia de falência de VD; a droga certa corrige o componente que falha.</a:t>
            </a:r>
            <a:endParaRPr lang="en-US" dirty="0"/>
          </a:p>
          <a:p>
            <a:r>
              <a:rPr lang="en-US" dirty="0"/>
              <a:t>SE PERGUNTAREM: O eco separa vasoplegia de disfunção de VD pela função sistólica (variação fracional de área, TAPSE) e pelo tamanho das cavidades; o VTI seriado mostra a resposta à intervenção. Choque séptico (SSC 2026): noradrenalina em primeira linha, iniciada cedo, mesmo em veia periférica; vasopressina quando a dose de noradrenalina sobe, sem limiar definido; adrenalina se a PAM continuar inadequada; inotrópico reservado à disfunção cardíaca com hipoperfusão. VASSPR (JAMA 2026, n = 3.959; cluster-crossover em 13 hospitais): iniciar vasopressina com 0,1 vs. 0,4 mcg/kg/min de noradrenalina-equivalente não mudou a mortalidade (31,8% vs. 33,0%). OPTPRESS: alvo de PAM de 80–85 mmHg em idosos aumentou a mortalidade.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Obrigado pela atenção. As referências completas da aula estão no QR code. Fico à disposição para perguntas.</a:t>
            </a:r>
            <a:endParaRPr lang="en-US" dirty="0"/>
          </a:p>
          <a:p>
            <a:r>
              <a:rPr lang="en-US" dirty="0"/>
              <a:t>TEMPO: 10 s (9:50 → 10:00)</a:t>
            </a:r>
            <a:endParaRPr lang="en-US" dirty="0"/>
          </a:p>
          <a:p>
            <a:r>
              <a:rPr lang="en-US" dirty="0"/>
              <a:t>PONTO-CHAVE: Referências completas no QR code; abrir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údo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údo 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109559"/>
            <a:ext cx="10718800" cy="838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cerramento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2792781"/>
            <a:ext cx="6502400" cy="1493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SSÃO CLÍNICA · ANESTESIOLOGIA"/>
          <p:cNvSpPr txBox="1"/>
          <p:nvPr/>
        </p:nvSpPr>
        <p:spPr>
          <a:xfrm>
            <a:off x="812800" y="3704861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5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CLÍNICA · ANESTESIOLOGIA</a:t>
            </a:r>
            <a:endParaRPr lang="en-US" sz="14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pt-BR" alt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Aminas vasoativas</a:t>
            </a:r>
            <a:endParaRPr lang="en-US" sz="5600" dirty="0"/>
          </a:p>
        </p:txBody>
      </p:sp>
      <p:sp>
        <p:nvSpPr>
          <p:cNvPr id="4" name="Fisiologia, farmacologia e escolha da dr"/>
          <p:cNvSpPr txBox="1"/>
          <p:nvPr/>
        </p:nvSpPr>
        <p:spPr>
          <a:xfrm>
            <a:off x="812800" y="5204434"/>
            <a:ext cx="8909050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pt-BR" altLang="en-US" sz="18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Fisiologia, farmacologia e escolha da droga no choque e no perioperatório</a:t>
            </a:r>
            <a:endParaRPr lang="en-US" sz="1800" dirty="0"/>
          </a:p>
        </p:txBody>
      </p:sp>
      <p:sp>
        <p:nvSpPr>
          <p:cNvPr id="5" name="Bruno Dubois · Orientadores: Marcelo Ban"/>
          <p:cNvSpPr txBox="1"/>
          <p:nvPr/>
        </p:nvSpPr>
        <p:spPr>
          <a:xfrm>
            <a:off x="812800" y="5782402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Dubois · Orientadores: Marcelo Bandeira e Glauber Gouvêa · UFRJ</a:t>
            </a:r>
            <a:endParaRPr lang="en-US" sz="14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TIVO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Escolher a droga pelo mecanismo da hipotensão</a:t>
            </a:r>
            <a:endParaRPr lang="en-US" sz="3200" dirty="0"/>
          </a:p>
        </p:txBody>
      </p:sp>
      <p:sp>
        <p:nvSpPr>
          <p:cNvPr id="4" name="01"/>
          <p:cNvSpPr txBox="1"/>
          <p:nvPr/>
        </p:nvSpPr>
        <p:spPr>
          <a:xfrm>
            <a:off x="8128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Distinguir vasoplegia, falência de bomba"/>
          <p:cNvSpPr txBox="1"/>
          <p:nvPr/>
        </p:nvSpPr>
        <p:spPr>
          <a:xfrm>
            <a:off x="1371600" y="1964280"/>
            <a:ext cx="5110262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Distinguir vasoplegia, falência de bomba e pré-carga baixa</a:t>
            </a:r>
            <a:endParaRPr lang="en-US" sz="1700" dirty="0"/>
          </a:p>
        </p:txBody>
      </p:sp>
      <p:sp>
        <p:nvSpPr>
          <p:cNvPr id="6" name="02"/>
          <p:cNvSpPr txBox="1"/>
          <p:nvPr/>
        </p:nvSpPr>
        <p:spPr>
          <a:xfrm>
            <a:off x="812800" y="246230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7" name="Ligar o perfil de receptores de cada dro"/>
          <p:cNvSpPr txBox="1"/>
          <p:nvPr/>
        </p:nvSpPr>
        <p:spPr>
          <a:xfrm>
            <a:off x="1371600" y="2568720"/>
            <a:ext cx="6213773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Ligar o perfil de receptores de cada droga ao seu efeito hemodinâmico</a:t>
            </a:r>
            <a:endParaRPr lang="en-US" sz="1700" dirty="0"/>
          </a:p>
        </p:txBody>
      </p:sp>
      <p:sp>
        <p:nvSpPr>
          <p:cNvPr id="8" name="03"/>
          <p:cNvSpPr txBox="1"/>
          <p:nvPr/>
        </p:nvSpPr>
        <p:spPr>
          <a:xfrm>
            <a:off x="812800" y="306674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9" name="Conhecer doses, indicações e cuidados de"/>
          <p:cNvSpPr txBox="1"/>
          <p:nvPr/>
        </p:nvSpPr>
        <p:spPr>
          <a:xfrm>
            <a:off x="1371600" y="3173161"/>
            <a:ext cx="4703465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Conhecer doses, indicações e cuidados de cada droga</a:t>
            </a:r>
            <a:endParaRPr lang="en-US" sz="1700" dirty="0"/>
          </a:p>
        </p:txBody>
      </p:sp>
      <p:sp>
        <p:nvSpPr>
          <p:cNvPr id="10" name="04"/>
          <p:cNvSpPr txBox="1"/>
          <p:nvPr/>
        </p:nvSpPr>
        <p:spPr>
          <a:xfrm>
            <a:off x="812800" y="3671182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11" name="Aplicar no choque séptico e na hipotensã"/>
          <p:cNvSpPr txBox="1"/>
          <p:nvPr/>
        </p:nvSpPr>
        <p:spPr>
          <a:xfrm>
            <a:off x="1371600" y="3777602"/>
            <a:ext cx="5131891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no choque séptico e na hipotensão intraoperatória</a:t>
            </a:r>
            <a:endParaRPr lang="en-US" sz="1700" dirty="0"/>
          </a:p>
        </p:txBody>
      </p:sp>
      <p:sp>
        <p:nvSpPr>
          <p:cNvPr id="12" name="Cartão"/>
          <p:cNvSpPr/>
          <p:nvPr/>
        </p:nvSpPr>
        <p:spPr>
          <a:xfrm>
            <a:off x="812800" y="4424263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Pergunta central"/>
          <p:cNvSpPr txBox="1"/>
          <p:nvPr/>
        </p:nvSpPr>
        <p:spPr>
          <a:xfrm>
            <a:off x="1073150" y="4604959"/>
            <a:ext cx="3002756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Pergunta central</a:t>
            </a:r>
            <a:endParaRPr lang="en-US" sz="3200" dirty="0"/>
          </a:p>
        </p:txBody>
      </p:sp>
      <p:sp>
        <p:nvSpPr>
          <p:cNvPr id="14" name="Qual componente da PAM está falhando?"/>
          <p:cNvSpPr txBox="1"/>
          <p:nvPr/>
        </p:nvSpPr>
        <p:spPr>
          <a:xfrm>
            <a:off x="4463256" y="4769969"/>
            <a:ext cx="3245545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componente da PAM está falhando?</a:t>
            </a:r>
            <a:endParaRPr lang="en-US" sz="1500" dirty="0"/>
          </a:p>
        </p:txBody>
      </p:sp>
      <p:pic>
        <p:nvPicPr>
          <p:cNvPr id="1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Determinantes da pressão arterial média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124075"/>
          </a:xfrm>
          <a:prstGeom prst="roundRect">
            <a:avLst>
              <a:gd name="adj" fmla="val 358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Vasoplegia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</a:t>
            </a:r>
            <a:endParaRPr lang="en-US" sz="1700" dirty="0"/>
          </a:p>
        </p:txBody>
      </p:sp>
      <p:sp>
        <p:nvSpPr>
          <p:cNvPr id="6" name="RVS baixa, DC em geral preservado ou alt"/>
          <p:cNvSpPr txBox="1"/>
          <p:nvPr/>
        </p:nvSpPr>
        <p:spPr>
          <a:xfrm>
            <a:off x="1073150" y="2484480"/>
            <a:ext cx="2884984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 baixa, DC em geral preservado ou alto: sepse, anestesia geral, bloqueio de neuroeixo, anafilaxia, pós-CEC. Alvo: tônus arterial (α1 ou V1).</a:t>
            </a:r>
            <a:endParaRPr lang="en-US" sz="1350" dirty="0"/>
          </a:p>
        </p:txBody>
      </p:sp>
      <p:sp>
        <p:nvSpPr>
          <p:cNvPr id="7" name="Cartão"/>
          <p:cNvSpPr/>
          <p:nvPr/>
        </p:nvSpPr>
        <p:spPr>
          <a:xfrm>
            <a:off x="4402634" y="1879501"/>
            <a:ext cx="3386634" cy="2124075"/>
          </a:xfrm>
          <a:prstGeom prst="roundRect">
            <a:avLst>
              <a:gd name="adj" fmla="val 358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Falência de bomba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Falência de bomba</a:t>
            </a:r>
            <a:endParaRPr lang="en-US" sz="1700" dirty="0"/>
          </a:p>
        </p:txBody>
      </p:sp>
      <p:sp>
        <p:nvSpPr>
          <p:cNvPr id="9" name="DC baixo, RVS em geral alta: choque card"/>
          <p:cNvSpPr txBox="1"/>
          <p:nvPr/>
        </p:nvSpPr>
        <p:spPr>
          <a:xfrm>
            <a:off x="4662984" y="2484480"/>
            <a:ext cx="2884984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baixo, RVS em geral alta: choque cardiogênico; na sepse pode coexistir com vasoplegia. Alvo: contratilidade (β1 ou PDE3), com vasopressor se a PAM cair.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7992467" y="1879501"/>
            <a:ext cx="3386634" cy="2124075"/>
          </a:xfrm>
          <a:prstGeom prst="roundRect">
            <a:avLst>
              <a:gd name="adj" fmla="val 358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Pré-carga baixa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 baixa</a:t>
            </a:r>
            <a:endParaRPr lang="en-US" sz="1700" dirty="0"/>
          </a:p>
        </p:txBody>
      </p:sp>
      <p:sp>
        <p:nvSpPr>
          <p:cNvPr id="12" name="Hipovolemia pede volume. O α1 contrai ve"/>
          <p:cNvSpPr txBox="1"/>
          <p:nvPr/>
        </p:nvSpPr>
        <p:spPr>
          <a:xfrm>
            <a:off x="8252817" y="2484480"/>
            <a:ext cx="2884984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Hipovolemia pede volume. O α1 contrai veias e recruta volume não estressado, mas não substitui a reposição.</a:t>
            </a:r>
            <a:endParaRPr lang="en-US" sz="1350" dirty="0"/>
          </a:p>
        </p:txBody>
      </p:sp>
      <p:sp>
        <p:nvSpPr>
          <p:cNvPr id="13" name="Cartão"/>
          <p:cNvSpPr/>
          <p:nvPr/>
        </p:nvSpPr>
        <p:spPr>
          <a:xfrm>
            <a:off x="812800" y="4308376"/>
            <a:ext cx="10566400" cy="1219200"/>
          </a:xfrm>
          <a:prstGeom prst="roundRect">
            <a:avLst>
              <a:gd name="adj" fmla="val 6250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4" name="PAM ≈ DC × RVS + PVC"/>
          <p:cNvSpPr txBox="1"/>
          <p:nvPr/>
        </p:nvSpPr>
        <p:spPr>
          <a:xfrm>
            <a:off x="1073150" y="4604661"/>
            <a:ext cx="4379317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PAM ≈ DC × RVS + PVC</a:t>
            </a:r>
            <a:endParaRPr lang="en-US" sz="3200" dirty="0"/>
          </a:p>
        </p:txBody>
      </p:sp>
      <p:sp>
        <p:nvSpPr>
          <p:cNvPr id="15" name="A PVC costuma ser baixa: a PAM depende s"/>
          <p:cNvSpPr txBox="1"/>
          <p:nvPr/>
        </p:nvSpPr>
        <p:spPr>
          <a:xfrm>
            <a:off x="5839817" y="4502972"/>
            <a:ext cx="5298083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PVC costuma ser baixa: a PAM depende sobretudo do débito e da resistência. Quando a PVC sobe, o que cai é a perfusão (PAM − PVC) e o retorno venoso.</a:t>
            </a:r>
            <a:endParaRPr lang="en-US" sz="1500" dirty="0"/>
          </a:p>
        </p:txBody>
      </p:sp>
      <p:sp>
        <p:nvSpPr>
          <p:cNvPr id="16" name="Miller’s Anesthesia, 10ª ed. (2025), cap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(2025), cap. 13, 43 · Persichini, Crit Care Med 2012 · ESICM 2025</a:t>
            </a:r>
            <a:endParaRPr lang="en-US" sz="1200" dirty="0"/>
          </a:p>
        </p:txBody>
      </p:sp>
      <p:pic>
        <p:nvPicPr>
          <p:cNvPr id="1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 · PERFUS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 · PERFUSÃO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avaliar a perfusão no intraoperatório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03301"/>
            <a:ext cx="3386634" cy="2612231"/>
          </a:xfrm>
          <a:prstGeom prst="roundRect">
            <a:avLst>
              <a:gd name="adj" fmla="val 291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Ecocardiografia (ETE ou POCUS)"/>
          <p:cNvSpPr txBox="1"/>
          <p:nvPr/>
        </p:nvSpPr>
        <p:spPr>
          <a:xfrm>
            <a:off x="1047750" y="2008857"/>
            <a:ext cx="29357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Ecocardiografia (ETE ou POCUS)</a:t>
            </a:r>
            <a:endParaRPr lang="en-US" sz="1700" dirty="0"/>
          </a:p>
        </p:txBody>
      </p:sp>
      <p:sp>
        <p:nvSpPr>
          <p:cNvPr id="6" name="Tipo de choque em minutos: função de VE "/>
          <p:cNvSpPr txBox="1"/>
          <p:nvPr/>
        </p:nvSpPr>
        <p:spPr>
          <a:xfrm>
            <a:off x="1047750" y="2385452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choque em minutos: função de VE e VD, volemia, pericárdio</a:t>
            </a:r>
            <a:endParaRPr lang="en-US" sz="1350" dirty="0"/>
          </a:p>
        </p:txBody>
      </p:sp>
      <p:sp>
        <p:nvSpPr>
          <p:cNvPr id="7" name="VTI na via de saída do VE: estimativa se"/>
          <p:cNvSpPr txBox="1"/>
          <p:nvPr/>
        </p:nvSpPr>
        <p:spPr>
          <a:xfrm>
            <a:off x="1047750" y="2928972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VTI na via de saída do VE: estimativa seriada do volume sistólico</a:t>
            </a:r>
            <a:endParaRPr lang="en-US" sz="1350" dirty="0"/>
          </a:p>
        </p:txBody>
      </p:sp>
      <p:sp>
        <p:nvSpPr>
          <p:cNvPr id="8" name="Reavaliar após volume ou droga"/>
          <p:cNvSpPr txBox="1"/>
          <p:nvPr/>
        </p:nvSpPr>
        <p:spPr>
          <a:xfrm>
            <a:off x="1047750" y="3472493"/>
            <a:ext cx="2935784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Reavaliar após volume ou droga</a:t>
            </a:r>
            <a:endParaRPr lang="en-US" sz="1350" dirty="0"/>
          </a:p>
        </p:txBody>
      </p:sp>
      <p:sp>
        <p:nvSpPr>
          <p:cNvPr id="9" name="Cartão"/>
          <p:cNvSpPr/>
          <p:nvPr/>
        </p:nvSpPr>
        <p:spPr>
          <a:xfrm>
            <a:off x="4402634" y="1803301"/>
            <a:ext cx="3386634" cy="2612231"/>
          </a:xfrm>
          <a:prstGeom prst="roundRect">
            <a:avLst>
              <a:gd name="adj" fmla="val 291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Débito e parâmetros dinâmicos"/>
          <p:cNvSpPr txBox="1"/>
          <p:nvPr/>
        </p:nvSpPr>
        <p:spPr>
          <a:xfrm>
            <a:off x="4637584" y="2008857"/>
            <a:ext cx="29357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Débito e parâmetros dinâmicos</a:t>
            </a:r>
            <a:endParaRPr lang="en-US" sz="1700" dirty="0"/>
          </a:p>
        </p:txBody>
      </p:sp>
      <p:sp>
        <p:nvSpPr>
          <p:cNvPr id="11" name="Monitores de débito: contorno de pulso, "/>
          <p:cNvSpPr txBox="1"/>
          <p:nvPr/>
        </p:nvSpPr>
        <p:spPr>
          <a:xfrm>
            <a:off x="4637584" y="2385452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Monitores de débito: contorno de pulso, termodiluição, Doppler</a:t>
            </a:r>
            <a:endParaRPr lang="en-US" sz="1350" dirty="0"/>
          </a:p>
        </p:txBody>
      </p:sp>
      <p:sp>
        <p:nvSpPr>
          <p:cNvPr id="12" name="VPP e VVS em ventilação controlada, dent"/>
          <p:cNvSpPr txBox="1"/>
          <p:nvPr/>
        </p:nvSpPr>
        <p:spPr>
          <a:xfrm>
            <a:off x="4637584" y="2928972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VPP e VVS em ventilação controlada, dentro dos limites do método</a:t>
            </a:r>
            <a:endParaRPr lang="en-US" sz="1350" dirty="0"/>
          </a:p>
        </p:txBody>
      </p:sp>
      <p:sp>
        <p:nvSpPr>
          <p:cNvPr id="13" name="Minidesafio hídrico ou, se o posicioname"/>
          <p:cNvSpPr txBox="1"/>
          <p:nvPr/>
        </p:nvSpPr>
        <p:spPr>
          <a:xfrm>
            <a:off x="4637584" y="3472493"/>
            <a:ext cx="2935784" cy="72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Minidesafio hídrico ou, se o posicionamento permitir, elevação passiva das pernas, medindo o débito</a:t>
            </a:r>
            <a:endParaRPr lang="en-US" sz="1350" dirty="0"/>
          </a:p>
        </p:txBody>
      </p:sp>
      <p:sp>
        <p:nvSpPr>
          <p:cNvPr id="14" name="Cartão"/>
          <p:cNvSpPr/>
          <p:nvPr/>
        </p:nvSpPr>
        <p:spPr>
          <a:xfrm>
            <a:off x="7992467" y="1803301"/>
            <a:ext cx="3386634" cy="2612231"/>
          </a:xfrm>
          <a:prstGeom prst="roundRect">
            <a:avLst>
              <a:gd name="adj" fmla="val 291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Perfusão tissular"/>
          <p:cNvSpPr txBox="1"/>
          <p:nvPr/>
        </p:nvSpPr>
        <p:spPr>
          <a:xfrm>
            <a:off x="8227417" y="2008857"/>
            <a:ext cx="29357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Perfusão tissular</a:t>
            </a:r>
            <a:endParaRPr lang="en-US" sz="1700" dirty="0"/>
          </a:p>
        </p:txBody>
      </p:sp>
      <p:sp>
        <p:nvSpPr>
          <p:cNvPr id="16" name="Lactato e sua tendência; SvcO₂; gap veno"/>
          <p:cNvSpPr txBox="1"/>
          <p:nvPr/>
        </p:nvSpPr>
        <p:spPr>
          <a:xfrm>
            <a:off x="8227417" y="2385452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Lactato e sua tendência; SvcO</a:t>
            </a:r>
            <a:r>
              <a:rPr lang="pt-BR" altLang="en-US" sz="1350" baseline="-250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gap venoarterial de CO</a:t>
            </a:r>
            <a:r>
              <a:rPr lang="pt-BR" altLang="en-US" sz="1350" baseline="-250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50" dirty="0"/>
          </a:p>
        </p:txBody>
      </p:sp>
      <p:sp>
        <p:nvSpPr>
          <p:cNvPr id="17" name="Diurese"/>
          <p:cNvSpPr txBox="1"/>
          <p:nvPr/>
        </p:nvSpPr>
        <p:spPr>
          <a:xfrm>
            <a:off x="8227417" y="2928972"/>
            <a:ext cx="2935784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Diurese</a:t>
            </a:r>
            <a:endParaRPr lang="en-US" sz="1350" dirty="0"/>
          </a:p>
        </p:txBody>
      </p:sp>
      <p:sp>
        <p:nvSpPr>
          <p:cNvPr id="18" name="Enchimento capilar e temperatura das ext"/>
          <p:cNvSpPr txBox="1"/>
          <p:nvPr/>
        </p:nvSpPr>
        <p:spPr>
          <a:xfrm>
            <a:off x="8227417" y="3232483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Enchimento capilar e temperatura das extremidades</a:t>
            </a:r>
            <a:endParaRPr lang="en-US" sz="1350" dirty="0"/>
          </a:p>
        </p:txBody>
      </p:sp>
      <p:sp>
        <p:nvSpPr>
          <p:cNvPr id="19" name="Cartão"/>
          <p:cNvSpPr/>
          <p:nvPr/>
        </p:nvSpPr>
        <p:spPr>
          <a:xfrm>
            <a:off x="812800" y="4644132"/>
            <a:ext cx="10566400" cy="886420"/>
          </a:xfrm>
          <a:prstGeom prst="roundRect">
            <a:avLst>
              <a:gd name="adj" fmla="val 8596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0" name="Atenção"/>
          <p:cNvSpPr txBox="1"/>
          <p:nvPr/>
        </p:nvSpPr>
        <p:spPr>
          <a:xfrm>
            <a:off x="1073150" y="4774028"/>
            <a:ext cx="1476970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Atenção</a:t>
            </a:r>
            <a:endParaRPr lang="en-US" sz="3200" dirty="0"/>
          </a:p>
        </p:txBody>
      </p:sp>
      <p:sp>
        <p:nvSpPr>
          <p:cNvPr id="21" name="PAM normal não exclui débito baixo: comb"/>
          <p:cNvSpPr txBox="1"/>
          <p:nvPr/>
        </p:nvSpPr>
        <p:spPr>
          <a:xfrm>
            <a:off x="2937470" y="4805688"/>
            <a:ext cx="820043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normal não exclui débito baixo: combinar eco, débito e marcadores de perfusão antes de decidir por inotrópico.</a:t>
            </a:r>
            <a:endParaRPr lang="en-US" sz="1500" dirty="0"/>
          </a:p>
        </p:txBody>
      </p:sp>
      <p:sp>
        <p:nvSpPr>
          <p:cNvPr id="22" name="Cecconi, Intensive Care Med 2014 (ESICM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Cecconi, Intensive Care Med 2014 (ESICM) · Monnet, Intensive Care Med 2025 (ESICM) · Miller’s Anesthesia, 10ª ed. (2025), cap. 13, 33</a:t>
            </a:r>
            <a:endParaRPr lang="en-US" sz="1200" dirty="0"/>
          </a:p>
        </p:txBody>
      </p:sp>
      <p:pic>
        <p:nvPicPr>
          <p:cNvPr id="23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2 · RECEPTORE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RECEPTORES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Receptores das aminas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803848"/>
                <a:gridCol w="5705971"/>
              </a:tblGrid>
              <a:tr h="3530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Receptor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Localização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principal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561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α1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de artérias e veias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Vasoconstrição: ↑RVS e ↑retorno venoso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26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α2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Pré-sináptico; tronco encefálico; músculo liso vascular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↓liberação de NA; sedação e simpatólise (dexmedetomidina); vasoconstrição (hipertensão transitória do bolus)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3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β1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Miocárdio, nós SA e AV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↑inotropismo, cronotropismo e dromotropismo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3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β2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Vasos, brônquios, fígado, músculo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Vasodilatação, broncodilatação, ↑glicemia e ↑lactato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3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Leitos renal, mesentérico, coronariano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e natriurese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3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vascular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 por via não adrenérgica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3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PDE3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 e vasos (enzima)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Inibida pela milrinona: inotropismo e vasodilatação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Catecolaminas: meia-vida de minutos, em "/>
          <p:cNvSpPr txBox="1"/>
          <p:nvPr/>
        </p:nvSpPr>
        <p:spPr>
          <a:xfrm>
            <a:off x="812800" y="5253273"/>
            <a:ext cx="105854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Catecolaminas: meia-vida de minutos, em geral infusão; fenilefrina e efedrina duram mais (as drogas habituais de bolus). Uso prolongado: dessensibilização.</a:t>
            </a:r>
            <a:endParaRPr lang="en-US" sz="1300" dirty="0"/>
          </a:p>
        </p:txBody>
      </p:sp>
      <p:sp>
        <p:nvSpPr>
          <p:cNvPr id="6" name="Miller’s Anesthesia, 10ª ed. (2025), cap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(2025), cap. 16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NOR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NORADRENALINA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5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7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8" name="DC ↔ (↑/↓)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 (↑/↓)</a:t>
            </a:r>
            <a:endParaRPr lang="en-US" sz="1400" dirty="0"/>
          </a:p>
        </p:txBody>
      </p:sp>
      <p:sp>
        <p:nvSpPr>
          <p:cNvPr id="19" name="FC ↔/↓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0" name="RVS ↑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1" name="Cartão"/>
          <p:cNvSpPr/>
          <p:nvPr/>
        </p:nvSpPr>
        <p:spPr>
          <a:xfrm>
            <a:off x="4064000" y="1879501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Ação e uso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3" name="α1 potente, β1 de efeito modesto: sobe a"/>
          <p:cNvSpPr txBox="1"/>
          <p:nvPr/>
        </p:nvSpPr>
        <p:spPr>
          <a:xfrm>
            <a:off x="4324350" y="2484480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 potente, β1 de efeito modesto: sobe a PAM pela RVS e pelo retorno venoso; DC em geral mantido: pode subir pelo retorno venoso ou cair pela pós-carga; FC estável ou menor. 1ª linha no choque séptico.</a:t>
            </a:r>
            <a:endParaRPr lang="en-US" sz="1350" dirty="0"/>
          </a:p>
        </p:txBody>
      </p:sp>
      <p:sp>
        <p:nvSpPr>
          <p:cNvPr id="24" name="Cartão"/>
          <p:cNvSpPr/>
          <p:nvPr/>
        </p:nvSpPr>
        <p:spPr>
          <a:xfrm>
            <a:off x="4064000" y="3608090"/>
            <a:ext cx="7315200" cy="1466255"/>
          </a:xfrm>
          <a:prstGeom prst="roundRect">
            <a:avLst>
              <a:gd name="adj" fmla="val 519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5" name="Dose e cuidados"/>
          <p:cNvSpPr txBox="1"/>
          <p:nvPr/>
        </p:nvSpPr>
        <p:spPr>
          <a:xfrm>
            <a:off x="4324350" y="3864446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6" name="0,01–0,5 mcg/kg/min, sem teto fixo; bolu"/>
          <p:cNvSpPr txBox="1"/>
          <p:nvPr/>
        </p:nvSpPr>
        <p:spPr>
          <a:xfrm>
            <a:off x="4324350" y="4213069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0,01–0,5 mcg/kg/min, sem teto fixo; bolus de 5–10 mcg no centro cirúrgico. Pode começar em veia periférica calibrosa. Riscos: isquemia digital e esplâncnica, extravasamento.</a:t>
            </a:r>
            <a:endParaRPr lang="en-US" sz="1350" dirty="0"/>
          </a:p>
        </p:txBody>
      </p:sp>
      <p:sp>
        <p:nvSpPr>
          <p:cNvPr id="27" name="SSC 2026 · Miller’s Anesthesia, 10ª ed.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Miller’s Anesthesia, 10ª ed. (2025), cap. 16, 79 · barras: escala qualitativa</a:t>
            </a:r>
            <a:endParaRPr lang="en-US" sz="1200" dirty="0"/>
          </a:p>
        </p:txBody>
      </p:sp>
      <p:pic>
        <p:nvPicPr>
          <p:cNvPr id="2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DC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0" name="FC ↑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1" name="RVS ↓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↓/↑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7315200" cy="1466255"/>
          </a:xfrm>
          <a:prstGeom prst="roundRect">
            <a:avLst>
              <a:gd name="adj" fmla="val 519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Ação e uso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4" name="Dose baixa: predomina β (↑DC; a RVS pode"/>
          <p:cNvSpPr txBox="1"/>
          <p:nvPr/>
        </p:nvSpPr>
        <p:spPr>
          <a:xfrm>
            <a:off x="4324350" y="2484480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baixa: predomina β (↑DC; a RVS pode cair); dose alta: α1. Droga da anafilaxia; no choque séptico, 3ª droga, se a PAM seguir inadequada com NA e vasopressina.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4064000" y="3447355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Dose e cuidados"/>
          <p:cNvSpPr txBox="1"/>
          <p:nvPr/>
        </p:nvSpPr>
        <p:spPr>
          <a:xfrm>
            <a:off x="4324350" y="3703711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7" name="0,01–0,1 mcg/kg/min (em geral, predomíni"/>
          <p:cNvSpPr txBox="1"/>
          <p:nvPr/>
        </p:nvSpPr>
        <p:spPr>
          <a:xfrm>
            <a:off x="4324350" y="4052335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0,01–0,1 mcg/kg/min (em geral, predomínio β); no choque, dose maior, titulada pela PAM. Anafilaxia: bolus endovenosos pequenos e titulados, repetidos a cada 1–2 min; infusão após mais de três bolus. Riscos: taquiarritmia, hiperglicemia; lactato ↑ por β2.</a:t>
            </a:r>
            <a:endParaRPr lang="en-US" sz="1350" dirty="0"/>
          </a:p>
        </p:txBody>
      </p:sp>
      <p:sp>
        <p:nvSpPr>
          <p:cNvPr id="28" name="ANZCA/ANZAAG 2022 · SSC 2026 · barras: 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ANZCA/ANZAAG 2022 · SSC 2026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DOBUTAMINA E DOP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DOBUTAMINA E DOPAMINA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Dobutamina e dopamina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Dobutamina"/>
          <p:cNvSpPr txBox="1"/>
          <p:nvPr/>
        </p:nvSpPr>
        <p:spPr>
          <a:xfrm>
            <a:off x="1066800" y="2053307"/>
            <a:ext cx="113545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</a:t>
            </a:r>
            <a:endParaRPr lang="en-US" sz="1700" dirty="0"/>
          </a:p>
        </p:txBody>
      </p:sp>
      <p:sp>
        <p:nvSpPr>
          <p:cNvPr id="6" name="PAM ↔/↓ · DC ↑↑ · FC ↑ · RVS ↓"/>
          <p:cNvSpPr txBox="1"/>
          <p:nvPr/>
        </p:nvSpPr>
        <p:spPr>
          <a:xfrm>
            <a:off x="3244552" y="2069740"/>
            <a:ext cx="251489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↔/↓ · DC ↑↑ · FC ↑ · RVS ↓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3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4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5" name="Cartão"/>
          <p:cNvSpPr/>
          <p:nvPr/>
        </p:nvSpPr>
        <p:spPr>
          <a:xfrm>
            <a:off x="1473200" y="275064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6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8" name="Cartão"/>
          <p:cNvSpPr/>
          <p:nvPr/>
        </p:nvSpPr>
        <p:spPr>
          <a:xfrm>
            <a:off x="8128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Inotrópico β1 com vasodilatação β2: ↑DC,"/>
          <p:cNvSpPr txBox="1"/>
          <p:nvPr/>
        </p:nvSpPr>
        <p:spPr>
          <a:xfrm>
            <a:off x="10731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Inotrópico β1 com vasodilatação β2: ↑DC, ↓RVS, pode baixar a PAM. Indicação: baixo débito com hipoperfusão, 2,5–20 mcg/kg/min; associar vasopressor se a PAM cair; taquicardia e arritmia limitam a dose.</a:t>
            </a:r>
            <a:endParaRPr lang="en-US" sz="1350" dirty="0"/>
          </a:p>
        </p:txBody>
      </p:sp>
      <p:sp>
        <p:nvSpPr>
          <p:cNvPr id="20" name="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21" name="Dopamina"/>
          <p:cNvSpPr txBox="1"/>
          <p:nvPr/>
        </p:nvSpPr>
        <p:spPr>
          <a:xfrm>
            <a:off x="6451600" y="2053307"/>
            <a:ext cx="94476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700" dirty="0"/>
          </a:p>
        </p:txBody>
      </p:sp>
      <p:sp>
        <p:nvSpPr>
          <p:cNvPr id="22" name="PAM ↑ · DC ↑ · FC ↑↑ · RVS ↔/↑"/>
          <p:cNvSpPr txBox="1"/>
          <p:nvPr/>
        </p:nvSpPr>
        <p:spPr>
          <a:xfrm>
            <a:off x="8629352" y="2069740"/>
            <a:ext cx="251489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↑ · FC ↑↑ · RVS ↔/↑</a:t>
            </a:r>
            <a:endParaRPr lang="en-US" sz="1300" dirty="0"/>
          </a:p>
        </p:txBody>
      </p:sp>
      <p:sp>
        <p:nvSpPr>
          <p:cNvPr id="23" name="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4" name="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5" name="Cartão"/>
          <p:cNvSpPr/>
          <p:nvPr/>
        </p:nvSpPr>
        <p:spPr>
          <a:xfrm>
            <a:off x="68580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6" name="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7" name="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8" name="Cartão"/>
          <p:cNvSpPr/>
          <p:nvPr/>
        </p:nvSpPr>
        <p:spPr>
          <a:xfrm>
            <a:off x="93218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9" name="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30" name="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1" name="Cartão"/>
          <p:cNvSpPr/>
          <p:nvPr/>
        </p:nvSpPr>
        <p:spPr>
          <a:xfrm>
            <a:off x="68580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2" name="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3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4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5" name="Cartão"/>
          <p:cNvSpPr/>
          <p:nvPr/>
        </p:nvSpPr>
        <p:spPr>
          <a:xfrm>
            <a:off x="61976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6" name="Efeito pouco previsível; risco de taquic"/>
          <p:cNvSpPr txBox="1"/>
          <p:nvPr/>
        </p:nvSpPr>
        <p:spPr>
          <a:xfrm>
            <a:off x="6457950" y="3355621"/>
            <a:ext cx="46799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pouco previsível; risco de taquicardia e arritmias; a chamada dose “renal” não protege o rim. Uso restrito.</a:t>
            </a:r>
            <a:endParaRPr lang="en-US" sz="1350" dirty="0"/>
          </a:p>
        </p:txBody>
      </p:sp>
      <p:sp>
        <p:nvSpPr>
          <p:cNvPr id="37" name="Bellomo, Lancet 2000 (ANZICS) · Miller’s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Bellomo, Lancet 2000 (ANZICS) · Miller’s Anesthesia, 10ª ed. (2025), cap. 16, 79 · barras: escala qualitativa</a:t>
            </a:r>
            <a:endParaRPr lang="en-US" sz="1200" dirty="0"/>
          </a:p>
        </p:txBody>
      </p:sp>
      <p:pic>
        <p:nvPicPr>
          <p:cNvPr id="3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23036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MECANISMO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</a:t>
            </a:r>
            <a:endParaRPr lang="en-US" sz="1200" dirty="0"/>
          </a:p>
        </p:txBody>
      </p:sp>
      <p:sp>
        <p:nvSpPr>
          <p:cNvPr id="6" name="Inibe a PDE3 e aumenta o AMPc sem depend"/>
          <p:cNvSpPr txBox="1"/>
          <p:nvPr/>
        </p:nvSpPr>
        <p:spPr>
          <a:xfrm>
            <a:off x="1066800" y="2465198"/>
            <a:ext cx="25590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Inibe a PDE3 e aumenta o AMPc sem depender do receptor β</a:t>
            </a:r>
            <a:endParaRPr lang="en-US" sz="1400" dirty="0"/>
          </a:p>
        </p:txBody>
      </p:sp>
      <p:sp>
        <p:nvSpPr>
          <p:cNvPr id="7" name="Coração: inotropismo e lusitropismo. Vas"/>
          <p:cNvSpPr txBox="1"/>
          <p:nvPr/>
        </p:nvSpPr>
        <p:spPr>
          <a:xfrm>
            <a:off x="1066800" y="3051019"/>
            <a:ext cx="2559050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Coração: inotropismo e lusitropismo. Vasos: dilatação sistêmica e pulmonar.</a:t>
            </a:r>
            <a:endParaRPr lang="en-US" sz="1200" dirty="0"/>
          </a:p>
        </p:txBody>
      </p:sp>
      <p:sp>
        <p:nvSpPr>
          <p:cNvPr id="8" name="EFEITO HEMODINÂMICO"/>
          <p:cNvSpPr txBox="1"/>
          <p:nvPr/>
        </p:nvSpPr>
        <p:spPr>
          <a:xfrm>
            <a:off x="1066800" y="3604659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9" name="DC ↑↑"/>
          <p:cNvSpPr txBox="1"/>
          <p:nvPr/>
        </p:nvSpPr>
        <p:spPr>
          <a:xfrm>
            <a:off x="10668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0" name="FC ↔/↑"/>
          <p:cNvSpPr txBox="1"/>
          <p:nvPr/>
        </p:nvSpPr>
        <p:spPr>
          <a:xfrm>
            <a:off x="24130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11" name="RVS ↓"/>
          <p:cNvSpPr txBox="1"/>
          <p:nvPr/>
        </p:nvSpPr>
        <p:spPr>
          <a:xfrm>
            <a:off x="10668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2" name="RVP ↓"/>
          <p:cNvSpPr txBox="1"/>
          <p:nvPr/>
        </p:nvSpPr>
        <p:spPr>
          <a:xfrm>
            <a:off x="24130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RVP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3" name="PAM ↔/↓"/>
          <p:cNvSpPr txBox="1"/>
          <p:nvPr/>
        </p:nvSpPr>
        <p:spPr>
          <a:xfrm>
            <a:off x="10668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14" name="POAP ↓"/>
          <p:cNvSpPr txBox="1"/>
          <p:nvPr/>
        </p:nvSpPr>
        <p:spPr>
          <a:xfrm>
            <a:off x="24130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POAP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5" name="Cartão"/>
          <p:cNvSpPr/>
          <p:nvPr/>
        </p:nvSpPr>
        <p:spPr>
          <a:xfrm>
            <a:off x="4064000" y="1879501"/>
            <a:ext cx="7315200" cy="1501775"/>
          </a:xfrm>
          <a:prstGeom prst="roundRect">
            <a:avLst>
              <a:gd name="adj" fmla="val 5074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Indicações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</a:t>
            </a:r>
            <a:endParaRPr lang="en-US" sz="1700" dirty="0"/>
          </a:p>
        </p:txBody>
      </p:sp>
      <p:sp>
        <p:nvSpPr>
          <p:cNvPr id="17" name="Disfunção ventricular com baixo débito q"/>
          <p:cNvSpPr txBox="1"/>
          <p:nvPr/>
        </p:nvSpPr>
        <p:spPr>
          <a:xfrm>
            <a:off x="4324350" y="2484480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ventricular com baixo débito que exige inotrópico, sobretudo com hipertensão pulmonar ou falência de VD; saída de CEC com RVP alta ou betabloqueio.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4064000" y="3482876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Dose e cuidados"/>
          <p:cNvSpPr txBox="1"/>
          <p:nvPr/>
        </p:nvSpPr>
        <p:spPr>
          <a:xfrm>
            <a:off x="4324350" y="3739232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0" name="Ataque de 50 mcg/kg em 10 min (muitas ve"/>
          <p:cNvSpPr txBox="1"/>
          <p:nvPr/>
        </p:nvSpPr>
        <p:spPr>
          <a:xfrm>
            <a:off x="4324350" y="4087855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 de 50 mcg/kg em 10 min (muitas vezes omitido); manutenção de 0,375–0,75 mcg/kg/min. Eliminação renal: reduzir na insuficiência renal. Riscos: hipotensão (associar NA) e arritmias.</a:t>
            </a:r>
            <a:endParaRPr lang="en-US" sz="1350" dirty="0"/>
          </a:p>
        </p:txBody>
      </p:sp>
      <p:sp>
        <p:nvSpPr>
          <p:cNvPr id="21" name="bula da milrinona · Miller’s Anesthesia,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bula da milrinona · Miller’s Anesthesia, 10ª ed. (2025), cap. 16, 50</a:t>
            </a:r>
            <a:endParaRPr lang="en-US" sz="1200" dirty="0"/>
          </a:p>
        </p:txBody>
      </p:sp>
      <p:pic>
        <p:nvPicPr>
          <p:cNvPr id="2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 OU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 OU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 ou dobutamina: quando escolher</a:t>
            </a:r>
            <a:endParaRPr lang="en-US" sz="3200" dirty="0"/>
          </a:p>
        </p:txBody>
      </p:sp>
      <p:sp>
        <p:nvSpPr>
          <p:cNvPr id="4" name="Antes da escolha: há disfunção ventricul"/>
          <p:cNvSpPr txBox="1"/>
          <p:nvPr/>
        </p:nvSpPr>
        <p:spPr>
          <a:xfrm>
            <a:off x="812800" y="1763943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da escolha:</a:t>
            </a:r>
            <a:r>
              <a:rPr lang="pt-BR" alt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há disfunção ventricular com baixo débito que exige inotrópico, com volume e PAM já otimizados?</a:t>
            </a:r>
            <a:endParaRPr lang="en-US" sz="1400" dirty="0"/>
          </a:p>
        </p:txBody>
      </p:sp>
      <p:graphicFrame>
        <p:nvGraphicFramePr>
          <p:cNvPr id="5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229941"/>
          <a:ext cx="10566400" cy="914400"/>
        </p:xfrm>
        <a:graphic>
          <a:graphicData uri="http://schemas.openxmlformats.org/drawingml/2006/table">
            <a:tbl>
              <a:tblPr/>
              <a:tblGrid>
                <a:gridCol w="2324596"/>
                <a:gridCol w="3803848"/>
                <a:gridCol w="4437955"/>
              </a:tblGrid>
              <a:tr h="3657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Perfil esperado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688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Meia-vida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 min: início e fim rápidos, fácil de titular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2,4 h na IC; maior na insuficiência renal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VD e circulação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modesto na RVP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↓RVP e ↓POAP: útil no VD com hipertensão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 e PAM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taquicardia; vasodilatação discreta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vasodilatação e hipotensão (associar NA)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 betabloqueador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Resposta atenuada; pode exigir dose maior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 após o receptor β: efeito em grande parte preservado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rtão"/>
          <p:cNvSpPr/>
          <p:nvPr/>
        </p:nvSpPr>
        <p:spPr>
          <a:xfrm>
            <a:off x="812800" y="4287143"/>
            <a:ext cx="5181600" cy="1521222"/>
          </a:xfrm>
          <a:prstGeom prst="roundRect">
            <a:avLst>
              <a:gd name="adj" fmla="val 5009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7" name="Considere milrinona"/>
          <p:cNvSpPr txBox="1"/>
          <p:nvPr/>
        </p:nvSpPr>
        <p:spPr>
          <a:xfrm>
            <a:off x="1022350" y="444236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milrinona</a:t>
            </a:r>
            <a:endParaRPr lang="en-US" sz="1500" dirty="0"/>
          </a:p>
        </p:txBody>
      </p:sp>
      <p:sp>
        <p:nvSpPr>
          <p:cNvPr id="8" name="VD com hipertensão pulmonar, inclusive n"/>
          <p:cNvSpPr txBox="1"/>
          <p:nvPr/>
        </p:nvSpPr>
        <p:spPr>
          <a:xfrm>
            <a:off x="1022350" y="4712333"/>
            <a:ext cx="4781550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VD com hipertensão pulmonar, inclusive na saída de CEC com RVP alta; betabloqueio ou taquicardia limitando a dobutamina; PAM sustentada (em geral com NA).</a:t>
            </a:r>
            <a:endParaRPr lang="en-US" sz="1300" dirty="0"/>
          </a:p>
        </p:txBody>
      </p:sp>
      <p:sp>
        <p:nvSpPr>
          <p:cNvPr id="9" name="Cartão"/>
          <p:cNvSpPr/>
          <p:nvPr/>
        </p:nvSpPr>
        <p:spPr>
          <a:xfrm>
            <a:off x="6197600" y="4287143"/>
            <a:ext cx="5181600" cy="1521222"/>
          </a:xfrm>
          <a:prstGeom prst="roundRect">
            <a:avLst>
              <a:gd name="adj" fmla="val 5009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Considere dobutamina"/>
          <p:cNvSpPr txBox="1"/>
          <p:nvPr/>
        </p:nvSpPr>
        <p:spPr>
          <a:xfrm>
            <a:off x="6407150" y="444236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dobutamina</a:t>
            </a:r>
            <a:endParaRPr lang="en-US" sz="1500" dirty="0"/>
          </a:p>
        </p:txBody>
      </p:sp>
      <p:sp>
        <p:nvSpPr>
          <p:cNvPr id="11" name="Hipotensão ou vasoplegia associada; insu"/>
          <p:cNvSpPr txBox="1"/>
          <p:nvPr/>
        </p:nvSpPr>
        <p:spPr>
          <a:xfrm>
            <a:off x="6407150" y="4712333"/>
            <a:ext cx="4781550" cy="92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Hipotensão ou vasoplegia associada; insuficiência renal; necessidade de titulação rápida (meia-vida de minutos). No choque séptico, a SSC 2026 sugere dobutamina com noradrenalina, ou adrenalina; faltam dados comparando com milrinona.</a:t>
            </a:r>
            <a:endParaRPr lang="en-US" sz="1300" dirty="0"/>
          </a:p>
        </p:txBody>
      </p:sp>
      <p:sp>
        <p:nvSpPr>
          <p:cNvPr id="12" name="bula da milrinona · Miller’s Anesthesia,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bula da milrinona · Miller’s Anesthesia, 10ª ed. (2025), cap. 16, 50</a:t>
            </a:r>
            <a:endParaRPr lang="en-US" sz="1200" dirty="0"/>
          </a:p>
        </p:txBody>
      </p:sp>
      <p:pic>
        <p:nvPicPr>
          <p:cNvPr id="13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NÃO CATECOLAMINAS DE BOLU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NÃO CATECOLAMINAS DE BOLUS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Fenilefrina e efedrina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Fenilefrina"/>
          <p:cNvSpPr txBox="1"/>
          <p:nvPr/>
        </p:nvSpPr>
        <p:spPr>
          <a:xfrm>
            <a:off x="1066800" y="2053307"/>
            <a:ext cx="97799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</a:t>
            </a:r>
            <a:endParaRPr lang="en-US" sz="1700" dirty="0"/>
          </a:p>
        </p:txBody>
      </p:sp>
      <p:sp>
        <p:nvSpPr>
          <p:cNvPr id="6" name="PAM ↑ · DC ↔/↓ · FC ↓ · RVS ↑↑"/>
          <p:cNvSpPr txBox="1"/>
          <p:nvPr/>
        </p:nvSpPr>
        <p:spPr>
          <a:xfrm>
            <a:off x="3244552" y="2069740"/>
            <a:ext cx="251489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↔/↓ · FC ↓ · RVS ↑↑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3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5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Cartão"/>
          <p:cNvSpPr/>
          <p:nvPr/>
        </p:nvSpPr>
        <p:spPr>
          <a:xfrm>
            <a:off x="8128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7" name="Agonista α1 direto: sobe a RVS e a PAM; "/>
          <p:cNvSpPr txBox="1"/>
          <p:nvPr/>
        </p:nvSpPr>
        <p:spPr>
          <a:xfrm>
            <a:off x="1073150" y="3355621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α1 direto: sobe a RVS e a PAM; bradicardia reflexa, que pode reduzir o DC. Escolha na hipotensão vasodilatadora com FC normal ou alta.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19" name="Efedrina"/>
          <p:cNvSpPr txBox="1"/>
          <p:nvPr/>
        </p:nvSpPr>
        <p:spPr>
          <a:xfrm>
            <a:off x="6451600" y="2053307"/>
            <a:ext cx="76944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</a:t>
            </a:r>
            <a:endParaRPr lang="en-US" sz="1700" dirty="0"/>
          </a:p>
        </p:txBody>
      </p:sp>
      <p:sp>
        <p:nvSpPr>
          <p:cNvPr id="20" name="PAM ↑ · DC ↑ · FC ↑ · RVS ↔/↑"/>
          <p:cNvSpPr txBox="1"/>
          <p:nvPr/>
        </p:nvSpPr>
        <p:spPr>
          <a:xfrm>
            <a:off x="8778875" y="2069740"/>
            <a:ext cx="2365375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↑ · FC ↑ · RVS ↔/↑</a:t>
            </a:r>
            <a:endParaRPr lang="en-US" sz="1300" dirty="0"/>
          </a:p>
        </p:txBody>
      </p:sp>
      <p:sp>
        <p:nvSpPr>
          <p:cNvPr id="21" name="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2" name="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3" name="Cartão"/>
          <p:cNvSpPr/>
          <p:nvPr/>
        </p:nvSpPr>
        <p:spPr>
          <a:xfrm>
            <a:off x="68580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4" name="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5" name="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6" name="Cartão"/>
          <p:cNvSpPr/>
          <p:nvPr/>
        </p:nvSpPr>
        <p:spPr>
          <a:xfrm>
            <a:off x="93218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7" name="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28" name="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9" name="Cartão"/>
          <p:cNvSpPr/>
          <p:nvPr/>
        </p:nvSpPr>
        <p:spPr>
          <a:xfrm>
            <a:off x="68580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0" name="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1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2" name="Cartão"/>
          <p:cNvSpPr/>
          <p:nvPr/>
        </p:nvSpPr>
        <p:spPr>
          <a:xfrm>
            <a:off x="61976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3" name="Ação direta em α e β e indireta, liberan"/>
          <p:cNvSpPr txBox="1"/>
          <p:nvPr/>
        </p:nvSpPr>
        <p:spPr>
          <a:xfrm>
            <a:off x="64579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direta em α e β e indireta, liberando noradrenalina: sobe pressão, frequência e débito. Escolha na hipotensão com bradicardia. Taquifilaxia; na cesárea, mais acidose fetal que a fenilefrina.</a:t>
            </a:r>
            <a:endParaRPr lang="en-US" sz="1350" dirty="0"/>
          </a:p>
        </p:txBody>
      </p:sp>
      <p:sp>
        <p:nvSpPr>
          <p:cNvPr id="34" name="Kinsella, Anaesthesia 2018 · Park &amp; Choi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Park &amp; Choi, Anesth Pain Med 2024 · Miller’s Anesthesia, 10ª ed. (2025), cap. 16, 58 · barras: escala qualitativa</a:t>
            </a:r>
            <a:endParaRPr lang="en-US" sz="1200" dirty="0"/>
          </a:p>
        </p:txBody>
      </p:sp>
      <p:pic>
        <p:nvPicPr>
          <p:cNvPr id="3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4 · ALÉM DAS AMINA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ALÉM DAS AMINAS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Além das aminas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4064000" cy="3268762"/>
          </a:xfrm>
          <a:prstGeom prst="roundRect">
            <a:avLst>
              <a:gd name="adj" fmla="val 2331"/>
            </a:avLst>
          </a:prstGeom>
          <a:solidFill>
            <a:srgbClr val="1B2A3A"/>
          </a:solidFill>
          <a:ln/>
        </p:spPr>
      </p:sp>
      <p:sp>
        <p:nvSpPr>
          <p:cNvPr id="5" name="VASOPRESSINA · RECEPTOR V1"/>
          <p:cNvSpPr txBox="1"/>
          <p:nvPr/>
        </p:nvSpPr>
        <p:spPr>
          <a:xfrm>
            <a:off x="1066800" y="2121537"/>
            <a:ext cx="3575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 · RECEPTOR V1</a:t>
            </a:r>
            <a:endParaRPr lang="en-US" sz="1200" dirty="0"/>
          </a:p>
        </p:txBody>
      </p:sp>
      <p:sp>
        <p:nvSpPr>
          <p:cNvPr id="6" name="0,03 U/min"/>
          <p:cNvSpPr txBox="1"/>
          <p:nvPr/>
        </p:nvSpPr>
        <p:spPr>
          <a:xfrm>
            <a:off x="1066800" y="2457108"/>
            <a:ext cx="3575050" cy="502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pt-BR" altLang="en-US" sz="36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0,03 U/min</a:t>
            </a:r>
            <a:endParaRPr lang="en-US" sz="3600" dirty="0"/>
          </a:p>
        </p:txBody>
      </p:sp>
      <p:sp>
        <p:nvSpPr>
          <p:cNvPr id="7" name="Age fora da via adrenérgica; costuma man"/>
          <p:cNvSpPr txBox="1"/>
          <p:nvPr/>
        </p:nvSpPr>
        <p:spPr>
          <a:xfrm>
            <a:off x="1066800" y="3036831"/>
            <a:ext cx="35750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fora da via adrenérgica; costuma manter efeito com acidose. Choque séptico: dose em geral fixa. Vasoplegia pós-CEC: titulada (0,01–0,06 U/min no VANCS).</a:t>
            </a:r>
            <a:endParaRPr lang="en-US" sz="1350" dirty="0"/>
          </a:p>
        </p:txBody>
      </p:sp>
      <p:sp>
        <p:nvSpPr>
          <p:cNvPr id="8" name="Indicações: noradrenalina em escalada, v"/>
          <p:cNvSpPr txBox="1"/>
          <p:nvPr/>
        </p:nvSpPr>
        <p:spPr>
          <a:xfrm>
            <a:off x="1066800" y="4132603"/>
            <a:ext cx="35750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Indicações: noradrenalina em escalada, vasoplegia pós-CEC, hipotensão refratária com IECA/BRA. Risco: isquemia digital e mesentérica.</a:t>
            </a:r>
            <a:endParaRPr lang="en-US" sz="1350" dirty="0"/>
          </a:p>
        </p:txBody>
      </p:sp>
      <p:sp>
        <p:nvSpPr>
          <p:cNvPr id="9" name="Cartão"/>
          <p:cNvSpPr/>
          <p:nvPr/>
        </p:nvSpPr>
        <p:spPr>
          <a:xfrm>
            <a:off x="5080000" y="1879501"/>
            <a:ext cx="6299200" cy="1583630"/>
          </a:xfrm>
          <a:prstGeom prst="roundRect">
            <a:avLst>
              <a:gd name="adj" fmla="val 48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Hidrocortisona"/>
          <p:cNvSpPr txBox="1"/>
          <p:nvPr/>
        </p:nvSpPr>
        <p:spPr>
          <a:xfrm>
            <a:off x="5289550" y="2412552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Hidrocortisona</a:t>
            </a:r>
            <a:endParaRPr lang="en-US" sz="1500" dirty="0"/>
          </a:p>
        </p:txBody>
      </p:sp>
      <p:sp>
        <p:nvSpPr>
          <p:cNvPr id="11" name="Restaura a resposta vascular às catecola"/>
          <p:cNvSpPr txBox="1"/>
          <p:nvPr/>
        </p:nvSpPr>
        <p:spPr>
          <a:xfrm>
            <a:off x="5289550" y="2682515"/>
            <a:ext cx="58991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 a resposta vascular às catecolaminas; 200 mg/dia no choque séptico.</a:t>
            </a:r>
            <a:endParaRPr lang="en-US" sz="1300" dirty="0"/>
          </a:p>
        </p:txBody>
      </p:sp>
      <p:sp>
        <p:nvSpPr>
          <p:cNvPr id="12" name="Cartão"/>
          <p:cNvSpPr/>
          <p:nvPr/>
        </p:nvSpPr>
        <p:spPr>
          <a:xfrm>
            <a:off x="5080000" y="3564731"/>
            <a:ext cx="6299200" cy="1583630"/>
          </a:xfrm>
          <a:prstGeom prst="roundRect">
            <a:avLst>
              <a:gd name="adj" fmla="val 48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Azul de metileno"/>
          <p:cNvSpPr txBox="1"/>
          <p:nvPr/>
        </p:nvSpPr>
        <p:spPr>
          <a:xfrm>
            <a:off x="5289550" y="3866702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Azul de metileno</a:t>
            </a:r>
            <a:endParaRPr lang="en-US" sz="1500" dirty="0"/>
          </a:p>
        </p:txBody>
      </p:sp>
      <p:sp>
        <p:nvSpPr>
          <p:cNvPr id="14" name="Inibe a via óxido nítrico–GMPc: resgate "/>
          <p:cNvSpPr txBox="1"/>
          <p:nvPr/>
        </p:nvSpPr>
        <p:spPr>
          <a:xfrm>
            <a:off x="5289550" y="4136665"/>
            <a:ext cx="5899150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Inibe a via óxido nítrico–GMPc: resgate na vasoplegia refratária (pós-CEC; reperfusão do enxerto hepático, com base em relatos e séries). Cuidados: deficiência de G6PD, oximetria, síndrome serotoninérgica.</a:t>
            </a:r>
            <a:endParaRPr lang="en-US" sz="1300" dirty="0"/>
          </a:p>
        </p:txBody>
      </p:sp>
      <p:sp>
        <p:nvSpPr>
          <p:cNvPr id="15" name="SSC 2026 · Hajjar, Anesthesiology 2017 (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Hajjar, Anesthesiology 2017 (VANCS) · Koelzow 2002 · Fukazawa 2011 · Miller’s Anesthesia, 10ª ed. (2025), cap. 79</a:t>
            </a:r>
            <a:endParaRPr lang="en-US" sz="1200" dirty="0"/>
          </a:p>
        </p:txBody>
      </p:sp>
      <p:pic>
        <p:nvPicPr>
          <p:cNvPr id="1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5 · PERIOPERATÓRIO · SÍNTESE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PERIOPERATÓRIO · SÍNTESE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09559"/>
            <a:ext cx="107188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pt-BR" altLang="en-US" sz="30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Escolha da droga: do mecanismo à conduta</a:t>
            </a:r>
            <a:endParaRPr lang="en-US" sz="3000" dirty="0"/>
          </a:p>
        </p:txBody>
      </p:sp>
      <p:sp>
        <p:nvSpPr>
          <p:cNvPr id="4" name="Hipotensão"/>
          <p:cNvSpPr/>
          <p:nvPr/>
        </p:nvSpPr>
        <p:spPr>
          <a:xfrm>
            <a:off x="812800" y="1714401"/>
            <a:ext cx="920055" cy="322560"/>
          </a:xfrm>
          <a:prstGeom prst="roundRect">
            <a:avLst>
              <a:gd name="adj" fmla="val 23624"/>
            </a:avLst>
          </a:prstGeom>
          <a:solidFill>
            <a:srgbClr val="1B2A3A"/>
          </a:solidFill>
          <a:ln/>
        </p:spPr>
        <p:txBody>
          <a:bodyPr wrap="none" lIns="127000" tIns="63500" rIns="127000" bIns="6350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pt-BR" altLang="en-US" sz="11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Hipotensão</a:t>
            </a:r>
            <a:endParaRPr lang="en-US" sz="1100" dirty="0"/>
          </a:p>
        </p:txBody>
      </p:sp>
      <p:sp>
        <p:nvSpPr>
          <p:cNvPr id="5" name="→"/>
          <p:cNvSpPr txBox="1"/>
          <p:nvPr/>
        </p:nvSpPr>
        <p:spPr>
          <a:xfrm>
            <a:off x="1834455" y="1770917"/>
            <a:ext cx="22602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6" name="Afastar plano profundo, hipovolemia, com"/>
          <p:cNvSpPr/>
          <p:nvPr/>
        </p:nvSpPr>
        <p:spPr>
          <a:xfrm>
            <a:off x="2143026" y="1699220"/>
            <a:ext cx="5803999" cy="353020"/>
          </a:xfrm>
          <a:prstGeom prst="roundRect">
            <a:avLst>
              <a:gd name="adj" fmla="val 21585"/>
            </a:avLst>
          </a:prstGeom>
          <a:solidFill>
            <a:srgbClr val="FFFDF8"/>
          </a:solidFill>
          <a:ln w="6350">
            <a:solidFill>
              <a:srgbClr val="E2DDD2"/>
            </a:solidFill>
          </a:ln>
        </p:spPr>
        <p:txBody>
          <a:bodyPr wrap="none" lIns="133350" tIns="69850" rIns="133350" bIns="6985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Afastar plano profundo, hipovolemia, compressão aortocava, pneumotórax e anafilaxia</a:t>
            </a:r>
            <a:endParaRPr lang="en-US" sz="1200" dirty="0"/>
          </a:p>
        </p:txBody>
      </p:sp>
      <p:sp>
        <p:nvSpPr>
          <p:cNvPr id="7" name="→"/>
          <p:cNvSpPr txBox="1"/>
          <p:nvPr/>
        </p:nvSpPr>
        <p:spPr>
          <a:xfrm>
            <a:off x="8048625" y="1770917"/>
            <a:ext cx="22602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Qual mecanismo?"/>
          <p:cNvSpPr/>
          <p:nvPr/>
        </p:nvSpPr>
        <p:spPr>
          <a:xfrm>
            <a:off x="8357195" y="1714401"/>
            <a:ext cx="1289546" cy="322560"/>
          </a:xfrm>
          <a:prstGeom prst="roundRect">
            <a:avLst>
              <a:gd name="adj" fmla="val 23624"/>
            </a:avLst>
          </a:prstGeom>
          <a:solidFill>
            <a:srgbClr val="1B2A3A"/>
          </a:solidFill>
          <a:ln/>
        </p:spPr>
        <p:txBody>
          <a:bodyPr wrap="none" lIns="127000" tIns="63500" rIns="127000" bIns="6350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pt-BR" altLang="en-US" sz="11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mecanismo?</a:t>
            </a:r>
            <a:endParaRPr lang="en-US" sz="1100" dirty="0"/>
          </a:p>
        </p:txBody>
      </p:sp>
      <p:sp>
        <p:nvSpPr>
          <p:cNvPr id="9" name="Cartão"/>
          <p:cNvSpPr/>
          <p:nvPr/>
        </p:nvSpPr>
        <p:spPr>
          <a:xfrm>
            <a:off x="812800" y="2230041"/>
            <a:ext cx="3437434" cy="1144587"/>
          </a:xfrm>
          <a:prstGeom prst="roundRect">
            <a:avLst>
              <a:gd name="adj" fmla="val 665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Tônus baixo, FC normal ou alta"/>
          <p:cNvSpPr/>
          <p:nvPr/>
        </p:nvSpPr>
        <p:spPr>
          <a:xfrm>
            <a:off x="819150" y="2236391"/>
            <a:ext cx="3424734" cy="334963"/>
          </a:xfrm>
          <a:prstGeom prst="roundRect">
            <a:avLst>
              <a:gd name="adj" fmla="val 22749"/>
            </a:avLst>
          </a:prstGeom>
          <a:solidFill>
            <a:srgbClr val="1B2A3A"/>
          </a:solidFill>
          <a:ln/>
        </p:spPr>
        <p:txBody>
          <a:bodyPr wrap="none" lIns="114300" tIns="76200" rIns="114300" bIns="76200" rtlCol="0" anchor="ctr"/>
          <a:lstStyle/>
          <a:p>
            <a:pPr algn="ctr" indent="0" marL="0">
              <a:lnSpc>
                <a:spcPts val="1438"/>
              </a:lnSpc>
              <a:buNone/>
            </a:pPr>
            <a:r>
              <a:rPr lang="pt-BR" altLang="en-US" sz="115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baixo, FC normal ou alta</a:t>
            </a:r>
            <a:endParaRPr lang="en-US" sz="1150" dirty="0"/>
          </a:p>
        </p:txBody>
      </p:sp>
      <p:sp>
        <p:nvSpPr>
          <p:cNvPr id="11" name="Fenilefrina 50–100 mcg ou NA 5–10 mcg; N"/>
          <p:cNvSpPr txBox="1"/>
          <p:nvPr/>
        </p:nvSpPr>
        <p:spPr>
          <a:xfrm>
            <a:off x="933450" y="2652554"/>
            <a:ext cx="3215184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5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 50–100 mcg ou NA 5–10 mcg; NA em infusão se persistir</a:t>
            </a:r>
            <a:endParaRPr lang="en-US" sz="1250" dirty="0"/>
          </a:p>
        </p:txBody>
      </p:sp>
      <p:sp>
        <p:nvSpPr>
          <p:cNvPr id="12" name="Cartão"/>
          <p:cNvSpPr/>
          <p:nvPr/>
        </p:nvSpPr>
        <p:spPr>
          <a:xfrm>
            <a:off x="4377234" y="2230041"/>
            <a:ext cx="3437434" cy="1144587"/>
          </a:xfrm>
          <a:prstGeom prst="roundRect">
            <a:avLst>
              <a:gd name="adj" fmla="val 665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Tônus baixo com bradicardia"/>
          <p:cNvSpPr/>
          <p:nvPr/>
        </p:nvSpPr>
        <p:spPr>
          <a:xfrm>
            <a:off x="4383584" y="2236391"/>
            <a:ext cx="3424734" cy="334963"/>
          </a:xfrm>
          <a:prstGeom prst="roundRect">
            <a:avLst>
              <a:gd name="adj" fmla="val 22749"/>
            </a:avLst>
          </a:prstGeom>
          <a:solidFill>
            <a:srgbClr val="1B2A3A"/>
          </a:solidFill>
          <a:ln/>
        </p:spPr>
        <p:txBody>
          <a:bodyPr wrap="none" lIns="114300" tIns="76200" rIns="114300" bIns="76200" rtlCol="0" anchor="ctr"/>
          <a:lstStyle/>
          <a:p>
            <a:pPr algn="ctr" indent="0" marL="0">
              <a:lnSpc>
                <a:spcPts val="1438"/>
              </a:lnSpc>
              <a:buNone/>
            </a:pPr>
            <a:r>
              <a:rPr lang="pt-BR" altLang="en-US" sz="115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 com bradicardia</a:t>
            </a:r>
            <a:endParaRPr lang="en-US" sz="1150" dirty="0"/>
          </a:p>
        </p:txBody>
      </p:sp>
      <p:sp>
        <p:nvSpPr>
          <p:cNvPr id="14" name="Efedrina 5–10 mg; adrenalina se grave"/>
          <p:cNvSpPr txBox="1"/>
          <p:nvPr/>
        </p:nvSpPr>
        <p:spPr>
          <a:xfrm>
            <a:off x="4497884" y="2652554"/>
            <a:ext cx="3215184" cy="2063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5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 5–10 mg; adrenalina se grave</a:t>
            </a:r>
            <a:endParaRPr lang="en-US" sz="1250" dirty="0"/>
          </a:p>
        </p:txBody>
      </p:sp>
      <p:sp>
        <p:nvSpPr>
          <p:cNvPr id="15" name="Cartão"/>
          <p:cNvSpPr/>
          <p:nvPr/>
        </p:nvSpPr>
        <p:spPr>
          <a:xfrm>
            <a:off x="7941667" y="2230041"/>
            <a:ext cx="3437434" cy="1144587"/>
          </a:xfrm>
          <a:prstGeom prst="roundRect">
            <a:avLst>
              <a:gd name="adj" fmla="val 665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Baixo débito com hipoperfusão"/>
          <p:cNvSpPr/>
          <p:nvPr/>
        </p:nvSpPr>
        <p:spPr>
          <a:xfrm>
            <a:off x="7948017" y="2236391"/>
            <a:ext cx="3424734" cy="334963"/>
          </a:xfrm>
          <a:prstGeom prst="roundRect">
            <a:avLst>
              <a:gd name="adj" fmla="val 22749"/>
            </a:avLst>
          </a:prstGeom>
          <a:solidFill>
            <a:srgbClr val="1B2A3A"/>
          </a:solidFill>
          <a:ln/>
        </p:spPr>
        <p:txBody>
          <a:bodyPr wrap="none" lIns="114300" tIns="76200" rIns="114300" bIns="76200" rtlCol="0" anchor="ctr"/>
          <a:lstStyle/>
          <a:p>
            <a:pPr algn="ctr" indent="0" marL="0">
              <a:lnSpc>
                <a:spcPts val="1438"/>
              </a:lnSpc>
              <a:buNone/>
            </a:pPr>
            <a:r>
              <a:rPr lang="pt-BR" altLang="en-US" sz="115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Baixo débito com hipoperfusão</a:t>
            </a:r>
            <a:endParaRPr lang="en-US" sz="1150" dirty="0"/>
          </a:p>
        </p:txBody>
      </p:sp>
      <p:sp>
        <p:nvSpPr>
          <p:cNvPr id="17" name="Dobutamina (ou adrenalina no choque sépt"/>
          <p:cNvSpPr txBox="1"/>
          <p:nvPr/>
        </p:nvSpPr>
        <p:spPr>
          <a:xfrm>
            <a:off x="8062317" y="2652554"/>
            <a:ext cx="3215184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5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 (ou adrenalina no choque séptico); milrinona no VD com hipertensão pulmonar; NA se a PAM cair</a:t>
            </a:r>
            <a:endParaRPr lang="en-US" sz="1250" dirty="0"/>
          </a:p>
        </p:txBody>
      </p:sp>
      <p:sp>
        <p:nvSpPr>
          <p:cNvPr id="18" name="Cartão"/>
          <p:cNvSpPr/>
          <p:nvPr/>
        </p:nvSpPr>
        <p:spPr>
          <a:xfrm>
            <a:off x="812800" y="3476228"/>
            <a:ext cx="3437434" cy="1144587"/>
          </a:xfrm>
          <a:prstGeom prst="roundRect">
            <a:avLst>
              <a:gd name="adj" fmla="val 665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Vasoplegia persistente ou refratária"/>
          <p:cNvSpPr/>
          <p:nvPr/>
        </p:nvSpPr>
        <p:spPr>
          <a:xfrm>
            <a:off x="819150" y="3482578"/>
            <a:ext cx="3424734" cy="334963"/>
          </a:xfrm>
          <a:prstGeom prst="roundRect">
            <a:avLst>
              <a:gd name="adj" fmla="val 22749"/>
            </a:avLst>
          </a:prstGeom>
          <a:solidFill>
            <a:srgbClr val="1B2A3A"/>
          </a:solidFill>
          <a:ln/>
        </p:spPr>
        <p:txBody>
          <a:bodyPr wrap="none" lIns="114300" tIns="76200" rIns="114300" bIns="76200" rtlCol="0" anchor="ctr"/>
          <a:lstStyle/>
          <a:p>
            <a:pPr algn="ctr" indent="0" marL="0">
              <a:lnSpc>
                <a:spcPts val="1438"/>
              </a:lnSpc>
              <a:buNone/>
            </a:pPr>
            <a:r>
              <a:rPr lang="pt-BR" altLang="en-US" sz="115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 persistente ou refratária</a:t>
            </a:r>
            <a:endParaRPr lang="en-US" sz="1150" dirty="0"/>
          </a:p>
        </p:txBody>
      </p:sp>
      <p:sp>
        <p:nvSpPr>
          <p:cNvPr id="20" name="Vasopressina; no choque séptico, NA → va"/>
          <p:cNvSpPr txBox="1"/>
          <p:nvPr/>
        </p:nvSpPr>
        <p:spPr>
          <a:xfrm>
            <a:off x="933450" y="3898741"/>
            <a:ext cx="3215184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5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Vasopressina; no choque séptico, NA → vasopressina → adrenalina (SSC 2026); azul de metileno como resgate</a:t>
            </a:r>
            <a:endParaRPr lang="en-US" sz="1250" dirty="0"/>
          </a:p>
        </p:txBody>
      </p:sp>
      <p:sp>
        <p:nvSpPr>
          <p:cNvPr id="21" name="Cartão"/>
          <p:cNvSpPr/>
          <p:nvPr/>
        </p:nvSpPr>
        <p:spPr>
          <a:xfrm>
            <a:off x="4377234" y="3476228"/>
            <a:ext cx="3437434" cy="1144587"/>
          </a:xfrm>
          <a:prstGeom prst="roundRect">
            <a:avLst>
              <a:gd name="adj" fmla="val 665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Pré-carga baixa"/>
          <p:cNvSpPr/>
          <p:nvPr/>
        </p:nvSpPr>
        <p:spPr>
          <a:xfrm>
            <a:off x="4383584" y="3482578"/>
            <a:ext cx="3424734" cy="334963"/>
          </a:xfrm>
          <a:prstGeom prst="roundRect">
            <a:avLst>
              <a:gd name="adj" fmla="val 22749"/>
            </a:avLst>
          </a:prstGeom>
          <a:solidFill>
            <a:srgbClr val="1B2A3A"/>
          </a:solidFill>
          <a:ln/>
        </p:spPr>
        <p:txBody>
          <a:bodyPr wrap="none" lIns="114300" tIns="76200" rIns="114300" bIns="76200" rtlCol="0" anchor="ctr"/>
          <a:lstStyle/>
          <a:p>
            <a:pPr algn="ctr" indent="0" marL="0">
              <a:lnSpc>
                <a:spcPts val="1438"/>
              </a:lnSpc>
              <a:buNone/>
            </a:pPr>
            <a:r>
              <a:rPr lang="pt-BR" altLang="en-US" sz="115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 baixa</a:t>
            </a:r>
            <a:endParaRPr lang="en-US" sz="1150" dirty="0"/>
          </a:p>
        </p:txBody>
      </p:sp>
      <p:sp>
        <p:nvSpPr>
          <p:cNvPr id="23" name="Volume, se o débito responde"/>
          <p:cNvSpPr txBox="1"/>
          <p:nvPr/>
        </p:nvSpPr>
        <p:spPr>
          <a:xfrm>
            <a:off x="4497884" y="3898741"/>
            <a:ext cx="3215184" cy="2063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5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Volume, se o débito responde</a:t>
            </a:r>
            <a:endParaRPr lang="en-US" sz="1250" dirty="0"/>
          </a:p>
        </p:txBody>
      </p:sp>
      <p:sp>
        <p:nvSpPr>
          <p:cNvPr id="24" name="Cartão"/>
          <p:cNvSpPr/>
          <p:nvPr/>
        </p:nvSpPr>
        <p:spPr>
          <a:xfrm>
            <a:off x="7941667" y="3476228"/>
            <a:ext cx="3437434" cy="1144587"/>
          </a:xfrm>
          <a:prstGeom prst="roundRect">
            <a:avLst>
              <a:gd name="adj" fmla="val 665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5" name="Anafilaxia"/>
          <p:cNvSpPr/>
          <p:nvPr/>
        </p:nvSpPr>
        <p:spPr>
          <a:xfrm>
            <a:off x="7948017" y="3482578"/>
            <a:ext cx="3424734" cy="334963"/>
          </a:xfrm>
          <a:prstGeom prst="roundRect">
            <a:avLst>
              <a:gd name="adj" fmla="val 22749"/>
            </a:avLst>
          </a:prstGeom>
          <a:solidFill>
            <a:srgbClr val="1B2A3A"/>
          </a:solidFill>
          <a:ln/>
        </p:spPr>
        <p:txBody>
          <a:bodyPr wrap="none" lIns="114300" tIns="76200" rIns="114300" bIns="76200" rtlCol="0" anchor="ctr"/>
          <a:lstStyle/>
          <a:p>
            <a:pPr algn="ctr" indent="0" marL="0">
              <a:lnSpc>
                <a:spcPts val="1438"/>
              </a:lnSpc>
              <a:buNone/>
            </a:pPr>
            <a:r>
              <a:rPr lang="pt-BR" altLang="en-US" sz="115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Anafilaxia</a:t>
            </a:r>
            <a:endParaRPr lang="en-US" sz="1150" dirty="0"/>
          </a:p>
        </p:txBody>
      </p:sp>
      <p:sp>
        <p:nvSpPr>
          <p:cNvPr id="26" name="Adrenalina: bolus titulados; infusão apó"/>
          <p:cNvSpPr txBox="1"/>
          <p:nvPr/>
        </p:nvSpPr>
        <p:spPr>
          <a:xfrm>
            <a:off x="8062317" y="3898741"/>
            <a:ext cx="3215184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5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Adrenalina: bolus titulados; infusão após mais de três bolus</a:t>
            </a:r>
            <a:endParaRPr lang="en-US" sz="1250" dirty="0"/>
          </a:p>
        </p:txBody>
      </p:sp>
      <p:sp>
        <p:nvSpPr>
          <p:cNvPr id="27" name="A droga certa corrige o componente da PA"/>
          <p:cNvSpPr txBox="1"/>
          <p:nvPr/>
        </p:nvSpPr>
        <p:spPr>
          <a:xfrm>
            <a:off x="803275" y="4790805"/>
            <a:ext cx="10585450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50"/>
              </a:lnSpc>
              <a:buNone/>
            </a:pPr>
            <a:r>
              <a:rPr lang="pt-BR" altLang="en-US" sz="15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droga certa corrige o componente da PAM que falha, na menor dose eficaz e pelo menor tempo.</a:t>
            </a:r>
            <a:endParaRPr lang="en-US" sz="1500" dirty="0"/>
          </a:p>
        </p:txBody>
      </p:sp>
      <p:sp>
        <p:nvSpPr>
          <p:cNvPr id="28" name="SSC 2026 · Hajjar, Anesthesiology 2017 (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Hajjar, Anesthesiology 2017 (VANCS) · Miller’s Anesthesia, 10ª ed. (2025), cap. 16, 33, 56, 79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SSÃO CLÍNICA · ANESTESIOLOGIA"/>
          <p:cNvSpPr txBox="1"/>
          <p:nvPr/>
        </p:nvSpPr>
        <p:spPr>
          <a:xfrm>
            <a:off x="812800" y="2251802"/>
            <a:ext cx="63690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5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CLÍNICA · ANESTESIOLOGIA</a:t>
            </a:r>
            <a:endParaRPr lang="en-US" sz="14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2792781"/>
            <a:ext cx="65024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pt-BR" alt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Obrigado</a:t>
            </a:r>
            <a:endParaRPr lang="en-US" sz="5600" dirty="0"/>
          </a:p>
        </p:txBody>
      </p:sp>
      <p:sp>
        <p:nvSpPr>
          <p:cNvPr id="4" name="As referências completas da aula estão n"/>
          <p:cNvSpPr txBox="1"/>
          <p:nvPr/>
        </p:nvSpPr>
        <p:spPr>
          <a:xfrm>
            <a:off x="812800" y="3751375"/>
            <a:ext cx="5734050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pt-BR" altLang="en-US" sz="18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referências completas da aula estão no QR code.</a:t>
            </a:r>
            <a:endParaRPr lang="en-US" sz="1800" dirty="0"/>
          </a:p>
        </p:txBody>
      </p:sp>
      <p:sp>
        <p:nvSpPr>
          <p:cNvPr id="5" name="Bruno Dubois · Orientadores: Marcelo Ban"/>
          <p:cNvSpPr txBox="1"/>
          <p:nvPr/>
        </p:nvSpPr>
        <p:spPr>
          <a:xfrm>
            <a:off x="812800" y="4329343"/>
            <a:ext cx="63690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Dubois · Orientadores: Marcelo Bandeira e Glauber Gouvêa · UFRJ</a:t>
            </a:r>
            <a:endParaRPr lang="en-US" sz="1400" dirty="0"/>
          </a:p>
        </p:txBody>
      </p:sp>
      <p:sp>
        <p:nvSpPr>
          <p:cNvPr id="6" name="Cartão"/>
          <p:cNvSpPr/>
          <p:nvPr/>
        </p:nvSpPr>
        <p:spPr>
          <a:xfrm>
            <a:off x="8280400" y="1687810"/>
            <a:ext cx="3098800" cy="3098800"/>
          </a:xfrm>
          <a:prstGeom prst="roundRect">
            <a:avLst>
              <a:gd name="adj" fmla="val 3279"/>
            </a:avLst>
          </a:prstGeom>
          <a:solidFill>
            <a:srgbClr val="F5F3EE"/>
          </a:solidFill>
          <a:ln/>
        </p:spPr>
      </p:sp>
      <p:pic>
        <p:nvPicPr>
          <p:cNvPr id="7" name="QR code com o link da lista de referências" descr="QR code com o link da lista de referênci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2800" y="1840210"/>
            <a:ext cx="2794000" cy="2794000"/>
          </a:xfrm>
          <a:prstGeom prst="rect">
            <a:avLst/>
          </a:prstGeom>
        </p:spPr>
      </p:pic>
      <p:sp>
        <p:nvSpPr>
          <p:cNvPr id="8" name="REFERÊNCIAS"/>
          <p:cNvSpPr txBox="1"/>
          <p:nvPr/>
        </p:nvSpPr>
        <p:spPr>
          <a:xfrm>
            <a:off x="9299178" y="4926050"/>
            <a:ext cx="1080294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</a:t>
            </a:r>
            <a:endParaRPr lang="en-US" sz="1300" dirty="0"/>
          </a:p>
        </p:txBody>
      </p:sp>
      <p:pic>
        <p:nvPicPr>
          <p:cNvPr id="9" name="Símbolo da UFRJ" descr="Símbolo da UFRJ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Aminas Vasoativas">
      <a:dk1>
        <a:srgbClr val="1B2A3A"/>
      </a:dk1>
      <a:lt1>
        <a:srgbClr val="FFFDF8"/>
      </a:lt1>
      <a:dk2>
        <a:srgbClr val="2C3A48"/>
      </a:dk2>
      <a:lt2>
        <a:srgbClr val="F5F3EE"/>
      </a:lt2>
      <a:accent1>
        <a:srgbClr val="B9581A"/>
      </a:accent1>
      <a:accent2>
        <a:srgbClr val="2E5E8C"/>
      </a:accent2>
      <a:accent3>
        <a:srgbClr val="56606B"/>
      </a:accent3>
      <a:accent4>
        <a:srgbClr val="E49A5C"/>
      </a:accent4>
      <a:accent5>
        <a:srgbClr val="33475E"/>
      </a:accent5>
      <a:accent6>
        <a:srgbClr val="E2DDD2"/>
      </a:accent6>
      <a:hlink>
        <a:srgbClr val="2E5E8C"/>
      </a:hlink>
      <a:folHlink>
        <a:srgbClr val="56606B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Georgia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Aminas Vasoativas</dc:title>
  <dc:subject>Sessão clínica</dc:subject>
  <dc:creator>Bruno Dubois</dc:creator>
  <cp:lastModifiedBy>Bruno Dubois</cp:lastModifiedBy>
  <cp:revision>1</cp:revision>
  <dcterms:created xsi:type="dcterms:W3CDTF">2026-10-22T15:59:33Z</dcterms:created>
  <dcterms:modified xsi:type="dcterms:W3CDTF">2026-10-22T15:59:33Z</dcterms:modified>
</cp:coreProperties>
</file>