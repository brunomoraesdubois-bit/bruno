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a41f6108-12ea-6674-087b-a21f223562fc}">
          <p14:sldIdLst>
            <p14:sldId id="256"/>
            <p14:sldId id="257"/>
          </p14:sldIdLst>
        </p14:section>
        <p14:section name="Fisiologia: pressão, débito e perfusão; farmacologia dos receptores" id="{a60ab893-0721-d7f7-0fab-157c28db514a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36aa2180-9acd-46bb-404a-8c6cf9c78dd0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f4befc14-0666-ef14-747e-7738c6e212f8}">
          <p14:sldIdLst>
            <p14:sldId id="270"/>
          </p14:sldIdLst>
        </p14:section>
        <p14:section name="Perioperatório: escolha da droga e alvo de pressão" id="{bbadc911-b349-723e-f26f-4db1effbffa2}">
          <p14:sldIdLst>
            <p14:sldId id="271"/>
            <p14:sldId id="272"/>
          </p14:sldIdLst>
        </p14:section>
        <p14:section name="Mensagens finais" id="{bb1a1a19-b608-507a-b9d0-b84dc886354e}">
          <p14:sldIdLst>
            <p14:sldId id="273"/>
          </p14:sldIdLst>
        </p14:section>
        <p14:section name="Slides de reserva para perguntas" id="{fcacc73d-32fa-75ee-35bb-780b1c14bb4a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s (0:00 → 0:20). Total previsto: 16 min 20 s nos 18 slides principais; ensaiar em 16 a 17 minutos, sem passar de 20.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  <a:p>
            <a:r>
              <a:rPr lang="en-US" dirty="0"/>
              <a:t>FALA: Bom dia. Sou Bruno Dubois; meus orientadores são Marcelo Bandeira e Glauber Gouvea.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Para responder, o objetivo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 (0:20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Primeiro, de que depende 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FALA: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(1:50 → 2:50)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FALA: Pressão não é fluxo: como a PAM depende do débito e da resistência, uma resistência alta pode manter a PAM com o débito baixo. Por isso, a decisão de usar inotrópico depende de sinais de hipoperfusão e de uma estimativa do débito, e não só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com um teste de volume medindo o débito; o eco mostra o VTI e a função dos dois ventrículos. O inverso também vale: aumentar o débito com uma droga não é o mesmo que melhorar o desfecho. No OPTIME-CHF, a milrinona usada sem indicação clara não trouxe benefício e aumentou hipotensão e arritmia.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SE PERGUNTAREM: num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45 s (2:50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 (3:35 → 4:05)</a:t>
            </a:r>
            <a:endParaRPr lang="en-US" dirty="0"/>
          </a:p>
          <a:p>
            <a:r>
              <a:rPr lang="en-US" dirty="0"/>
              <a:t>PONTO-CHAVE: Catecolamina: infusão titulável. Não catecolamina: bolus.</a:t>
            </a:r>
            <a:endParaRPr lang="en-US" dirty="0"/>
          </a:p>
          <a:p>
            <a:r>
              <a:rPr lang="en-US" dirty="0"/>
              <a:t>FALA: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15 s (4:05 → 5:20)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(5:20 → 6:20)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Agora os dois inotrópicos clássicos.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(6:20 → 7:20)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  <a:p>
            <a:r>
              <a:rPr lang="en-US" dirty="0"/>
              <a:t>FALA: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 Em seguida, o mecanismo que separa a dobutamina da milrinona.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15 s (7:20 → 8:35)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FALA: Este é o mecanismo que separa as duas drogas. A dobutamina estimula o receptor β1; pela proteína Gs, a adenilato ciclase produz AMPc, que ativa a PKA. A PKA fosforila três alvos: o canal de cálcio tipo L e o RyR2, o que aumenta o cálcio na sístole, ou seja, inotropismo; e o fosfolambam, que deixa de inibir a SERCA2a e acelera a recaptação do cálcio na diástole: lusitropismo. A milrinona entra em outro ponto: inibe a PDE3, a enzima que degrada o AMPc em 5′-AMP. Ela não depende da ativação do receptor β, mas precisa de algum AMPc sendo produzido para ter o que preservar.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45 s (8:35 → 9:20)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15 s (9:20 → 10:35)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rápido. Na prática, três perguntas antes de escolher: havia baixo débito com hipoperfusão? Havia disfunção de VD ou hipertensão pulmonar? A hipotensão era vasoplegia?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de 0,69 a 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(10:35 → 11:35)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  <a:p>
            <a:r>
              <a:rPr lang="en-US" dirty="0"/>
              <a:t>FALA: Fenilefrina: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(11:35 → 12:35)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quem usa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(12:35 → 13:35)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FALA: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15 s (13:35 → 14:50)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FALA: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Bolus na hipotensão transitória e infusão na persistente. Na cesárea, metanálises recentes mostram menos bradicardia materna com noradrenalina e pH umbilical semelhante ao da fenilefrina. Na anafilaxia, adrenalina. Um dado da casa: Gouvêa, Diaz e colaboradores avaliaram o VD por ETE em 19 transplantes hepáticos, e a função foi normal em todas as fases, inclusive após a reperfusão (PLoS One 2022). Na hipotensão da reperfusão, o eco ajuda a separar vasoplegia de disfunção ventricular antes de escolher entre vasopressor e inotrópico.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SE PERGUNTAREM: Gouvêa G, Feiner J, Joshi S, Diaz R et al., PLoS One 2022;17(10):e0275301: estudo observacional, 19 adultos, TAPSE e variação fracional de área do VD em cinco fases (basal, hepatectomia, anepática, pós-reperfusão e fechamento); função do VD normal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45 s (14:50 → 15:35)</a:t>
            </a:r>
            <a:endParaRPr lang="en-US" dirty="0"/>
          </a:p>
          <a:p>
            <a:r>
              <a:rPr lang="en-US" dirty="0"/>
              <a:t>PONTO-CHAVE: PAM de 60–65 mmHg como piso; alvo maior só em selecionados.</a:t>
            </a:r>
            <a:endParaRPr lang="en-US" dirty="0"/>
          </a:p>
          <a:p>
            <a:r>
              <a:rPr lang="en-US" dirty="0"/>
              <a:t>FALA: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deve ser maior. No HISTAP, PAM ≥80 beneficiou hipertensos de alto risco, mas os ensaios divergem.</a:t>
            </a:r>
            <a:endParaRPr lang="en-US" dirty="0"/>
          </a:p>
          <a:p>
            <a:r>
              <a:rPr lang="en-US" dirty="0"/>
              <a:t>TRANSIÇÃO: Para fechar.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45 s (15:35 → 16:20)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bradicardia pede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as drogas com α1 alto elevam a RVS (noradrenalina, fenilefrina); as com β1 alto elevam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à bradicardia refratária e à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associar vasopressor quando necessário para sustentar a pressão de perfusão. DOREMI (n = 192): mortalidade hospitalar de 43% vs. 37% com milrinona, sem diferença significativa. A SSC 2026 não encontrou dados suficientes para comparar dobutamina e milrinona e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cada vez mais usada, com melhor preservação do DC materno e desfechos neonatais comparáveis. Os números da comparação em bolus são do ensaio de Sharkey (Anesth Analg 2019), citado na revisão de Park e Choi.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Embora não seja amina, é o principal adjuvante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terapia renal substitutiva,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choque que não responde à noradrenalina, associam-se drogas de mecanismos diferentes em vez de aumentar indefinidamente a dose da mesma droga. ATHOS-3 (n = 344): mortalidade em 28 dias de 46% vs. 53,8% (NS). Azul de metileno: na enquete com os painelistas da SSC 2026, 69% nunca ou quase nunca o usam como resgate.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pela noradrenalina em relação à vasopressina e à angiotensina II passou a ser sugestão (condicional); mantém-se a sugestão, já presente em 2021, de iniciar o vasopressor por via periférica em vez de esperar o acesso central;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razão de chances (OR)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corresponde ao dobro do valor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visava PAM ≥80, sem redução de eventos vasculares. IMPROVE-multi: o alvo individualizado não foi melhor que PAM ≥65 (RR 1,10; IC 95% 0,93–1,30).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Na prática, evitar PAM abaixo de 60–65 mmHg é consenso; elevar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reserva, para perguntas sobre milrinona no VD. Na falência de VD, quatro frentes andam juntas: pressão de perfusão (o VD fica isquêmico quando a PAM cai: noradrenalina ou vasopressina); resistência pulmonar (corrigir hipóxia, hipercapnia e acidose, ajustar a ventilação, vasodilatador pulmonar inalado); contratilidade (milrinona, que também reduz a RVP, ou dobutamina; adrenalina se o choque for grave); volume e ritmo (o VD dilatado tolera mal mais volume; manter ritmo sinusal e sincronia AV; se falhar, assistência mecânica). A milrinona, sozinha, não trata toda hipertensão pulmonar e pode baixar 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Miller’s Anesthesia, 10ª ed.: Gropper MA, Cohen NH, Eriksson LI, Fleisher LA, Johnson-Akeju O, Leslie K (eds.), Elsevier, 2025; capítulos e páginas a acrescentar quando o sumário estiver disponível. Tongyoo et al., milrinona vs. placebo no choque séptico: Ann Med 2025;57(1):2484464.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DOREMI: N Engl J Med 2021;385(6):516–525. Di Santo et al., subanálise do DOREMI por uso de betabloqueador: Crit Care 2021;25:289. OPTIME-CHF: JAMA 2002;287(12):1541–1547. VANCS: Anesthesiology 2017;126(1):85–93. CAT: Intensive Care Med 2008;34:2226–2234. VANISH: JAMA 2016;316(5):509–518. Salmasi: Anesthesiology 2017;126(1):47–65. Sharkey: Anesth Analg 2019;129(5):1312–1318. Cecconi et al., consenso da ESICM sobre choque circulatório: Intensive Care Med 2014;40:1795–1815. Konstam et al., declaração da AHA sobre insuficiência cardíaca direita: Circulation 2018;137(20):e578–e622. Zaccolo e Kovanich, sinalização do AMPc em nanodomínios: Physiol Rev 2025;105(2):541–591. Liu et al., Rad e estimulação adrenérgica do CaV1.2: Nature 2020;577:695–700. Gouvêa G, Feiner J, Joshi S, Diaz R, et al., função do VD no transplante hepático por ETE: PLoS One 2022;17(10):e0275301.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2,5–20 mcg/kg/min;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titular rápido;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ao ETE, a f"/>
          <p:cNvSpPr txBox="1"/>
          <p:nvPr/>
        </p:nvSpPr>
        <p:spPr>
          <a:xfrm>
            <a:off x="812800" y="5325604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ETE, a função do VD foi normal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1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Falência de VD"/>
          <p:cNvSpPr/>
          <p:nvPr/>
        </p:nvSpPr>
        <p:spPr>
          <a:xfrm>
            <a:off x="6953250" y="4391521"/>
            <a:ext cx="144194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</a:t>
            </a:r>
            <a:endParaRPr lang="en-US" sz="1400" dirty="0"/>
          </a:p>
        </p:txBody>
      </p:sp>
      <p:sp>
        <p:nvSpPr>
          <p:cNvPr id="17" name="Roteiro"/>
          <p:cNvSpPr/>
          <p:nvPr/>
        </p:nvSpPr>
        <p:spPr>
          <a:xfrm>
            <a:off x="8496796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8" name="Referências"/>
          <p:cNvSpPr/>
          <p:nvPr/>
        </p:nvSpPr>
        <p:spPr>
          <a:xfrm>
            <a:off x="9503370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25–50 mcg/min,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só houve benefício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, ou vasopressina, para man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Noradrenalina,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 e reduz a RVP; associar norad"/>
          <p:cNvSpPr txBox="1"/>
          <p:nvPr/>
        </p:nvSpPr>
        <p:spPr>
          <a:xfrm>
            <a:off x="2846586" y="4430943"/>
            <a:ext cx="82976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 e reduz a RVP; associar noradrenalina, porque pode baixar a PAM. Com débito preservado, a hipotensão é vasoplegia e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Ibarra-Estrada · NA base vs. sal · Inten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2026-10-18T20:46:41Z</dcterms:created>
  <dcterms:modified xsi:type="dcterms:W3CDTF">2026-10-18T20:46:41Z</dcterms:modified>
</cp:coreProperties>
</file>