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b90f380d-08a3-ae56-a4b4-f2cccf954ed0}">
          <p14:sldIdLst>
            <p14:sldId id="256"/>
            <p14:sldId id="257"/>
          </p14:sldIdLst>
        </p14:section>
        <p14:section name="01 · Fisiologia: pressão, débito e perfusão" id="{4498e64d-716b-1cd3-a02f-095d93908135}">
          <p14:sldIdLst>
            <p14:sldId id="258"/>
            <p14:sldId id="259"/>
          </p14:sldIdLst>
        </p14:section>
        <p14:section name="02 · Receptores e vias de sinalização" id="{2b2c0293-5fa5-c29d-887f-f629b9ea533a}">
          <p14:sldIdLst>
            <p14:sldId id="260"/>
          </p14:sldIdLst>
        </p14:section>
        <p14:section name="03 · Drogas: noradrenalina, adrenalina, dobutamina (e dopamina), milrinona (escolha e falência de VD), fenilefrina e efedrina" id="{259c265f-f2b9-bc7c-cd44-c195f220f648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04 · Além das aminas: vasopressina e adjuvantes" id="{c21ba856-67ee-5b70-d284-0bce4ef5cd32}">
          <p14:sldIdLst>
            <p14:sldId id="269"/>
          </p14:sldIdLst>
        </p14:section>
        <p14:section name="05 · Choque séptico: a sequência da SSC 2026" id="{3113ea02-01c6-ade7-e0aa-469e6acaecee}">
          <p14:sldIdLst>
            <p14:sldId id="270"/>
          </p14:sldIdLst>
        </p14:section>
        <p14:section name="06 · Perioperatório: escolha da droga e alvo de pressão" id="{94bc0ca9-f5fe-5aac-fd1a-91d3e20cf5ff}">
          <p14:sldIdLst>
            <p14:sldId id="271"/>
            <p14:sldId id="272"/>
          </p14:sldIdLst>
        </p14:section>
        <p14:section name="07 · Mensagens finais e encerramento" id="{00f9b5c1-f8b6-a41d-3474-c0674c43b3ed}">
          <p14:sldIdLst>
            <p14:sldId id="273"/>
            <p14:sldId id="274"/>
          </p14:sldIdLst>
        </p14:section>
        <p14:section name="Slides ocultos de reserva para perguntas (não aparecem na apresentação)" id="{8ce2b032-87bf-6326-4063-c3ae936e4207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TRANSIÇÃO: Começo pelos objetivos.</a:t>
            </a:r>
            <a:endParaRPr lang="en-US" dirty="0"/>
          </a:p>
          <a:p>
            <a:r>
              <a:rPr lang="en-US" dirty="0"/>
              <a:t>TEMPO: 25 s (0:00 → 0:25). Total previsto: 15 min 00 s nos 19 slides principais; ensaiar mirando 15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▸ Distinguir vasoplegia, falência de bomba e pré-carga baixa. ▸ Ligar o perfil de receptores de cada droga ao seu efeito hemodinâmico. ▸ Conhecer doses e cuidados, e quando preferir milrinona ou dobutamina. ▸ Aplicar isso no choque séptico e no centro cirúrgico. ▸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(0:25 → 0:55)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é o produto do débito cardíaco pela resistência vascular sistêmica, somado à pressão venosa central, que pesa quando está alta, porque reduz a pressão de perfusão. ▸ Na vasoplegia o problema é o tônus arterial: sepse, anestesia geral, bloqueio de neuroeixo, anafilaxia, saída de CEC; as causas anestésicas e a anafilaxia somam venodilatação. ▸ Na falência de bomba o débito é baixo, em geral com resistência alta; na sepse, a disfunção miocárdica pode coexistir com vasoplegia. ▸ Na pré-carga baixa, a hipovolemia pede volume; e o α1 também contrai veias, recruta volume não estressado e aumenta o retorno venoso: Persichini, em 16 pacientes com choque séptico, reduziu a noradrenalina e viu caírem a pressão sistêmica média e o retorno venoso. ▸ Para diferenciar: eco precoce, parâmetros dinâmicos e perfusão seriada.</a:t>
            </a:r>
            <a:endParaRPr lang="en-US" dirty="0"/>
          </a:p>
          <a:p>
            <a:r>
              <a:rPr lang="en-US" dirty="0"/>
              <a:t>TRANSIÇÃO: Mas uma PAM normal não basta.</a:t>
            </a:r>
            <a:endParaRPr lang="en-US" dirty="0"/>
          </a:p>
          <a:p>
            <a:r>
              <a:rPr lang="en-US" dirty="0"/>
              <a:t>TEMPO: 1 min (0:55 → 1:55)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débito baixo. Por isso a decisão de usar inotrópico depende de sinais de hipoperfusão e de uma estimativa do débito. ▸ Os sinais estão no slide. ▸ Antes da droga, perguntar se o débito responde a volume; o eco mostra o VTI e a função dos ventrículos. ▸ E a ressalva oposta: aumentar o débito com a droga não é melhorar o desfecho; é a lição dos ensaios com inotrópico em quem não tinha indicação.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45 s (1:55 → 2:40)</a:t>
            </a:r>
            <a:endParaRPr lang="en-US" dirty="0"/>
          </a:p>
          <a:p>
            <a:r>
              <a:rPr lang="en-US" dirty="0"/>
              <a:t>PONTO-CHAVE: Inotrópico se decide por hipoperfusão e débito, não apenas pela pressão.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de 2025 (Tongyoo, Ann Med;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α2, pré-sináptico, reduz a liberação de noradrenalina e, pós-sináptico no vaso, também contrai. ▸ β1 aumenta contratilidade e frequência; β2 dilata vasos e brônquios e eleva glicemia e lactato. ▸ D1 dilata os leitos renal e mesentérico. ▸ V1 e PDE3 entram na tabela porque vasopressina e milrinona não dependem do adrenoceptor. ▸ Dois pontos práticos: as catecolaminas têm meia-vida de minutos, o que favorece a infusão contínua; fenilefrina e efedrina, sem o anel catecol, duram mais e costumam ir em bolus. E, com uso prolongado, os adrenoceptores se dessensibilizam, um dos fundamentos para associar uma droga de outra via.</a:t>
            </a:r>
            <a:endParaRPr lang="en-US" dirty="0"/>
          </a:p>
          <a:p>
            <a:r>
              <a:rPr lang="en-US" dirty="0"/>
              <a:t>TRANSIÇÃO: Começo pela noradrenalina.</a:t>
            </a:r>
            <a:endParaRPr lang="en-US" dirty="0"/>
          </a:p>
          <a:p>
            <a:r>
              <a:rPr lang="en-US" dirty="0"/>
              <a:t>TEMPO: 50 s (2:40 → 3:30)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O α2 pós-sináptico vascular explica a hipertensão transitória do bolus de dexmedetomidina ou clonidina.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séptico, com ação α1 potente e β1 modesta: ▸ sobe a PAM pela resistência e pela venoconstrição, com débito em geral mantido, podendo cair pela pós-carga, e frequência estável ou menor, por reflexo. ▸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(3:30 → 4:10)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não há vasodilatação e o lactato sobe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▸ O efeito depende da dose: em dose baixa predominam β1 e β2, com débito alto e resistência que pode cair; em dose alta prevalece o α1. É a droga da anafilaxia e, no choque séptico, a terceira droga. ▸ Na anafilaxia em ambiente monitorizado, bolus endovenosos titulados, conforme a diretriz australiana e neozelandesa (ANZCA/ANZAAG 2022); se forem necessários mais de três bolus, infusão; sem acesso venoso, 0,5 mg intramuscular. O lactato pode subir por efeito β2, e isso não autoriza ignorar hipoperfusão.</a:t>
            </a:r>
            <a:endParaRPr lang="en-US" dirty="0"/>
          </a:p>
          <a:p>
            <a:r>
              <a:rPr lang="en-US" dirty="0"/>
              <a:t>TRANSIÇÃO: Passando à dobutamina e, em uma frase, à dopamina.</a:t>
            </a:r>
            <a:endParaRPr lang="en-US" dirty="0"/>
          </a:p>
          <a:p>
            <a:r>
              <a:rPr lang="en-US" dirty="0"/>
              <a:t>TEMPO: 45 s (4:10 → 4:55)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▸ Indicada no baixo débito com hipoperfusão, de 2,5 a 20 microgramas por quilo por minuto; se a PAM cair, associar vasopressor; taquicardia e arritmia limitam a dose. ▸ Sobre a dopamina, uma frase apenas: efeito dose-dependente e pouco previsível, de D1 a α1, com mais arritmia que a noradrenalina; a SSC 2026 recomenda contra o uso como primeira linha, e hoje o uso é residual.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  <a:p>
            <a:r>
              <a:rPr lang="en-US" dirty="0"/>
              <a:t>TEMPO: 45 s (4:55 → 5:40)</a:t>
            </a:r>
            <a:endParaRPr lang="en-US" dirty="0"/>
          </a:p>
          <a:p>
            <a:r>
              <a:rPr lang="en-US" dirty="0"/>
              <a:t>PONTO-CHAVE: Dobutamina para baixo débito com hipoperfusão; dopamina fora da primeira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estimula o receptor β1; pela proteína Gs, a adenilato ciclase produz AMPc, que ativa a PKA. A PKA aumenta a entrada de cálcio pelo canal tipo L, que dispara a liberação pelo RyR2 do retículo, com mais cálcio na sístole; e fosforila o fosfolambam, que deixa de inibir a SERCA2a: a recaptação acelera, o que relaxa mais rápido e carrega mais o retículo para a sístole seguinte. ▸ A milrinona inibe a PDE3, a enzima que degrada o AMPc: não depende do receptor β, mas precisa de alguma produção de AMPc; por isso mantém efeito com betabloqueio, embora isso seja fundamento farmacológico, não benefício demonstrado. No músculo liso vascular, a mesma via inibe a quinase da cadeia leve da miosina e o vaso relaxa: a milrinona é inodilatadora e pode baixar a PAM.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TEMPO: 1 min 5 s (5:40 → 6:45)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 O cálcio que entra pelo canal L é o gatilho da liberação pelo RyR2 (liberação induzida por cálcio), e a maior parte do cálcio da sístole vem do retículo; a fosforilação do fosfolambam, ao acelerar a SERCA2a, também aumenta a carga de cálcio do retículo. A contribuição funcional da fosforilação do RyR2 pela PKA ainda é debatida; por isso a figura não desenha seta da PKA para o RyR2 e mostra apenas os dois alvos bem estabelecidos, o canal tipo L e o fosfolambam.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é um inodilatador: aumenta contratilidade e relaxamento e reduz as resistências sistêmica e pulmonar. ▸ A indicação é a disfunção ventricular com baixo débito que exige inotrópico, incluindo a saída difícil de CEC. ▸ Dose: ataque de 50 microgramas por quilo em 10 minutos, muitas vezes omitido, e manutenção de 0,375 a 0,75 microgramas por quilo por minuto. Por ser vasodilatadora, costuma exigir noradrenalina; tem eliminação renal e meia-vida bem mais longa que a da dobutamina, e acumula na insuficiência renal.</a:t>
            </a:r>
            <a:endParaRPr lang="en-US" dirty="0"/>
          </a:p>
          <a:p>
            <a:r>
              <a:rPr lang="en-US" dirty="0"/>
              <a:t>TRANSIÇÃO: E a pergunta prática que motivou a aula: quando escolher cada uma?</a:t>
            </a:r>
            <a:endParaRPr lang="en-US" dirty="0"/>
          </a:p>
          <a:p>
            <a:r>
              <a:rPr lang="en-US" dirty="0"/>
              <a:t>TEMPO: 45 s (6:45 → 7:30)</a:t>
            </a:r>
            <a:endParaRPr lang="en-US" dirty="0"/>
          </a:p>
          <a:p>
            <a:r>
              <a:rPr lang="en-US" dirty="0"/>
              <a:t>PONTO-CHAVE: Inodilatador pós-receptor β para a disfunção ventricular com baixo débito;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▸ Primeiro, a indicação: inotrópico quando há disfunção ventricular com baixo débito e hipoperfusão, depois de otimizar volume e PAM. Se a hipotensão é por vasoplegia, a droga é o vasopressor; um inodilatador baixa ainda mais a pressão. ▸ A tabela resume os perfis esperados: meia-vida, circulação pulmonar, frequência e pressão, e resposta com betabloqueador. O ensaio de referência é o DOREMI: 192 pacientes com choque cardiogênico, randomizados, em duplo-cego, para milrinona ou dobutamina. O desfecho composto de morte, parada cardíaca revertida, transplante ou suporte circulatório mecânico, infarto, AVC ou diálise ocorreu em 49% com milrinona e 54% com dobutamina, sem diferença estatisticamente significativa; arritmia, hipotensão e necessidade de vasopressor também não diferiram; nos 93 pacientes betabloqueados, a milrinona não teve vantagem. Isso não comprova equivalência, mas a escolha fica farmacológica. ▸ Milrinona no VD com hipertensão pulmonar, como na saída de CEC, e quando taquicardia ou betabloqueio limitam a dobutamina. ▸ Dobutamina se houver hipotensão associada, insuficiência renal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20 s (7:30 → 8:50)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demonstrada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frentes. ▸ Pressão de perfusão: o VD pode ficar isquêmico quando a PAM cai; noradrenalina e, se houver vasoplegia, vasopressina. ▸ Resistência pulmonar: corrigir hipóxia, hipercapnia e acidose; se preciso, vasodilatador inalado. ▸ Contratilidade: a milrinona faz sentido porque é inotrópica e reduz a resistência pulmonar; a dobutamina é alternativa; adrenalina no choque grave. ▸ Volume e ritmo: o VD dilatado tolera mal a sobrecarga de volume. ▸ A milrinona não substitui o diagnóstico: com débito preservado e resistência baixa, pensar em vasoplegia, e nesse caso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50 s (8:50 → 9:40)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direto, praticamente sem ação β; a PAM sobe pela resistência e a frequência cai por reflexo. ▸ Em bolus de 50 a 100 microgramas, é útil quando a taquicardia é indesejável, mas pode reduzir o débito quando ele depende da frequência; na cesárea, o consenso de 2018 recomenda vasopressor α-agonista em infusão profilática. ▸ Efedrina: α1 e β1 moderados; sobe pressão, frequência e débito. ▸ Ação mista, direta e indireta, liberando noradrenalina: bolus de 5 a 10 mg na hipotensão com bradicardia; perde efeito com doses repetidas e, na cesárea, associa-se a mais acidose fetal.</a:t>
            </a:r>
            <a:endParaRPr lang="en-US" dirty="0"/>
          </a:p>
          <a:p>
            <a:r>
              <a:rPr lang="en-US" dirty="0"/>
              <a:t>TRANSIÇÃO: E quando a via adrenérgica não basta?</a:t>
            </a:r>
            <a:endParaRPr lang="en-US" dirty="0"/>
          </a:p>
          <a:p>
            <a:r>
              <a:rPr lang="en-US" dirty="0"/>
              <a:t>TEMPO: 50 s (9:40 → 10:30)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do hormônio endógeno. Dose fixa, em geral 0,03 unidades por minuto. Indicações: choque séptico com noradrenalina em escalada, vasoplegia após CEC e hipotensão refratária com IECA ou BRA. Riscos: isquemia digital e mesentérica. Antes de somar drogas, corrigir causas tratáveis. ▸ Adjuvantes: a hidrocortisona restaura a resposta às catecolaminas, 200 mg por dia; ▸ a angiotensina II poupa catecolamina, mas é pouco disponível; ▸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45 s (10:30 → 11:15)</a:t>
            </a:r>
            <a:endParaRPr lang="en-US" dirty="0"/>
          </a:p>
          <a:p>
            <a:r>
              <a:rPr lang="en-US" dirty="0"/>
              <a:t>PONTO-CHAVE: Vasopressina age por outra via (V1) e poupa catecolamina; no refratário, somar mecanismos: hidrocortisona, angiotensina II e azul de metileno.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▸ Noradrenalina primeiro, cedo, mesmo por veia periférica. ▸ Vasopressina quando a dose de noradrenalina sobe, sem limiar definido. ▸ Adrenalina se a PAM continuar inadequada. ▸ Alvo inicial de 65 mmHg, ou 60 a 65 a partir dos 65 anos. Sobre o momento da vasopressina, o VASSPR, de outubro de 2026: 3.959 pacientes com choque séptico, em 13 hospitais que alternaram, por sorteio, iniciá-la com 0,1 ou com 0,4 microgramas por quilo por minuto de noradrenalina ou equivalente; mortalidade semelhante, 31,8 contra 33,0%. ▸ Na disfunção cardíaca com hipoperfusão, dobutamina com noradrenalina, ou adrenalina; hidrocortisona sugerida.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50 s (11:15 → 12:05)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profundo, hipovolemia, compressão aortocava, pneumotórax e anafilaxia, que pede adrenalina. Se persistir, avaliar a resposta a volume e fazer eco. A escolha segue o mecanismo: ▸ tônus baixo com frequência normal ou alta pede agonista α1; ▸ bradicardia associada pede ação β1, efedrina ou, se grave, adrenalina; ▸ baixo débito pede inotrópico, e a milrinona ajuda no VD com hipertensão pulmonar; ▸ vasoplegia refratária às catecolaminas, como após CEC, com IECA ou BRA ou na reperfusão do enxerto hepático, pode responder à vasopressina, com azul de metileno como resgate; ▸ e pré-carga baixa pede volume, não amina. ▸ Um dado do nosso serviço: Gouvêa, Diaz e colaboradores avaliaram por ETE o VD de 19 pacientes selecionados em cinco momentos do transplante hepático; TAPSE e variação fracional de área permaneceram normais, inclusive após a reperfusão. Mais um motivo para identificar o mecanismo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10 s (12:05 → 13:15)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nas cinco fases; excluídos hipertensão portopulmonar, síndrome hepatopulmonar, doença cardiopulmonar e insuficiência hepática fulminante. População selecionada: o estudo não permite concluir que toda hipotensão na reperfusão seja vasoplegia. TAPSE e variação fracional de área dependem da carga, e o TAPSE mede apenas a excursão longitudinal do anel lateral; normais sob anestesia, com pós-carga baixa, afastam disfunção sistólica evidente nos momentos avaliados, não medem reserva contrátil.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hipotensão intraoperatória, mesmo breve, associa-se a lesão renal aguda, lesão miocárdica, delirium e mortalidade: é a mensagem do editorial de Lineburger e colaboradores, com Rodrigo Diaz entre os autores. ▸ O POQI 2024 trata PAM de 60 em pacientes de risco como limite mínimo; com pressão venosa ou compartimental alta, o alvo sobe. ▸ Acima do piso, o ensaio positivo mais recente é o HISTAP: 630 hipertensos com 60 anos ou mais, em cirurgia abdominal maior, randomizados para PAM de pelo menos 80 ou de pelo menos 65; morte ou disfunção orgânica em 38 contra 49%, sobretudo por menos lesão renal aguda. Outros ensaios, como o POISE-3 e o IMPROVE-multi, foram neutros. ▸ Daí a proposta: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as mensagens da aula.</a:t>
            </a:r>
            <a:endParaRPr lang="en-US" dirty="0"/>
          </a:p>
          <a:p>
            <a:r>
              <a:rPr lang="en-US" dirty="0"/>
              <a:t>TEMPO: 1 min (13:15 → 14:15)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▸ Vasoplegia: noradrenalina e, quando a dose sobe, vasopressina. ▸ Baixo débito com hipoperfusão: inotrópico, com a milrinona sobretudo no VD com hipertensão pulmonar. ▸ Hipotensão anestésica com bradicardia: efedrina. ▸ Com taquicardia: fenilefrina. ▸ Anafilaxia: adrenalina. ▸ No intraoperatório, tratar cedo, com PAM mínima de 60 a 65.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35 s (14:15 → 14:50)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(14:50 → 15:00)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Deixei material de apoio em slides ocultos: a classificação das drogas e a síntese; um slide para dopamina, dobutamina, fenilefrina, efedrina e vasopressina; os adjuvantes do choque refratário; a sequência da SSC 2026; os alvos de pressão no choque e no intraoperatório; o início precoce e a via periférica; e o roteiro. Posso abrir o que for útil para a discussão.</a:t>
            </a:r>
            <a:endParaRPr lang="en-US" dirty="0"/>
          </a:p>
          <a:p>
            <a:r>
              <a:rPr lang="en-US" dirty="0"/>
              <a:t>USO: slides ocultos no PowerPoint, depois do Obrigado; não aparecem na apresentação. Abrir apenas se houver pergunta, indo até o slide pelo número.</a:t>
            </a:r>
            <a:endParaRPr lang="en-US" dirty="0"/>
          </a:p>
          <a:p>
            <a:r>
              <a:rPr lang="en-US" dirty="0"/>
              <a:t>PONTO-CHAVE: Daqui em diante é material de apoio, oculto na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vai da tirosina à adrenalina; a tirosina hidroxilase é a etapa limitante e a PNMT, na medula adrenal, depende de cortisol. As catecolaminas têm o núcleo catecol, são degradadas por MAO e COMT e recaptadas, com meia-vida de minutos, o que favorece a infusão contínua. Fenilefrina e efedrina, sem o anel catecol, escapam da COMT, duram mais e costumam ir em bolus; a efedrina age também liberando noradrenalina.</a:t>
            </a:r>
            <a:endParaRPr lang="en-US" dirty="0"/>
          </a:p>
          <a:p>
            <a:r>
              <a:rPr lang="en-US" dirty="0"/>
              <a:t>USO: se perguntarem sobre a via de síntese das catecolaminas ou a diferença entre catecolaminas e não catecolaminas.</a:t>
            </a:r>
            <a:endParaRPr lang="en-US" dirty="0"/>
          </a:p>
          <a:p>
            <a:r>
              <a:rPr lang="en-US" dirty="0"/>
              <a:t>PONTO-CHAVE: Catecolaminas: meia-vida de minutos, infusão titulável; fenilefrina e efedrina: sem o anel catecol, duram mais, bolus.</a:t>
            </a:r>
            <a:endParaRPr lang="en-US" dirty="0"/>
          </a:p>
          <a:p>
            <a:r>
              <a:rPr lang="en-US" dirty="0"/>
              <a:t>SE PERGUNTAREM: a fenilefrina ainda é metabolizada pela MAO; a efedrina, com grupo α-metil, resiste também à MAO, o que explica a duração maior e a atividade 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é detalhado apenas nesta tabela: uso restrito à bradicardia refratária e à ponte para marca-passo. A tabela é adaptada de Overgaard e Džavík (Circulation 2008), com escala própria. A noradrenalina tem ação β2 fraca, sem relevância clínica nas doses usuais; a tabela marca 0 por ser escala qualitativa. Adrenalina: 0,01–0,1 mcg/kg/min é a faixa de predomínio β; no choque, a dose é maior, titulada pela 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“renal”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“renal”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em grande parte se cancelam e sobra inotropismo com queda discreta da resistência. A faixa é de 2,5 a 20 microgramas por quilo por minuto. Os limites são taquicardia, arritmia, maior consumo de oxigênio pelo miocárdio e tolerância com uso prolongado; no paciente hipovolêmico ou vasoplégico ela tende a baixar a pressão e, nesse caso, associa-se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com ação β desprezível nas doses usuais: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quase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escapa da COMT, e o grupo α-metil a protege da MAO: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costuma manter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em outubro de 2026,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NA-equivalente de 0,1 vs. 0,4 mcg/kg/min (13 hospitais, cluster-crossover); vasopressina usada em 52,4% vs. 32,9%; mortalidade 31,8% vs. 33,0%. No escore de equivalente de noradrenalina (Kotani, Crit Care 2023), a vasopressina entra como U/min × 2,5: 0,03 U/min ≈ 0,075 mcg/kg/min. É convenção para comparar estudos, não equipotência clínica.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mortalidade semelhante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contraindicado na deficiência de G6PD; subestima a SpO₂ e reduz o BIS; síndrome serotoninérgica com serotoninérgicos, por inibir a MAO-A.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 lugar: recomendação forte em relação à dopamina, condicional em relação à vasopressina e à angiotensina II;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as sugestões contra levosimendana e terlipressina também são de 2021 e foram mantidas em 2026 (condicionais; a da terlipressina com certeza baixa).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 estatisticamente significativa,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mostrou-se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portanto,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80, IECA e BRA suspensos e os demais anti-hipertensivos condicionados à pressão sistólica, a evitar hipertensão, com PAM de 60 e todos os anti-hipertensivos mantidos: eventos vasculares em 30 dias semelhantes,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mostrou-se útil, até agora,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como eixo, e termina na aplicação no choque séptico e no centro cirúrgico.</a:t>
            </a:r>
            <a:endParaRPr lang="en-US" dirty="0"/>
          </a:p>
          <a:p>
            <a:r>
              <a:rPr lang="en-US" dirty="0"/>
              <a:t>USO: apenas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[p1] 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[p1] 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[p2] 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[p2] 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[p3] 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[p3] Doses, indicações e cuidados; quando pre"/>
          <p:cNvSpPr txBox="1"/>
          <p:nvPr/>
        </p:nvSpPr>
        <p:spPr>
          <a:xfrm>
            <a:off x="1371600" y="3173161"/>
            <a:ext cx="632926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Doses, indicações e cuidados; quando preferir milrinona ou dobutamina</a:t>
            </a:r>
            <a:endParaRPr lang="en-US" sz="1700" dirty="0"/>
          </a:p>
        </p:txBody>
      </p:sp>
      <p:sp>
        <p:nvSpPr>
          <p:cNvPr id="10" name="[p4] 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[p4] 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[p5] 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5] 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[p5] 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[p1] 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[p2] 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[p2] 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[p2] 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[p3] 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3] 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[p3] Hipovolemia pede volume. O α1 também con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também contrai veias e recruta volume não estressado, elevando o retorno venoso.</a:t>
            </a:r>
            <a:endParaRPr lang="en-US" sz="1350" dirty="0"/>
          </a:p>
        </p:txBody>
      </p:sp>
      <p:sp>
        <p:nvSpPr>
          <p:cNvPr id="13" name="[p4] Cartão"/>
          <p:cNvSpPr/>
          <p:nvPr/>
        </p:nvSpPr>
        <p:spPr>
          <a:xfrm>
            <a:off x="812800" y="430837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4] Como diferenciar?"/>
          <p:cNvSpPr txBox="1"/>
          <p:nvPr/>
        </p:nvSpPr>
        <p:spPr>
          <a:xfrm>
            <a:off x="1073150" y="4489071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[p4] Eco precoce para o tipo de choque; parâm"/>
          <p:cNvSpPr txBox="1"/>
          <p:nvPr/>
        </p:nvSpPr>
        <p:spPr>
          <a:xfrm>
            <a:off x="4788098" y="4520732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precoce para o tipo de choque; parâmetros dinâmicos para a resposta a volume;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[p1] 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[p1] Lactato alto ou sem queda; SvcO₂ baixa; "/>
          <p:cNvSpPr txBox="1"/>
          <p:nvPr/>
        </p:nvSpPr>
        <p:spPr>
          <a:xfrm>
            <a:off x="1073150" y="281596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baixa;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alto</a:t>
            </a:r>
            <a:endParaRPr lang="en-US" sz="1350" dirty="0"/>
          </a:p>
        </p:txBody>
      </p:sp>
      <p:sp>
        <p:nvSpPr>
          <p:cNvPr id="8" name="[p1] Oligúria e alteração da consciência"/>
          <p:cNvSpPr txBox="1"/>
          <p:nvPr/>
        </p:nvSpPr>
        <p:spPr>
          <a:xfrm>
            <a:off x="1073150" y="335948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9" name="[p2] Cartão"/>
          <p:cNvSpPr/>
          <p:nvPr/>
        </p:nvSpPr>
        <p:spPr>
          <a:xfrm>
            <a:off x="61976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2] 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1" name="[p2] 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2" name="[p2] 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3" name="[p2] Eco: VTI na via de saída do VE; função d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VE; função de VE e VD</a:t>
            </a:r>
            <a:endParaRPr lang="en-US" sz="1350" dirty="0"/>
          </a:p>
        </p:txBody>
      </p:sp>
      <p:sp>
        <p:nvSpPr>
          <p:cNvPr id="14" name="[p3] Cartão"/>
          <p:cNvSpPr/>
          <p:nvPr/>
        </p:nvSpPr>
        <p:spPr>
          <a:xfrm>
            <a:off x="812800" y="44181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Atenção"/>
          <p:cNvSpPr txBox="1"/>
          <p:nvPr/>
        </p:nvSpPr>
        <p:spPr>
          <a:xfrm>
            <a:off x="1073150" y="45988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6" name="[p3] PAM normal não exclui débito baixo. E dé"/>
          <p:cNvSpPr txBox="1"/>
          <p:nvPr/>
        </p:nvSpPr>
        <p:spPr>
          <a:xfrm>
            <a:off x="2937470" y="47638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7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Pré-sináptico, SNC; pós-sináptico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sedação; vasoconstrição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[p4] Catecolaminas: meia-vida de minutos, em "/>
          <p:cNvSpPr txBox="1"/>
          <p:nvPr/>
        </p:nvSpPr>
        <p:spPr>
          <a:xfrm>
            <a:off x="812800" y="53447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e permitem bolus. Uso prolongado: dessensibilização.</a:t>
            </a:r>
            <a:endParaRPr lang="en-US" sz="1300" dirty="0"/>
          </a:p>
        </p:txBody>
      </p:sp>
      <p:sp>
        <p:nvSpPr>
          <p:cNvPr id="9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[p1] Cartão"/>
          <p:cNvSpPr/>
          <p:nvPr/>
        </p:nvSpPr>
        <p:spPr>
          <a:xfrm>
            <a:off x="4064000" y="1879501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1] 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[p1] α1 potente, β1 modesto: sobe a PAM pela 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mantido, podendo cair pela pós-carga; FC estável ou menor. 1ª linha no choque séptico.</a:t>
            </a:r>
            <a:endParaRPr lang="en-US" sz="1350" dirty="0"/>
          </a:p>
        </p:txBody>
      </p:sp>
      <p:sp>
        <p:nvSpPr>
          <p:cNvPr id="24" name="[p2] Cartão"/>
          <p:cNvSpPr/>
          <p:nvPr/>
        </p:nvSpPr>
        <p:spPr>
          <a:xfrm>
            <a:off x="4064000" y="3527723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[p2] Dose e cuidados"/>
          <p:cNvSpPr txBox="1"/>
          <p:nvPr/>
        </p:nvSpPr>
        <p:spPr>
          <a:xfrm>
            <a:off x="4324350" y="378407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[p2] 0,01–0,5 mcg/kg/min, sem teto fixo; bolu"/>
          <p:cNvSpPr txBox="1"/>
          <p:nvPr/>
        </p:nvSpPr>
        <p:spPr>
          <a:xfrm>
            <a:off x="4324350" y="4132702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[p1] 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[p1] 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[p1] 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[p2] 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2] 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[p2] 0,01–0,1 mcg/kg/min (predomínio β); no c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(predomínio β); no choque, dose maior, titulada pela PAM. Anafilaxia na anestesia: bolus de 10–20 mcg (grau 2) ou 50–100 mcg (grau 3); infusão após mais de 3 bolus; 0,5 mg IM sem acesso venoso.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1] 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[p2] 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[p2] 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[p2] 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[p2] 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[p2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[p2] Efeito dose-dependente e pouco previsíve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pouco previsível (D1 → β1 → α1); mais arritmia que a noradrenalina; a SSC 2026 recomenda contra o uso como 1ª linha. Uso residual.</a:t>
            </a:r>
            <a:endParaRPr lang="en-US" sz="1350" dirty="0"/>
          </a:p>
        </p:txBody>
      </p:sp>
      <p:sp>
        <p:nvSpPr>
          <p:cNvPr id="3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0" grpId="0" animBg="1"/>
      <p:bldP spid="21" grpId="0"/>
      <p:bldP spid="22" grpId="0"/>
      <p:bldP spid="23" grpId="0"/>
      <p:bldP spid="24" grpId="0" animBg="1"/>
      <p:bldP spid="25" grpId="0" animBg="1"/>
      <p:bldP spid="26" grpId="0"/>
      <p:bldP spid="27" grpId="0" animBg="1"/>
      <p:bldP spid="28" grpId="0" animBg="1"/>
      <p:bldP spid="29" grpId="0"/>
      <p:bldP spid="30" grpId="0" animBg="1"/>
      <p:bldP spid="31" grpId="0" animBg="1"/>
      <p:bldP spid="32" grpId="0"/>
      <p:bldP spid="33" grpId="0" animBg="1"/>
      <p:bldP spid="34" grpId="0" animBg="1"/>
      <p:bldP spid="35" grpId="0" animBg="1"/>
      <p:bldP spid="3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aumenta a entrada de cálcio pelo canal tipo L (gatilho da liberação de cálcio pelo RyR2 do retículo sarcoplasmático: mais cálcio na sístole) e fosforila o fosfolambam (recaptação mais rápida pela SERCA2a e retículo mais carregado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aumenta a entrada de cálcio pelo canal tipo L (gatilho da liberação de cálcio pelo RyR2 do retículo sarcoplasmático: mais cálcio na sístole) e fosforila o fosfolambam (recaptação mais rápida pela SERCA2a e retículo mais carregado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[p1] Leitura: a dobutamina aumenta a produção"/>
          <p:cNvSpPr txBox="1"/>
          <p:nvPr/>
        </p:nvSpPr>
        <p:spPr>
          <a:xfrm>
            <a:off x="812800" y="5218842"/>
            <a:ext cx="105854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a dobutamina aumenta a produção de AMPc; a milrinona reduz a degradação, sem depender do receptor β.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[p1] 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1] 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[p1] 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inotrópico: IC descompensada, saída difícil de CEC, falência de VD com hipertensão pulmonar, ponte para assistência ou transplante.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2] 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[p2] 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Cuffe, JAMA 2002 (OPTIME-CHF) · bula da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Cuffe, JAMA 2002 (OPTIME-CHF) · bula da milrinona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/>
      <p:bldP spid="18" grpId="0" animBg="1"/>
      <p:bldP spid="19" grpId="0"/>
      <p:bldP spid="2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[p1] 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β; sem vantagem no DOREMI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[p3] Cartão"/>
          <p:cNvSpPr/>
          <p:nvPr/>
        </p:nvSpPr>
        <p:spPr>
          <a:xfrm>
            <a:off x="8128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[p3] 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[p3] VD com hipertensão pulmonar, inclusive n"/>
          <p:cNvSpPr txBox="1"/>
          <p:nvPr/>
        </p:nvSpPr>
        <p:spPr>
          <a:xfrm>
            <a:off x="10223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CEC; taquicardia ou betabloqueio limitando a dobutamina.</a:t>
            </a:r>
            <a:endParaRPr lang="en-US" sz="1300" dirty="0"/>
          </a:p>
        </p:txBody>
      </p:sp>
      <p:sp>
        <p:nvSpPr>
          <p:cNvPr id="9" name="[p4] Cartão"/>
          <p:cNvSpPr/>
          <p:nvPr/>
        </p:nvSpPr>
        <p:spPr>
          <a:xfrm>
            <a:off x="61976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4] 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[p4] Hipotensão associada; insuficiência rena"/>
          <p:cNvSpPr txBox="1"/>
          <p:nvPr/>
        </p:nvSpPr>
        <p:spPr>
          <a:xfrm>
            <a:off x="64071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associada; insuficiência renal; necessidade de titulação rápida; disfunção miocárdica da sepse (SSC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Graphic spid="5" grpId="0">
        <p:bldAsOne/>
      </p:bldGraphic>
      <p:bldP spid="6" grpId="0" animBg="1"/>
      <p:bldP spid="7" grpId="0"/>
      <p:bldP spid="8" grpId="0"/>
      <p:bldP spid="9" grpId="0" animBg="1"/>
      <p:bldP spid="10" grpId="0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[p1] 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[p1] Noradrenalina para manter a PAM e a perf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manter a PAM e a perfusão coronariana do VD; vasopressina se houver vasoplegia.</a:t>
            </a:r>
            <a:endParaRPr lang="en-US" sz="1250" dirty="0"/>
          </a:p>
        </p:txBody>
      </p:sp>
      <p:sp>
        <p:nvSpPr>
          <p:cNvPr id="8" name="[p2] 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2] 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[p2] 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[p2] 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vasodilatador pulmonar inalado.</a:t>
            </a:r>
            <a:endParaRPr lang="en-US" sz="1250" dirty="0"/>
          </a:p>
        </p:txBody>
      </p:sp>
      <p:sp>
        <p:nvSpPr>
          <p:cNvPr id="12" name="[p3] 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3] 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[p3] 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[p3] Milrinona (também ↓RVP) ou dobutamina; a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 (também ↓RVP) ou dobutamina; adrenalina se o choque for grave.</a:t>
            </a:r>
            <a:endParaRPr lang="en-US" sz="1250" dirty="0"/>
          </a:p>
        </p:txBody>
      </p:sp>
      <p:sp>
        <p:nvSpPr>
          <p:cNvPr id="16" name="[p4] 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4] 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[p4] Volume e ritmo"/>
          <p:cNvSpPr txBox="1"/>
          <p:nvPr/>
        </p:nvSpPr>
        <p:spPr>
          <a:xfrm>
            <a:off x="6653907" y="3139627"/>
            <a:ext cx="42652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[p4] Evitar sobrecarga de volume; manter ritm"/>
          <p:cNvSpPr txBox="1"/>
          <p:nvPr/>
        </p:nvSpPr>
        <p:spPr>
          <a:xfrm>
            <a:off x="6653907" y="3397389"/>
            <a:ext cx="426521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</a:t>
            </a:r>
            <a:endParaRPr lang="en-US" sz="1250" dirty="0"/>
          </a:p>
        </p:txBody>
      </p:sp>
      <p:sp>
        <p:nvSpPr>
          <p:cNvPr id="20" name="[p5] 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[p5] Atenção"/>
          <p:cNvSpPr txBox="1"/>
          <p:nvPr/>
        </p:nvSpPr>
        <p:spPr>
          <a:xfrm>
            <a:off x="1066800" y="4419653"/>
            <a:ext cx="129480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2800" dirty="0"/>
          </a:p>
        </p:txBody>
      </p:sp>
      <p:sp>
        <p:nvSpPr>
          <p:cNvPr id="22" name="[p5] A milrinona pode baixar a PAM: associar "/>
          <p:cNvSpPr txBox="1"/>
          <p:nvPr/>
        </p:nvSpPr>
        <p:spPr>
          <a:xfrm>
            <a:off x="2748955" y="4430943"/>
            <a:ext cx="839529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milrinona pode baixar a PAM: associar noradrenalina. Com débito preservado e RVS baixa, pensar em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[p1] Cartão"/>
          <p:cNvSpPr/>
          <p:nvPr/>
        </p:nvSpPr>
        <p:spPr>
          <a:xfrm>
            <a:off x="8128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1] Agonista α1 direto, bolus de 50–100 mcg;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bolus de 50–100 mcg; bradicardia reflexa, que pode reduzir o DC. Útil quando a taquicardia é indesejável. Cesárea: infusão profilática de 25–50 mcg/min.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[p2] 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[p2] 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[p2] 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3] Cartão"/>
          <p:cNvSpPr/>
          <p:nvPr/>
        </p:nvSpPr>
        <p:spPr>
          <a:xfrm>
            <a:off x="61976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[p3] Ação mista, direta e indireta (libera no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mista, direta e indireta (libera noradrenalina). Bolus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mg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020219"/>
          </a:xfrm>
          <a:prstGeom prst="roundRect">
            <a:avLst>
              <a:gd name="adj" fmla="val 2523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[p1] 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[p1] Restaura a resposta às catecolaminas; 20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às catecolaminas; 200 mg/dia no choque séptico (SSC 2026).</a:t>
            </a:r>
            <a:endParaRPr lang="en-US" sz="1300" dirty="0"/>
          </a:p>
        </p:txBody>
      </p:sp>
      <p:sp>
        <p:nvSpPr>
          <p:cNvPr id="12" name="[p2] Cartão"/>
          <p:cNvSpPr/>
          <p:nvPr/>
        </p:nvSpPr>
        <p:spPr>
          <a:xfrm>
            <a:off x="5080000" y="280908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Angiotensina II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[p2] Agonista AT1: poupa catecolamina; pouco "/>
          <p:cNvSpPr txBox="1"/>
          <p:nvPr/>
        </p:nvSpPr>
        <p:spPr>
          <a:xfrm>
            <a:off x="5289550" y="3234271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poupa catecolamina; pouco disponível.</a:t>
            </a:r>
            <a:endParaRPr lang="en-US" sz="1300" dirty="0"/>
          </a:p>
        </p:txBody>
      </p:sp>
      <p:sp>
        <p:nvSpPr>
          <p:cNvPr id="15" name="[p3] Cartão"/>
          <p:cNvSpPr/>
          <p:nvPr/>
        </p:nvSpPr>
        <p:spPr>
          <a:xfrm>
            <a:off x="5080000" y="37386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zul de metileno"/>
          <p:cNvSpPr txBox="1"/>
          <p:nvPr/>
        </p:nvSpPr>
        <p:spPr>
          <a:xfrm>
            <a:off x="5289550" y="38938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[p3] Inibe a via óxido nítrico–GMPc: resgate "/>
          <p:cNvSpPr txBox="1"/>
          <p:nvPr/>
        </p:nvSpPr>
        <p:spPr>
          <a:xfrm>
            <a:off x="5289550" y="41638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[p1] 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[p1] 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[p1] 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[p2] 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[p2] 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[p2] 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[p2] 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[p2] 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[p3] 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[p3] 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[p3] 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[p3] 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[p3] 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[p4] Cartão"/>
          <p:cNvSpPr/>
          <p:nvPr/>
        </p:nvSpPr>
        <p:spPr>
          <a:xfrm>
            <a:off x="8128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[p4] PAM inicial de 65 mmHg (60–65 a partir d"/>
          <p:cNvSpPr txBox="1"/>
          <p:nvPr/>
        </p:nvSpPr>
        <p:spPr>
          <a:xfrm>
            <a:off x="10731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inicial de 65 mmHg (60–65 a partir dos 65 anos). Antecipar a vasopressina por protocolo não reduziu a mortalidade (VASSPR).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61976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[p5] Hipoperfusão com volume e PAM adequados:"/>
          <p:cNvSpPr txBox="1"/>
          <p:nvPr/>
        </p:nvSpPr>
        <p:spPr>
          <a:xfrm>
            <a:off x="64579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+ NA, ou adrenalina. Hidrocortisona sugerida.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[p1] 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[p1] 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[p2] 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[p2] 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[p3] 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[p3] 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[p4] 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[p4] 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[p5] 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[p6] Transplante hepático (UFRJ): em 19 pacie"/>
          <p:cNvSpPr txBox="1"/>
          <p:nvPr/>
        </p:nvSpPr>
        <p:spPr>
          <a:xfrm>
            <a:off x="812800" y="446825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nas cinco fases avaliadas, inclusive após a reperfusão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 animBg="1"/>
      <p:bldP spid="13" grpId="0" animBg="1"/>
      <p:bldP spid="14" grpId="0"/>
      <p:bldP spid="15" grpId="0" animBg="1"/>
      <p:bldP spid="16" grpId="0" animBg="1"/>
      <p:bldP spid="17" grpId="0"/>
      <p:bldP spid="18" grpId="0" animBg="1"/>
      <p:bldP spid="19" grpId="0" animBg="1"/>
      <p:bldP spid="20" grpId="0"/>
      <p:bldP spid="21" grpId="0" animBg="1"/>
      <p:bldP spid="22" grpId="0" animBg="1"/>
      <p:bldP spid="23" grpId="0"/>
      <p:bldP spid="2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2918222"/>
          </a:xfrm>
          <a:prstGeom prst="roundRect">
            <a:avLst>
              <a:gd name="adj" fmla="val 2611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Mesmo períodos curtos abaixo de 65 mmHg "/>
          <p:cNvSpPr txBox="1"/>
          <p:nvPr/>
        </p:nvSpPr>
        <p:spPr>
          <a:xfrm>
            <a:off x="1066800" y="3148651"/>
            <a:ext cx="3067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períodos curtos abaixo de 65 mmHg se associam a lesão renal aguda, lesão miocárdica e delirium (estudos observacionais).</a:t>
            </a:r>
            <a:endParaRPr lang="en-US" sz="1350" dirty="0"/>
          </a:p>
        </p:txBody>
      </p:sp>
      <p:sp>
        <p:nvSpPr>
          <p:cNvPr id="8" name="[p1] 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1] 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[p1] 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com pressão venosa ou compartimental alta, alvo maior.</a:t>
            </a:r>
            <a:endParaRPr lang="en-US" sz="1300" dirty="0"/>
          </a:p>
        </p:txBody>
      </p:sp>
      <p:sp>
        <p:nvSpPr>
          <p:cNvPr id="11" name="[p2] Cartão"/>
          <p:cNvSpPr/>
          <p:nvPr/>
        </p:nvSpPr>
        <p:spPr>
          <a:xfrm>
            <a:off x="4572000" y="304016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[p2] 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[p2] PAM ≥80 (vs. ≥65) reduziu morte ou disfu"/>
          <p:cNvSpPr txBox="1"/>
          <p:nvPr/>
        </p:nvSpPr>
        <p:spPr>
          <a:xfrm>
            <a:off x="4781550" y="3465351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 em hipertensos de alto risco (HISTAP).</a:t>
            </a:r>
            <a:endParaRPr lang="en-US" sz="1300" dirty="0"/>
          </a:p>
        </p:txBody>
      </p:sp>
      <p:sp>
        <p:nvSpPr>
          <p:cNvPr id="14" name="[p3] Cartão"/>
          <p:cNvSpPr/>
          <p:nvPr/>
        </p:nvSpPr>
        <p:spPr>
          <a:xfrm>
            <a:off x="4572000" y="396974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Manejo proativo"/>
          <p:cNvSpPr txBox="1"/>
          <p:nvPr/>
        </p:nvSpPr>
        <p:spPr>
          <a:xfrm>
            <a:off x="4781550" y="412496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[p3] Antecipar e tratar cedo; monitorização f"/>
          <p:cNvSpPr txBox="1"/>
          <p:nvPr/>
        </p:nvSpPr>
        <p:spPr>
          <a:xfrm>
            <a:off x="4781550" y="4394932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orienta volume, vasopressor ou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[p4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taquicardia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[p5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99395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[p6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1811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SC 2026 · ESICM 2025 · Saugel, Br J An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Graphic spid="10" grpId="0">
        <p:bldAsOne/>
      </p:bldGraphic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, oculto na apresentaçã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apoio, oculto na apresentação: detalhes e tabelas.</a:t>
            </a:r>
            <a:endParaRPr lang="en-US" sz="1600" dirty="0"/>
          </a:p>
        </p:txBody>
      </p:sp>
      <p:sp>
        <p:nvSpPr>
          <p:cNvPr id="5" name="Classificação"/>
          <p:cNvSpPr/>
          <p:nvPr/>
        </p:nvSpPr>
        <p:spPr>
          <a:xfrm>
            <a:off x="812800" y="3888680"/>
            <a:ext cx="128657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</a:t>
            </a:r>
            <a:endParaRPr lang="en-US" sz="1400" dirty="0"/>
          </a:p>
        </p:txBody>
      </p:sp>
      <p:sp>
        <p:nvSpPr>
          <p:cNvPr id="6" name="Síntese das drogas"/>
          <p:cNvSpPr/>
          <p:nvPr/>
        </p:nvSpPr>
        <p:spPr>
          <a:xfrm>
            <a:off x="220097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7" name="Dopamina"/>
          <p:cNvSpPr/>
          <p:nvPr/>
        </p:nvSpPr>
        <p:spPr>
          <a:xfrm>
            <a:off x="4024610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8" name="Dobutamina"/>
          <p:cNvSpPr/>
          <p:nvPr/>
        </p:nvSpPr>
        <p:spPr>
          <a:xfrm>
            <a:off x="524420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9" name="Fenilefrina"/>
          <p:cNvSpPr/>
          <p:nvPr/>
        </p:nvSpPr>
        <p:spPr>
          <a:xfrm>
            <a:off x="6620867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10" name="Efedrina"/>
          <p:cNvSpPr/>
          <p:nvPr/>
        </p:nvSpPr>
        <p:spPr>
          <a:xfrm>
            <a:off x="7867749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1" name="Vasopressina"/>
          <p:cNvSpPr/>
          <p:nvPr/>
        </p:nvSpPr>
        <p:spPr>
          <a:xfrm>
            <a:off x="894298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2" name="Choque refratário"/>
          <p:cNvSpPr/>
          <p:nvPr/>
        </p:nvSpPr>
        <p:spPr>
          <a:xfrm>
            <a:off x="812800" y="4391521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3" name="Sequência SSC"/>
          <p:cNvSpPr/>
          <p:nvPr/>
        </p:nvSpPr>
        <p:spPr>
          <a:xfrm>
            <a:off x="2587526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4" name="Alvo de PAM"/>
          <p:cNvSpPr/>
          <p:nvPr/>
        </p:nvSpPr>
        <p:spPr>
          <a:xfrm>
            <a:off x="4102298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5" name="Início e via"/>
          <p:cNvSpPr/>
          <p:nvPr/>
        </p:nvSpPr>
        <p:spPr>
          <a:xfrm>
            <a:off x="5513784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6" name="Alvo intraoperatório"/>
          <p:cNvSpPr/>
          <p:nvPr/>
        </p:nvSpPr>
        <p:spPr>
          <a:xfrm>
            <a:off x="6756598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7" name="Roteiro"/>
          <p:cNvSpPr/>
          <p:nvPr/>
        </p:nvSpPr>
        <p:spPr>
          <a:xfrm>
            <a:off x="8727976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 (β); maior no choque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1ª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em grande parte se cancelam: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1ª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escapa da COMT; o grupo α-metil a protege da MAO: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Costuma manter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0,1 vs. 0,4 mcg/kg/min de NA-equivalente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↓mortalidade. APROCCHSS: ↓mortalidade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no choque séptico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vs.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688802"/>
          </a:xfrm>
          <a:prstGeom prst="roundRect">
            <a:avLst>
              <a:gd name="adj" fmla="val 4512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 vs. dopamina; condiciona"/>
          <p:cNvSpPr txBox="1"/>
          <p:nvPr/>
        </p:nvSpPr>
        <p:spPr>
          <a:xfrm>
            <a:off x="1016000" y="2658901"/>
            <a:ext cx="275084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 vs. dopamina; condicional vs. vasopressina e angiotensina II);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560810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99499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186228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458083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774392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560810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99499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186228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458083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774392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77150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402785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376483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77150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402785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376483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1ª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103425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≥80, IECA/BRA suspensos e demais anti‑hipertensivos se PAS ≥130 vs. PAM ≥60 com todos mantidos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82047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vias de sinalização"/>
          <p:cNvSpPr txBox="1"/>
          <p:nvPr/>
        </p:nvSpPr>
        <p:spPr>
          <a:xfrm>
            <a:off x="6858000" y="1964280"/>
            <a:ext cx="281483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vias de sinalização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but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dobutamina (e dopamina), milrinona, fenilefrina e efedrina; quando preferir milrinona; falência de VD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14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2026-10-19T16:19:27Z</dcterms:created>
  <dcterms:modified xsi:type="dcterms:W3CDTF">2026-10-19T16:19:27Z</dcterms:modified>
</cp:coreProperties>
</file>