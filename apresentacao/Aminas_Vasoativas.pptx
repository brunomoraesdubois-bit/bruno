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notesMasterIdLst>
    <p:notesMasterId r:id="rId3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 e objetivos" id="{8bdbbb46-1e51-7fff-def2-405a52584831}">
          <p14:sldIdLst>
            <p14:sldId id="256"/>
            <p14:sldId id="257"/>
          </p14:sldIdLst>
        </p14:section>
        <p14:section name="01 · Fisiologia: pressão, débito e perfusão" id="{848bc33b-832d-a831-5f4a-739470904127}">
          <p14:sldIdLst>
            <p14:sldId id="258"/>
            <p14:sldId id="259"/>
          </p14:sldIdLst>
        </p14:section>
        <p14:section name="02 · Receptores e vias de sinalização" id="{97a64f7a-1c6b-0db2-6ca5-8fada677e603}">
          <p14:sldIdLst>
            <p14:sldId id="260"/>
          </p14:sldIdLst>
        </p14:section>
        <p14:section name="03 · Drogas: noradrenalina, adrenalina, dobutamina (e dopamina), milrinona (escolha e falência de VD), fenilefrina e efedrina" id="{e679a35c-304e-b6d2-55aa-c2a466a03d53}">
          <p14:sldIdLst>
            <p14:sldId id="261"/>
            <p14:sldId id="262"/>
            <p14:sldId id="263"/>
            <p14:sldId id="264"/>
            <p14:sldId id="265"/>
            <p14:sldId id="266"/>
            <p14:sldId id="267"/>
          </p14:sldIdLst>
        </p14:section>
        <p14:section name="04 · Além das aminas: vasopressina e adjuvantes" id="{c20d36a7-e6b2-6ee7-c24d-e3e198b255ed}">
          <p14:sldIdLst>
            <p14:sldId id="268"/>
          </p14:sldIdLst>
        </p14:section>
        <p14:section name="05 · Choque séptico: a sequência da SSC 2026" id="{8de5e73a-83dd-4f90-7828-9595c79f9d77}">
          <p14:sldIdLst>
            <p14:sldId id="269"/>
          </p14:sldIdLst>
        </p14:section>
        <p14:section name="06 · Perioperatório: escolha da droga e alvo de pressão" id="{077f6abc-33c5-ff13-e6f8-bb811198f7a8}">
          <p14:sldIdLst>
            <p14:sldId id="270"/>
            <p14:sldId id="271"/>
          </p14:sldIdLst>
        </p14:section>
        <p14:section name="07 · Mensagens finais e encerramento" id="{7f0a0a92-2f7b-9122-157c-cfca03bcbe61}">
          <p14:sldIdLst>
            <p14:sldId id="272"/>
            <p14:sldId id="273"/>
          </p14:sldIdLst>
        </p14:section>
        <p14:section name="Slides ocultos de reserva para perguntas (não aparecem na apresentação)" id="{dfd09239-432b-e3b3-651d-03d1df2da31d}">
          <p14:sldIdLst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  <p14:sldId id="285"/>
            <p14:sldId id="286"/>
            <p14:sldId id="287"/>
            <p14:sldId id="28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notesMaster" Target="notesMasters/notesMaster1.xml"/><Relationship Id="rId36" Type="http://schemas.openxmlformats.org/officeDocument/2006/relationships/presProps" Target="presProps.xml"/><Relationship Id="rId37" Type="http://schemas.openxmlformats.org/officeDocument/2006/relationships/viewProps" Target="viewProps.xml"/><Relationship Id="rId38" Type="http://schemas.openxmlformats.org/officeDocument/2006/relationships/theme" Target="theme/theme1.xml"/><Relationship Id="rId3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Bom dia. Sou Bruno Dubois; meus orientadores são Marcelo Bandeira e Glauber Gouvêa. O tema é aminas vasoativas, e a aula nasceu de uma pergunta prática: quando a milrinona tem indicação, e quando a dobutamina ou um vasopressor seriam a escolha.</a:t>
            </a:r>
            <a:endParaRPr lang="en-US" dirty="0"/>
          </a:p>
          <a:p>
            <a:r>
              <a:rPr lang="en-US" dirty="0"/>
              <a:t>TRANSIÇÃO: Começo pelos objetivos.</a:t>
            </a:r>
            <a:endParaRPr lang="en-US" dirty="0"/>
          </a:p>
          <a:p>
            <a:r>
              <a:rPr lang="en-US" dirty="0"/>
              <a:t>TEMPO: 25 s (0:00 → 0:25). Total previsto: 14 min 00 s nos 18 slides principais; ensaiar mirando 15 minutos.</a:t>
            </a:r>
            <a:endParaRPr lang="en-US" dirty="0"/>
          </a:p>
          <a:p>
            <a:r>
              <a:rPr lang="en-US" dirty="0"/>
              <a:t>PONTO-CHAVE: A aula nasceu de uma pergunta prática: quando a milrinona tem indicação?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Quatro objetivos. ▸ Distinguir vasoplegia, falência de bomba e pré-carga baixa. ▸ Ligar o perfil de receptores de cada droga ao seu efeito hemodinâmico. ▸ Conhecer doses e cuidados, e quando preferir milrinona ou dobutamina. ▸ Aplicar isso no choque séptico e no centro cirúrgico. ▸ A pergunta que organiza a aula: qual componente da pressão arterial média está falhando?</a:t>
            </a:r>
            <a:endParaRPr lang="en-US" dirty="0"/>
          </a:p>
          <a:p>
            <a:r>
              <a:rPr lang="en-US" dirty="0"/>
              <a:t>TRANSIÇÃO: Para responder, precisamos entender de que depende a pressão arterial média.</a:t>
            </a:r>
            <a:endParaRPr lang="en-US" dirty="0"/>
          </a:p>
          <a:p>
            <a:r>
              <a:rPr lang="en-US" dirty="0"/>
              <a:t>TEMPO: 30 s (0:25 → 0:55)</a:t>
            </a:r>
            <a:endParaRPr lang="en-US" dirty="0"/>
          </a:p>
          <a:p>
            <a:r>
              <a:rPr lang="en-US" dirty="0"/>
              <a:t>PONTO-CHAVE: Qual componente da PAM está falhando?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A PAM é o produto do débito cardíaco pela resistência vascular sistêmica, somado à pressão venosa central, que pesa quando está alta, porque reduz a pressão de perfusão. ▸ Na vasoplegia o problema é o tônus arterial: sepse, anestesia geral, bloqueio de neuroeixo, anafilaxia, saída de CEC; as causas anestésicas e a anafilaxia somam venodilatação. ▸ Na falência de bomba o débito é baixo, em geral com resistência alta; na sepse, a disfunção miocárdica pode coexistir com vasoplegia. ▸ Na pré-carga baixa, a hipovolemia pede volume; e o α1 também contrai veias, recruta volume não estressado e aumenta o retorno venoso: Persichini, em 16 pacientes com choque séptico, reduziu a noradrenalina e viu caírem a pressão sistêmica média e o retorno venoso. ▸ Para diferenciar: eco precoce, parâmetros dinâmicos e perfusão seriada.</a:t>
            </a:r>
            <a:endParaRPr lang="en-US" dirty="0"/>
          </a:p>
          <a:p>
            <a:r>
              <a:rPr lang="en-US" dirty="0"/>
              <a:t>TRANSIÇÃO: Mas uma PAM normal não basta.</a:t>
            </a:r>
            <a:endParaRPr lang="en-US" dirty="0"/>
          </a:p>
          <a:p>
            <a:r>
              <a:rPr lang="en-US" dirty="0"/>
              <a:t>TEMPO: 1 min (0:55 → 1:55)</a:t>
            </a:r>
            <a:endParaRPr lang="en-US" dirty="0"/>
          </a:p>
          <a:p>
            <a:r>
              <a:rPr lang="en-US" dirty="0"/>
              <a:t>PONTO-CHAVE: Vasoplegia pede vasopressor; bomba fraca, inotrópico; pré-carga baixa, volume.</a:t>
            </a:r>
            <a:endParaRPr lang="en-US" dirty="0"/>
          </a:p>
          <a:p>
            <a:r>
              <a:rPr lang="en-US" dirty="0"/>
              <a:t>SE PERGUNTAREM: o esquema cobre os determinantes da PAM; a obstrução (tamponamento, embolia pulmonar, pneumotórax hipertensivo, auto-PEEP) é o quarto tipo de choque da classificação da ESICM 2014: o eco precoce a identifica, e o tratamento é da causa, não com amina. No intraoperatório, pneumotórax e compressão aortocava estão entre as causas a afastar (slide 16).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Pressão não é fluxo: uma resistência alta pode manter a PAM com débito baixo. Por isso a decisão de usar inotrópico depende de sinais de hipoperfusão e de uma estimativa do débito. ▸ Os sinais estão no slide. ▸ Antes da droga, perguntar se o débito responde a volume; o eco mostra o VTI e a função dos ventrículos. ▸ E a ressalva oposta: aumentar o débito com a droga não é melhorar o desfecho; é a lição dos ensaios com inotrópico em quem não tinha indicação.</a:t>
            </a:r>
            <a:endParaRPr lang="en-US" dirty="0"/>
          </a:p>
          <a:p>
            <a:r>
              <a:rPr lang="en-US" dirty="0"/>
              <a:t>TRANSIÇÃO: Definido o problema, as ferramentas: os receptores.</a:t>
            </a:r>
            <a:endParaRPr lang="en-US" dirty="0"/>
          </a:p>
          <a:p>
            <a:r>
              <a:rPr lang="en-US" dirty="0"/>
              <a:t>TEMPO: 45 s (1:55 → 2:40)</a:t>
            </a:r>
            <a:endParaRPr lang="en-US" dirty="0"/>
          </a:p>
          <a:p>
            <a:r>
              <a:rPr lang="en-US" dirty="0"/>
              <a:t>PONTO-CHAVE: Inotrópico se decide por hipoperfusão e débito, não apenas pela pressão.</a:t>
            </a:r>
            <a:endParaRPr lang="en-US" dirty="0"/>
          </a:p>
          <a:p>
            <a:r>
              <a:rPr lang="en-US" dirty="0"/>
              <a:t>SE PERGUNTAREM: no OPTIME-CHF (Cuffe, JAMA 2002; 951 pacientes com IC descompensada sem indicação clara de inotrópico), milrinona vs. placebo por 48 h: sem benefício, com mais hipotensão sustentada e arritmia atrial. Em um ECR de 2025 (Tongyoo, Ann Med; 64 pacientes em choque séptico), a milrinona aumentou o débito em 6 horas em relação ao placebo, mas a mortalidade em 28 dias foi de 50% nos dois grupos. Na sepse a SvcO₂ pode estar normal ou alta apesar da hipoperfusão (defeito de extração e shunt microcirculatório); nesse caso, a diferença venoarterial de CO₂ acima de 6 mmHg indica fluxo insuficiente para remover o CO₂ produzido (Vallée, Intensive Care Med 2008). Limites de VPP e VVS: ventilação controlada sem esforço espontâneo, volume corrente de pelo menos 8 mL/kg, ritmo regular, tórax fechado, sem disfunção de VD nem hipertensão intra-abdominal; com volume corrente baixo a sensibilidade cai. Fora dessas condições: elevação passiva das pernas ou minidesafio hídrico com medida direta do débito (ESICM 2025).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α1 contrai artérias e veias; α2, pré-sináptico, reduz a liberação de noradrenalina e, pós-sináptico no vaso, também contrai. ▸ β1 aumenta contratilidade e frequência; β2 dilata vasos e brônquios e eleva glicemia e lactato. ▸ D1 dilata os leitos renal e mesentérico. ▸ V1 e PDE3 entram na tabela porque vasopressina e milrinona não dependem do adrenoceptor. ▸ Dois pontos práticos: as catecolaminas têm meia-vida de minutos, o que favorece a infusão contínua; fenilefrina e efedrina, sem o anel catecol, duram mais e costumam ir em bolus. E, com uso prolongado, os adrenoceptores se dessensibilizam, um dos fundamentos para associar uma droga de outra via.</a:t>
            </a:r>
            <a:endParaRPr lang="en-US" dirty="0"/>
          </a:p>
          <a:p>
            <a:r>
              <a:rPr lang="en-US" dirty="0"/>
              <a:t>TRANSIÇÃO: Começo pela noradrenalina.</a:t>
            </a:r>
            <a:endParaRPr lang="en-US" dirty="0"/>
          </a:p>
          <a:p>
            <a:r>
              <a:rPr lang="en-US" dirty="0"/>
              <a:t>TEMPO: 50 s (2:40 → 3:30)</a:t>
            </a:r>
            <a:endParaRPr lang="en-US" dirty="0"/>
          </a:p>
          <a:p>
            <a:r>
              <a:rPr lang="en-US" dirty="0"/>
              <a:t>PONTO-CHAVE: Cada droga tem um perfil de receptores; vasopressina e milrinona usam outras vias.</a:t>
            </a:r>
            <a:endParaRPr lang="en-US" dirty="0"/>
          </a:p>
          <a:p>
            <a:r>
              <a:rPr lang="en-US" dirty="0"/>
              <a:t>SE PERGUNTAREM: O α2 pós-sináptico vascular explica a hipertensão transitória do bolus de dexmedetomidina ou clonidina.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É a droga de primeira linha no choque séptico, com ação α1 potente e β1 modesta: ▸ sobe a PAM pela resistência e pela venoconstrição, com débito em geral mantido, podendo cair pela pós-carga, e frequência estável ou menor, por reflexo. ▸ Dose de 0,01 a 0,5 microgramas por quilo por minuto, sem teto fixo no choque refratário; no centro cirúrgico, bolus de 5 a 10 microgramas; pode começar em veia periférica calibrosa. Riscos: isquemia digital e esplâncnica, além de extravasamento.</a:t>
            </a:r>
            <a:endParaRPr lang="en-US" dirty="0"/>
          </a:p>
          <a:p>
            <a:r>
              <a:rPr lang="en-US" dirty="0"/>
              <a:t>TRANSIÇÃO: A adrenalina é parecida na estrutura, mas tem outro perfil.</a:t>
            </a:r>
            <a:endParaRPr lang="en-US" dirty="0"/>
          </a:p>
          <a:p>
            <a:r>
              <a:rPr lang="en-US" dirty="0"/>
              <a:t>TEMPO: 40 s (3:30 → 4:10)</a:t>
            </a:r>
            <a:endParaRPr lang="en-US" dirty="0"/>
          </a:p>
          <a:p>
            <a:r>
              <a:rPr lang="en-US" dirty="0"/>
              <a:t>PONTO-CHAVE: α1 potente com β1 modesto: sobe a PAM com débito em geral mantido.</a:t>
            </a:r>
            <a:endParaRPr lang="en-US" dirty="0"/>
          </a:p>
          <a:p>
            <a:r>
              <a:rPr lang="en-US" dirty="0"/>
              <a:t>SE PERGUNTAREM: no SOAP II (n = 1.679), a mortalidade em 28 dias foi semelhante à da dopamina (48,5% vs. 52,5%), com metade das arritmias (12,4% vs. 24,1%); a SSC 2026 recomenda a noradrenalina em vez da dopamina (forte, certeza alta). No Brasil, a ampola de hemitartarato de 2 mg/mL equivale a 1 mg/mL de base: registrar na prescrição se a dose está em base ou em sal. Início precoce (CENSER) e via periférica estão nos slides de reserva. No extravasamento, fentolamina infiltrada no local. Afinidade por β1: a da noradrenalina é da mesma ordem da adrenalina; o que é modesto é o efeito cardíaco líquido, porque o barorreflexo e a pós-carga contêm a taquicardia e o aumento do débito; a ação β2 é pequena, por isso não há vasodilatação e o lactato sobe pouco.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Adrenalina: potente em α1, β1 e β2. ▸ O efeito depende da dose: em dose baixa predominam β1 e β2, com débito alto e resistência que pode cair; em dose alta prevalece o α1. É a droga da anafilaxia e, no choque séptico, a terceira droga. ▸ Na anafilaxia em ambiente monitorizado, bolus endovenosos titulados, conforme a diretriz australiana e neozelandesa (ANZCA/ANZAAG 2022); se forem necessários mais de três bolus, infusão; sem acesso venoso, 0,5 mg intramuscular. O lactato pode subir por efeito β2, e isso não autoriza ignorar hipoperfusão.</a:t>
            </a:r>
            <a:endParaRPr lang="en-US" dirty="0"/>
          </a:p>
          <a:p>
            <a:r>
              <a:rPr lang="en-US" dirty="0"/>
              <a:t>TRANSIÇÃO: Passando à dobutamina e, em uma frase, à dopamina.</a:t>
            </a:r>
            <a:endParaRPr lang="en-US" dirty="0"/>
          </a:p>
          <a:p>
            <a:r>
              <a:rPr lang="en-US" dirty="0"/>
              <a:t>TEMPO: 45 s (4:10 → 4:55)</a:t>
            </a:r>
            <a:endParaRPr lang="en-US" dirty="0"/>
          </a:p>
          <a:p>
            <a:r>
              <a:rPr lang="en-US" dirty="0"/>
              <a:t>PONTO-CHAVE: Dose baixa, β; dose alta, α. Droga da anafilaxia; terceira droga no choque séptico.</a:t>
            </a:r>
            <a:endParaRPr lang="en-US" dirty="0"/>
          </a:p>
          <a:p>
            <a:r>
              <a:rPr lang="en-US" dirty="0"/>
              <a:t>SE PERGUNTAREM: no CATS (Annane, Lancet 2007), mortalidade semelhante à do grupo noradrenalina + dobutamina (40% vs. 34%, NS), com mais acidose; no CAT (Myburgh, Intensive Care Med 2008), 12,9% dos pacientes em adrenalina foram retirados do estudo por efeitos metabólicos transitórios. No OptimaCC (Levy, J Am Coll Cardiol 2018; n = 57, choque cardiogênico pós-IAM), o índice cardíaco foi semelhante, mas houve mais choque refratário com adrenalina (37% vs. 7%), que era o principal desfecho de segurança; o estudo foi interrompido precocemente. Dose no choque séptico: a bula americana de epinefrina prevê infusão de 0,05–2 mcg/kg/min, titulada pela PAM. Cartão ANZAAG/ANZCA 2022 (adulto; 1 mg em 10 mL = 100 mcg/mL): grau 2, 10–20 mcg, e 50 mcg se não houver resposta; grau 3, 50–100 mcg, e 200 mcg se não houver resposta; repetir a cada 1–2 min; após mais de três bolus, infusão de 3 mg em 50 mL, de 3 a 40 mL/h; sem acesso venoso ou sem monitorização, 500 mcg IM na face lateral da coxa, repetível a cada 5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Dobutamina: inotrópico β1 com vasodilatação β2; sobe o débito, baixa um pouco a resistência e pode baixar a PAM. ▸ Indicada no baixo débito com hipoperfusão, de 2,5 a 20 microgramas por quilo por minuto; se a PAM cair, associar vasopressor; taquicardia e arritmia limitam a dose. ▸ Sobre a dopamina, uma frase apenas: efeito dose-dependente e pouco previsível, de D1 a α1, com mais arritmia que a noradrenalina; a SSC 2026 recomenda contra o uso como primeira linha, e hoje o uso é residual.</a:t>
            </a:r>
            <a:endParaRPr lang="en-US" dirty="0"/>
          </a:p>
          <a:p>
            <a:r>
              <a:rPr lang="en-US" dirty="0"/>
              <a:t>TRANSIÇÃO: A milrinona chega ao mesmo ponto por outra via.</a:t>
            </a:r>
            <a:endParaRPr lang="en-US" dirty="0"/>
          </a:p>
          <a:p>
            <a:r>
              <a:rPr lang="en-US" dirty="0"/>
              <a:t>TEMPO: 45 s (4:55 → 5:40)</a:t>
            </a:r>
            <a:endParaRPr lang="en-US" dirty="0"/>
          </a:p>
          <a:p>
            <a:r>
              <a:rPr lang="en-US" dirty="0"/>
              <a:t>PONTO-CHAVE: Dobutamina para baixo débito com hipoperfusão; dopamina fora da primeira linha.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A milrinona inibe a PDE3, a enzima que degrada o AMPc, e por isso age depois do receptor β: é um inodilatador, aumenta contratilidade e relaxamento e reduz as resistências sistêmica e pulmonar. ▸ A indicação é a disfunção ventricular com baixo débito que exige inotrópico, incluindo a saída difícil de CEC. ▸ Dose: ataque de 50 microgramas por quilo em 10 minutos, muitas vezes omitido, e manutenção de 0,375 a 0,75 microgramas por quilo por minuto. Por ser vasodilatadora, costuma exigir noradrenalina; tem eliminação renal e meia-vida bem mais longa que a da dobutamina, e acumula na insuficiência renal.</a:t>
            </a:r>
            <a:endParaRPr lang="en-US" dirty="0"/>
          </a:p>
          <a:p>
            <a:r>
              <a:rPr lang="en-US" dirty="0"/>
              <a:t>TRANSIÇÃO: E a pergunta prática que motivou a aula: quando escolher cada uma?</a:t>
            </a:r>
            <a:endParaRPr lang="en-US" dirty="0"/>
          </a:p>
          <a:p>
            <a:r>
              <a:rPr lang="en-US" dirty="0"/>
              <a:t>TEMPO: 50 s (5:40 → 6:30)</a:t>
            </a:r>
            <a:endParaRPr lang="en-US" dirty="0"/>
          </a:p>
          <a:p>
            <a:r>
              <a:rPr lang="en-US" dirty="0"/>
              <a:t>PONTO-CHAVE: Inodilatador pós-receptor β para a disfunção ventricular com baixo débito; meia-vida longa e eliminação renal.</a:t>
            </a:r>
            <a:endParaRPr lang="en-US" dirty="0"/>
          </a:p>
          <a:p>
            <a:r>
              <a:rPr lang="en-US" dirty="0"/>
              <a:t>SE PERGUNTAREM: no OPTIME-CHF (JAMA 2002), na IC descompensada sem indicação clara de inotrópico, não houve benefício, com mais hipotensão sustentada (10,7% vs. 3,2%) e arritmias atriais (4,6% vs. 1,5%). No DOREMI (N Engl J Med 2021), no choque cardiogênico, não houve diferença estatisticamente significativa no desfecho composto em relação à dobutamina, o que não prova equivalência. A SSC 2026 não encontrou dados para comparar as duas no choque séptico.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▸ Primeiro, a indicação: inotrópico quando há disfunção ventricular com baixo débito e hipoperfusão, depois de otimizar volume e PAM. Se a hipotensão é por vasoplegia, a droga é o vasopressor; um inodilatador baixa ainda mais a pressão. ▸ A tabela resume os perfis esperados: meia-vida, circulação pulmonar, frequência e pressão, e resposta com betabloqueador. O ensaio de referência é o DOREMI: 192 pacientes com choque cardiogênico, randomizados, em duplo-cego, para milrinona ou dobutamina. O desfecho composto de morte, parada cardíaca revertida, transplante ou suporte circulatório mecânico, infarto, AVC ou diálise ocorreu em 49% com milrinona e 54% com dobutamina, sem diferença estatisticamente significativa; arritmia, hipotensão e necessidade de vasopressor também não diferiram; nos 93 pacientes betabloqueados, a milrinona não teve vantagem. Isso não comprova equivalência, mas a escolha fica farmacológica. ▸ Milrinona no VD com hipertensão pulmonar, como na saída de CEC, e quando taquicardia ou betabloqueio limitam a dobutamina. ▸ Dobutamina se houver hipotensão associada, insuficiência renal ou necessidade de titulação rápida.</a:t>
            </a:r>
            <a:endParaRPr lang="en-US" dirty="0"/>
          </a:p>
          <a:p>
            <a:r>
              <a:rPr lang="en-US" dirty="0"/>
              <a:t>TRANSIÇÃO: Um cenário em que essa diferença farmacológica realmente importa é a falência de ventrículo direito. Como abordá-la?</a:t>
            </a:r>
            <a:endParaRPr lang="en-US" dirty="0"/>
          </a:p>
          <a:p>
            <a:r>
              <a:rPr lang="en-US" dirty="0"/>
              <a:t>TEMPO: 1 min 20 s (6:30 → 7:50)</a:t>
            </a:r>
            <a:endParaRPr lang="en-US" dirty="0"/>
          </a:p>
          <a:p>
            <a:r>
              <a:rPr lang="en-US" dirty="0"/>
              <a:t>PONTO-CHAVE: Primeiro a indicação; depois a escolha é farmacológica, sem superioridade demonstrada em desfecho.</a:t>
            </a:r>
            <a:endParaRPr lang="en-US" dirty="0"/>
          </a:p>
          <a:p>
            <a:r>
              <a:rPr lang="en-US" dirty="0"/>
              <a:t>SE PERGUNTAREM: no DOREMI (n = 192, choque cardiogênico), o desfecho composto foi 49% com milrinona e 54% com dobutamina (RR 0,90; IC 95% 0,69–1,19); arritmias, hipotensão sustentada e necessidade de vasopressor também não diferiram; por isso, as diferenças da tabela são expectativa farmacológica. Na subanálise por betabloqueador (93 pacientes, 48%), o betabloqueio prévio não piorou o desfecho e não houve vantagem demonstrada da milrinona (Di Santo, Crit Care 2021). Isso não prova equivalência, mas também não mostra vantagem de uma sobre a outra. A meia-vida da milrinona é de cerca de 2,4 horas na insuficiência cardíaca e aumenta na insuficiência renal, que pede dose de manutenção menor; a da dobutamina é de cerca de 2 minutos. Sem hipoperfusão, não há benefício demonstrado de inotrópico: no OPTIME-CHF, a milrinona causou mais hipotensão e mais arritmia atrial.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Na falência de VD, quatro frentes. ▸ Pressão de perfusão: o VD pode ficar isquêmico quando a PAM cai; noradrenalina e, se houver vasoplegia, vasopressina. ▸ Resistência pulmonar: corrigir hipóxia, hipercapnia e acidose; se preciso, vasodilatador inalado. ▸ Contratilidade: a milrinona faz sentido porque é inotrópica e reduz a resistência pulmonar; a dobutamina é alternativa; adrenalina no choque grave. ▸ Volume e ritmo: o VD dilatado tolera mal a sobrecarga de volume. ▸ A milrinona não substitui o diagnóstico: com débito preservado e resistência baixa, pensar em vasoplegia, e nesse caso a droga é o vasopressor.</a:t>
            </a:r>
            <a:endParaRPr lang="en-US" dirty="0"/>
          </a:p>
          <a:p>
            <a:r>
              <a:rPr lang="en-US" dirty="0"/>
              <a:t>TRANSIÇÃO: Saindo dos inotrópicos, as drogas de bolus do centro cirúrgico.</a:t>
            </a:r>
            <a:endParaRPr lang="en-US" dirty="0"/>
          </a:p>
          <a:p>
            <a:r>
              <a:rPr lang="en-US" dirty="0"/>
              <a:t>TEMPO: 50 s (7:50 → 8:40)</a:t>
            </a:r>
            <a:endParaRPr lang="en-US" dirty="0"/>
          </a:p>
          <a:p>
            <a:r>
              <a:rPr lang="en-US" dirty="0"/>
              <a:t>PONTO-CHAVE: Na falência de VD, a milrinona entra na contratilidade, com noradrenalina; com débito preservado e RVS baixa, considerar vasoplegia.</a:t>
            </a:r>
            <a:endParaRPr lang="en-US" dirty="0"/>
          </a:p>
          <a:p>
            <a:r>
              <a:rPr lang="en-US" dirty="0"/>
              <a:t>SE PERGUNTAREM: declaração científica da AHA sobre insuficiência cardíaca direita (Konstam, Circulation 2018;137(20):e578–e622). No transplante hepático, o estudo de Gouvêa, Diaz e colaboradores (PLoS One 2022) não encontrou disfunção de VD ao ETE ao longo do procedimento.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Fenilefrina: agonista α1 direto, praticamente sem ação β; a PAM sobe pela resistência e a frequência cai por reflexo. ▸ Em bolus de 50 a 100 microgramas, é útil quando a taquicardia é indesejável, mas pode reduzir o débito quando ele depende da frequência; na cesárea, o consenso de 2018 recomenda vasopressor α-agonista em infusão profilática. ▸ Efedrina: α1 e β1 moderados; sobe pressão, frequência e débito. ▸ Ação mista, direta e indireta, liberando noradrenalina: bolus de 5 a 10 mg na hipotensão com bradicardia; perde efeito com doses repetidas e, na cesárea, associa-se a mais acidose fetal.</a:t>
            </a:r>
            <a:endParaRPr lang="en-US" dirty="0"/>
          </a:p>
          <a:p>
            <a:r>
              <a:rPr lang="en-US" dirty="0"/>
              <a:t>TRANSIÇÃO: E quando a via adrenérgica não basta?</a:t>
            </a:r>
            <a:endParaRPr lang="en-US" dirty="0"/>
          </a:p>
          <a:p>
            <a:r>
              <a:rPr lang="en-US" dirty="0"/>
              <a:t>TEMPO: 50 s (8:40 → 9:30)</a:t>
            </a:r>
            <a:endParaRPr lang="en-US" dirty="0"/>
          </a:p>
          <a:p>
            <a:r>
              <a:rPr lang="en-US" dirty="0"/>
              <a:t>PONTO-CHAVE: Fenilefrina: tônus baixo com FC alta. Efedrina: tônus baixo com bradicardia.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A vasopressina age no receptor V1, fora da via adrenérgica: poupa catecolamina e costuma manter efeito em acidose; no choque séptico há deficiência relativa do hormônio endógeno. Dose fixa, em geral 0,03 unidades por minuto. Indicações: choque séptico com noradrenalina em escalada, vasoplegia após CEC e hipotensão refratária com IECA ou BRA. Riscos: isquemia digital e mesentérica. Antes de somar drogas, corrigir causas tratáveis. ▸ Adjuvantes: a hidrocortisona restaura a resposta às catecolaminas, 200 mg por dia; ▸ a angiotensina II poupa catecolamina, mas é pouco disponível; ▸ o azul de metileno fica como resgate na vasoplegia refratária.</a:t>
            </a:r>
            <a:endParaRPr lang="en-US" dirty="0"/>
          </a:p>
          <a:p>
            <a:r>
              <a:rPr lang="en-US" dirty="0"/>
              <a:t>TRANSIÇÃO: Juntando tudo no choque séptico.</a:t>
            </a:r>
            <a:endParaRPr lang="en-US" dirty="0"/>
          </a:p>
          <a:p>
            <a:r>
              <a:rPr lang="en-US" dirty="0"/>
              <a:t>TEMPO: 45 s (9:30 → 10:15)</a:t>
            </a:r>
            <a:endParaRPr lang="en-US" dirty="0"/>
          </a:p>
          <a:p>
            <a:r>
              <a:rPr lang="en-US" dirty="0"/>
              <a:t>PONTO-CHAVE: Vasopressina age por outra via (V1) e poupa catecolamina; no refratário, somar mecanismos: hidrocortisona, angiotensina II e azul de metileno.</a:t>
            </a:r>
            <a:endParaRPr lang="en-US" dirty="0"/>
          </a:p>
          <a:p>
            <a:r>
              <a:rPr lang="en-US" dirty="0"/>
              <a:t>SE PERGUNTAREM: no VANCS (Hajjar, Anesthesiology 2017, InCor), na vasoplegia pós-CEC, a vasopressina teve menos morte ou complicação grave que a noradrenalina (32% vs. 49%); é uma população de cirurgia cardíaca, e o resultado não deve ser extrapolado para o choque séptico. Hidrocortisona: 200 mg/dia (50 mg de 6/6 h ou em infusão). Angiotensina II: no ATHOS-3, a resposta da PAM em 3 h ocorreu em 69,9% vs. 23,4% dos pacientes, sem diferença de mortalidade; é pouco disponível. Azul de metileno: inibe a óxido nítrico sintase e a guanilato ciclase solúvel; resgate na vasoplegia pós-CEC e na reperfusão do enxerto hepático, com evidência limitada. Contraindicado na deficiência de G6PD (hemólise); subestima a SpO₂ na oximetria de pulso e reduz o BIS; síndrome serotoninérgica com ISRS e outros serotoninérgicos, por inibir a MAO-A.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A SSC 2026 organiza os vasopressores em sequência. ▸ Noradrenalina primeiro, cedo, mesmo por veia periférica. ▸ Vasopressina quando a dose de noradrenalina sobe, sem limiar definido. ▸ Adrenalina se a PAM continuar inadequada. ▸ Alvo inicial de 65 mmHg, ou 60 a 65 a partir dos 65 anos. Sobre o momento da vasopressina, o VASSPR, de outubro de 2026: 3.959 pacientes com choque séptico, em 13 hospitais que alternaram, por sorteio, iniciá-la com 0,1 ou com 0,4 microgramas por quilo por minuto de noradrenalina ou equivalente; mortalidade semelhante, 31,8 contra 33,0%. ▸ Na disfunção cardíaca com hipoperfusão, dobutamina com noradrenalina, ou adrenalina; hidrocortisona sugerida.</a:t>
            </a:r>
            <a:endParaRPr lang="en-US" dirty="0"/>
          </a:p>
          <a:p>
            <a:r>
              <a:rPr lang="en-US" dirty="0"/>
              <a:t>TRANSIÇÃO: No centro cirúrgico, o raciocínio é o mesmo, com outras causas.</a:t>
            </a:r>
            <a:endParaRPr lang="en-US" dirty="0"/>
          </a:p>
          <a:p>
            <a:r>
              <a:rPr lang="en-US" dirty="0"/>
              <a:t>TEMPO: 50 s (10:15 → 11:05)</a:t>
            </a:r>
            <a:endParaRPr lang="en-US" dirty="0"/>
          </a:p>
          <a:p>
            <a:r>
              <a:rPr lang="en-US" dirty="0"/>
              <a:t>PONTO-CHAVE: Noradrenalina, depois vasopressina, depois adrenalina; PAM inicial de 65 mmHg.</a:t>
            </a:r>
            <a:endParaRPr lang="en-US" dirty="0"/>
          </a:p>
          <a:p>
            <a:r>
              <a:rPr lang="en-US" dirty="0"/>
              <a:t>SE PERGUNTAREM: o VASSPR (JAMA 2026, n = 3.959; 13 hospitais, desenho cluster-crossover com ordem sorteada) comparou políticas hospitalares de iniciar a vasopressina com 0,1 vs. 0,4 mcg/kg/min de noradrenalina-equivalente; a vasopressina foi usada em 52,4% vs. 32,9%, e a mortalidade foi 31,8% vs. 33,0%. A antecipação sistemática não trouxe benefício, o que não exclui ganho em pacientes selecionados. No OPTPRESS, alvo de 80–85 mmHg em idosos aumentou a mortalidade.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Antes da droga, afastar causas tratáveis: plano profundo, hipovolemia, compressão aortocava, pneumotórax e anafilaxia, que pede adrenalina. Se persistir, avaliar a resposta a volume e fazer eco. A escolha segue o mecanismo: ▸ tônus baixo com frequência normal ou alta pede agonista α1; ▸ bradicardia associada pede ação β1, efedrina ou, se grave, adrenalina; ▸ baixo débito pede inotrópico, e a milrinona ajuda no VD com hipertensão pulmonar; ▸ vasoplegia refratária às catecolaminas, como após CEC, com IECA ou BRA ou na reperfusão do enxerto hepático, pode responder à vasopressina, com azul de metileno como resgate; ▸ e pré-carga baixa pede volume, não amina. ▸ Um dado do nosso serviço: Gouvêa, Diaz e colaboradores avaliaram por ETE o VD de 19 pacientes selecionados em cinco momentos do transplante hepático; TAPSE e variação fracional de área permaneceram normais, inclusive após a reperfusão. Mais um motivo para identificar o mecanismo antes de presumir falência de VD.</a:t>
            </a:r>
            <a:endParaRPr lang="en-US" dirty="0"/>
          </a:p>
          <a:p>
            <a:r>
              <a:rPr lang="en-US" dirty="0"/>
              <a:t>TRANSIÇÃO: E quanto de PAM é suficiente no intraoperatório?</a:t>
            </a:r>
            <a:endParaRPr lang="en-US" dirty="0"/>
          </a:p>
          <a:p>
            <a:r>
              <a:rPr lang="en-US" dirty="0"/>
              <a:t>TEMPO: 1 min 10 s (11:05 → 12:15)</a:t>
            </a:r>
            <a:endParaRPr lang="en-US" dirty="0"/>
          </a:p>
          <a:p>
            <a:r>
              <a:rPr lang="en-US" dirty="0"/>
              <a:t>PONTO-CHAVE: Afastar causas, identificar o mecanismo, escolher a droga.</a:t>
            </a:r>
            <a:endParaRPr lang="en-US" dirty="0"/>
          </a:p>
          <a:p>
            <a:r>
              <a:rPr lang="en-US" dirty="0"/>
              <a:t>SE PERGUNTAREM: Gouvêa G, Feiner J, Joshi S, Diaz R, et al., PLoS One 2022;17(10):e0275301: estudo observacional, 19 adultos de 18 a 65 anos, TAPSE e variação fracional de área do VD em cinco fases (basal, fase de hepatectomia, fase anepática, pós-reperfusão e fechamento); função sistólica do VD preservada nas cinco fases; excluídos hipertensão portopulmonar, síndrome hepatopulmonar, doença cardiopulmonar e insuficiência hepática fulminante. População selecionada: o estudo não permite concluir que toda hipotensão na reperfusão seja vasoplegia. TAPSE e variação fracional de área dependem da carga, e o TAPSE mede apenas a excursão longitudinal do anel lateral; normais sob anestesia, com pós-carga baixa, afastam disfunção sistólica evidente nos momentos avaliados, não medem reserva contrátil.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A hipotensão intraoperatória, mesmo breve, associa-se a lesão renal aguda, lesão miocárdica, delirium e mortalidade: é a mensagem do editorial de Lineburger e colaboradores, com Rodrigo Diaz entre os autores. ▸ O POQI 2024 trata PAM de 60 em pacientes de risco como limite mínimo; com pressão venosa ou compartimental alta, o alvo sobe. ▸ Acima do piso, o ensaio positivo mais recente é o HISTAP: 630 hipertensos com 60 anos ou mais, em cirurgia abdominal maior, randomizados para PAM de pelo menos 80 ou de pelo menos 65; morte ou disfunção orgânica em 38 contra 49%, sobretudo por menos lesão renal aguda. Outros ensaios, como o POISE-3 e o IMPROVE-multi, foram neutros. ▸ Daí a proposta: monitorização contínua, manejo proativo e metas individualizadas.</a:t>
            </a:r>
            <a:endParaRPr lang="en-US" dirty="0"/>
          </a:p>
          <a:p>
            <a:r>
              <a:rPr lang="en-US" dirty="0"/>
              <a:t>TRANSIÇÃO: Para terminar, as mensagens da aula.</a:t>
            </a:r>
            <a:endParaRPr lang="en-US" dirty="0"/>
          </a:p>
          <a:p>
            <a:r>
              <a:rPr lang="en-US" dirty="0"/>
              <a:t>TEMPO: 1 min (12:15 → 13:15)</a:t>
            </a:r>
            <a:endParaRPr lang="en-US" dirty="0"/>
          </a:p>
          <a:p>
            <a:r>
              <a:rPr lang="en-US" dirty="0"/>
              <a:t>PONTO-CHAVE: PAM de 60–65 mmHg como piso; alvo maior apenas em selecionados.</a:t>
            </a:r>
            <a:endParaRPr lang="en-US" dirty="0"/>
          </a:p>
          <a:p>
            <a:r>
              <a:rPr lang="en-US" dirty="0"/>
              <a:t>SE PERGUNTAREM: Salmasi (Anesthesiology 2017) associou mais de 13 minutos acumulados com PAM abaixo de 65 mmHg a mais lesão miocárdica e renal. No HISTAP (n = 630), PAM ≥80 vs. ≥65 em hipertensos de alto risco reduziu morte ou disfunção orgânica (38,1% vs. 48,9%), sobretudo por lesão renal aguda; a PAM alcançada foi 88 vs. 77 mmHg. No IMPROVE-multi (n = 1.134), o alvo individual pela PA noturna não foi melhor que PAM ≥65 (RR 1,10; IC 95% 0,93–1,30). Índice de previsão de hipotensão e sistemas em alça fechada reduzem a exposição à hipotensão, ainda sem benefício claro em desfechos.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Voltando à pergunta do início: qual componente da PAM está falhando? ▸ Vasoplegia: noradrenalina e, quando a dose sobe, vasopressina. ▸ Baixo débito com hipoperfusão: inotrópico, com a milrinona sobretudo no VD com hipertensão pulmonar. ▸ Hipotensão anestésica com bradicardia: efedrina. ▸ Com taquicardia: fenilefrina. ▸ Anafilaxia: adrenalina. ▸ No intraoperatório, tratar cedo, com PAM mínima de 60 a 65. A droga certa corrige o componente que falha, na menor dose eficaz e pelo menor tempo.</a:t>
            </a:r>
            <a:endParaRPr lang="en-US" dirty="0"/>
          </a:p>
          <a:p>
            <a:r>
              <a:rPr lang="en-US" dirty="0"/>
              <a:t>TRANSIÇÃO: Com isso, chego ao fim.</a:t>
            </a:r>
            <a:endParaRPr lang="en-US" dirty="0"/>
          </a:p>
          <a:p>
            <a:r>
              <a:rPr lang="en-US" dirty="0"/>
              <a:t>TEMPO: 35 s (13:15 → 13:50)</a:t>
            </a:r>
            <a:endParaRPr lang="en-US" dirty="0"/>
          </a:p>
          <a:p>
            <a:r>
              <a:rPr lang="en-US" dirty="0"/>
              <a:t>PONTO-CHAVE: A droga certa corrige o componente que falha, na menor dose e pelo menor tempo.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Obrigado pela atenção. As referências completas da aula estão no QR code. Fico à disposição para perguntas.</a:t>
            </a:r>
            <a:endParaRPr lang="en-US" dirty="0"/>
          </a:p>
          <a:p>
            <a:r>
              <a:rPr lang="en-US" dirty="0"/>
              <a:t>TEMPO: 10 s (13:50 → 14:00)</a:t>
            </a:r>
            <a:endParaRPr lang="en-US" dirty="0"/>
          </a:p>
          <a:p>
            <a:r>
              <a:rPr lang="en-US" dirty="0"/>
              <a:t>PONTO-CHAVE: Referências completas no QR code; abrir para perguntas.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Deixei material de apoio em slides ocultos: a classificação das drogas e a síntese; um slide para dopamina, dobutamina, fenilefrina, efedrina e vasopressina; o esquema do AMPc; os adjuvantes do choque refratário; a sequência da SSC 2026; os alvos de pressão no choque e no intraoperatório; o início precoce e a via periférica; e o roteiro. Posso abrir o que for útil para a discussão.</a:t>
            </a:r>
            <a:endParaRPr lang="en-US" dirty="0"/>
          </a:p>
          <a:p>
            <a:r>
              <a:rPr lang="en-US" dirty="0"/>
              <a:t>USO: slides ocultos no PowerPoint, depois do Obrigado; não aparecem na apresentação. Abrir apenas se houver pergunta, indo até o slide pelo número.</a:t>
            </a:r>
            <a:endParaRPr lang="en-US" dirty="0"/>
          </a:p>
          <a:p>
            <a:r>
              <a:rPr lang="en-US" dirty="0"/>
              <a:t>PONTO-CHAVE: Daqui em diante é material de apoio, oculto na apresentação.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A via de síntese vai da tirosina à adrenalina; a tirosina hidroxilase é a etapa limitante e a PNMT, na medula adrenal, depende de cortisol. As catecolaminas têm o núcleo catecol, são degradadas por MAO e COMT e recaptadas, com meia-vida de minutos, o que favorece a infusão contínua. Fenilefrina e efedrina, sem o anel catecol, escapam da COMT, duram mais e costumam ir em bolus; a efedrina age também liberando noradrenalina.</a:t>
            </a:r>
            <a:endParaRPr lang="en-US" dirty="0"/>
          </a:p>
          <a:p>
            <a:r>
              <a:rPr lang="en-US" dirty="0"/>
              <a:t>USO: se perguntarem sobre a via de síntese das catecolaminas ou a diferença entre catecolaminas e não catecolaminas.</a:t>
            </a:r>
            <a:endParaRPr lang="en-US" dirty="0"/>
          </a:p>
          <a:p>
            <a:r>
              <a:rPr lang="en-US" dirty="0"/>
              <a:t>PONTO-CHAVE: Catecolaminas: meia-vida de minutos, infusão titulável; fenilefrina e efedrina: sem o anel catecol, duram mais, bolus.</a:t>
            </a:r>
            <a:endParaRPr lang="en-US" dirty="0"/>
          </a:p>
          <a:p>
            <a:r>
              <a:rPr lang="en-US" dirty="0"/>
              <a:t>SE PERGUNTAREM: a fenilefrina ainda é metabolizada pela MAO; a efedrina, com grupo α-metil, resiste também à MAO, o que explica a duração maior e a atividade oral.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Esta tabela resume o perfil de receptores e a dose usual de cada droga. Lendo por coluna: as drogas com α1 alto elevam a resistência, como noradrenalina e fenilefrina; as com β1 alto elevam débito e frequência, como adrenalina, dobutamina e isoproterenol; o β2 explica a vasodilatação e a subida do lactato. Milrinona e vasopressina têm zero em todas as colunas porque agem fora desses receptores: PDE3 e V1. A escala é qualitativa, e as doses são faixas usuais em adultos, tituladas pela resposta.</a:t>
            </a:r>
            <a:endParaRPr lang="en-US" dirty="0"/>
          </a:p>
          <a:p>
            <a:r>
              <a:rPr lang="en-US" dirty="0"/>
              <a:t>USO: pergunta sobre comparação entre drogas, receptores ou doses.</a:t>
            </a:r>
            <a:endParaRPr lang="en-US" dirty="0"/>
          </a:p>
          <a:p>
            <a:r>
              <a:rPr lang="en-US" dirty="0"/>
              <a:t>PONTO-CHAVE: Ler por coluna: α1 alto eleva a RVS; β1 alto eleva DC e FC; β2 explica vasodilatação e lactato.</a:t>
            </a:r>
            <a:endParaRPr lang="en-US" dirty="0"/>
          </a:p>
          <a:p>
            <a:r>
              <a:rPr lang="en-US" dirty="0"/>
              <a:t>SE PERGUNTAREM: na dopamina, o receptor predominante muda com a dose. O isoproterenol é detalhado apenas nesta tabela: uso restrito à bradicardia refratária e à ponte para marca-passo. A tabela é adaptada de Overgaard e Džavík (Circulation 2008), com escala própria. A noradrenalina tem ação β2 fraca, sem relevância clínica nas doses usuais; a tabela marca 0 por ser escala qualitativa. Adrenalina: 0,01–0,1 mcg/kg/min é a faixa de predomínio β; no choque, a dose é maior, titulada pela PAM.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A dopamina tem efeito dose-dependente, D1 em dose baixa, β1 na faixa intermediária e α1 em dose alta, mas os limiares variam muito entre pacientes. A dose “renal” não protege o rim: no ensaio da ANZICS, dopamina em 2 microgramas por quilo por minuto não mudou creatinina, diálise nem mortalidade. No SOAP II, a dopamina teve o dobro de arritmias da noradrenalina e maior mortalidade no subgrupo de choque cardiogênico. Por isso a SSC 2026 faz recomendação forte contra o uso como primeira linha. Fica um uso residual: bradicardia sintomática quando não há alternativa.</a:t>
            </a:r>
            <a:endParaRPr lang="en-US" dirty="0"/>
          </a:p>
          <a:p>
            <a:r>
              <a:rPr lang="en-US" dirty="0"/>
              <a:t>USO: pergunta sobre dose renal ou sobre dopamina no choque.</a:t>
            </a:r>
            <a:endParaRPr lang="en-US" dirty="0"/>
          </a:p>
          <a:p>
            <a:r>
              <a:rPr lang="en-US" dirty="0"/>
              <a:t>PONTO-CHAVE: A dose “renal” não protege o rim; mais arritmia que a noradrenalina.</a:t>
            </a:r>
            <a:endParaRPr lang="en-US" dirty="0"/>
          </a:p>
          <a:p>
            <a:r>
              <a:rPr lang="en-US" dirty="0"/>
              <a:t>SE PERGUNTAREM: ANZICS (Bellomo, Lancet 2000; n = 328): sem diferença no pico de creatinina, na necessidade de diálise ou na mortalidade. SOAP II (De Backer, N Engl J Med 2010): arritmias 24,1% vs. 12,4%; no subgrupo cardiogênico, mortalidade maior com dopamina (p = 0,03).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A dobutamina é uma mistura racêmica: o isômero positivo é agonista β1 e β2 e antagonista α1; o negativo é agonista α1. Os efeitos α1 em grande parte se cancelam e sobra inotropismo com queda discreta da resistência. A faixa é de 2,5 a 20 microgramas por quilo por minuto. Os limites são taquicardia, arritmia, maior consumo de oxigênio pelo miocárdio e tolerância com uso prolongado; no paciente hipovolêmico ou vasoplégico ela tende a baixar a pressão e, nesse caso, associa-se vasopressor para sustentar a pressão de perfusão. No choque cardiogênico, o DOREMI não mostrou diferença significativa em relação à milrinona.</a:t>
            </a:r>
            <a:endParaRPr lang="en-US" dirty="0"/>
          </a:p>
          <a:p>
            <a:r>
              <a:rPr lang="en-US" dirty="0"/>
              <a:t>USO: pergunta sobre dose, isômeros ou DOREMI pelo lado da dobutamina.</a:t>
            </a:r>
            <a:endParaRPr lang="en-US" dirty="0"/>
          </a:p>
          <a:p>
            <a:r>
              <a:rPr lang="en-US" dirty="0"/>
              <a:t>PONTO-CHAVE: Inotrópico β1 com vasodilatação β2; associar vasopressor quando a PAM cair.</a:t>
            </a:r>
            <a:endParaRPr lang="en-US" dirty="0"/>
          </a:p>
          <a:p>
            <a:r>
              <a:rPr lang="en-US" dirty="0"/>
              <a:t>SE PERGUNTAREM: DOREMI (n = 192): desfecho composto 54% vs. 49% com milrinona; mortalidade hospitalar 43% vs. 37%, sem diferença significativa. SSC 2026: com disfunção cardíaca e hipoperfusão persistente, dobutamina com noradrenalina ou adrenalina isolada; não há dados para comparar dobutamina e milrinona no choque séptico; sugere não usar levosimendana.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A dobutamina estimula o receptor β1; pela proteína Gs, a adenilato ciclase produz AMPc, que ativa a PKA. A PKA aumenta a entrada de cálcio pelo canal tipo L, que dispara a liberação pelo RyR2 do retículo, com mais cálcio na sístole; e fosforila o fosfolambam, que deixa de inibir a SERCA2a: a recaptação acelera e o retículo fica mais carregado para a sístole seguinte. A milrinona inibe a PDE3, a enzima que degrada o AMPc: não depende do receptor β, mas precisa de alguma produção de AMPc; por isso mantém efeito com betabloqueio, embora isso seja fundamento farmacológico, não benefício demonstrado. No músculo liso vascular, a mesma via inibe a quinase da cadeia leve da miosina e o vaso relaxa: a milrinona é inodilatadora e pode baixar a PAM.</a:t>
            </a:r>
            <a:endParaRPr lang="en-US" dirty="0"/>
          </a:p>
          <a:p>
            <a:r>
              <a:rPr lang="en-US" dirty="0"/>
              <a:t>USO: pergunta sobre o mecanismo da dobutamina e da milrinona (AMPc, PKA, PDE3), sobre betabloqueio ou sobre a figura.</a:t>
            </a:r>
            <a:endParaRPr lang="en-US" dirty="0"/>
          </a:p>
          <a:p>
            <a:r>
              <a:rPr lang="en-US" dirty="0"/>
              <a:t>PONTO-CHAVE: Dobutamina aumenta a produção de AMPc; milrinona impede a degradação; as duas convergem na PKA.</a:t>
            </a:r>
            <a:endParaRPr lang="en-US" dirty="0"/>
          </a:p>
          <a:p>
            <a:r>
              <a:rPr lang="en-US" dirty="0"/>
              <a:t>SE PERGUNTAREM: a sinalização do AMPc é compartimentalizada, com PKA e fosfodiesterases ancoradas por AKAPs em nanodomínios (Zaccolo e Kovanich, Physiol Rev 2025); parte do efeito da PKA sobre o canal tipo L passa pela fosforilação da proteína Rad, que deixa de inibir o canal (Liu, Nature 2020). O cálcio que entra pelo canal L é o gatilho da liberação pelo RyR2 (liberação induzida por cálcio), e a maior parte do cálcio da sístole vem do retículo; a fosforilação do fosfolambam, ao acelerar a SERCA2a, também aumenta a carga de cálcio do retículo. A contribuição funcional da fosforilação do RyR2 pela PKA ainda é debatida; por isso a figura não desenha seta da PKA para o RyR2.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A fenilefrina é agonista α1 direto, com ação β desprezível nas doses usuais: a pressão sobe pela resistência e a frequência cai por barorreflexo. Isso é vantagem quando a taquicardia é o problema, como em casos selecionados de estenose aórtica ou de obstrução dinâmica da via de saída, e desvantagem quando o débito depende da frequência ou há disfunção de VE. Na cesárea sob raquianestesia, o consenso de 2018 recomenda infusão profilática de vasopressor α-agonista, mantendo a pressão sistólica em pelo menos 90% da basal; a noradrenalina é alternativa cada vez mais usada, com menos bradicardia materna. No choque séptico, não há evidência para usá-la como primeira linha.</a:t>
            </a:r>
            <a:endParaRPr lang="en-US" dirty="0"/>
          </a:p>
          <a:p>
            <a:r>
              <a:rPr lang="en-US" dirty="0"/>
              <a:t>USO: pergunta sobre cesárea, estenose aórtica ou fenilefrina no choque.</a:t>
            </a:r>
            <a:endParaRPr lang="en-US" dirty="0"/>
          </a:p>
          <a:p>
            <a:r>
              <a:rPr lang="en-US" dirty="0"/>
              <a:t>PONTO-CHAVE: α1 quase puro: a PAM sobe pela resistência e a FC cai por reflexo.</a:t>
            </a:r>
            <a:endParaRPr lang="en-US" dirty="0"/>
          </a:p>
          <a:p>
            <a:r>
              <a:rPr lang="en-US" dirty="0"/>
              <a:t>SE PERGUNTAREM: bolus de 50 a 100 mcg; infusão profilática na cesárea de 25 a 50 mcg/min. Sharkey (Anesth Analg 2019): noradrenalina 6 mcg vs. fenilefrina 100 mcg em bolus, bradicardia materna 10,7% vs. 37,5%, citado na revisão de Park e Choi (Anesth Pain Med 2024). Consenso de Kinsella (Anaesthesia 2018).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A efedrina tem ação direta em α e β e ação indireta, liberando noradrenalina das terminações nervosas. Sem o anel catecol, escapa da COMT, e o grupo α-metil a protege da MAO: dura mais que as catecolaminas, o que a torna boa opção em bolus de 5 a 10 mg na hipotensão com bradicardia após indução ou raquianestesia. A ação indireta explica os limites: doses repetidas perdem efeito, a resposta cai quando os estoques de noradrenalina estão depletados e há pouca eficácia no coração transplantado. Na cesárea, atravessa a placenta e se associa a mais acidose fetal que a fenilefrina; fica como resgate.</a:t>
            </a:r>
            <a:endParaRPr lang="en-US" dirty="0"/>
          </a:p>
          <a:p>
            <a:r>
              <a:rPr lang="en-US" dirty="0"/>
              <a:t>USO: pergunta sobre efedrina, taquifilaxia ou acidose fetal.</a:t>
            </a:r>
            <a:endParaRPr lang="en-US" dirty="0"/>
          </a:p>
          <a:p>
            <a:r>
              <a:rPr lang="en-US" dirty="0"/>
              <a:t>PONTO-CHAVE: Ação mista e indireta: útil na hipotensão com bradicardia, com taquifilaxia.</a:t>
            </a:r>
            <a:endParaRPr lang="en-US" dirty="0"/>
          </a:p>
          <a:p>
            <a:r>
              <a:rPr lang="en-US" dirty="0"/>
              <a:t>SE PERGUNTAREM: interação grave com inibidores da MAO. Na cesárea, a efedrina deixou de ser a primeira escolha; continua útil como resgate quando há bradicardia (Kinsella, Anaesthesia 2018; Park e Choi, Anesth Pain Med 2024).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A vasopressina age no receptor V1 do músculo liso vascular, costuma manter efeito em acidose e com adrenoceptores dessensibilizados, e no choque séptico há deficiência relativa do hormônio endógeno. Em geral se usa dose fixa de 0,03 unidades por minuto, até 0,04, ao contrário da noradrenalina, que é titulada. A SSC 2026 sugere associar quando a noradrenalina está em escalada, sem definir um limiar; na enquete dos painelistas, a mediana foi 0,3 microgramas por quilo por minuto. No VASST não houve redução de mortalidade, e no VASSPR, publicado em outubro de 2026, antecipar a vasopressina como política hospitalar também não mudou a mortalidade.</a:t>
            </a:r>
            <a:endParaRPr lang="en-US" dirty="0"/>
          </a:p>
          <a:p>
            <a:r>
              <a:rPr lang="en-US" dirty="0"/>
              <a:t>USO: pergunta sobre quando associar vasopressina, dose ou VASST/VASSPR.</a:t>
            </a:r>
            <a:endParaRPr lang="en-US" dirty="0"/>
          </a:p>
          <a:p>
            <a:r>
              <a:rPr lang="en-US" dirty="0"/>
              <a:t>PONTO-CHAVE: Age no V1, fora da via adrenérgica; associar quando a noradrenalina está em escalada.</a:t>
            </a:r>
            <a:endParaRPr lang="en-US" dirty="0"/>
          </a:p>
          <a:p>
            <a:r>
              <a:rPr lang="en-US" dirty="0"/>
              <a:t>SE PERGUNTAREM: VASST (Russell, N Engl J Med 2008): mortalidade em 28 dias 35,4% vs. 39,3%; no subgrupo de choque menos grave (NA de 5 a 14 mcg/min), 26,5% vs. 35,7%, achado gerador de hipótese. VANISH (Gordon, JAMA 2016): vasopressina precoce sem diferença em dias livres de falência renal. VASSPR (Peltan, JAMA 2026; n = 3.959; publicado em 14/10/2026): políticas de início com NA-equivalente de 0,1 vs. 0,4 mcg/kg/min (13 hospitais, cluster-crossover); vasopressina usada em 52,4% vs. 32,9%; mortalidade 31,8% vs. 33,0%. No escore de equivalente de noradrenalina (Kotani, Crit Care 2023), a vasopressina entra como U/min × 2,5: 0,03 U/min ≈ 0,075 mcg/kg/min. É convenção para comparar estudos, não equipotência clínica.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Quando o choque não responde à noradrenalina, a estratégia é associar drogas de mecanismos diferentes. A hidrocortisona restaura a resposta vascular às catecolaminas: no ADRENAL, 3.800 pacientes com choque séptico em ventilação mecânica receberam hidrocortisona ou placebo, com resolução mais rápida do choque e mortalidade semelhante em 90 dias; no APROCCHSS, 1.241 pacientes com choque séptico receberam hidrocortisona com fludrocortisona ou placebo, e a mortalidade em 90 dias caiu de 49 para 43%; a SSC 2026 sugere usar. A angiotensina II, agonista AT1, foi testada no ATHOS-3 em 344 pacientes com choque vasodilatador refratário: elevou a PAM em 3 horas em 70% contra 23% do placebo, sem mudar a mortalidade; é pouco disponível. O azul de metileno inibe a via do óxido nítrico; os ensaios são pequenos e a SSC considera a evidência insuficiente. Milrinona e levosimendana são inodilatadores não adrenérgicos; a SSC sugere não usar levosimendana.</a:t>
            </a:r>
            <a:endParaRPr lang="en-US" dirty="0"/>
          </a:p>
          <a:p>
            <a:r>
              <a:rPr lang="en-US" dirty="0"/>
              <a:t>USO: pergunta sobre hidrocortisona, angiotensina II, azul de metileno ou levosimendana.</a:t>
            </a:r>
            <a:endParaRPr lang="en-US" dirty="0"/>
          </a:p>
          <a:p>
            <a:r>
              <a:rPr lang="en-US" dirty="0"/>
              <a:t>PONTO-CHAVE: No choque refratário, associar mecanismos diferentes em vez de subir indefinidamente a mesma droga.</a:t>
            </a:r>
            <a:endParaRPr lang="en-US" dirty="0"/>
          </a:p>
          <a:p>
            <a:r>
              <a:rPr lang="en-US" dirty="0"/>
              <a:t>SE PERGUNTAREM: ATHOS-3 (Khanna, N Engl J Med 2017; n = 344): resposta da PAM em 3 h em 69,9% vs. 23,4%; mortalidade em 28 dias 46% vs. 53,8% (NS). Hidrocortisona: 200 mg/dia (condicional, certeza baixa). Azul de metileno: na enquete com os painelistas da SSC 2026, 69% nunca ou quase nunca o usam como resgate; contraindicado na deficiência de G6PD; subestima a SpO₂ e reduz o BIS; síndrome serotoninérgica com serotoninérgicos, por inibir a MAO-A. A angiotensina II é pouco disponível; confirmar no serviço antes de citá-la como opção.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Este slide repete a sequência da SSC 2026 com a força de cada recomendação. Noradrenalina em primeiro lugar: recomendação forte em relação à dopamina, condicional em relação à vasopressina e à angiotensina II; iniciada cedo e, se preciso, por veia periférica. Vasopressina quando a noradrenalina está em escalada, sugestão condicional com certeza moderada. Adrenalina se a pressão continuar inadequada, condicional com certeza muito baixa. Na disfunção cardíaca com hipoperfusão apesar de volume e pressão adequados, dobutamina com noradrenalina ou adrenalina isolada. Hidrocortisona sugerida. Contra: dopamina como primeira linha, levosimendana e terlipressina. Azul de metileno sem recomendação, por evidência insuficiente.</a:t>
            </a:r>
            <a:endParaRPr lang="en-US" dirty="0"/>
          </a:p>
          <a:p>
            <a:r>
              <a:rPr lang="en-US" dirty="0"/>
              <a:t>USO: pergunta sobre o que mudou na SSC 2026 ou sobre a força das recomendações.</a:t>
            </a:r>
            <a:endParaRPr lang="en-US" dirty="0"/>
          </a:p>
          <a:p>
            <a:r>
              <a:rPr lang="en-US" dirty="0"/>
              <a:t>PONTO-CHAVE: Noradrenalina, vasopressina e adrenalina em sequência, com a força de cada recomendação.</a:t>
            </a:r>
            <a:endParaRPr lang="en-US" dirty="0"/>
          </a:p>
          <a:p>
            <a:r>
              <a:rPr lang="en-US" dirty="0"/>
              <a:t>SE PERGUNTAREM: a preferência pela noradrenalina em relação à vasopressina e à angiotensina II passou a ser condicional; a sugestão de via periférica já existia em 2021; as sugestões contra levosimendana e terlipressina também são de 2021 e foram mantidas em 2026 (condicionais; a da terlipressina com certeza baixa). A diretriz não define limiar numérico para associar vasopressina (Prescott, Crit Care Med 2026).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A SSC 2026 mantém 65 mmHg como alvo inicial no choque séptico, com recomendação forte, e sugere 60 a 65 a partir dos 65 anos. A base é o 65 trial: 2.600 pacientes com 65 anos ou mais em choque vasodilatador, randomizados para hipotensão permissiva, com PAM de 60 a 65, ou cuidado usual; a mortalidade em 90 dias foi 41 contra 44%, sem diferença estatisticamente significativa, com menos vasopressor no grupo permissivo. O OPTPRESS testou o contrário: 518 pacientes com 65 anos ou mais em choque séptico, alvo de 80 a 85 ou de 65 a 70; foi interrompido por dano, com mortalidade de 39 contra 29% no alvo alto. A ESICM 2025 recomenda individualizar: alvo maior pode fazer sentido na hipertensão crônica ou com pressão venosa alta, se houver melhora clínica com a pressão mais alta.</a:t>
            </a:r>
            <a:endParaRPr lang="en-US" dirty="0"/>
          </a:p>
          <a:p>
            <a:r>
              <a:rPr lang="en-US" dirty="0"/>
              <a:t>USO: pergunta sobre alvo de PAM no choque séptico ou sobre idosos.</a:t>
            </a:r>
            <a:endParaRPr lang="en-US" dirty="0"/>
          </a:p>
          <a:p>
            <a:r>
              <a:rPr lang="en-US" dirty="0"/>
              <a:t>PONTO-CHAVE: 65 mmHg como alvo inicial; 60 a 65 a partir dos 65 anos; alvo alto fez mal no OPTPRESS.</a:t>
            </a:r>
            <a:endParaRPr lang="en-US" dirty="0"/>
          </a:p>
          <a:p>
            <a:r>
              <a:rPr lang="en-US" dirty="0"/>
              <a:t>SE PERGUNTAREM: 65 trial (Lamontagne, JAMA 2020; n = 2.463 na análise primária): mortalidade em 90 dias 41,0% vs. 43,8% (NS); menor dose e menor duração de vasopressor; OR ajustada 0,82. OPTPRESS (Endo, Intensive Care Med 2025; n = 518; 29 hospitais japoneses): mortalidade em 90 dias 39,3% vs. 28,6%, diferença absoluta de 10,7 pontos (IC 95% 2,6–18,9), menos dias livres de terapia renal substitutiva no alvo alto; o protocolo associava vasopressina cedo. ESICM 2025: alvo menor no trauma com sangramento ativo sem TCE; PAM ≥80 mmHg no TCE grave.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No CENSER, 310 pacientes com choque séptico receberam, desde a admissão, noradrenalina em dose baixa e fixa ou o cuidado padrão: o controle do choque em 6 horas subiu de 48 para 76%, com menos edema pulmonar e arritmia e sem diferença de mortalidade. A via periférica mostrou-se segura com protocolo: na metanálise de Tran, com 1.835 pacientes recebendo vasopressor por veia periférica, as complicações ficaram em torno de 7%, 96% delas leves, e caíram com protocolo de segurança; a SSC 2026 sugere iniciar por via periférica em vez de esperar o acesso central. E um detalhe de prescrição: no Brasil, a ampola de hemitartarato de 2 miligramas por mililitro equivale a 1 miligrama por mililitro de noradrenalina base, portanto, a mesma infusão expressa em sal tem o dobro do valor em base; convém especificar a forma na prescrição e ao comparar com estudos.</a:t>
            </a:r>
            <a:endParaRPr lang="en-US" dirty="0"/>
          </a:p>
          <a:p>
            <a:r>
              <a:rPr lang="en-US" dirty="0"/>
              <a:t>USO: pergunta sobre início precoce, via periférica ou prescrição em base e sal.</a:t>
            </a:r>
            <a:endParaRPr lang="en-US" dirty="0"/>
          </a:p>
          <a:p>
            <a:r>
              <a:rPr lang="en-US" dirty="0"/>
              <a:t>PONTO-CHAVE: Começar cedo, por veia periférica se preciso, e especificar base ou sal na prescrição.</a:t>
            </a:r>
            <a:endParaRPr lang="en-US" dirty="0"/>
          </a:p>
          <a:p>
            <a:r>
              <a:rPr lang="en-US" dirty="0"/>
              <a:t>SE PERGUNTAREM: CENSER (Permpikul, Am J Respir Crit Care Med 2019; n = 310): NA 0,05 mcg/kg/min por 24 h; controle do choque em 6 h 76,1% vs. 48,4%; edema pulmonar 14,4% vs. 27,7%; mortalidade em 28 dias 15,5% vs. 21,9% (NS). Tran (Am J Emerg Med 2020): 122 complicações em 1.835 pacientes (7%), prevalência combinada 8,6% (IC 95% 3,1–21%), 2,9% vs. 12% com protocolo. Na prática: veia calibrosa e proximal, inspeção frequente, plano para acesso central se a dose subir; no extravasamento, fentolamina local. Kattan, Ibarra-Estrada e Jung (Intensive Care Med 2024): 0,1 mcg/kg/min de sal ≈ 0,05 de base.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Três ensaios recentes testaram alvos mais altos no intraoperatório. O POISE-3, com 7.490 pacientes de risco cardiovascular em cirurgia não cardíaca, comparou evitar hipotensão, com PAM de 80, IECA e BRA suspensos e os demais anti-hipertensivos condicionados à pressão sistólica, a evitar hipertensão, com PAM de 60 e todos os anti-hipertensivos mantidos: eventos vasculares em 30 dias semelhantes, 13,9 contra 14,0%. O IMPROVE-multi, com 1.134 pacientes em cirurgia abdominal maior, individualizou o alvo pela pressão basal noturna e não foi melhor que 65. O HISTAP, com 630 idosos hipertensos em cirurgia abdominal maior, encontrou menos morte ou disfunção orgânica com PAM de 80, 38 contra 49%, sobretudo por menos lesão renal aguda. A leitura prática é a do POQI: PAM de 60 é o piso em pacientes de risco, maior se a pressão venosa ou compartimental estiver alta; acima do piso, o benefício demonstrado até agora foi em hipertensos de alto risco.</a:t>
            </a:r>
            <a:endParaRPr lang="en-US" dirty="0"/>
          </a:p>
          <a:p>
            <a:r>
              <a:rPr lang="en-US" dirty="0"/>
              <a:t>USO: pergunta sobre os ensaios de alvo de PAM no intraoperatório.</a:t>
            </a:r>
            <a:endParaRPr lang="en-US" dirty="0"/>
          </a:p>
          <a:p>
            <a:r>
              <a:rPr lang="en-US" dirty="0"/>
              <a:t>PONTO-CHAVE: Evitar PAM abaixo de 60 a 65 é consenso; subir o alvo mostrou-se útil, até agora, em hipertensos de alto risco.</a:t>
            </a:r>
            <a:endParaRPr lang="en-US" dirty="0"/>
          </a:p>
          <a:p>
            <a:r>
              <a:rPr lang="en-US" dirty="0"/>
              <a:t>SE PERGUNTAREM: POISE-3 (Marcucci, Ann Intern Med 2023; n = 7.490): eventos vasculares em 30 dias 13,9% vs. 14,0%. IMPROVE-multi (Saugel, JAMA 2025; n = 1.134): composto em 7 dias 33,5% vs. 30,5% (RR 1,10; IC 95% 0,93–1,30). HISTAP (Cecconi, Intensive Care Med 2026; n = 630; 18 centros italianos): 38,1% vs. 48,9% (RR 0,78); lesão renal aguda leve a moderada 23,5% vs. 33,7%; PAM média alcançada 88 vs. 77 mmHg, com mais noradrenalina, efedrina e transfusão no alvo alto. POQI (Saugel, Br J Anaesth 2024).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A aula vai do raciocínio fisiológico para a farmacologia dos receptores, depois para cada droga, com a milrinona e a escolha frente à dobutamina como eixo, e termina na aplicação no choque séptico e no centro cirúrgico.</a:t>
            </a:r>
            <a:endParaRPr lang="en-US" dirty="0"/>
          </a:p>
          <a:p>
            <a:r>
              <a:rPr lang="en-US" dirty="0"/>
              <a:t>USO: apenas se alguém pedir a estrutura da aula; o slide de objetivos faz esse papel na apresentação.</a:t>
            </a:r>
            <a:endParaRPr lang="en-US" dirty="0"/>
          </a:p>
          <a:p>
            <a:r>
              <a:rPr lang="en-US" dirty="0"/>
              <a:t>PONTO-CHAVE: Do raciocínio fisiológico para a farmacologia, para cada droga e, por fim, para a aplicação.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pa">
    <p:bg>
      <p:bgPr>
        <a:solidFill>
          <a:srgbClr val="1B2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812800" y="4245839"/>
            <a:ext cx="9042400" cy="1493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600" dirty="0">
                <a:solidFill>
                  <a:srgbClr val="F5F3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56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údo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ncerramento">
    <p:bg>
      <p:bgPr>
        <a:solidFill>
          <a:srgbClr val="1B2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812800" y="2792781"/>
            <a:ext cx="6502400" cy="1493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600" dirty="0">
                <a:solidFill>
                  <a:srgbClr val="F5F3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5600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sor">
    <p:bg>
      <p:bgPr>
        <a:solidFill>
          <a:srgbClr val="1B2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812800" y="1847982"/>
            <a:ext cx="10718800" cy="497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dirty="0">
                <a:solidFill>
                  <a:srgbClr val="E49A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14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SSÃO CLÍNICA · ANESTESIOLOGIA"/>
          <p:cNvSpPr txBox="1"/>
          <p:nvPr/>
        </p:nvSpPr>
        <p:spPr>
          <a:xfrm>
            <a:off x="812800" y="3704861"/>
            <a:ext cx="105854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spc="15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SESSÃO CLÍNICA · ANESTESIOLOGIA</a:t>
            </a:r>
            <a:endParaRPr lang="en-US" sz="14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4245839"/>
            <a:ext cx="9042400" cy="1493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880"/>
              </a:lnSpc>
              <a:buNone/>
            </a:pPr>
            <a:r>
              <a:rPr lang="pt-BR" altLang="en-US" sz="5600" dirty="0">
                <a:solidFill>
                  <a:srgbClr val="F5F3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Aminas vasoativas</a:t>
            </a:r>
            <a:endParaRPr lang="en-US" sz="5600" dirty="0"/>
          </a:p>
        </p:txBody>
      </p:sp>
      <p:sp>
        <p:nvSpPr>
          <p:cNvPr id="4" name="Fisiologia, farmacologia e escolha da dr"/>
          <p:cNvSpPr txBox="1"/>
          <p:nvPr/>
        </p:nvSpPr>
        <p:spPr>
          <a:xfrm>
            <a:off x="812800" y="5204434"/>
            <a:ext cx="8909050" cy="3199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pt-BR" altLang="en-US" sz="18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Fisiologia, farmacologia e escolha da droga no choque e no perioperatório</a:t>
            </a:r>
            <a:endParaRPr lang="en-US" sz="1800" dirty="0"/>
          </a:p>
        </p:txBody>
      </p:sp>
      <p:sp>
        <p:nvSpPr>
          <p:cNvPr id="5" name="Bruno Dubois · Orientadores: Marcelo Ban"/>
          <p:cNvSpPr txBox="1"/>
          <p:nvPr/>
        </p:nvSpPr>
        <p:spPr>
          <a:xfrm>
            <a:off x="812800" y="5782402"/>
            <a:ext cx="105854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Bruno Dubois · Orientadores: Marcelo Bandeira e Glauber Gouvêa · UFRJ</a:t>
            </a:r>
            <a:endParaRPr lang="en-US" sz="1400" dirty="0"/>
          </a:p>
        </p:txBody>
      </p:sp>
      <p:pic>
        <p:nvPicPr>
          <p:cNvPr id="6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TIVOS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OBJETIVOS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Escolher a droga pelo mecanismo da hipotensão</a:t>
            </a:r>
            <a:endParaRPr lang="en-US" sz="3200" dirty="0"/>
          </a:p>
        </p:txBody>
      </p:sp>
      <p:sp>
        <p:nvSpPr>
          <p:cNvPr id="4" name="[p1] 01"/>
          <p:cNvSpPr txBox="1"/>
          <p:nvPr/>
        </p:nvSpPr>
        <p:spPr>
          <a:xfrm>
            <a:off x="812800" y="1857860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2400" dirty="0"/>
          </a:p>
        </p:txBody>
      </p:sp>
      <p:sp>
        <p:nvSpPr>
          <p:cNvPr id="5" name="[p1] Distinguir vasoplegia, falência de bomba"/>
          <p:cNvSpPr txBox="1"/>
          <p:nvPr/>
        </p:nvSpPr>
        <p:spPr>
          <a:xfrm>
            <a:off x="1371600" y="1964280"/>
            <a:ext cx="5110262" cy="280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Distinguir vasoplegia, falência de bomba e pré-carga baixa</a:t>
            </a:r>
            <a:endParaRPr lang="en-US" sz="1700" dirty="0"/>
          </a:p>
        </p:txBody>
      </p:sp>
      <p:sp>
        <p:nvSpPr>
          <p:cNvPr id="6" name="[p2] 02"/>
          <p:cNvSpPr txBox="1"/>
          <p:nvPr/>
        </p:nvSpPr>
        <p:spPr>
          <a:xfrm>
            <a:off x="812800" y="2462301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2400" dirty="0"/>
          </a:p>
        </p:txBody>
      </p:sp>
      <p:sp>
        <p:nvSpPr>
          <p:cNvPr id="7" name="[p2] Ligar o perfil de receptores de cada dro"/>
          <p:cNvSpPr txBox="1"/>
          <p:nvPr/>
        </p:nvSpPr>
        <p:spPr>
          <a:xfrm>
            <a:off x="1371600" y="2568720"/>
            <a:ext cx="6213773" cy="280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Ligar o perfil de receptores de cada droga ao seu efeito hemodinâmico</a:t>
            </a:r>
            <a:endParaRPr lang="en-US" sz="1700" dirty="0"/>
          </a:p>
        </p:txBody>
      </p:sp>
      <p:sp>
        <p:nvSpPr>
          <p:cNvPr id="8" name="[p3] 03"/>
          <p:cNvSpPr txBox="1"/>
          <p:nvPr/>
        </p:nvSpPr>
        <p:spPr>
          <a:xfrm>
            <a:off x="812800" y="3066741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2400" dirty="0"/>
          </a:p>
        </p:txBody>
      </p:sp>
      <p:sp>
        <p:nvSpPr>
          <p:cNvPr id="9" name="[p3] Doses, indicações e cuidados; quando pre"/>
          <p:cNvSpPr txBox="1"/>
          <p:nvPr/>
        </p:nvSpPr>
        <p:spPr>
          <a:xfrm>
            <a:off x="1371600" y="3173161"/>
            <a:ext cx="6329263" cy="280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Doses, indicações e cuidados; quando preferir milrinona ou dobutamina</a:t>
            </a:r>
            <a:endParaRPr lang="en-US" sz="1700" dirty="0"/>
          </a:p>
        </p:txBody>
      </p:sp>
      <p:sp>
        <p:nvSpPr>
          <p:cNvPr id="10" name="[p4] 04"/>
          <p:cNvSpPr txBox="1"/>
          <p:nvPr/>
        </p:nvSpPr>
        <p:spPr>
          <a:xfrm>
            <a:off x="812800" y="3671182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2400" dirty="0"/>
          </a:p>
        </p:txBody>
      </p:sp>
      <p:sp>
        <p:nvSpPr>
          <p:cNvPr id="11" name="[p4] Aplicar no choque séptico e na hipotensã"/>
          <p:cNvSpPr txBox="1"/>
          <p:nvPr/>
        </p:nvSpPr>
        <p:spPr>
          <a:xfrm>
            <a:off x="1371600" y="3777602"/>
            <a:ext cx="5131891" cy="280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Aplicar no choque séptico e na hipotensão intraoperatória</a:t>
            </a:r>
            <a:endParaRPr lang="en-US" sz="1700" dirty="0"/>
          </a:p>
        </p:txBody>
      </p:sp>
      <p:sp>
        <p:nvSpPr>
          <p:cNvPr id="12" name="[p5] Cartão"/>
          <p:cNvSpPr/>
          <p:nvPr/>
        </p:nvSpPr>
        <p:spPr>
          <a:xfrm>
            <a:off x="812800" y="4424263"/>
            <a:ext cx="10566400" cy="988020"/>
          </a:xfrm>
          <a:prstGeom prst="roundRect">
            <a:avLst>
              <a:gd name="adj" fmla="val 771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3" name="[p5] Pergunta central"/>
          <p:cNvSpPr txBox="1"/>
          <p:nvPr/>
        </p:nvSpPr>
        <p:spPr>
          <a:xfrm>
            <a:off x="1073150" y="4604959"/>
            <a:ext cx="3002756" cy="568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480"/>
              </a:lnSpc>
              <a:buNone/>
            </a:pPr>
            <a:r>
              <a:rPr lang="pt-BR" altLang="en-US" sz="3200" dirty="0">
                <a:solidFill>
                  <a:srgbClr val="B958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Pergunta central</a:t>
            </a:r>
            <a:endParaRPr lang="en-US" sz="3200" dirty="0"/>
          </a:p>
        </p:txBody>
      </p:sp>
      <p:sp>
        <p:nvSpPr>
          <p:cNvPr id="14" name="[p5] Qual componente da PAM está falhando? A "/>
          <p:cNvSpPr txBox="1"/>
          <p:nvPr/>
        </p:nvSpPr>
        <p:spPr>
          <a:xfrm>
            <a:off x="4463256" y="4769969"/>
            <a:ext cx="6247507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pt-BR" altLang="en-US" sz="15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 componente da PAM está falhando? A resposta orienta a escolha da droga.</a:t>
            </a:r>
            <a:endParaRPr lang="en-US" sz="1500" dirty="0"/>
          </a:p>
        </p:txBody>
      </p:sp>
      <p:pic>
        <p:nvPicPr>
          <p:cNvPr id="15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  <p:bldP spid="7" grpId="0"/>
      <p:bldP spid="8" grpId="0"/>
      <p:bldP spid="9" grpId="0"/>
      <p:bldP spid="10" grpId="0"/>
      <p:bldP spid="11" grpId="0"/>
      <p:bldP spid="12" grpId="0" animBg="1"/>
      <p:bldP spid="13" grpId="0"/>
      <p:bldP spid="14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1 · FISIOLOGI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FISIOLOGIA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Determinantes da pressão arterial média</a:t>
            </a:r>
            <a:endParaRPr lang="en-US" sz="3200" dirty="0"/>
          </a:p>
        </p:txBody>
      </p:sp>
      <p:sp>
        <p:nvSpPr>
          <p:cNvPr id="4" name="[p1] Cartão"/>
          <p:cNvSpPr/>
          <p:nvPr/>
        </p:nvSpPr>
        <p:spPr>
          <a:xfrm>
            <a:off x="812800" y="1879501"/>
            <a:ext cx="3386634" cy="2124075"/>
          </a:xfrm>
          <a:prstGeom prst="roundRect">
            <a:avLst>
              <a:gd name="adj" fmla="val 358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5" name="[p1] Vasoplegia"/>
          <p:cNvSpPr txBox="1"/>
          <p:nvPr/>
        </p:nvSpPr>
        <p:spPr>
          <a:xfrm>
            <a:off x="1073150" y="2135857"/>
            <a:ext cx="28849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Vasoplegia</a:t>
            </a:r>
            <a:endParaRPr lang="en-US" sz="1700" dirty="0"/>
          </a:p>
        </p:txBody>
      </p:sp>
      <p:sp>
        <p:nvSpPr>
          <p:cNvPr id="6" name="[p1] RVS baixa, DC em geral preservado ou alt"/>
          <p:cNvSpPr txBox="1"/>
          <p:nvPr/>
        </p:nvSpPr>
        <p:spPr>
          <a:xfrm>
            <a:off x="1073150" y="2484480"/>
            <a:ext cx="2884984" cy="9941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RVS baixa, DC em geral preservado ou alto: sepse, anestesia geral, bloqueio de neuroeixo, anafilaxia, pós-CEC. Alvo: tônus arterial (α1 ou V1).</a:t>
            </a:r>
            <a:endParaRPr lang="en-US" sz="1350" dirty="0"/>
          </a:p>
        </p:txBody>
      </p:sp>
      <p:sp>
        <p:nvSpPr>
          <p:cNvPr id="7" name="[p2] Cartão"/>
          <p:cNvSpPr/>
          <p:nvPr/>
        </p:nvSpPr>
        <p:spPr>
          <a:xfrm>
            <a:off x="4402634" y="1879501"/>
            <a:ext cx="3386634" cy="2124075"/>
          </a:xfrm>
          <a:prstGeom prst="roundRect">
            <a:avLst>
              <a:gd name="adj" fmla="val 358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8" name="[p2] Falência de bomba"/>
          <p:cNvSpPr txBox="1"/>
          <p:nvPr/>
        </p:nvSpPr>
        <p:spPr>
          <a:xfrm>
            <a:off x="4662984" y="2135857"/>
            <a:ext cx="28849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Falência de bomba</a:t>
            </a:r>
            <a:endParaRPr lang="en-US" sz="1700" dirty="0"/>
          </a:p>
        </p:txBody>
      </p:sp>
      <p:sp>
        <p:nvSpPr>
          <p:cNvPr id="9" name="[p2] DC baixo, RVS em geral alta: choque card"/>
          <p:cNvSpPr txBox="1"/>
          <p:nvPr/>
        </p:nvSpPr>
        <p:spPr>
          <a:xfrm>
            <a:off x="4662984" y="2484480"/>
            <a:ext cx="2884984" cy="12427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 baixo, RVS em geral alta: choque cardiogênico; na sepse pode coexistir com vasoplegia. Alvo: contratilidade (β1 ou PDE3), com vasopressor se a PAM cair.</a:t>
            </a:r>
            <a:endParaRPr lang="en-US" sz="1350" dirty="0"/>
          </a:p>
        </p:txBody>
      </p:sp>
      <p:sp>
        <p:nvSpPr>
          <p:cNvPr id="10" name="[p3] Cartão"/>
          <p:cNvSpPr/>
          <p:nvPr/>
        </p:nvSpPr>
        <p:spPr>
          <a:xfrm>
            <a:off x="7992467" y="1879501"/>
            <a:ext cx="3386634" cy="2124075"/>
          </a:xfrm>
          <a:prstGeom prst="roundRect">
            <a:avLst>
              <a:gd name="adj" fmla="val 358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1" name="[p3] Pré-carga baixa"/>
          <p:cNvSpPr txBox="1"/>
          <p:nvPr/>
        </p:nvSpPr>
        <p:spPr>
          <a:xfrm>
            <a:off x="8252817" y="2135857"/>
            <a:ext cx="28849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Pré-carga baixa</a:t>
            </a:r>
            <a:endParaRPr lang="en-US" sz="1700" dirty="0"/>
          </a:p>
        </p:txBody>
      </p:sp>
      <p:sp>
        <p:nvSpPr>
          <p:cNvPr id="12" name="[p3] Hipovolemia pede volume. O α1 também con"/>
          <p:cNvSpPr txBox="1"/>
          <p:nvPr/>
        </p:nvSpPr>
        <p:spPr>
          <a:xfrm>
            <a:off x="8252817" y="2484480"/>
            <a:ext cx="2884984" cy="9941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Hipovolemia pede volume. O α1 também contrai veias e recruta volume não estressado, elevando o retorno venoso.</a:t>
            </a:r>
            <a:endParaRPr lang="en-US" sz="1350" dirty="0"/>
          </a:p>
        </p:txBody>
      </p:sp>
      <p:sp>
        <p:nvSpPr>
          <p:cNvPr id="13" name="[p4] Cartão"/>
          <p:cNvSpPr/>
          <p:nvPr/>
        </p:nvSpPr>
        <p:spPr>
          <a:xfrm>
            <a:off x="812800" y="4308376"/>
            <a:ext cx="10566400" cy="988020"/>
          </a:xfrm>
          <a:prstGeom prst="roundRect">
            <a:avLst>
              <a:gd name="adj" fmla="val 771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4" name="[p4] Como diferenciar?"/>
          <p:cNvSpPr txBox="1"/>
          <p:nvPr/>
        </p:nvSpPr>
        <p:spPr>
          <a:xfrm>
            <a:off x="1073150" y="4489071"/>
            <a:ext cx="3327598" cy="568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480"/>
              </a:lnSpc>
              <a:buNone/>
            </a:pPr>
            <a:r>
              <a:rPr lang="pt-BR" altLang="en-US" sz="3200" dirty="0">
                <a:solidFill>
                  <a:srgbClr val="B958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Como diferenciar?</a:t>
            </a:r>
            <a:endParaRPr lang="en-US" sz="3200" dirty="0"/>
          </a:p>
        </p:txBody>
      </p:sp>
      <p:sp>
        <p:nvSpPr>
          <p:cNvPr id="15" name="[p4] Eco precoce para o tipo de choque; parâm"/>
          <p:cNvSpPr txBox="1"/>
          <p:nvPr/>
        </p:nvSpPr>
        <p:spPr>
          <a:xfrm>
            <a:off x="4788098" y="4520732"/>
            <a:ext cx="6349802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pt-BR" altLang="en-US" sz="15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 precoce para o tipo de choque; parâmetros dinâmicos para a resposta a volume; perfusão seriada (enchimento capilar).</a:t>
            </a:r>
            <a:endParaRPr lang="en-US" sz="1500" dirty="0"/>
          </a:p>
        </p:txBody>
      </p:sp>
      <p:sp>
        <p:nvSpPr>
          <p:cNvPr id="16" name="Miller’s Anesthesia, 10ª ed. (2025) · Pe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Miller’s Anesthesia, 10ª ed. (2025) · Persichini, Crit Care Med 2012 · ESICM 2025</a:t>
            </a:r>
            <a:endParaRPr lang="en-US" sz="1200" dirty="0"/>
          </a:p>
        </p:txBody>
      </p:sp>
      <p:pic>
        <p:nvPicPr>
          <p:cNvPr id="17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/>
      <p:bldP spid="6" grpId="0"/>
      <p:bldP spid="7" grpId="0" animBg="1"/>
      <p:bldP spid="8" grpId="0"/>
      <p:bldP spid="9" grpId="0"/>
      <p:bldP spid="10" grpId="0" animBg="1"/>
      <p:bldP spid="11" grpId="0"/>
      <p:bldP spid="12" grpId="0"/>
      <p:bldP spid="13" grpId="0" animBg="1"/>
      <p:bldP spid="14" grpId="0"/>
      <p:bldP spid="15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1 · FISIOLOGIA · PERFUSÃO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FISIOLOGIA · PERFUSÃO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Pressão arterial não garante perfusão</a:t>
            </a:r>
            <a:endParaRPr lang="en-US" sz="3200" dirty="0"/>
          </a:p>
        </p:txBody>
      </p:sp>
      <p:sp>
        <p:nvSpPr>
          <p:cNvPr id="4" name="[p1] Cartão"/>
          <p:cNvSpPr/>
          <p:nvPr/>
        </p:nvSpPr>
        <p:spPr>
          <a:xfrm>
            <a:off x="812800" y="1879501"/>
            <a:ext cx="5181600" cy="2233811"/>
          </a:xfrm>
          <a:prstGeom prst="roundRect">
            <a:avLst>
              <a:gd name="adj" fmla="val 3411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5" name="[p1] Sinais de hipoperfusão"/>
          <p:cNvSpPr txBox="1"/>
          <p:nvPr/>
        </p:nvSpPr>
        <p:spPr>
          <a:xfrm>
            <a:off x="1073150" y="2135857"/>
            <a:ext cx="46799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Sinais de hipoperfusão</a:t>
            </a:r>
            <a:endParaRPr lang="en-US" sz="1700" dirty="0"/>
          </a:p>
        </p:txBody>
      </p:sp>
      <p:sp>
        <p:nvSpPr>
          <p:cNvPr id="6" name="[p1] Enchimento capilar lento, livedo, extrem"/>
          <p:cNvSpPr txBox="1"/>
          <p:nvPr/>
        </p:nvSpPr>
        <p:spPr>
          <a:xfrm>
            <a:off x="1073150" y="2512452"/>
            <a:ext cx="4679950" cy="2400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203200" indent="-203200">
              <a:lnSpc>
                <a:spcPts val="1890"/>
              </a:lnSpc>
              <a:buSzPct val="100000"/>
              <a:buChar char="•"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Enchimento capilar lento, livedo, extremidades frias</a:t>
            </a:r>
            <a:endParaRPr lang="en-US" sz="1350" dirty="0"/>
          </a:p>
        </p:txBody>
      </p:sp>
      <p:sp>
        <p:nvSpPr>
          <p:cNvPr id="7" name="[p1] Lactato alto ou sem queda; SvcO₂ baixa; "/>
          <p:cNvSpPr txBox="1"/>
          <p:nvPr/>
        </p:nvSpPr>
        <p:spPr>
          <a:xfrm>
            <a:off x="1073150" y="2815962"/>
            <a:ext cx="4679950" cy="48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03200" indent="-203200">
              <a:lnSpc>
                <a:spcPts val="1890"/>
              </a:lnSpc>
              <a:buSzPct val="100000"/>
              <a:buChar char="•"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Lactato alto ou sem queda; SvcO</a:t>
            </a:r>
            <a:r>
              <a:rPr lang="pt-BR" altLang="en-US" sz="1350" baseline="-250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baixa; gap venoarterial de CO</a:t>
            </a:r>
            <a:r>
              <a:rPr lang="pt-BR" altLang="en-US" sz="1350" baseline="-250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alto</a:t>
            </a:r>
            <a:endParaRPr lang="en-US" sz="1350" dirty="0"/>
          </a:p>
        </p:txBody>
      </p:sp>
      <p:sp>
        <p:nvSpPr>
          <p:cNvPr id="8" name="[p1] Oligúria e alteração da consciência"/>
          <p:cNvSpPr txBox="1"/>
          <p:nvPr/>
        </p:nvSpPr>
        <p:spPr>
          <a:xfrm>
            <a:off x="1073150" y="3359483"/>
            <a:ext cx="4679950" cy="2400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203200" indent="-203200">
              <a:lnSpc>
                <a:spcPts val="1890"/>
              </a:lnSpc>
              <a:buSzPct val="100000"/>
              <a:buChar char="•"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Oligúria e alteração da consciência</a:t>
            </a:r>
            <a:endParaRPr lang="en-US" sz="1350" dirty="0"/>
          </a:p>
        </p:txBody>
      </p:sp>
      <p:sp>
        <p:nvSpPr>
          <p:cNvPr id="9" name="[p2] Cartão"/>
          <p:cNvSpPr/>
          <p:nvPr/>
        </p:nvSpPr>
        <p:spPr>
          <a:xfrm>
            <a:off x="6197600" y="1879501"/>
            <a:ext cx="5181600" cy="2233811"/>
          </a:xfrm>
          <a:prstGeom prst="roundRect">
            <a:avLst>
              <a:gd name="adj" fmla="val 3411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0" name="[p2] O débito responde a volume?"/>
          <p:cNvSpPr txBox="1"/>
          <p:nvPr/>
        </p:nvSpPr>
        <p:spPr>
          <a:xfrm>
            <a:off x="6457950" y="2135857"/>
            <a:ext cx="46799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débito responde a volume?</a:t>
            </a:r>
            <a:endParaRPr lang="en-US" sz="1700" dirty="0"/>
          </a:p>
        </p:txBody>
      </p:sp>
      <p:sp>
        <p:nvSpPr>
          <p:cNvPr id="11" name="[p2] VPP ou VVS em ventilação controlada, den"/>
          <p:cNvSpPr txBox="1"/>
          <p:nvPr/>
        </p:nvSpPr>
        <p:spPr>
          <a:xfrm>
            <a:off x="6457950" y="2512452"/>
            <a:ext cx="4679950" cy="48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03200" indent="-203200">
              <a:lnSpc>
                <a:spcPts val="1890"/>
              </a:lnSpc>
              <a:buSzPct val="100000"/>
              <a:buChar char="•"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VPP ou VVS em ventilação controlada, dentro dos limites do método</a:t>
            </a:r>
            <a:endParaRPr lang="en-US" sz="1350" dirty="0"/>
          </a:p>
        </p:txBody>
      </p:sp>
      <p:sp>
        <p:nvSpPr>
          <p:cNvPr id="12" name="[p2] Elevação passiva das pernas ou minidesaf"/>
          <p:cNvSpPr txBox="1"/>
          <p:nvPr/>
        </p:nvSpPr>
        <p:spPr>
          <a:xfrm>
            <a:off x="6457950" y="3055972"/>
            <a:ext cx="4679950" cy="48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03200" indent="-203200">
              <a:lnSpc>
                <a:spcPts val="1890"/>
              </a:lnSpc>
              <a:buSzPct val="100000"/>
              <a:buChar char="•"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Elevação passiva das pernas ou minidesafio hídrico, medindo o débito</a:t>
            </a:r>
            <a:endParaRPr lang="en-US" sz="1350" dirty="0"/>
          </a:p>
        </p:txBody>
      </p:sp>
      <p:sp>
        <p:nvSpPr>
          <p:cNvPr id="13" name="[p2] Eco: VTI na via de saída do VE; função d"/>
          <p:cNvSpPr txBox="1"/>
          <p:nvPr/>
        </p:nvSpPr>
        <p:spPr>
          <a:xfrm>
            <a:off x="6457950" y="3599493"/>
            <a:ext cx="4679950" cy="2400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203200" indent="-203200">
              <a:lnSpc>
                <a:spcPts val="1890"/>
              </a:lnSpc>
              <a:buSzPct val="100000"/>
              <a:buChar char="•"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Eco: VTI na via de saída do VE; função de VE e VD</a:t>
            </a:r>
            <a:endParaRPr lang="en-US" sz="1350" dirty="0"/>
          </a:p>
        </p:txBody>
      </p:sp>
      <p:sp>
        <p:nvSpPr>
          <p:cNvPr id="14" name="[p3] Cartão"/>
          <p:cNvSpPr/>
          <p:nvPr/>
        </p:nvSpPr>
        <p:spPr>
          <a:xfrm>
            <a:off x="812800" y="4418112"/>
            <a:ext cx="10566400" cy="988020"/>
          </a:xfrm>
          <a:prstGeom prst="roundRect">
            <a:avLst>
              <a:gd name="adj" fmla="val 771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5" name="[p3] Atenção"/>
          <p:cNvSpPr txBox="1"/>
          <p:nvPr/>
        </p:nvSpPr>
        <p:spPr>
          <a:xfrm>
            <a:off x="1073150" y="4598807"/>
            <a:ext cx="1476970" cy="568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480"/>
              </a:lnSpc>
              <a:buNone/>
            </a:pPr>
            <a:r>
              <a:rPr lang="pt-BR" altLang="en-US" sz="3200" dirty="0">
                <a:solidFill>
                  <a:srgbClr val="B958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Atenção</a:t>
            </a:r>
            <a:endParaRPr lang="en-US" sz="3200" dirty="0"/>
          </a:p>
        </p:txBody>
      </p:sp>
      <p:sp>
        <p:nvSpPr>
          <p:cNvPr id="16" name="[p3] PAM normal não exclui débito baixo. E dé"/>
          <p:cNvSpPr txBox="1"/>
          <p:nvPr/>
        </p:nvSpPr>
        <p:spPr>
          <a:xfrm>
            <a:off x="2937470" y="4763818"/>
            <a:ext cx="7671296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pt-BR" altLang="en-US" sz="15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 normal não exclui débito baixo. E débito que sobe com a droga não garante melhor desfecho.</a:t>
            </a:r>
            <a:endParaRPr lang="en-US" sz="1500" dirty="0"/>
          </a:p>
        </p:txBody>
      </p:sp>
      <p:sp>
        <p:nvSpPr>
          <p:cNvPr id="17" name="Cecconi, Intensive Care Med 2014 (ESICM)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Cecconi, Intensive Care Med 2014 (ESICM) · Monnet, Intensive Care Med 2025 (ESICM) · Tongyoo, Ann Med 2025</a:t>
            </a:r>
            <a:endParaRPr lang="en-US" sz="1200" dirty="0"/>
          </a:p>
        </p:txBody>
      </p:sp>
      <p:pic>
        <p:nvPicPr>
          <p:cNvPr id="18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/>
      <p:bldP spid="6" grpId="0"/>
      <p:bldP spid="7" grpId="0"/>
      <p:bldP spid="8" grpId="0"/>
      <p:bldP spid="9" grpId="0" animBg="1"/>
      <p:bldP spid="10" grpId="0"/>
      <p:bldP spid="11" grpId="0"/>
      <p:bldP spid="12" grpId="0"/>
      <p:bldP spid="13" grpId="0"/>
      <p:bldP spid="14" grpId="0" animBg="1"/>
      <p:bldP spid="15" grpId="0"/>
      <p:bldP spid="16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2 · RECEPTORES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RECEPTORES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Receptores e vias de sinalização</a:t>
            </a:r>
            <a:endParaRPr lang="en-US" sz="3200" dirty="0"/>
          </a:p>
        </p:txBody>
      </p:sp>
      <p:graphicFrame>
        <p:nvGraphicFramePr>
          <p:cNvPr id="4" name="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1879501"/>
          <a:ext cx="10566400" cy="914400"/>
        </p:xfrm>
        <a:graphic>
          <a:graphicData uri="http://schemas.openxmlformats.org/drawingml/2006/table">
            <a:tbl>
              <a:tblPr/>
              <a:tblGrid>
                <a:gridCol w="1056580"/>
                <a:gridCol w="3169841"/>
                <a:gridCol w="4226520"/>
                <a:gridCol w="2113459"/>
              </a:tblGrid>
              <a:tr h="39112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Receptor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Localização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Efeito principal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Sinalização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</a:tr>
              <a:tr h="39429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α1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Músculo liso de artérias e veias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Vasoconstrição: ↑RVS e ↑retorno venoso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Gq → ↑Ca</a:t>
                      </a:r>
                      <a:r>
                        <a:rPr lang="pt-BR" altLang="en-US" sz="1200" baseline="300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2+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74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α2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Pré-sináptico, SNC; pós-sináptico vascular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↓liberação de noradrenalina; sedação; vasoconstrição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 → ↓AMPc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5" name="[p1] 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3065562"/>
          <a:ext cx="10566400" cy="914400"/>
        </p:xfrm>
        <a:graphic>
          <a:graphicData uri="http://schemas.openxmlformats.org/drawingml/2006/table">
            <a:tbl>
              <a:tblPr/>
              <a:tblGrid>
                <a:gridCol w="1056580"/>
                <a:gridCol w="3169841"/>
                <a:gridCol w="4226520"/>
                <a:gridCol w="2113459"/>
              </a:tblGrid>
              <a:tr h="39429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β1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Miocárdio, nós SA e AV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↑inotropismo, cronotropismo e dromotropismo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Gs → ↑AMPc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74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β2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Vasos, brônquios, fígado, músculo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Vasodilatação, broncodilatação, ↑glicemia e ↑lactato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Gs → ↑AMPc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6" name="[p2] 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3860502"/>
          <a:ext cx="10566400" cy="914400"/>
        </p:xfrm>
        <a:graphic>
          <a:graphicData uri="http://schemas.openxmlformats.org/drawingml/2006/table">
            <a:tbl>
              <a:tblPr/>
              <a:tblGrid>
                <a:gridCol w="1056580"/>
                <a:gridCol w="3169841"/>
                <a:gridCol w="4226520"/>
                <a:gridCol w="2113459"/>
              </a:tblGrid>
              <a:tr h="39429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D1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Leitos renal, mesentérico, coronariano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Vasodilatação e natriurese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Gs → ↑AMPc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7" name="[p3] 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4257973"/>
          <a:ext cx="10566400" cy="914400"/>
        </p:xfrm>
        <a:graphic>
          <a:graphicData uri="http://schemas.openxmlformats.org/drawingml/2006/table">
            <a:tbl>
              <a:tblPr/>
              <a:tblGrid>
                <a:gridCol w="1056580"/>
                <a:gridCol w="3169841"/>
                <a:gridCol w="4226520"/>
                <a:gridCol w="2113459"/>
              </a:tblGrid>
              <a:tr h="39429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V1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Músculo liso vascular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Vasoconstrição por via não adrenérgica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Gq → ↑Ca</a:t>
                      </a:r>
                      <a:r>
                        <a:rPr lang="pt-BR" altLang="en-US" sz="1200" baseline="300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2+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74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PDE3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Miocárdio e vasos (enzima)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Inibida pela milrinona: inotropismo e vasodilatação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↓degradação do AMPc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[p4] Catecolaminas: meia-vida de minutos, em "/>
          <p:cNvSpPr txBox="1"/>
          <p:nvPr/>
        </p:nvSpPr>
        <p:spPr>
          <a:xfrm>
            <a:off x="812800" y="5344753"/>
            <a:ext cx="105854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Catecolaminas: meia-vida de minutos, em geral infusão; fenilefrina e efedrina duram mais e permitem bolus. Uso prolongado: dessensibilização.</a:t>
            </a:r>
            <a:endParaRPr lang="en-US" sz="1300" dirty="0"/>
          </a:p>
        </p:txBody>
      </p:sp>
      <p:sp>
        <p:nvSpPr>
          <p:cNvPr id="9" name="Miller’s Anesthesia, 10ª ed. (2025)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Miller’s Anesthesia, 10ª ed. (2025)</a:t>
            </a:r>
            <a:endParaRPr lang="en-US" sz="1200" dirty="0"/>
          </a:p>
        </p:txBody>
      </p:sp>
      <p:pic>
        <p:nvPicPr>
          <p:cNvPr id="10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5" grpId="0">
        <p:bldAsOne/>
      </p:bldGraphic>
      <p:bldGraphic spid="6" grpId="0">
        <p:bldAsOne/>
      </p:bldGraphic>
      <p:bldGraphic spid="7" grpId="0">
        <p:bldAsOne/>
      </p:bldGraphic>
      <p:bldP spid="8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3 · DROGAS · NORADRENALI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DROGAS · NORADRENALINA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Noradrenalina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048000" cy="3194844"/>
          </a:xfrm>
          <a:prstGeom prst="roundRect">
            <a:avLst>
              <a:gd name="adj" fmla="val 2500"/>
            </a:avLst>
          </a:prstGeom>
          <a:solidFill>
            <a:srgbClr val="1B2A3A"/>
          </a:solidFill>
          <a:ln/>
        </p:spPr>
      </p:sp>
      <p:sp>
        <p:nvSpPr>
          <p:cNvPr id="5" name="RECEPTORES"/>
          <p:cNvSpPr txBox="1"/>
          <p:nvPr/>
        </p:nvSpPr>
        <p:spPr>
          <a:xfrm>
            <a:off x="1066800" y="2121537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RECEPTORES</a:t>
            </a:r>
            <a:endParaRPr lang="en-US" sz="1200" dirty="0"/>
          </a:p>
        </p:txBody>
      </p:sp>
      <p:sp>
        <p:nvSpPr>
          <p:cNvPr id="6" name="α1"/>
          <p:cNvSpPr txBox="1"/>
          <p:nvPr/>
        </p:nvSpPr>
        <p:spPr>
          <a:xfrm>
            <a:off x="1066800" y="246086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300" dirty="0"/>
          </a:p>
        </p:txBody>
      </p:sp>
      <p:sp>
        <p:nvSpPr>
          <p:cNvPr id="7" name="Cartão"/>
          <p:cNvSpPr/>
          <p:nvPr/>
        </p:nvSpPr>
        <p:spPr>
          <a:xfrm>
            <a:off x="1524000" y="253216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8" name="Cartão"/>
          <p:cNvSpPr/>
          <p:nvPr/>
        </p:nvSpPr>
        <p:spPr>
          <a:xfrm>
            <a:off x="1524000" y="253216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9" name="β1"/>
          <p:cNvSpPr txBox="1"/>
          <p:nvPr/>
        </p:nvSpPr>
        <p:spPr>
          <a:xfrm>
            <a:off x="1066800" y="281894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300" dirty="0"/>
          </a:p>
        </p:txBody>
      </p:sp>
      <p:sp>
        <p:nvSpPr>
          <p:cNvPr id="10" name="Cartão"/>
          <p:cNvSpPr/>
          <p:nvPr/>
        </p:nvSpPr>
        <p:spPr>
          <a:xfrm>
            <a:off x="1524000" y="289024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1" name="Cartão"/>
          <p:cNvSpPr/>
          <p:nvPr/>
        </p:nvSpPr>
        <p:spPr>
          <a:xfrm>
            <a:off x="1524000" y="2890242"/>
            <a:ext cx="8890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2" name="β2"/>
          <p:cNvSpPr txBox="1"/>
          <p:nvPr/>
        </p:nvSpPr>
        <p:spPr>
          <a:xfrm>
            <a:off x="1066800" y="317702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300" dirty="0"/>
          </a:p>
        </p:txBody>
      </p:sp>
      <p:sp>
        <p:nvSpPr>
          <p:cNvPr id="13" name="Cartão"/>
          <p:cNvSpPr/>
          <p:nvPr/>
        </p:nvSpPr>
        <p:spPr>
          <a:xfrm>
            <a:off x="1524000" y="324832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4" name="D1"/>
          <p:cNvSpPr txBox="1"/>
          <p:nvPr/>
        </p:nvSpPr>
        <p:spPr>
          <a:xfrm>
            <a:off x="1066800" y="353510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300" dirty="0"/>
          </a:p>
        </p:txBody>
      </p:sp>
      <p:sp>
        <p:nvSpPr>
          <p:cNvPr id="15" name="Cartão"/>
          <p:cNvSpPr/>
          <p:nvPr/>
        </p:nvSpPr>
        <p:spPr>
          <a:xfrm>
            <a:off x="1524000" y="360640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6" name="EFEITO HEMODINÂMICO"/>
          <p:cNvSpPr txBox="1"/>
          <p:nvPr/>
        </p:nvSpPr>
        <p:spPr>
          <a:xfrm>
            <a:off x="1066800" y="3894180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EFEITO HEMODINÂMICO</a:t>
            </a:r>
            <a:endParaRPr lang="en-US" sz="1200" dirty="0"/>
          </a:p>
        </p:txBody>
      </p:sp>
      <p:sp>
        <p:nvSpPr>
          <p:cNvPr id="17" name="PAM ↑↑"/>
          <p:cNvSpPr txBox="1"/>
          <p:nvPr/>
        </p:nvSpPr>
        <p:spPr>
          <a:xfrm>
            <a:off x="10668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↑↑</a:t>
            </a:r>
            <a:endParaRPr lang="en-US" sz="1400" dirty="0"/>
          </a:p>
        </p:txBody>
      </p:sp>
      <p:sp>
        <p:nvSpPr>
          <p:cNvPr id="18" name="DC ↔ (↑/↓)"/>
          <p:cNvSpPr txBox="1"/>
          <p:nvPr/>
        </p:nvSpPr>
        <p:spPr>
          <a:xfrm>
            <a:off x="24130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↔ (↑/↓)</a:t>
            </a:r>
            <a:endParaRPr lang="en-US" sz="1400" dirty="0"/>
          </a:p>
        </p:txBody>
      </p:sp>
      <p:sp>
        <p:nvSpPr>
          <p:cNvPr id="19" name="FC ↔/↓"/>
          <p:cNvSpPr txBox="1"/>
          <p:nvPr/>
        </p:nvSpPr>
        <p:spPr>
          <a:xfrm>
            <a:off x="10668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↔/↓</a:t>
            </a:r>
            <a:endParaRPr lang="en-US" sz="1400" dirty="0"/>
          </a:p>
        </p:txBody>
      </p:sp>
      <p:sp>
        <p:nvSpPr>
          <p:cNvPr id="20" name="RVS ↑↑"/>
          <p:cNvSpPr txBox="1"/>
          <p:nvPr/>
        </p:nvSpPr>
        <p:spPr>
          <a:xfrm>
            <a:off x="24130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RVS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↑↑</a:t>
            </a:r>
            <a:endParaRPr lang="en-US" sz="1400" dirty="0"/>
          </a:p>
        </p:txBody>
      </p:sp>
      <p:sp>
        <p:nvSpPr>
          <p:cNvPr id="21" name="[p1] Cartão"/>
          <p:cNvSpPr/>
          <p:nvPr/>
        </p:nvSpPr>
        <p:spPr>
          <a:xfrm>
            <a:off x="4064000" y="1879501"/>
            <a:ext cx="7315200" cy="1546622"/>
          </a:xfrm>
          <a:prstGeom prst="roundRect">
            <a:avLst>
              <a:gd name="adj" fmla="val 492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2" name="[p1] Ação e uso"/>
          <p:cNvSpPr txBox="1"/>
          <p:nvPr/>
        </p:nvSpPr>
        <p:spPr>
          <a:xfrm>
            <a:off x="4324350" y="2135857"/>
            <a:ext cx="68135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Ação e uso</a:t>
            </a:r>
            <a:endParaRPr lang="en-US" sz="1700" dirty="0"/>
          </a:p>
        </p:txBody>
      </p:sp>
      <p:sp>
        <p:nvSpPr>
          <p:cNvPr id="23" name="[p1] α1 potente, β1 modesto: sobe a PAM pela "/>
          <p:cNvSpPr txBox="1"/>
          <p:nvPr/>
        </p:nvSpPr>
        <p:spPr>
          <a:xfrm>
            <a:off x="4324350" y="2484480"/>
            <a:ext cx="6813550" cy="4970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 potente, β1 modesto: sobe a PAM pela RVS e pelo retorno venoso; DC em geral mantido, podendo cair pela pós-carga; FC estável ou menor. 1ª linha no choque séptico.</a:t>
            </a:r>
            <a:endParaRPr lang="en-US" sz="1350" dirty="0"/>
          </a:p>
        </p:txBody>
      </p:sp>
      <p:sp>
        <p:nvSpPr>
          <p:cNvPr id="24" name="[p2] Cartão"/>
          <p:cNvSpPr/>
          <p:nvPr/>
        </p:nvSpPr>
        <p:spPr>
          <a:xfrm>
            <a:off x="4064000" y="3527723"/>
            <a:ext cx="7315200" cy="1546622"/>
          </a:xfrm>
          <a:prstGeom prst="roundRect">
            <a:avLst>
              <a:gd name="adj" fmla="val 492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5" name="[p2] Dose e cuidados"/>
          <p:cNvSpPr txBox="1"/>
          <p:nvPr/>
        </p:nvSpPr>
        <p:spPr>
          <a:xfrm>
            <a:off x="4324350" y="3784079"/>
            <a:ext cx="68135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 e cuidados</a:t>
            </a:r>
            <a:endParaRPr lang="en-US" sz="1700" dirty="0"/>
          </a:p>
        </p:txBody>
      </p:sp>
      <p:sp>
        <p:nvSpPr>
          <p:cNvPr id="26" name="[p2] 0,01–0,5 mcg/kg/min, sem teto fixo; bolu"/>
          <p:cNvSpPr txBox="1"/>
          <p:nvPr/>
        </p:nvSpPr>
        <p:spPr>
          <a:xfrm>
            <a:off x="4324350" y="4132702"/>
            <a:ext cx="6813550" cy="4970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0,01–0,5 mcg/kg/min, sem teto fixo; bolus de 5–10 mcg no centro cirúrgico. Pode começar em veia periférica calibrosa. Riscos: isquemia digital e esplâncnica, extravasamento.</a:t>
            </a:r>
            <a:endParaRPr lang="en-US" sz="1350" dirty="0"/>
          </a:p>
        </p:txBody>
      </p:sp>
      <p:sp>
        <p:nvSpPr>
          <p:cNvPr id="27" name="SSC 2026 · Miller’s Anesthesia, 10ª ed. 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SSC 2026 · Miller’s Anesthesia, 10ª ed. (2025) · barras: escala qualitativa</a:t>
            </a:r>
            <a:endParaRPr lang="en-US" sz="1200" dirty="0"/>
          </a:p>
        </p:txBody>
      </p:sp>
      <p:pic>
        <p:nvPicPr>
          <p:cNvPr id="28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/>
      <p:bldP spid="23" grpId="0"/>
      <p:bldP spid="24" grpId="0" animBg="1"/>
      <p:bldP spid="25" grpId="0"/>
      <p:bldP spid="26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3 · DROGAS · ADRENALI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DROGAS · ADRENALINA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Adrenalina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048000" cy="3194844"/>
          </a:xfrm>
          <a:prstGeom prst="roundRect">
            <a:avLst>
              <a:gd name="adj" fmla="val 2500"/>
            </a:avLst>
          </a:prstGeom>
          <a:solidFill>
            <a:srgbClr val="1B2A3A"/>
          </a:solidFill>
          <a:ln/>
        </p:spPr>
      </p:sp>
      <p:sp>
        <p:nvSpPr>
          <p:cNvPr id="5" name="RECEPTORES"/>
          <p:cNvSpPr txBox="1"/>
          <p:nvPr/>
        </p:nvSpPr>
        <p:spPr>
          <a:xfrm>
            <a:off x="1066800" y="2121537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RECEPTORES</a:t>
            </a:r>
            <a:endParaRPr lang="en-US" sz="1200" dirty="0"/>
          </a:p>
        </p:txBody>
      </p:sp>
      <p:sp>
        <p:nvSpPr>
          <p:cNvPr id="6" name="α1"/>
          <p:cNvSpPr txBox="1"/>
          <p:nvPr/>
        </p:nvSpPr>
        <p:spPr>
          <a:xfrm>
            <a:off x="1066800" y="246086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300" dirty="0"/>
          </a:p>
        </p:txBody>
      </p:sp>
      <p:sp>
        <p:nvSpPr>
          <p:cNvPr id="7" name="Cartão"/>
          <p:cNvSpPr/>
          <p:nvPr/>
        </p:nvSpPr>
        <p:spPr>
          <a:xfrm>
            <a:off x="1524000" y="253216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8" name="Cartão"/>
          <p:cNvSpPr/>
          <p:nvPr/>
        </p:nvSpPr>
        <p:spPr>
          <a:xfrm>
            <a:off x="1524000" y="2532162"/>
            <a:ext cx="13335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9" name="β1"/>
          <p:cNvSpPr txBox="1"/>
          <p:nvPr/>
        </p:nvSpPr>
        <p:spPr>
          <a:xfrm>
            <a:off x="1066800" y="281894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300" dirty="0"/>
          </a:p>
        </p:txBody>
      </p:sp>
      <p:sp>
        <p:nvSpPr>
          <p:cNvPr id="10" name="Cartão"/>
          <p:cNvSpPr/>
          <p:nvPr/>
        </p:nvSpPr>
        <p:spPr>
          <a:xfrm>
            <a:off x="1524000" y="289024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1" name="Cartão"/>
          <p:cNvSpPr/>
          <p:nvPr/>
        </p:nvSpPr>
        <p:spPr>
          <a:xfrm>
            <a:off x="1524000" y="289024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2" name="β2"/>
          <p:cNvSpPr txBox="1"/>
          <p:nvPr/>
        </p:nvSpPr>
        <p:spPr>
          <a:xfrm>
            <a:off x="1066800" y="317702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300" dirty="0"/>
          </a:p>
        </p:txBody>
      </p:sp>
      <p:sp>
        <p:nvSpPr>
          <p:cNvPr id="13" name="Cartão"/>
          <p:cNvSpPr/>
          <p:nvPr/>
        </p:nvSpPr>
        <p:spPr>
          <a:xfrm>
            <a:off x="1524000" y="324832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4" name="Cartão"/>
          <p:cNvSpPr/>
          <p:nvPr/>
        </p:nvSpPr>
        <p:spPr>
          <a:xfrm>
            <a:off x="1524000" y="3248323"/>
            <a:ext cx="13335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5" name="D1"/>
          <p:cNvSpPr txBox="1"/>
          <p:nvPr/>
        </p:nvSpPr>
        <p:spPr>
          <a:xfrm>
            <a:off x="1066800" y="353510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300" dirty="0"/>
          </a:p>
        </p:txBody>
      </p:sp>
      <p:sp>
        <p:nvSpPr>
          <p:cNvPr id="16" name="Cartão"/>
          <p:cNvSpPr/>
          <p:nvPr/>
        </p:nvSpPr>
        <p:spPr>
          <a:xfrm>
            <a:off x="1524000" y="360640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7" name="EFEITO HEMODINÂMICO"/>
          <p:cNvSpPr txBox="1"/>
          <p:nvPr/>
        </p:nvSpPr>
        <p:spPr>
          <a:xfrm>
            <a:off x="1066800" y="3894180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EFEITO HEMODINÂMICO</a:t>
            </a:r>
            <a:endParaRPr lang="en-US" sz="1200" dirty="0"/>
          </a:p>
        </p:txBody>
      </p:sp>
      <p:sp>
        <p:nvSpPr>
          <p:cNvPr id="18" name="PAM ↑↑"/>
          <p:cNvSpPr txBox="1"/>
          <p:nvPr/>
        </p:nvSpPr>
        <p:spPr>
          <a:xfrm>
            <a:off x="10668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↑↑</a:t>
            </a:r>
            <a:endParaRPr lang="en-US" sz="1400" dirty="0"/>
          </a:p>
        </p:txBody>
      </p:sp>
      <p:sp>
        <p:nvSpPr>
          <p:cNvPr id="19" name="DC ↑↑"/>
          <p:cNvSpPr txBox="1"/>
          <p:nvPr/>
        </p:nvSpPr>
        <p:spPr>
          <a:xfrm>
            <a:off x="24130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↑↑</a:t>
            </a:r>
            <a:endParaRPr lang="en-US" sz="1400" dirty="0"/>
          </a:p>
        </p:txBody>
      </p:sp>
      <p:sp>
        <p:nvSpPr>
          <p:cNvPr id="20" name="FC ↑↑"/>
          <p:cNvSpPr txBox="1"/>
          <p:nvPr/>
        </p:nvSpPr>
        <p:spPr>
          <a:xfrm>
            <a:off x="10668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↑↑</a:t>
            </a:r>
            <a:endParaRPr lang="en-US" sz="1400" dirty="0"/>
          </a:p>
        </p:txBody>
      </p:sp>
      <p:sp>
        <p:nvSpPr>
          <p:cNvPr id="21" name="RVS ↓/↑"/>
          <p:cNvSpPr txBox="1"/>
          <p:nvPr/>
        </p:nvSpPr>
        <p:spPr>
          <a:xfrm>
            <a:off x="24130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RVS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↓/↑</a:t>
            </a:r>
            <a:endParaRPr lang="en-US" sz="1400" dirty="0"/>
          </a:p>
        </p:txBody>
      </p:sp>
      <p:sp>
        <p:nvSpPr>
          <p:cNvPr id="22" name="[p1] Cartão"/>
          <p:cNvSpPr/>
          <p:nvPr/>
        </p:nvSpPr>
        <p:spPr>
          <a:xfrm>
            <a:off x="4064000" y="1879501"/>
            <a:ext cx="7315200" cy="1466255"/>
          </a:xfrm>
          <a:prstGeom prst="roundRect">
            <a:avLst>
              <a:gd name="adj" fmla="val 519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3" name="[p1] Ação e uso"/>
          <p:cNvSpPr txBox="1"/>
          <p:nvPr/>
        </p:nvSpPr>
        <p:spPr>
          <a:xfrm>
            <a:off x="4324350" y="2135857"/>
            <a:ext cx="68135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Ação e uso</a:t>
            </a:r>
            <a:endParaRPr lang="en-US" sz="1700" dirty="0"/>
          </a:p>
        </p:txBody>
      </p:sp>
      <p:sp>
        <p:nvSpPr>
          <p:cNvPr id="24" name="[p1] Dose baixa: predomina β (↑DC; a RVS pode"/>
          <p:cNvSpPr txBox="1"/>
          <p:nvPr/>
        </p:nvSpPr>
        <p:spPr>
          <a:xfrm>
            <a:off x="4324350" y="2484480"/>
            <a:ext cx="6813550" cy="4970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 baixa: predomina β (↑DC; a RVS pode cair); dose alta: α1. Droga da anafilaxia; no choque séptico, 3ª droga, se a PAM seguir inadequada com NA e vasopressina.</a:t>
            </a:r>
            <a:endParaRPr lang="en-US" sz="1350" dirty="0"/>
          </a:p>
        </p:txBody>
      </p:sp>
      <p:sp>
        <p:nvSpPr>
          <p:cNvPr id="25" name="[p2] Cartão"/>
          <p:cNvSpPr/>
          <p:nvPr/>
        </p:nvSpPr>
        <p:spPr>
          <a:xfrm>
            <a:off x="4064000" y="3447355"/>
            <a:ext cx="7315200" cy="1626989"/>
          </a:xfrm>
          <a:prstGeom prst="roundRect">
            <a:avLst>
              <a:gd name="adj" fmla="val 4683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6" name="[p2] Dose e cuidados"/>
          <p:cNvSpPr txBox="1"/>
          <p:nvPr/>
        </p:nvSpPr>
        <p:spPr>
          <a:xfrm>
            <a:off x="4324350" y="3703711"/>
            <a:ext cx="68135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 e cuidados</a:t>
            </a:r>
            <a:endParaRPr lang="en-US" sz="1700" dirty="0"/>
          </a:p>
        </p:txBody>
      </p:sp>
      <p:sp>
        <p:nvSpPr>
          <p:cNvPr id="27" name="[p2] 0,01–0,1 mcg/kg/min (predomínio β); no c"/>
          <p:cNvSpPr txBox="1"/>
          <p:nvPr/>
        </p:nvSpPr>
        <p:spPr>
          <a:xfrm>
            <a:off x="4324350" y="4052335"/>
            <a:ext cx="6813550" cy="745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0,01–0,1 mcg/kg/min (predomínio β); no choque, dose maior, titulada pela PAM. Anafilaxia na anestesia: bolus de 10–20 mcg (grau 2) ou 50–100 mcg (grau 3); infusão após mais de 3 bolus; 0,5 mg IM sem acesso venoso. Riscos: taquiarritmia, hiperglicemia; lactato ↑ por β2.</a:t>
            </a:r>
            <a:endParaRPr lang="en-US" sz="1350" dirty="0"/>
          </a:p>
        </p:txBody>
      </p:sp>
      <p:sp>
        <p:nvSpPr>
          <p:cNvPr id="28" name="ANZCA/ANZAAG 2022 · SSC 2026 · barras: e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ANZCA/ANZAAG 2022 · SSC 2026 · barras: escala qualitativa</a:t>
            </a:r>
            <a:endParaRPr lang="en-US" sz="1200" dirty="0"/>
          </a:p>
        </p:txBody>
      </p:sp>
      <p:pic>
        <p:nvPicPr>
          <p:cNvPr id="29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/>
      <p:bldP spid="24" grpId="0"/>
      <p:bldP spid="25" grpId="0" animBg="1"/>
      <p:bldP spid="26" grpId="0"/>
      <p:bldP spid="27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3 · DROGAS · DOBUTAMINA E DOPAMI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DROGAS · DOBUTAMINA E DOPAMINA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Dobutamina e dopamina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5181600" cy="1206401"/>
          </a:xfrm>
          <a:prstGeom prst="roundRect">
            <a:avLst>
              <a:gd name="adj" fmla="val 6316"/>
            </a:avLst>
          </a:prstGeom>
          <a:solidFill>
            <a:srgbClr val="1B2A3A"/>
          </a:solidFill>
          <a:ln/>
        </p:spPr>
      </p:sp>
      <p:sp>
        <p:nvSpPr>
          <p:cNvPr id="5" name="Dobutamina"/>
          <p:cNvSpPr txBox="1"/>
          <p:nvPr/>
        </p:nvSpPr>
        <p:spPr>
          <a:xfrm>
            <a:off x="1066800" y="2053307"/>
            <a:ext cx="1135459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Dobutamina</a:t>
            </a:r>
            <a:endParaRPr lang="en-US" sz="1700" dirty="0"/>
          </a:p>
        </p:txBody>
      </p:sp>
      <p:sp>
        <p:nvSpPr>
          <p:cNvPr id="6" name="PAM ↔/↓ · DC ↑↑ · FC ↑ · RVS ↓"/>
          <p:cNvSpPr txBox="1"/>
          <p:nvPr/>
        </p:nvSpPr>
        <p:spPr>
          <a:xfrm>
            <a:off x="3244552" y="2069740"/>
            <a:ext cx="2514898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 ↔/↓ · DC ↑↑ · FC ↑ · RVS ↓</a:t>
            </a:r>
            <a:endParaRPr lang="en-US" sz="1300" dirty="0"/>
          </a:p>
        </p:txBody>
      </p:sp>
      <p:sp>
        <p:nvSpPr>
          <p:cNvPr id="7" name="α1"/>
          <p:cNvSpPr txBox="1"/>
          <p:nvPr/>
        </p:nvSpPr>
        <p:spPr>
          <a:xfrm>
            <a:off x="1066800" y="240599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200" dirty="0"/>
          </a:p>
        </p:txBody>
      </p:sp>
      <p:sp>
        <p:nvSpPr>
          <p:cNvPr id="8" name="Cartão"/>
          <p:cNvSpPr/>
          <p:nvPr/>
        </p:nvSpPr>
        <p:spPr>
          <a:xfrm>
            <a:off x="14732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9" name="Cartão"/>
          <p:cNvSpPr/>
          <p:nvPr/>
        </p:nvSpPr>
        <p:spPr>
          <a:xfrm>
            <a:off x="1473200" y="2473821"/>
            <a:ext cx="381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0" name="β1"/>
          <p:cNvSpPr txBox="1"/>
          <p:nvPr/>
        </p:nvSpPr>
        <p:spPr>
          <a:xfrm>
            <a:off x="3530600" y="240599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200" dirty="0"/>
          </a:p>
        </p:txBody>
      </p:sp>
      <p:sp>
        <p:nvSpPr>
          <p:cNvPr id="11" name="Cartão"/>
          <p:cNvSpPr/>
          <p:nvPr/>
        </p:nvSpPr>
        <p:spPr>
          <a:xfrm>
            <a:off x="39370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2" name="Cartão"/>
          <p:cNvSpPr/>
          <p:nvPr/>
        </p:nvSpPr>
        <p:spPr>
          <a:xfrm>
            <a:off x="39370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3" name="β2"/>
          <p:cNvSpPr txBox="1"/>
          <p:nvPr/>
        </p:nvSpPr>
        <p:spPr>
          <a:xfrm>
            <a:off x="1066800" y="268281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200" dirty="0"/>
          </a:p>
        </p:txBody>
      </p:sp>
      <p:sp>
        <p:nvSpPr>
          <p:cNvPr id="14" name="Cartão"/>
          <p:cNvSpPr/>
          <p:nvPr/>
        </p:nvSpPr>
        <p:spPr>
          <a:xfrm>
            <a:off x="14732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5" name="Cartão"/>
          <p:cNvSpPr/>
          <p:nvPr/>
        </p:nvSpPr>
        <p:spPr>
          <a:xfrm>
            <a:off x="1473200" y="2750641"/>
            <a:ext cx="762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6" name="D1"/>
          <p:cNvSpPr txBox="1"/>
          <p:nvPr/>
        </p:nvSpPr>
        <p:spPr>
          <a:xfrm>
            <a:off x="3530600" y="268281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200" dirty="0"/>
          </a:p>
        </p:txBody>
      </p:sp>
      <p:sp>
        <p:nvSpPr>
          <p:cNvPr id="17" name="Cartão"/>
          <p:cNvSpPr/>
          <p:nvPr/>
        </p:nvSpPr>
        <p:spPr>
          <a:xfrm>
            <a:off x="39370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8" name="[p1] Cartão"/>
          <p:cNvSpPr/>
          <p:nvPr/>
        </p:nvSpPr>
        <p:spPr>
          <a:xfrm>
            <a:off x="812800" y="3162102"/>
            <a:ext cx="5181600" cy="1413272"/>
          </a:xfrm>
          <a:prstGeom prst="roundRect">
            <a:avLst>
              <a:gd name="adj" fmla="val 539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9" name="[p1] Inotrópico β1 com vasodilatação β2: ↑DC,"/>
          <p:cNvSpPr txBox="1"/>
          <p:nvPr/>
        </p:nvSpPr>
        <p:spPr>
          <a:xfrm>
            <a:off x="1073150" y="3355621"/>
            <a:ext cx="4679950" cy="9941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Inotrópico β1 com vasodilatação β2: ↑DC, ↓RVS, pode baixar a PAM. Indicação: baixo débito com hipoperfusão, 2,5–20 mcg/kg/min; associar vasopressor se a PAM cair; taquicardia e arritmia limitam a dose.</a:t>
            </a:r>
            <a:endParaRPr lang="en-US" sz="1350" dirty="0"/>
          </a:p>
        </p:txBody>
      </p:sp>
      <p:sp>
        <p:nvSpPr>
          <p:cNvPr id="20" name="[p2] Cartão"/>
          <p:cNvSpPr/>
          <p:nvPr/>
        </p:nvSpPr>
        <p:spPr>
          <a:xfrm>
            <a:off x="6197600" y="1879501"/>
            <a:ext cx="5181600" cy="1206401"/>
          </a:xfrm>
          <a:prstGeom prst="roundRect">
            <a:avLst>
              <a:gd name="adj" fmla="val 6316"/>
            </a:avLst>
          </a:prstGeom>
          <a:solidFill>
            <a:srgbClr val="1B2A3A"/>
          </a:solidFill>
          <a:ln/>
        </p:spPr>
      </p:sp>
      <p:sp>
        <p:nvSpPr>
          <p:cNvPr id="21" name="[p2] Dopamina"/>
          <p:cNvSpPr txBox="1"/>
          <p:nvPr/>
        </p:nvSpPr>
        <p:spPr>
          <a:xfrm>
            <a:off x="6451600" y="2053307"/>
            <a:ext cx="944761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Dopamina</a:t>
            </a:r>
            <a:endParaRPr lang="en-US" sz="1700" dirty="0"/>
          </a:p>
        </p:txBody>
      </p:sp>
      <p:sp>
        <p:nvSpPr>
          <p:cNvPr id="22" name="[p2] PAM ↑ · DC ↑ · FC ↑↑ · RVS ↔/↑"/>
          <p:cNvSpPr txBox="1"/>
          <p:nvPr/>
        </p:nvSpPr>
        <p:spPr>
          <a:xfrm>
            <a:off x="8629352" y="2069740"/>
            <a:ext cx="2514898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 ↑ · DC ↑ · FC ↑↑ · RVS ↔/↑</a:t>
            </a:r>
            <a:endParaRPr lang="en-US" sz="1300" dirty="0"/>
          </a:p>
        </p:txBody>
      </p:sp>
      <p:sp>
        <p:nvSpPr>
          <p:cNvPr id="23" name="[p2] α1"/>
          <p:cNvSpPr txBox="1"/>
          <p:nvPr/>
        </p:nvSpPr>
        <p:spPr>
          <a:xfrm>
            <a:off x="6451600" y="240599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200" dirty="0"/>
          </a:p>
        </p:txBody>
      </p:sp>
      <p:sp>
        <p:nvSpPr>
          <p:cNvPr id="24" name="[p2] Cartão"/>
          <p:cNvSpPr/>
          <p:nvPr/>
        </p:nvSpPr>
        <p:spPr>
          <a:xfrm>
            <a:off x="68580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25" name="[p2] Cartão"/>
          <p:cNvSpPr/>
          <p:nvPr/>
        </p:nvSpPr>
        <p:spPr>
          <a:xfrm>
            <a:off x="6858000" y="2473821"/>
            <a:ext cx="1143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26" name="[p2] β1"/>
          <p:cNvSpPr txBox="1"/>
          <p:nvPr/>
        </p:nvSpPr>
        <p:spPr>
          <a:xfrm>
            <a:off x="8915400" y="240599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200" dirty="0"/>
          </a:p>
        </p:txBody>
      </p:sp>
      <p:sp>
        <p:nvSpPr>
          <p:cNvPr id="27" name="[p2] Cartão"/>
          <p:cNvSpPr/>
          <p:nvPr/>
        </p:nvSpPr>
        <p:spPr>
          <a:xfrm>
            <a:off x="93218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28" name="[p2] Cartão"/>
          <p:cNvSpPr/>
          <p:nvPr/>
        </p:nvSpPr>
        <p:spPr>
          <a:xfrm>
            <a:off x="9321800" y="2473821"/>
            <a:ext cx="1143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29" name="[p2] β2"/>
          <p:cNvSpPr txBox="1"/>
          <p:nvPr/>
        </p:nvSpPr>
        <p:spPr>
          <a:xfrm>
            <a:off x="6451600" y="268281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200" dirty="0"/>
          </a:p>
        </p:txBody>
      </p:sp>
      <p:sp>
        <p:nvSpPr>
          <p:cNvPr id="30" name="[p2] Cartão"/>
          <p:cNvSpPr/>
          <p:nvPr/>
        </p:nvSpPr>
        <p:spPr>
          <a:xfrm>
            <a:off x="68580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31" name="[p2] Cartão"/>
          <p:cNvSpPr/>
          <p:nvPr/>
        </p:nvSpPr>
        <p:spPr>
          <a:xfrm>
            <a:off x="6858000" y="2750641"/>
            <a:ext cx="381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32" name="[p2] D1"/>
          <p:cNvSpPr txBox="1"/>
          <p:nvPr/>
        </p:nvSpPr>
        <p:spPr>
          <a:xfrm>
            <a:off x="8915400" y="268281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200" dirty="0"/>
          </a:p>
        </p:txBody>
      </p:sp>
      <p:sp>
        <p:nvSpPr>
          <p:cNvPr id="33" name="[p2] Cartão"/>
          <p:cNvSpPr/>
          <p:nvPr/>
        </p:nvSpPr>
        <p:spPr>
          <a:xfrm>
            <a:off x="93218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34" name="[p2] Cartão"/>
          <p:cNvSpPr/>
          <p:nvPr/>
        </p:nvSpPr>
        <p:spPr>
          <a:xfrm>
            <a:off x="93218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35" name="[p2] Cartão"/>
          <p:cNvSpPr/>
          <p:nvPr/>
        </p:nvSpPr>
        <p:spPr>
          <a:xfrm>
            <a:off x="6197600" y="3162102"/>
            <a:ext cx="5181600" cy="1413272"/>
          </a:xfrm>
          <a:prstGeom prst="roundRect">
            <a:avLst>
              <a:gd name="adj" fmla="val 539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36" name="[p2] Efeito dose-dependente e pouco previsíve"/>
          <p:cNvSpPr txBox="1"/>
          <p:nvPr/>
        </p:nvSpPr>
        <p:spPr>
          <a:xfrm>
            <a:off x="6457950" y="3355621"/>
            <a:ext cx="4679950" cy="745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Efeito dose-dependente e pouco previsível (D1 → β1 → α1); mais arritmia que a noradrenalina; a SSC 2026 recomenda contra o uso como 1ª linha. Uso residual.</a:t>
            </a:r>
            <a:endParaRPr lang="en-US" sz="1350" dirty="0"/>
          </a:p>
        </p:txBody>
      </p:sp>
      <p:sp>
        <p:nvSpPr>
          <p:cNvPr id="37" name="SSC 2026 · Miller’s Anesthesia, 10ª ed. 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SSC 2026 · Miller’s Anesthesia, 10ª ed. (2025) · barras: escala qualitativa</a:t>
            </a:r>
            <a:endParaRPr lang="en-US" sz="1200" dirty="0"/>
          </a:p>
        </p:txBody>
      </p:sp>
      <p:pic>
        <p:nvPicPr>
          <p:cNvPr id="38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/>
      <p:bldP spid="20" grpId="0" animBg="1"/>
      <p:bldP spid="21" grpId="0"/>
      <p:bldP spid="22" grpId="0"/>
      <p:bldP spid="23" grpId="0"/>
      <p:bldP spid="24" grpId="0" animBg="1"/>
      <p:bldP spid="25" grpId="0" animBg="1"/>
      <p:bldP spid="26" grpId="0"/>
      <p:bldP spid="27" grpId="0" animBg="1"/>
      <p:bldP spid="28" grpId="0" animBg="1"/>
      <p:bldP spid="29" grpId="0"/>
      <p:bldP spid="30" grpId="0" animBg="1"/>
      <p:bldP spid="31" grpId="0" animBg="1"/>
      <p:bldP spid="32" grpId="0"/>
      <p:bldP spid="33" grpId="0" animBg="1"/>
      <p:bldP spid="34" grpId="0" animBg="1"/>
      <p:bldP spid="35" grpId="0" animBg="1"/>
      <p:bldP spid="36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3 · DROGAS · MILRINO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DROGAS · MILRINONA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Milrinona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048000" cy="3230364"/>
          </a:xfrm>
          <a:prstGeom prst="roundRect">
            <a:avLst>
              <a:gd name="adj" fmla="val 2500"/>
            </a:avLst>
          </a:prstGeom>
          <a:solidFill>
            <a:srgbClr val="1B2A3A"/>
          </a:solidFill>
          <a:ln/>
        </p:spPr>
      </p:sp>
      <p:sp>
        <p:nvSpPr>
          <p:cNvPr id="5" name="MECANISMO"/>
          <p:cNvSpPr txBox="1"/>
          <p:nvPr/>
        </p:nvSpPr>
        <p:spPr>
          <a:xfrm>
            <a:off x="1066800" y="2121537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MECANISMO</a:t>
            </a:r>
            <a:endParaRPr lang="en-US" sz="1200" dirty="0"/>
          </a:p>
        </p:txBody>
      </p:sp>
      <p:sp>
        <p:nvSpPr>
          <p:cNvPr id="6" name="Inibe a PDE3 e aumenta o AMPc sem depend"/>
          <p:cNvSpPr txBox="1"/>
          <p:nvPr/>
        </p:nvSpPr>
        <p:spPr>
          <a:xfrm>
            <a:off x="1066800" y="2465198"/>
            <a:ext cx="255905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Inibe a PDE3 e aumenta o AMPc sem depender do receptor β</a:t>
            </a:r>
            <a:endParaRPr lang="en-US" sz="1400" dirty="0"/>
          </a:p>
        </p:txBody>
      </p:sp>
      <p:sp>
        <p:nvSpPr>
          <p:cNvPr id="7" name="Coração: inotropismo e lusitropismo. Vas"/>
          <p:cNvSpPr txBox="1"/>
          <p:nvPr/>
        </p:nvSpPr>
        <p:spPr>
          <a:xfrm>
            <a:off x="1066800" y="3051019"/>
            <a:ext cx="2559050" cy="426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Coração: inotropismo e lusitropismo. Vasos: dilatação sistêmica e pulmonar.</a:t>
            </a:r>
            <a:endParaRPr lang="en-US" sz="1200" dirty="0"/>
          </a:p>
        </p:txBody>
      </p:sp>
      <p:sp>
        <p:nvSpPr>
          <p:cNvPr id="8" name="EFEITO HEMODINÂMICO"/>
          <p:cNvSpPr txBox="1"/>
          <p:nvPr/>
        </p:nvSpPr>
        <p:spPr>
          <a:xfrm>
            <a:off x="1066800" y="3604659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EFEITO HEMODINÂMICO</a:t>
            </a:r>
            <a:endParaRPr lang="en-US" sz="1200" dirty="0"/>
          </a:p>
        </p:txBody>
      </p:sp>
      <p:sp>
        <p:nvSpPr>
          <p:cNvPr id="9" name="DC ↑↑"/>
          <p:cNvSpPr txBox="1"/>
          <p:nvPr/>
        </p:nvSpPr>
        <p:spPr>
          <a:xfrm>
            <a:off x="1066800" y="394298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↑↑</a:t>
            </a:r>
            <a:endParaRPr lang="en-US" sz="1400" dirty="0"/>
          </a:p>
        </p:txBody>
      </p:sp>
      <p:sp>
        <p:nvSpPr>
          <p:cNvPr id="10" name="FC ↔/↑"/>
          <p:cNvSpPr txBox="1"/>
          <p:nvPr/>
        </p:nvSpPr>
        <p:spPr>
          <a:xfrm>
            <a:off x="2413000" y="394298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↔/↑</a:t>
            </a:r>
            <a:endParaRPr lang="en-US" sz="1400" dirty="0"/>
          </a:p>
        </p:txBody>
      </p:sp>
      <p:sp>
        <p:nvSpPr>
          <p:cNvPr id="11" name="RVS ↓"/>
          <p:cNvSpPr txBox="1"/>
          <p:nvPr/>
        </p:nvSpPr>
        <p:spPr>
          <a:xfrm>
            <a:off x="1066800" y="426802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RVS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↓</a:t>
            </a:r>
            <a:endParaRPr lang="en-US" sz="1400" dirty="0"/>
          </a:p>
        </p:txBody>
      </p:sp>
      <p:sp>
        <p:nvSpPr>
          <p:cNvPr id="12" name="RVP ↓"/>
          <p:cNvSpPr txBox="1"/>
          <p:nvPr/>
        </p:nvSpPr>
        <p:spPr>
          <a:xfrm>
            <a:off x="2413000" y="426802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RVP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↓</a:t>
            </a:r>
            <a:endParaRPr lang="en-US" sz="1400" dirty="0"/>
          </a:p>
        </p:txBody>
      </p:sp>
      <p:sp>
        <p:nvSpPr>
          <p:cNvPr id="13" name="PAM ↔/↓"/>
          <p:cNvSpPr txBox="1"/>
          <p:nvPr/>
        </p:nvSpPr>
        <p:spPr>
          <a:xfrm>
            <a:off x="1066800" y="459306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↔/↓</a:t>
            </a:r>
            <a:endParaRPr lang="en-US" sz="1400" dirty="0"/>
          </a:p>
        </p:txBody>
      </p:sp>
      <p:sp>
        <p:nvSpPr>
          <p:cNvPr id="14" name="POAP ↓"/>
          <p:cNvSpPr txBox="1"/>
          <p:nvPr/>
        </p:nvSpPr>
        <p:spPr>
          <a:xfrm>
            <a:off x="2413000" y="459306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POAP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↓</a:t>
            </a:r>
            <a:endParaRPr lang="en-US" sz="1400" dirty="0"/>
          </a:p>
        </p:txBody>
      </p:sp>
      <p:sp>
        <p:nvSpPr>
          <p:cNvPr id="15" name="[p1] Cartão"/>
          <p:cNvSpPr/>
          <p:nvPr/>
        </p:nvSpPr>
        <p:spPr>
          <a:xfrm>
            <a:off x="4064000" y="1879501"/>
            <a:ext cx="7315200" cy="1501775"/>
          </a:xfrm>
          <a:prstGeom prst="roundRect">
            <a:avLst>
              <a:gd name="adj" fmla="val 5074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6" name="[p1] Indicações"/>
          <p:cNvSpPr txBox="1"/>
          <p:nvPr/>
        </p:nvSpPr>
        <p:spPr>
          <a:xfrm>
            <a:off x="4324350" y="2135857"/>
            <a:ext cx="68135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Indicações</a:t>
            </a:r>
            <a:endParaRPr lang="en-US" sz="1700" dirty="0"/>
          </a:p>
        </p:txBody>
      </p:sp>
      <p:sp>
        <p:nvSpPr>
          <p:cNvPr id="17" name="[p1] Disfunção ventricular com baixo débito q"/>
          <p:cNvSpPr txBox="1"/>
          <p:nvPr/>
        </p:nvSpPr>
        <p:spPr>
          <a:xfrm>
            <a:off x="4324350" y="2484480"/>
            <a:ext cx="6813550" cy="4970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Disfunção ventricular com baixo débito que exige inotrópico: IC descompensada, saída difícil de CEC, falência de VD com hipertensão pulmonar, ponte para assistência ou transplante.</a:t>
            </a:r>
            <a:endParaRPr lang="en-US" sz="1350" dirty="0"/>
          </a:p>
        </p:txBody>
      </p:sp>
      <p:sp>
        <p:nvSpPr>
          <p:cNvPr id="18" name="[p2] Cartão"/>
          <p:cNvSpPr/>
          <p:nvPr/>
        </p:nvSpPr>
        <p:spPr>
          <a:xfrm>
            <a:off x="4064000" y="3482876"/>
            <a:ext cx="7315200" cy="1626989"/>
          </a:xfrm>
          <a:prstGeom prst="roundRect">
            <a:avLst>
              <a:gd name="adj" fmla="val 4683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9" name="[p2] Dose e cuidados"/>
          <p:cNvSpPr txBox="1"/>
          <p:nvPr/>
        </p:nvSpPr>
        <p:spPr>
          <a:xfrm>
            <a:off x="4324350" y="3739232"/>
            <a:ext cx="68135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 e cuidados</a:t>
            </a:r>
            <a:endParaRPr lang="en-US" sz="1700" dirty="0"/>
          </a:p>
        </p:txBody>
      </p:sp>
      <p:sp>
        <p:nvSpPr>
          <p:cNvPr id="20" name="[p2] Ataque de 50 mcg/kg em 10 min (muitas ve"/>
          <p:cNvSpPr txBox="1"/>
          <p:nvPr/>
        </p:nvSpPr>
        <p:spPr>
          <a:xfrm>
            <a:off x="4324350" y="4087855"/>
            <a:ext cx="6813550" cy="745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Ataque de 50 mcg/kg em 10 min (muitas vezes omitido); manutenção de 0,375–0,75 mcg/kg/min. Eliminação renal: reduzir na insuficiência renal. Riscos: hipotensão (associar NA) e arritmias.</a:t>
            </a:r>
            <a:endParaRPr lang="en-US" sz="1350" dirty="0"/>
          </a:p>
        </p:txBody>
      </p:sp>
      <p:sp>
        <p:nvSpPr>
          <p:cNvPr id="21" name="Cuffe, JAMA 2002 (OPTIME-CHF) · bula da 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Cuffe, JAMA 2002 (OPTIME-CHF) · bula da milrinona · Miller’s Anesthesia, 10ª ed. (2025)</a:t>
            </a:r>
            <a:endParaRPr lang="en-US" sz="1200" dirty="0"/>
          </a:p>
        </p:txBody>
      </p:sp>
      <p:pic>
        <p:nvPicPr>
          <p:cNvPr id="22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/>
      <p:bldP spid="17" grpId="0"/>
      <p:bldP spid="18" grpId="0" animBg="1"/>
      <p:bldP spid="19" grpId="0"/>
      <p:bldP spid="20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3 · DROGAS · MILRINONA OU DOBUTAMI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DROGAS · MILRINONA OU DOBUTAMINA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Milrinona ou dobutamina: quando escolher</a:t>
            </a:r>
            <a:endParaRPr lang="en-US" sz="3200" dirty="0"/>
          </a:p>
        </p:txBody>
      </p:sp>
      <p:sp>
        <p:nvSpPr>
          <p:cNvPr id="4" name="[p1] Antes da escolha: há disfunção ventricul"/>
          <p:cNvSpPr txBox="1"/>
          <p:nvPr/>
        </p:nvSpPr>
        <p:spPr>
          <a:xfrm>
            <a:off x="812800" y="1763943"/>
            <a:ext cx="105854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da escolha:</a:t>
            </a:r>
            <a:r>
              <a:rPr lang="pt-BR" altLang="en-US" sz="14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há disfunção ventricular com baixo débito que exige inotrópico, com volume e PAM já otimizados?</a:t>
            </a:r>
            <a:endParaRPr lang="en-US" sz="1400" dirty="0"/>
          </a:p>
        </p:txBody>
      </p:sp>
      <p:graphicFrame>
        <p:nvGraphicFramePr>
          <p:cNvPr id="5" name="[p2] 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2229941"/>
          <a:ext cx="10566400" cy="914400"/>
        </p:xfrm>
        <a:graphic>
          <a:graphicData uri="http://schemas.openxmlformats.org/drawingml/2006/table">
            <a:tbl>
              <a:tblPr/>
              <a:tblGrid>
                <a:gridCol w="2324596"/>
                <a:gridCol w="3803848"/>
                <a:gridCol w="4437955"/>
              </a:tblGrid>
              <a:tr h="36572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Perfil esperado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Dobutamina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Milrinona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</a:tr>
              <a:tr h="36889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Meia-vida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Cerca de 2 min: início e fim rápidos, fácil de titular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Cerca de 2,4 h na IC; maior na insuficiência renal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20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VD e circulação pulmonar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Efeito modesto na RVP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↓RVP e ↓POAP: útil no VD com hipertensão pulmonar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20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FC e PAM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Tende a mais taquicardia; vasodilatação discreta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Tende a mais vasodilatação e hipotensão (associar NA)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20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 betabloqueador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Resposta atenuada; pode exigir dose maior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 após o receptor β; sem vantagem no DOREMI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[p3] Cartão"/>
          <p:cNvSpPr/>
          <p:nvPr/>
        </p:nvSpPr>
        <p:spPr>
          <a:xfrm>
            <a:off x="812800" y="4287143"/>
            <a:ext cx="5181600" cy="1059061"/>
          </a:xfrm>
          <a:prstGeom prst="roundRect">
            <a:avLst>
              <a:gd name="adj" fmla="val 719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7" name="[p3] Considere milrinona"/>
          <p:cNvSpPr txBox="1"/>
          <p:nvPr/>
        </p:nvSpPr>
        <p:spPr>
          <a:xfrm>
            <a:off x="1022350" y="4442369"/>
            <a:ext cx="47815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Considere milrinona</a:t>
            </a:r>
            <a:endParaRPr lang="en-US" sz="1500" dirty="0"/>
          </a:p>
        </p:txBody>
      </p:sp>
      <p:sp>
        <p:nvSpPr>
          <p:cNvPr id="8" name="[p3] VD com hipertensão pulmonar, inclusive n"/>
          <p:cNvSpPr txBox="1"/>
          <p:nvPr/>
        </p:nvSpPr>
        <p:spPr>
          <a:xfrm>
            <a:off x="1022350" y="4712333"/>
            <a:ext cx="478155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VD com hipertensão pulmonar, inclusive na saída de CEC; taquicardia ou betabloqueio limitando a dobutamina.</a:t>
            </a:r>
            <a:endParaRPr lang="en-US" sz="1300" dirty="0"/>
          </a:p>
        </p:txBody>
      </p:sp>
      <p:sp>
        <p:nvSpPr>
          <p:cNvPr id="9" name="[p4] Cartão"/>
          <p:cNvSpPr/>
          <p:nvPr/>
        </p:nvSpPr>
        <p:spPr>
          <a:xfrm>
            <a:off x="6197600" y="4287143"/>
            <a:ext cx="5181600" cy="1059061"/>
          </a:xfrm>
          <a:prstGeom prst="roundRect">
            <a:avLst>
              <a:gd name="adj" fmla="val 719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0" name="[p4] Considere dobutamina"/>
          <p:cNvSpPr txBox="1"/>
          <p:nvPr/>
        </p:nvSpPr>
        <p:spPr>
          <a:xfrm>
            <a:off x="6407150" y="4442369"/>
            <a:ext cx="47815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Considere dobutamina</a:t>
            </a:r>
            <a:endParaRPr lang="en-US" sz="1500" dirty="0"/>
          </a:p>
        </p:txBody>
      </p:sp>
      <p:sp>
        <p:nvSpPr>
          <p:cNvPr id="11" name="[p4] Hipotensão associada; insuficiência rena"/>
          <p:cNvSpPr txBox="1"/>
          <p:nvPr/>
        </p:nvSpPr>
        <p:spPr>
          <a:xfrm>
            <a:off x="6407150" y="4712333"/>
            <a:ext cx="478155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Hipotensão associada; insuficiência renal; necessidade de titulação rápida; disfunção miocárdica da sepse (SSC 2026).</a:t>
            </a:r>
            <a:endParaRPr lang="en-US" sz="1300" dirty="0"/>
          </a:p>
        </p:txBody>
      </p:sp>
      <p:sp>
        <p:nvSpPr>
          <p:cNvPr id="12" name="Mathew, N Engl J Med 2021 (DOREMI) · Di 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Mathew, N Engl J Med 2021 (DOREMI) · Di Santo, Crit Care 2021 (DOREMI, betabloqueador) · bula da milrinona · SSC 2026</a:t>
            </a:r>
            <a:endParaRPr lang="en-US" sz="1200" dirty="0"/>
          </a:p>
        </p:txBody>
      </p:sp>
      <p:pic>
        <p:nvPicPr>
          <p:cNvPr id="13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Graphic spid="5" grpId="0">
        <p:bldAsOne/>
      </p:bldGraphic>
      <p:bldP spid="6" grpId="0" animBg="1"/>
      <p:bldP spid="7" grpId="0"/>
      <p:bldP spid="8" grpId="0"/>
      <p:bldP spid="9" grpId="0" animBg="1"/>
      <p:bldP spid="10" grpId="0"/>
      <p:bldP spid="11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3 · DROGAS · FALÊNCIA DE VD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DROGAS · FALÊNCIA DE VD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Falência de VD: o que fazer</a:t>
            </a:r>
            <a:endParaRPr lang="en-US" sz="3200" dirty="0"/>
          </a:p>
        </p:txBody>
      </p:sp>
      <p:sp>
        <p:nvSpPr>
          <p:cNvPr id="4" name="[p1] Cartão"/>
          <p:cNvSpPr/>
          <p:nvPr/>
        </p:nvSpPr>
        <p:spPr>
          <a:xfrm>
            <a:off x="812800" y="1828701"/>
            <a:ext cx="5219700" cy="1028700"/>
          </a:xfrm>
          <a:prstGeom prst="roundRect">
            <a:avLst>
              <a:gd name="adj" fmla="val 740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5" name="[p1] 1"/>
          <p:cNvSpPr txBox="1"/>
          <p:nvPr/>
        </p:nvSpPr>
        <p:spPr>
          <a:xfrm>
            <a:off x="1022350" y="2001141"/>
            <a:ext cx="139105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pt-BR" altLang="en-US" sz="22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6" name="[p1] Pressão de perfusão"/>
          <p:cNvSpPr txBox="1"/>
          <p:nvPr/>
        </p:nvSpPr>
        <p:spPr>
          <a:xfrm>
            <a:off x="1269405" y="1983927"/>
            <a:ext cx="457259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Pressão de perfusão</a:t>
            </a:r>
            <a:endParaRPr lang="en-US" sz="1500" dirty="0"/>
          </a:p>
        </p:txBody>
      </p:sp>
      <p:sp>
        <p:nvSpPr>
          <p:cNvPr id="7" name="[p1] Noradrenalina para manter a PAM e a perf"/>
          <p:cNvSpPr txBox="1"/>
          <p:nvPr/>
        </p:nvSpPr>
        <p:spPr>
          <a:xfrm>
            <a:off x="1269405" y="2241689"/>
            <a:ext cx="4572595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50"/>
              </a:lnSpc>
              <a:buNone/>
            </a:pPr>
            <a:r>
              <a:rPr lang="pt-BR" altLang="en-US" sz="12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Noradrenalina para manter a PAM e a perfusão coronariana do VD; vasopressina se houver vasoplegia.</a:t>
            </a:r>
            <a:endParaRPr lang="en-US" sz="1250" dirty="0"/>
          </a:p>
        </p:txBody>
      </p:sp>
      <p:sp>
        <p:nvSpPr>
          <p:cNvPr id="8" name="[p2] Cartão"/>
          <p:cNvSpPr/>
          <p:nvPr/>
        </p:nvSpPr>
        <p:spPr>
          <a:xfrm>
            <a:off x="6159500" y="1828701"/>
            <a:ext cx="5219700" cy="1028700"/>
          </a:xfrm>
          <a:prstGeom prst="roundRect">
            <a:avLst>
              <a:gd name="adj" fmla="val 740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9" name="[p2] 2"/>
          <p:cNvSpPr txBox="1"/>
          <p:nvPr/>
        </p:nvSpPr>
        <p:spPr>
          <a:xfrm>
            <a:off x="6369050" y="2001141"/>
            <a:ext cx="175121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pt-BR" altLang="en-US" sz="22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0" name="[p2] Resistência pulmonar"/>
          <p:cNvSpPr txBox="1"/>
          <p:nvPr/>
        </p:nvSpPr>
        <p:spPr>
          <a:xfrm>
            <a:off x="6652121" y="1983927"/>
            <a:ext cx="4536579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Resistência pulmonar</a:t>
            </a:r>
            <a:endParaRPr lang="en-US" sz="1500" dirty="0"/>
          </a:p>
        </p:txBody>
      </p:sp>
      <p:sp>
        <p:nvSpPr>
          <p:cNvPr id="11" name="[p2] Corrigir hipóxia, hipercapnia e acidose;"/>
          <p:cNvSpPr txBox="1"/>
          <p:nvPr/>
        </p:nvSpPr>
        <p:spPr>
          <a:xfrm>
            <a:off x="6652121" y="2241689"/>
            <a:ext cx="4536579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50"/>
              </a:lnSpc>
              <a:buNone/>
            </a:pPr>
            <a:r>
              <a:rPr lang="pt-BR" altLang="en-US" sz="12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Corrigir hipóxia, hipercapnia e acidose; vasodilatador pulmonar inalado.</a:t>
            </a:r>
            <a:endParaRPr lang="en-US" sz="1250" dirty="0"/>
          </a:p>
        </p:txBody>
      </p:sp>
      <p:sp>
        <p:nvSpPr>
          <p:cNvPr id="12" name="[p3] Cartão"/>
          <p:cNvSpPr/>
          <p:nvPr/>
        </p:nvSpPr>
        <p:spPr>
          <a:xfrm>
            <a:off x="812800" y="2984401"/>
            <a:ext cx="5219700" cy="1028700"/>
          </a:xfrm>
          <a:prstGeom prst="roundRect">
            <a:avLst>
              <a:gd name="adj" fmla="val 740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3" name="[p3] 3"/>
          <p:cNvSpPr txBox="1"/>
          <p:nvPr/>
        </p:nvSpPr>
        <p:spPr>
          <a:xfrm>
            <a:off x="1022350" y="3156841"/>
            <a:ext cx="173236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pt-BR" altLang="en-US" sz="22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14" name="[p3] Contratilidade"/>
          <p:cNvSpPr txBox="1"/>
          <p:nvPr/>
        </p:nvSpPr>
        <p:spPr>
          <a:xfrm>
            <a:off x="1303536" y="3139627"/>
            <a:ext cx="4538464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Contratilidade</a:t>
            </a:r>
            <a:endParaRPr lang="en-US" sz="1500" dirty="0"/>
          </a:p>
        </p:txBody>
      </p:sp>
      <p:sp>
        <p:nvSpPr>
          <p:cNvPr id="15" name="[p3] Milrinona (também ↓RVP) ou dobutamina; a"/>
          <p:cNvSpPr txBox="1"/>
          <p:nvPr/>
        </p:nvSpPr>
        <p:spPr>
          <a:xfrm>
            <a:off x="1303536" y="3397389"/>
            <a:ext cx="4538464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50"/>
              </a:lnSpc>
              <a:buNone/>
            </a:pPr>
            <a:r>
              <a:rPr lang="pt-BR" altLang="en-US" sz="12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Milrinona (também ↓RVP) ou dobutamina; adrenalina se o choque for grave.</a:t>
            </a:r>
            <a:endParaRPr lang="en-US" sz="1250" dirty="0"/>
          </a:p>
        </p:txBody>
      </p:sp>
      <p:sp>
        <p:nvSpPr>
          <p:cNvPr id="16" name="[p4] Cartão"/>
          <p:cNvSpPr/>
          <p:nvPr/>
        </p:nvSpPr>
        <p:spPr>
          <a:xfrm>
            <a:off x="6159500" y="2984401"/>
            <a:ext cx="5219700" cy="1028700"/>
          </a:xfrm>
          <a:prstGeom prst="roundRect">
            <a:avLst>
              <a:gd name="adj" fmla="val 740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7" name="[p4] 4"/>
          <p:cNvSpPr txBox="1"/>
          <p:nvPr/>
        </p:nvSpPr>
        <p:spPr>
          <a:xfrm>
            <a:off x="6369050" y="3156841"/>
            <a:ext cx="176907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pt-BR" altLang="en-US" sz="22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200" dirty="0"/>
          </a:p>
        </p:txBody>
      </p:sp>
      <p:sp>
        <p:nvSpPr>
          <p:cNvPr id="18" name="[p4] Volume e ritmo"/>
          <p:cNvSpPr txBox="1"/>
          <p:nvPr/>
        </p:nvSpPr>
        <p:spPr>
          <a:xfrm>
            <a:off x="6653907" y="3139627"/>
            <a:ext cx="426521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 e ritmo</a:t>
            </a:r>
            <a:endParaRPr lang="en-US" sz="1500" dirty="0"/>
          </a:p>
        </p:txBody>
      </p:sp>
      <p:sp>
        <p:nvSpPr>
          <p:cNvPr id="19" name="[p4] Evitar sobrecarga de volume; manter ritm"/>
          <p:cNvSpPr txBox="1"/>
          <p:nvPr/>
        </p:nvSpPr>
        <p:spPr>
          <a:xfrm>
            <a:off x="6653907" y="3397389"/>
            <a:ext cx="4265216" cy="2222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750"/>
              </a:lnSpc>
              <a:buNone/>
            </a:pPr>
            <a:r>
              <a:rPr lang="pt-BR" altLang="en-US" sz="12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Evitar sobrecarga de volume; manter ritmo sinusal e sincronia AV.</a:t>
            </a:r>
            <a:endParaRPr lang="en-US" sz="1250" dirty="0"/>
          </a:p>
        </p:txBody>
      </p:sp>
      <p:sp>
        <p:nvSpPr>
          <p:cNvPr id="20" name="[p5] Cartão"/>
          <p:cNvSpPr/>
          <p:nvPr/>
        </p:nvSpPr>
        <p:spPr>
          <a:xfrm>
            <a:off x="812800" y="4267101"/>
            <a:ext cx="10566400" cy="853380"/>
          </a:xfrm>
          <a:prstGeom prst="roundRect">
            <a:avLst>
              <a:gd name="adj" fmla="val 8929"/>
            </a:avLst>
          </a:prstGeom>
          <a:solidFill>
            <a:srgbClr val="1B2A3A"/>
          </a:solidFill>
          <a:ln/>
        </p:spPr>
      </p:sp>
      <p:sp>
        <p:nvSpPr>
          <p:cNvPr id="21" name="[p5] Atenção"/>
          <p:cNvSpPr txBox="1"/>
          <p:nvPr/>
        </p:nvSpPr>
        <p:spPr>
          <a:xfrm>
            <a:off x="1066800" y="4419653"/>
            <a:ext cx="1294805" cy="4977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920"/>
              </a:lnSpc>
              <a:buNone/>
            </a:pPr>
            <a:r>
              <a:rPr lang="pt-BR" altLang="en-US" sz="2800" dirty="0">
                <a:solidFill>
                  <a:srgbClr val="E49A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Atenção</a:t>
            </a:r>
            <a:endParaRPr lang="en-US" sz="2800" dirty="0"/>
          </a:p>
        </p:txBody>
      </p:sp>
      <p:sp>
        <p:nvSpPr>
          <p:cNvPr id="22" name="[p5] A milrinona pode baixar a PAM: associar "/>
          <p:cNvSpPr txBox="1"/>
          <p:nvPr/>
        </p:nvSpPr>
        <p:spPr>
          <a:xfrm>
            <a:off x="2748955" y="4430943"/>
            <a:ext cx="8395295" cy="4976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milrinona pode baixar a PAM: associar noradrenalina. Com débito preservado e RVS baixa, pensar em vasoplegia: a droga é o vasopressor.</a:t>
            </a:r>
            <a:endParaRPr lang="en-US" sz="1400" dirty="0"/>
          </a:p>
        </p:txBody>
      </p:sp>
      <p:sp>
        <p:nvSpPr>
          <p:cNvPr id="23" name="Konstam, Circulation 2018 (AHA) · Miller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Konstam, Circulation 2018 (AHA) · Miller’s Anesthesia, 10ª ed. (2025)</a:t>
            </a:r>
            <a:endParaRPr lang="en-US" sz="1200" dirty="0"/>
          </a:p>
        </p:txBody>
      </p:sp>
      <p:pic>
        <p:nvPicPr>
          <p:cNvPr id="24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/>
      <p:bldP spid="6" grpId="0"/>
      <p:bldP spid="7" grpId="0"/>
      <p:bldP spid="8" grpId="0" animBg="1"/>
      <p:bldP spid="9" grpId="0"/>
      <p:bldP spid="10" grpId="0"/>
      <p:bldP spid="11" grpId="0"/>
      <p:bldP spid="12" grpId="0" animBg="1"/>
      <p:bldP spid="13" grpId="0"/>
      <p:bldP spid="14" grpId="0"/>
      <p:bldP spid="15" grpId="0"/>
      <p:bldP spid="16" grpId="0" animBg="1"/>
      <p:bldP spid="17" grpId="0"/>
      <p:bldP spid="18" grpId="0"/>
      <p:bldP spid="19" grpId="0"/>
      <p:bldP spid="20" grpId="0" animBg="1"/>
      <p:bldP spid="21" grpId="0"/>
      <p:bldP spid="22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3 · DROGAS · FENILEFRINA E EFEDRI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DROGAS · FENILEFRINA E EFEDRINA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Fenilefrina e efedrina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5181600" cy="1206401"/>
          </a:xfrm>
          <a:prstGeom prst="roundRect">
            <a:avLst>
              <a:gd name="adj" fmla="val 6316"/>
            </a:avLst>
          </a:prstGeom>
          <a:solidFill>
            <a:srgbClr val="1B2A3A"/>
          </a:solidFill>
          <a:ln/>
        </p:spPr>
      </p:sp>
      <p:sp>
        <p:nvSpPr>
          <p:cNvPr id="5" name="Fenilefrina"/>
          <p:cNvSpPr txBox="1"/>
          <p:nvPr/>
        </p:nvSpPr>
        <p:spPr>
          <a:xfrm>
            <a:off x="1066800" y="2053307"/>
            <a:ext cx="977999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Fenilefrina</a:t>
            </a:r>
            <a:endParaRPr lang="en-US" sz="1700" dirty="0"/>
          </a:p>
        </p:txBody>
      </p:sp>
      <p:sp>
        <p:nvSpPr>
          <p:cNvPr id="6" name="PAM ↑ · DC ↔/↓ · FC ↓ · RVS ↑↑"/>
          <p:cNvSpPr txBox="1"/>
          <p:nvPr/>
        </p:nvSpPr>
        <p:spPr>
          <a:xfrm>
            <a:off x="3244552" y="2069740"/>
            <a:ext cx="2514898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 ↑ · DC ↔/↓ · FC ↓ · RVS ↑↑</a:t>
            </a:r>
            <a:endParaRPr lang="en-US" sz="1300" dirty="0"/>
          </a:p>
        </p:txBody>
      </p:sp>
      <p:sp>
        <p:nvSpPr>
          <p:cNvPr id="7" name="α1"/>
          <p:cNvSpPr txBox="1"/>
          <p:nvPr/>
        </p:nvSpPr>
        <p:spPr>
          <a:xfrm>
            <a:off x="1066800" y="240599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200" dirty="0"/>
          </a:p>
        </p:txBody>
      </p:sp>
      <p:sp>
        <p:nvSpPr>
          <p:cNvPr id="8" name="Cartão"/>
          <p:cNvSpPr/>
          <p:nvPr/>
        </p:nvSpPr>
        <p:spPr>
          <a:xfrm>
            <a:off x="14732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9" name="Cartão"/>
          <p:cNvSpPr/>
          <p:nvPr/>
        </p:nvSpPr>
        <p:spPr>
          <a:xfrm>
            <a:off x="14732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0" name="β1"/>
          <p:cNvSpPr txBox="1"/>
          <p:nvPr/>
        </p:nvSpPr>
        <p:spPr>
          <a:xfrm>
            <a:off x="3530600" y="240599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200" dirty="0"/>
          </a:p>
        </p:txBody>
      </p:sp>
      <p:sp>
        <p:nvSpPr>
          <p:cNvPr id="11" name="Cartão"/>
          <p:cNvSpPr/>
          <p:nvPr/>
        </p:nvSpPr>
        <p:spPr>
          <a:xfrm>
            <a:off x="39370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2" name="β2"/>
          <p:cNvSpPr txBox="1"/>
          <p:nvPr/>
        </p:nvSpPr>
        <p:spPr>
          <a:xfrm>
            <a:off x="1066800" y="268281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200" dirty="0"/>
          </a:p>
        </p:txBody>
      </p:sp>
      <p:sp>
        <p:nvSpPr>
          <p:cNvPr id="13" name="Cartão"/>
          <p:cNvSpPr/>
          <p:nvPr/>
        </p:nvSpPr>
        <p:spPr>
          <a:xfrm>
            <a:off x="14732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4" name="D1"/>
          <p:cNvSpPr txBox="1"/>
          <p:nvPr/>
        </p:nvSpPr>
        <p:spPr>
          <a:xfrm>
            <a:off x="3530600" y="268281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200" dirty="0"/>
          </a:p>
        </p:txBody>
      </p:sp>
      <p:sp>
        <p:nvSpPr>
          <p:cNvPr id="15" name="Cartão"/>
          <p:cNvSpPr/>
          <p:nvPr/>
        </p:nvSpPr>
        <p:spPr>
          <a:xfrm>
            <a:off x="39370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6" name="[p1] Cartão"/>
          <p:cNvSpPr/>
          <p:nvPr/>
        </p:nvSpPr>
        <p:spPr>
          <a:xfrm>
            <a:off x="812800" y="3162102"/>
            <a:ext cx="5181600" cy="1164729"/>
          </a:xfrm>
          <a:prstGeom prst="roundRect">
            <a:avLst>
              <a:gd name="adj" fmla="val 654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7" name="[p1] Agonista α1 direto, bolus de 50–100 mcg;"/>
          <p:cNvSpPr txBox="1"/>
          <p:nvPr/>
        </p:nvSpPr>
        <p:spPr>
          <a:xfrm>
            <a:off x="1073150" y="3355621"/>
            <a:ext cx="4679950" cy="745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Agonista α1 direto, bolus de 50–100 mcg; bradicardia reflexa, que pode reduzir o DC. Útil quando a taquicardia é indesejável. Cesárea: infusão profilática de 25–50 mcg/min.</a:t>
            </a:r>
            <a:endParaRPr lang="en-US" sz="1350" dirty="0"/>
          </a:p>
        </p:txBody>
      </p:sp>
      <p:sp>
        <p:nvSpPr>
          <p:cNvPr id="18" name="[p2] Cartão"/>
          <p:cNvSpPr/>
          <p:nvPr/>
        </p:nvSpPr>
        <p:spPr>
          <a:xfrm>
            <a:off x="6197600" y="1879501"/>
            <a:ext cx="5181600" cy="1206401"/>
          </a:xfrm>
          <a:prstGeom prst="roundRect">
            <a:avLst>
              <a:gd name="adj" fmla="val 6316"/>
            </a:avLst>
          </a:prstGeom>
          <a:solidFill>
            <a:srgbClr val="1B2A3A"/>
          </a:solidFill>
          <a:ln/>
        </p:spPr>
      </p:sp>
      <p:sp>
        <p:nvSpPr>
          <p:cNvPr id="19" name="[p2] Efedrina"/>
          <p:cNvSpPr txBox="1"/>
          <p:nvPr/>
        </p:nvSpPr>
        <p:spPr>
          <a:xfrm>
            <a:off x="6451600" y="2053307"/>
            <a:ext cx="769441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Efedrina</a:t>
            </a:r>
            <a:endParaRPr lang="en-US" sz="1700" dirty="0"/>
          </a:p>
        </p:txBody>
      </p:sp>
      <p:sp>
        <p:nvSpPr>
          <p:cNvPr id="20" name="[p2] PAM ↑ · DC ↑ · FC ↑ · RVS ↔/↑"/>
          <p:cNvSpPr txBox="1"/>
          <p:nvPr/>
        </p:nvSpPr>
        <p:spPr>
          <a:xfrm>
            <a:off x="8778875" y="2069740"/>
            <a:ext cx="2365375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 ↑ · DC ↑ · FC ↑ · RVS ↔/↑</a:t>
            </a:r>
            <a:endParaRPr lang="en-US" sz="1300" dirty="0"/>
          </a:p>
        </p:txBody>
      </p:sp>
      <p:sp>
        <p:nvSpPr>
          <p:cNvPr id="21" name="[p2] α1"/>
          <p:cNvSpPr txBox="1"/>
          <p:nvPr/>
        </p:nvSpPr>
        <p:spPr>
          <a:xfrm>
            <a:off x="6451600" y="240599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200" dirty="0"/>
          </a:p>
        </p:txBody>
      </p:sp>
      <p:sp>
        <p:nvSpPr>
          <p:cNvPr id="22" name="[p2] Cartão"/>
          <p:cNvSpPr/>
          <p:nvPr/>
        </p:nvSpPr>
        <p:spPr>
          <a:xfrm>
            <a:off x="68580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23" name="[p2] Cartão"/>
          <p:cNvSpPr/>
          <p:nvPr/>
        </p:nvSpPr>
        <p:spPr>
          <a:xfrm>
            <a:off x="6858000" y="2473821"/>
            <a:ext cx="762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24" name="[p2] β1"/>
          <p:cNvSpPr txBox="1"/>
          <p:nvPr/>
        </p:nvSpPr>
        <p:spPr>
          <a:xfrm>
            <a:off x="8915400" y="240599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200" dirty="0"/>
          </a:p>
        </p:txBody>
      </p:sp>
      <p:sp>
        <p:nvSpPr>
          <p:cNvPr id="25" name="[p2] Cartão"/>
          <p:cNvSpPr/>
          <p:nvPr/>
        </p:nvSpPr>
        <p:spPr>
          <a:xfrm>
            <a:off x="93218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26" name="[p2] Cartão"/>
          <p:cNvSpPr/>
          <p:nvPr/>
        </p:nvSpPr>
        <p:spPr>
          <a:xfrm>
            <a:off x="9321800" y="2473821"/>
            <a:ext cx="762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27" name="[p2] β2"/>
          <p:cNvSpPr txBox="1"/>
          <p:nvPr/>
        </p:nvSpPr>
        <p:spPr>
          <a:xfrm>
            <a:off x="6451600" y="268281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200" dirty="0"/>
          </a:p>
        </p:txBody>
      </p:sp>
      <p:sp>
        <p:nvSpPr>
          <p:cNvPr id="28" name="[p2] Cartão"/>
          <p:cNvSpPr/>
          <p:nvPr/>
        </p:nvSpPr>
        <p:spPr>
          <a:xfrm>
            <a:off x="68580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29" name="[p2] Cartão"/>
          <p:cNvSpPr/>
          <p:nvPr/>
        </p:nvSpPr>
        <p:spPr>
          <a:xfrm>
            <a:off x="6858000" y="2750641"/>
            <a:ext cx="381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30" name="[p2] D1"/>
          <p:cNvSpPr txBox="1"/>
          <p:nvPr/>
        </p:nvSpPr>
        <p:spPr>
          <a:xfrm>
            <a:off x="8915400" y="268281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200" dirty="0"/>
          </a:p>
        </p:txBody>
      </p:sp>
      <p:sp>
        <p:nvSpPr>
          <p:cNvPr id="31" name="[p2] Cartão"/>
          <p:cNvSpPr/>
          <p:nvPr/>
        </p:nvSpPr>
        <p:spPr>
          <a:xfrm>
            <a:off x="93218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32" name="[p3] Cartão"/>
          <p:cNvSpPr/>
          <p:nvPr/>
        </p:nvSpPr>
        <p:spPr>
          <a:xfrm>
            <a:off x="6197600" y="3162102"/>
            <a:ext cx="5181600" cy="1164729"/>
          </a:xfrm>
          <a:prstGeom prst="roundRect">
            <a:avLst>
              <a:gd name="adj" fmla="val 654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33" name="[p3] Ação mista, direta e indireta (libera no"/>
          <p:cNvSpPr txBox="1"/>
          <p:nvPr/>
        </p:nvSpPr>
        <p:spPr>
          <a:xfrm>
            <a:off x="6457950" y="3355621"/>
            <a:ext cx="4679950" cy="745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Ação mista, direta e indireta (libera noradrenalina). Bolus de </a:t>
            </a: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5–10 mg</a:t>
            </a: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na hipotensão com bradicardia. Taquifilaxia; na cesárea, mais acidose fetal que a fenilefrina.</a:t>
            </a:r>
            <a:endParaRPr lang="en-US" sz="1350" dirty="0"/>
          </a:p>
        </p:txBody>
      </p:sp>
      <p:sp>
        <p:nvSpPr>
          <p:cNvPr id="34" name="Kinsella, Anaesthesia 2018 · Park &amp; Choi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Kinsella, Anaesthesia 2018 · Park &amp; Choi, Anesth Pain Med 2024 · Miller’s Anesthesia, 10ª ed. (2025) · barras: escala qualitativa</a:t>
            </a:r>
            <a:endParaRPr lang="en-US" sz="1200" dirty="0"/>
          </a:p>
        </p:txBody>
      </p:sp>
      <p:pic>
        <p:nvPicPr>
          <p:cNvPr id="35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/>
      <p:bldP spid="18" grpId="0" animBg="1"/>
      <p:bldP spid="19" grpId="0"/>
      <p:bldP spid="20" grpId="0"/>
      <p:bldP spid="21" grpId="0"/>
      <p:bldP spid="22" grpId="0" animBg="1"/>
      <p:bldP spid="23" grpId="0" animBg="1"/>
      <p:bldP spid="24" grpId="0"/>
      <p:bldP spid="25" grpId="0" animBg="1"/>
      <p:bldP spid="26" grpId="0" animBg="1"/>
      <p:bldP spid="27" grpId="0"/>
      <p:bldP spid="28" grpId="0" animBg="1"/>
      <p:bldP spid="29" grpId="0" animBg="1"/>
      <p:bldP spid="30" grpId="0"/>
      <p:bldP spid="31" grpId="0" animBg="1"/>
      <p:bldP spid="32" grpId="0" animBg="1"/>
      <p:bldP spid="33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4 · ALÉM DAS AMINAS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ALÉM DAS AMINAS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Vasopressina e adjuvantes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4064000" cy="3020219"/>
          </a:xfrm>
          <a:prstGeom prst="roundRect">
            <a:avLst>
              <a:gd name="adj" fmla="val 2523"/>
            </a:avLst>
          </a:prstGeom>
          <a:solidFill>
            <a:srgbClr val="1B2A3A"/>
          </a:solidFill>
          <a:ln/>
        </p:spPr>
      </p:sp>
      <p:sp>
        <p:nvSpPr>
          <p:cNvPr id="5" name="VASOPRESSINA · RECEPTOR V1"/>
          <p:cNvSpPr txBox="1"/>
          <p:nvPr/>
        </p:nvSpPr>
        <p:spPr>
          <a:xfrm>
            <a:off x="1066800" y="2121537"/>
            <a:ext cx="3575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VASOPRESSINA · RECEPTOR V1</a:t>
            </a:r>
            <a:endParaRPr lang="en-US" sz="1200" dirty="0"/>
          </a:p>
        </p:txBody>
      </p:sp>
      <p:sp>
        <p:nvSpPr>
          <p:cNvPr id="6" name="0,03 U/min"/>
          <p:cNvSpPr txBox="1"/>
          <p:nvPr/>
        </p:nvSpPr>
        <p:spPr>
          <a:xfrm>
            <a:off x="1066800" y="2457108"/>
            <a:ext cx="3575050" cy="502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960"/>
              </a:lnSpc>
              <a:buNone/>
            </a:pPr>
            <a:r>
              <a:rPr lang="pt-BR" altLang="en-US" sz="3600" dirty="0">
                <a:solidFill>
                  <a:srgbClr val="F5F3E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0,03 U/min</a:t>
            </a:r>
            <a:endParaRPr lang="en-US" sz="3600" dirty="0"/>
          </a:p>
        </p:txBody>
      </p:sp>
      <p:sp>
        <p:nvSpPr>
          <p:cNvPr id="7" name="Em geral, dose fixa (até 0,04 U/min); co"/>
          <p:cNvSpPr txBox="1"/>
          <p:nvPr/>
        </p:nvSpPr>
        <p:spPr>
          <a:xfrm>
            <a:off x="1066800" y="3036831"/>
            <a:ext cx="3575050" cy="745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DFE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geral, dose fixa (até 0,04 U/min); costuma manter efeito com acidose e dessensibilização adrenérgica.</a:t>
            </a:r>
            <a:endParaRPr lang="en-US" sz="1350" dirty="0"/>
          </a:p>
        </p:txBody>
      </p:sp>
      <p:sp>
        <p:nvSpPr>
          <p:cNvPr id="8" name="Indicações: choque séptico com NA em esc"/>
          <p:cNvSpPr txBox="1"/>
          <p:nvPr/>
        </p:nvSpPr>
        <p:spPr>
          <a:xfrm>
            <a:off x="1066800" y="3884060"/>
            <a:ext cx="3575050" cy="745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DFE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Indicações: choque séptico com NA em escalada, vasoplegia pós-CEC e hipotensão refratária em uso de IECA/BRA.</a:t>
            </a:r>
            <a:endParaRPr lang="en-US" sz="1350" dirty="0"/>
          </a:p>
        </p:txBody>
      </p:sp>
      <p:sp>
        <p:nvSpPr>
          <p:cNvPr id="9" name="[p1] Cartão"/>
          <p:cNvSpPr/>
          <p:nvPr/>
        </p:nvSpPr>
        <p:spPr>
          <a:xfrm>
            <a:off x="5080000" y="1879501"/>
            <a:ext cx="6299200" cy="827980"/>
          </a:xfrm>
          <a:prstGeom prst="roundRect">
            <a:avLst>
              <a:gd name="adj" fmla="val 9203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0" name="[p1] Hidrocortisona"/>
          <p:cNvSpPr txBox="1"/>
          <p:nvPr/>
        </p:nvSpPr>
        <p:spPr>
          <a:xfrm>
            <a:off x="5289550" y="2034727"/>
            <a:ext cx="58991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Hidrocortisona</a:t>
            </a:r>
            <a:endParaRPr lang="en-US" sz="1500" dirty="0"/>
          </a:p>
        </p:txBody>
      </p:sp>
      <p:sp>
        <p:nvSpPr>
          <p:cNvPr id="11" name="[p1] Restaura a resposta às catecolaminas; 20"/>
          <p:cNvSpPr txBox="1"/>
          <p:nvPr/>
        </p:nvSpPr>
        <p:spPr>
          <a:xfrm>
            <a:off x="5289550" y="2304690"/>
            <a:ext cx="58991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Restaura a resposta às catecolaminas; 200 mg/dia no choque séptico (SSC 2026).</a:t>
            </a:r>
            <a:endParaRPr lang="en-US" sz="1300" dirty="0"/>
          </a:p>
        </p:txBody>
      </p:sp>
      <p:sp>
        <p:nvSpPr>
          <p:cNvPr id="12" name="[p2] Cartão"/>
          <p:cNvSpPr/>
          <p:nvPr/>
        </p:nvSpPr>
        <p:spPr>
          <a:xfrm>
            <a:off x="5080000" y="2809081"/>
            <a:ext cx="6299200" cy="827980"/>
          </a:xfrm>
          <a:prstGeom prst="roundRect">
            <a:avLst>
              <a:gd name="adj" fmla="val 9203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3" name="[p2] Angiotensina II"/>
          <p:cNvSpPr txBox="1"/>
          <p:nvPr/>
        </p:nvSpPr>
        <p:spPr>
          <a:xfrm>
            <a:off x="5289550" y="2964307"/>
            <a:ext cx="58991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Angiotensina II</a:t>
            </a:r>
            <a:endParaRPr lang="en-US" sz="1500" dirty="0"/>
          </a:p>
        </p:txBody>
      </p:sp>
      <p:sp>
        <p:nvSpPr>
          <p:cNvPr id="14" name="[p2] Agonista AT1: poupa catecolamina; pouco "/>
          <p:cNvSpPr txBox="1"/>
          <p:nvPr/>
        </p:nvSpPr>
        <p:spPr>
          <a:xfrm>
            <a:off x="5289550" y="3234271"/>
            <a:ext cx="58991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Agonista AT1: poupa catecolamina; pouco disponível.</a:t>
            </a:r>
            <a:endParaRPr lang="en-US" sz="1300" dirty="0"/>
          </a:p>
        </p:txBody>
      </p:sp>
      <p:sp>
        <p:nvSpPr>
          <p:cNvPr id="15" name="[p3] Cartão"/>
          <p:cNvSpPr/>
          <p:nvPr/>
        </p:nvSpPr>
        <p:spPr>
          <a:xfrm>
            <a:off x="5080000" y="3738662"/>
            <a:ext cx="6299200" cy="1059061"/>
          </a:xfrm>
          <a:prstGeom prst="roundRect">
            <a:avLst>
              <a:gd name="adj" fmla="val 719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6" name="[p3] Azul de metileno"/>
          <p:cNvSpPr txBox="1"/>
          <p:nvPr/>
        </p:nvSpPr>
        <p:spPr>
          <a:xfrm>
            <a:off x="5289550" y="3893887"/>
            <a:ext cx="58991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Azul de metileno</a:t>
            </a:r>
            <a:endParaRPr lang="en-US" sz="1500" dirty="0"/>
          </a:p>
        </p:txBody>
      </p:sp>
      <p:sp>
        <p:nvSpPr>
          <p:cNvPr id="17" name="[p3] Inibe a via óxido nítrico–GMPc: resgate "/>
          <p:cNvSpPr txBox="1"/>
          <p:nvPr/>
        </p:nvSpPr>
        <p:spPr>
          <a:xfrm>
            <a:off x="5289550" y="4163851"/>
            <a:ext cx="589915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Inibe a via óxido nítrico–GMPc: resgate na vasoplegia refratária (pós-CEC, reperfusão hepática).</a:t>
            </a:r>
            <a:endParaRPr lang="en-US" sz="1300" dirty="0"/>
          </a:p>
        </p:txBody>
      </p:sp>
      <p:sp>
        <p:nvSpPr>
          <p:cNvPr id="18" name="SSC 2026 · Hajjar, Anesthesiology 2017 (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SSC 2026 · Hajjar, Anesthesiology 2017 (VANCS) · Khanna, N Engl J Med 2017 (ATHOS-3)</a:t>
            </a:r>
            <a:endParaRPr lang="en-US" sz="1200" dirty="0"/>
          </a:p>
        </p:txBody>
      </p:sp>
      <p:pic>
        <p:nvPicPr>
          <p:cNvPr id="19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/>
      <p:bldP spid="11" grpId="0"/>
      <p:bldP spid="12" grpId="0" animBg="1"/>
      <p:bldP spid="13" grpId="0"/>
      <p:bldP spid="14" grpId="0"/>
      <p:bldP spid="15" grpId="0" animBg="1"/>
      <p:bldP spid="16" grpId="0"/>
      <p:bldP spid="17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5 · CHOQUE SÉPTICO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CHOQUE SÉPTICO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Choque séptico: recomendações da SSC 2026</a:t>
            </a:r>
            <a:endParaRPr lang="en-US" sz="3200" dirty="0"/>
          </a:p>
        </p:txBody>
      </p:sp>
      <p:sp>
        <p:nvSpPr>
          <p:cNvPr id="4" name="[p1] Cartão"/>
          <p:cNvSpPr/>
          <p:nvPr/>
        </p:nvSpPr>
        <p:spPr>
          <a:xfrm>
            <a:off x="812800" y="1879501"/>
            <a:ext cx="3138190" cy="1457722"/>
          </a:xfrm>
          <a:prstGeom prst="roundRect">
            <a:avLst>
              <a:gd name="adj" fmla="val 5227"/>
            </a:avLst>
          </a:prstGeom>
          <a:solidFill>
            <a:srgbClr val="1B2A3A"/>
          </a:solidFill>
          <a:ln/>
        </p:spPr>
      </p:sp>
      <p:sp>
        <p:nvSpPr>
          <p:cNvPr id="5" name="[p1] PASSO 1"/>
          <p:cNvSpPr txBox="1"/>
          <p:nvPr/>
        </p:nvSpPr>
        <p:spPr>
          <a:xfrm>
            <a:off x="1016000" y="2070737"/>
            <a:ext cx="275084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PASSO 1</a:t>
            </a:r>
            <a:endParaRPr lang="en-US" sz="1200" dirty="0"/>
          </a:p>
        </p:txBody>
      </p:sp>
      <p:sp>
        <p:nvSpPr>
          <p:cNvPr id="6" name="[p1] Noradrenalina"/>
          <p:cNvSpPr txBox="1"/>
          <p:nvPr/>
        </p:nvSpPr>
        <p:spPr>
          <a:xfrm>
            <a:off x="1016000" y="2342592"/>
            <a:ext cx="2750840" cy="2742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pt-BR" altLang="en-US" sz="18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Noradrenalina</a:t>
            </a:r>
            <a:endParaRPr lang="en-US" sz="1800" dirty="0"/>
          </a:p>
        </p:txBody>
      </p:sp>
      <p:sp>
        <p:nvSpPr>
          <p:cNvPr id="7" name="[p1] 1ª linha, iniciada cedo, mesmo em veia p"/>
          <p:cNvSpPr txBox="1"/>
          <p:nvPr/>
        </p:nvSpPr>
        <p:spPr>
          <a:xfrm>
            <a:off x="1016000" y="2658901"/>
            <a:ext cx="275084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1ª linha, iniciada cedo, mesmo em veia periférica.</a:t>
            </a:r>
            <a:endParaRPr lang="en-US" sz="1300" dirty="0"/>
          </a:p>
        </p:txBody>
      </p:sp>
      <p:sp>
        <p:nvSpPr>
          <p:cNvPr id="8" name="[p2] →"/>
          <p:cNvSpPr txBox="1"/>
          <p:nvPr/>
        </p:nvSpPr>
        <p:spPr>
          <a:xfrm>
            <a:off x="4077990" y="2445319"/>
            <a:ext cx="341015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pt-BR" altLang="en-US" sz="2800" b="1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800" dirty="0"/>
          </a:p>
        </p:txBody>
      </p:sp>
      <p:sp>
        <p:nvSpPr>
          <p:cNvPr id="9" name="[p2] Cartão"/>
          <p:cNvSpPr/>
          <p:nvPr/>
        </p:nvSpPr>
        <p:spPr>
          <a:xfrm>
            <a:off x="4526955" y="1879501"/>
            <a:ext cx="3138190" cy="1457722"/>
          </a:xfrm>
          <a:prstGeom prst="roundRect">
            <a:avLst>
              <a:gd name="adj" fmla="val 5227"/>
            </a:avLst>
          </a:prstGeom>
          <a:solidFill>
            <a:srgbClr val="1B2A3A"/>
          </a:solidFill>
          <a:ln/>
        </p:spPr>
      </p:sp>
      <p:sp>
        <p:nvSpPr>
          <p:cNvPr id="10" name="[p2] PASSO 2"/>
          <p:cNvSpPr txBox="1"/>
          <p:nvPr/>
        </p:nvSpPr>
        <p:spPr>
          <a:xfrm>
            <a:off x="4730155" y="2070737"/>
            <a:ext cx="275084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PASSO 2</a:t>
            </a:r>
            <a:endParaRPr lang="en-US" sz="1200" dirty="0"/>
          </a:p>
        </p:txBody>
      </p:sp>
      <p:sp>
        <p:nvSpPr>
          <p:cNvPr id="11" name="[p2] + Vasopressina"/>
          <p:cNvSpPr txBox="1"/>
          <p:nvPr/>
        </p:nvSpPr>
        <p:spPr>
          <a:xfrm>
            <a:off x="4730155" y="2342592"/>
            <a:ext cx="2750840" cy="2742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pt-BR" altLang="en-US" sz="18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Vasopressina</a:t>
            </a:r>
            <a:endParaRPr lang="en-US" sz="1800" dirty="0"/>
          </a:p>
        </p:txBody>
      </p:sp>
      <p:sp>
        <p:nvSpPr>
          <p:cNvPr id="12" name="[p2] Quando a dose de NA está subindo."/>
          <p:cNvSpPr txBox="1"/>
          <p:nvPr/>
        </p:nvSpPr>
        <p:spPr>
          <a:xfrm>
            <a:off x="4730155" y="2658901"/>
            <a:ext cx="275084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Quando a dose de NA está subindo.</a:t>
            </a:r>
            <a:endParaRPr lang="en-US" sz="1300" dirty="0"/>
          </a:p>
        </p:txBody>
      </p:sp>
      <p:sp>
        <p:nvSpPr>
          <p:cNvPr id="13" name="[p3] →"/>
          <p:cNvSpPr txBox="1"/>
          <p:nvPr/>
        </p:nvSpPr>
        <p:spPr>
          <a:xfrm>
            <a:off x="7792145" y="2445319"/>
            <a:ext cx="341015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pt-BR" altLang="en-US" sz="2800" b="1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800" dirty="0"/>
          </a:p>
        </p:txBody>
      </p:sp>
      <p:sp>
        <p:nvSpPr>
          <p:cNvPr id="14" name="[p3] Cartão"/>
          <p:cNvSpPr/>
          <p:nvPr/>
        </p:nvSpPr>
        <p:spPr>
          <a:xfrm>
            <a:off x="8241109" y="1879501"/>
            <a:ext cx="3138190" cy="1457722"/>
          </a:xfrm>
          <a:prstGeom prst="roundRect">
            <a:avLst>
              <a:gd name="adj" fmla="val 5227"/>
            </a:avLst>
          </a:prstGeom>
          <a:solidFill>
            <a:srgbClr val="1B2A3A"/>
          </a:solidFill>
          <a:ln/>
        </p:spPr>
      </p:sp>
      <p:sp>
        <p:nvSpPr>
          <p:cNvPr id="15" name="[p3] PASSO 3"/>
          <p:cNvSpPr txBox="1"/>
          <p:nvPr/>
        </p:nvSpPr>
        <p:spPr>
          <a:xfrm>
            <a:off x="8444309" y="2070737"/>
            <a:ext cx="275084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PASSO 3</a:t>
            </a:r>
            <a:endParaRPr lang="en-US" sz="1200" dirty="0"/>
          </a:p>
        </p:txBody>
      </p:sp>
      <p:sp>
        <p:nvSpPr>
          <p:cNvPr id="16" name="[p3] + Adrenalina"/>
          <p:cNvSpPr txBox="1"/>
          <p:nvPr/>
        </p:nvSpPr>
        <p:spPr>
          <a:xfrm>
            <a:off x="8444309" y="2342592"/>
            <a:ext cx="2750840" cy="2742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pt-BR" altLang="en-US" sz="18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Adrenalina</a:t>
            </a:r>
            <a:endParaRPr lang="en-US" sz="1800" dirty="0"/>
          </a:p>
        </p:txBody>
      </p:sp>
      <p:sp>
        <p:nvSpPr>
          <p:cNvPr id="17" name="[p3] Se a PAM continuar inadequada."/>
          <p:cNvSpPr txBox="1"/>
          <p:nvPr/>
        </p:nvSpPr>
        <p:spPr>
          <a:xfrm>
            <a:off x="8444309" y="2658901"/>
            <a:ext cx="275084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a PAM continuar inadequada.</a:t>
            </a:r>
            <a:endParaRPr lang="en-US" sz="1300" dirty="0"/>
          </a:p>
        </p:txBody>
      </p:sp>
      <p:sp>
        <p:nvSpPr>
          <p:cNvPr id="18" name="[p4] Cartão"/>
          <p:cNvSpPr/>
          <p:nvPr/>
        </p:nvSpPr>
        <p:spPr>
          <a:xfrm>
            <a:off x="812800" y="3540423"/>
            <a:ext cx="5181600" cy="1378446"/>
          </a:xfrm>
          <a:prstGeom prst="roundRect">
            <a:avLst>
              <a:gd name="adj" fmla="val 5528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9" name="[p4] Alvo e momento"/>
          <p:cNvSpPr txBox="1"/>
          <p:nvPr/>
        </p:nvSpPr>
        <p:spPr>
          <a:xfrm>
            <a:off x="1073150" y="3796779"/>
            <a:ext cx="46799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Alvo e momento</a:t>
            </a:r>
            <a:endParaRPr lang="en-US" sz="1700" dirty="0"/>
          </a:p>
        </p:txBody>
      </p:sp>
      <p:sp>
        <p:nvSpPr>
          <p:cNvPr id="20" name="[p4] PAM inicial de 65 mmHg (60–65 a partir d"/>
          <p:cNvSpPr txBox="1"/>
          <p:nvPr/>
        </p:nvSpPr>
        <p:spPr>
          <a:xfrm>
            <a:off x="1073150" y="4145402"/>
            <a:ext cx="4679950" cy="4970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 inicial de 65 mmHg (60–65 a partir dos 65 anos). Antecipar a vasopressina por protocolo não reduziu a mortalidade (VASSPR).</a:t>
            </a:r>
            <a:endParaRPr lang="en-US" sz="1350" dirty="0"/>
          </a:p>
        </p:txBody>
      </p:sp>
      <p:sp>
        <p:nvSpPr>
          <p:cNvPr id="21" name="[p5] Cartão"/>
          <p:cNvSpPr/>
          <p:nvPr/>
        </p:nvSpPr>
        <p:spPr>
          <a:xfrm>
            <a:off x="6197600" y="3540423"/>
            <a:ext cx="5181600" cy="1378446"/>
          </a:xfrm>
          <a:prstGeom prst="roundRect">
            <a:avLst>
              <a:gd name="adj" fmla="val 5528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2" name="[p5] Disfunção cardíaca e adjuvantes"/>
          <p:cNvSpPr txBox="1"/>
          <p:nvPr/>
        </p:nvSpPr>
        <p:spPr>
          <a:xfrm>
            <a:off x="6457950" y="3796779"/>
            <a:ext cx="46799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Disfunção cardíaca e adjuvantes</a:t>
            </a:r>
            <a:endParaRPr lang="en-US" sz="1700" dirty="0"/>
          </a:p>
        </p:txBody>
      </p:sp>
      <p:sp>
        <p:nvSpPr>
          <p:cNvPr id="23" name="[p5] Hipoperfusão com volume e PAM adequados:"/>
          <p:cNvSpPr txBox="1"/>
          <p:nvPr/>
        </p:nvSpPr>
        <p:spPr>
          <a:xfrm>
            <a:off x="6457950" y="4145402"/>
            <a:ext cx="4679950" cy="4970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Hipoperfusão com volume e PAM adequados: dobutamina + NA, ou adrenalina. Hidrocortisona sugerida.</a:t>
            </a:r>
            <a:endParaRPr lang="en-US" sz="1350" dirty="0"/>
          </a:p>
        </p:txBody>
      </p:sp>
      <p:sp>
        <p:nvSpPr>
          <p:cNvPr id="24" name="Prescott, Crit Care Med 2026 (SSC) · Pel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Prescott, Crit Care Med 2026 (SSC) · Peltan, JAMA 2026 (VASSPR)</a:t>
            </a:r>
            <a:endParaRPr lang="en-US" sz="1200" dirty="0"/>
          </a:p>
        </p:txBody>
      </p:sp>
      <p:pic>
        <p:nvPicPr>
          <p:cNvPr id="25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/>
      <p:bldP spid="6" grpId="0"/>
      <p:bldP spid="7" grpId="0"/>
      <p:bldP spid="8" grpId="0"/>
      <p:bldP spid="9" grpId="0" animBg="1"/>
      <p:bldP spid="10" grpId="0"/>
      <p:bldP spid="11" grpId="0"/>
      <p:bldP spid="12" grpId="0"/>
      <p:bldP spid="13" grpId="0"/>
      <p:bldP spid="14" grpId="0" animBg="1"/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6 · PERIOPERATÓRIO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PERIOPERATÓRIO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Escolha da droga no intraoperatório</a:t>
            </a:r>
            <a:endParaRPr lang="en-US" sz="3200" dirty="0"/>
          </a:p>
        </p:txBody>
      </p:sp>
      <p:sp>
        <p:nvSpPr>
          <p:cNvPr id="4" name="Hipotensão"/>
          <p:cNvSpPr/>
          <p:nvPr/>
        </p:nvSpPr>
        <p:spPr>
          <a:xfrm>
            <a:off x="812800" y="1835051"/>
            <a:ext cx="1005979" cy="391120"/>
          </a:xfrm>
          <a:prstGeom prst="roundRect">
            <a:avLst>
              <a:gd name="adj" fmla="val 19483"/>
            </a:avLst>
          </a:prstGeom>
          <a:solidFill>
            <a:srgbClr val="1B2A3A"/>
          </a:solidFill>
          <a:ln/>
        </p:spPr>
        <p:txBody>
          <a:bodyPr wrap="none" lIns="139700" tIns="88900" rIns="139700" bIns="88900" rtlCol="0" anchor="ctr"/>
          <a:lstStyle/>
          <a:p>
            <a:pPr algn="ctr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Hipotensão</a:t>
            </a:r>
            <a:endParaRPr lang="en-US" sz="1200" dirty="0"/>
          </a:p>
        </p:txBody>
      </p:sp>
      <p:sp>
        <p:nvSpPr>
          <p:cNvPr id="5" name="→"/>
          <p:cNvSpPr txBox="1"/>
          <p:nvPr/>
        </p:nvSpPr>
        <p:spPr>
          <a:xfrm>
            <a:off x="1920379" y="1902506"/>
            <a:ext cx="272058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pt-BR" altLang="en-US" sz="2200" b="1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6" name="Afastar plano profundo, hipovolemia, com"/>
          <p:cNvSpPr/>
          <p:nvPr/>
        </p:nvSpPr>
        <p:spPr>
          <a:xfrm>
            <a:off x="2274987" y="1828701"/>
            <a:ext cx="5829399" cy="403820"/>
          </a:xfrm>
          <a:prstGeom prst="roundRect">
            <a:avLst>
              <a:gd name="adj" fmla="val 18870"/>
            </a:avLst>
          </a:prstGeom>
          <a:solidFill>
            <a:srgbClr val="FFFDF8"/>
          </a:solidFill>
          <a:ln w="6350">
            <a:solidFill>
              <a:srgbClr val="E2DDD2"/>
            </a:solidFill>
          </a:ln>
        </p:spPr>
        <p:txBody>
          <a:bodyPr wrap="none" lIns="146050" tIns="95250" rIns="146050" bIns="95250" rtlCol="0" anchor="ctr"/>
          <a:lstStyle/>
          <a:p>
            <a:pPr algn="ctr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Afastar plano profundo, hipovolemia, compressão aortocava, pneumotórax e anafilaxia</a:t>
            </a:r>
            <a:endParaRPr lang="en-US" sz="1200" dirty="0"/>
          </a:p>
        </p:txBody>
      </p:sp>
      <p:sp>
        <p:nvSpPr>
          <p:cNvPr id="7" name="→"/>
          <p:cNvSpPr txBox="1"/>
          <p:nvPr/>
        </p:nvSpPr>
        <p:spPr>
          <a:xfrm>
            <a:off x="8205986" y="1902506"/>
            <a:ext cx="272058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pt-BR" altLang="en-US" sz="2200" b="1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8" name="Qual mecanismo?"/>
          <p:cNvSpPr/>
          <p:nvPr/>
        </p:nvSpPr>
        <p:spPr>
          <a:xfrm>
            <a:off x="8560594" y="1835051"/>
            <a:ext cx="1409105" cy="391120"/>
          </a:xfrm>
          <a:prstGeom prst="roundRect">
            <a:avLst>
              <a:gd name="adj" fmla="val 19483"/>
            </a:avLst>
          </a:prstGeom>
          <a:solidFill>
            <a:srgbClr val="1B2A3A"/>
          </a:solidFill>
          <a:ln/>
        </p:spPr>
        <p:txBody>
          <a:bodyPr wrap="none" lIns="139700" tIns="88900" rIns="139700" bIns="88900" rtlCol="0" anchor="ctr"/>
          <a:lstStyle/>
          <a:p>
            <a:pPr algn="ctr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 mecanismo?</a:t>
            </a:r>
            <a:endParaRPr lang="en-US" sz="1200" dirty="0"/>
          </a:p>
        </p:txBody>
      </p:sp>
      <p:sp>
        <p:nvSpPr>
          <p:cNvPr id="9" name="[p1] Cartão"/>
          <p:cNvSpPr/>
          <p:nvPr/>
        </p:nvSpPr>
        <p:spPr>
          <a:xfrm>
            <a:off x="812800" y="2486521"/>
            <a:ext cx="2011660" cy="1740694"/>
          </a:xfrm>
          <a:prstGeom prst="roundRect">
            <a:avLst>
              <a:gd name="adj" fmla="val 4378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0" name="[p1] Tônus baixo, FC normal ou alta"/>
          <p:cNvSpPr/>
          <p:nvPr/>
        </p:nvSpPr>
        <p:spPr>
          <a:xfrm>
            <a:off x="819150" y="2492871"/>
            <a:ext cx="1998960" cy="573881"/>
          </a:xfrm>
          <a:prstGeom prst="roundRect">
            <a:avLst>
              <a:gd name="adj" fmla="val 13278"/>
            </a:avLst>
          </a:prstGeom>
          <a:solidFill>
            <a:srgbClr val="1B2A3A"/>
          </a:solidFill>
          <a:ln/>
        </p:spPr>
        <p:txBody>
          <a:bodyPr wrap="square" lIns="127000" tIns="88900" rIns="127000" bIns="8890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Tônus baixo, FC normal ou alta</a:t>
            </a:r>
            <a:endParaRPr lang="en-US" sz="1200" dirty="0"/>
          </a:p>
        </p:txBody>
      </p:sp>
      <p:sp>
        <p:nvSpPr>
          <p:cNvPr id="11" name="[p1] Fenilefrina 50–100 mcg ou NA 5–10 mcg; i"/>
          <p:cNvSpPr txBox="1"/>
          <p:nvPr/>
        </p:nvSpPr>
        <p:spPr>
          <a:xfrm>
            <a:off x="946150" y="3170165"/>
            <a:ext cx="1764010" cy="6941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3"/>
              </a:lnSpc>
              <a:buNone/>
            </a:pPr>
            <a:r>
              <a:rPr lang="pt-BR" altLang="en-US" sz="135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Fenilefrina 50–100 mcg ou NA 5–10 mcg; infusão se persistir</a:t>
            </a:r>
            <a:endParaRPr lang="en-US" sz="1350" dirty="0"/>
          </a:p>
        </p:txBody>
      </p:sp>
      <p:sp>
        <p:nvSpPr>
          <p:cNvPr id="12" name="[p2] Cartão"/>
          <p:cNvSpPr/>
          <p:nvPr/>
        </p:nvSpPr>
        <p:spPr>
          <a:xfrm>
            <a:off x="2951460" y="2486521"/>
            <a:ext cx="2011660" cy="1740694"/>
          </a:xfrm>
          <a:prstGeom prst="roundRect">
            <a:avLst>
              <a:gd name="adj" fmla="val 4378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3" name="[p2] Tônus baixo com bradicardia"/>
          <p:cNvSpPr/>
          <p:nvPr/>
        </p:nvSpPr>
        <p:spPr>
          <a:xfrm>
            <a:off x="2957810" y="2492871"/>
            <a:ext cx="1998960" cy="573881"/>
          </a:xfrm>
          <a:prstGeom prst="roundRect">
            <a:avLst>
              <a:gd name="adj" fmla="val 13278"/>
            </a:avLst>
          </a:prstGeom>
          <a:solidFill>
            <a:srgbClr val="1B2A3A"/>
          </a:solidFill>
          <a:ln/>
        </p:spPr>
        <p:txBody>
          <a:bodyPr wrap="square" lIns="127000" tIns="88900" rIns="127000" bIns="8890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Tônus baixo com bradicardia</a:t>
            </a:r>
            <a:endParaRPr lang="en-US" sz="1200" dirty="0"/>
          </a:p>
        </p:txBody>
      </p:sp>
      <p:sp>
        <p:nvSpPr>
          <p:cNvPr id="14" name="[p2] Efedrina 5–10 mg"/>
          <p:cNvSpPr txBox="1"/>
          <p:nvPr/>
        </p:nvSpPr>
        <p:spPr>
          <a:xfrm>
            <a:off x="3084810" y="3170165"/>
            <a:ext cx="1764010" cy="2313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3"/>
              </a:lnSpc>
              <a:buNone/>
            </a:pPr>
            <a:r>
              <a:rPr lang="pt-BR" altLang="en-US" sz="135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Efedrina 5–10 mg</a:t>
            </a:r>
            <a:endParaRPr lang="en-US" sz="1350" dirty="0"/>
          </a:p>
        </p:txBody>
      </p:sp>
      <p:sp>
        <p:nvSpPr>
          <p:cNvPr id="15" name="[p3] Cartão"/>
          <p:cNvSpPr/>
          <p:nvPr/>
        </p:nvSpPr>
        <p:spPr>
          <a:xfrm>
            <a:off x="5090120" y="2486521"/>
            <a:ext cx="2011660" cy="1740694"/>
          </a:xfrm>
          <a:prstGeom prst="roundRect">
            <a:avLst>
              <a:gd name="adj" fmla="val 4378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6" name="[p3] Baixo débito com hipoperfusão"/>
          <p:cNvSpPr/>
          <p:nvPr/>
        </p:nvSpPr>
        <p:spPr>
          <a:xfrm>
            <a:off x="5096470" y="2492871"/>
            <a:ext cx="1998960" cy="573881"/>
          </a:xfrm>
          <a:prstGeom prst="roundRect">
            <a:avLst>
              <a:gd name="adj" fmla="val 13278"/>
            </a:avLst>
          </a:prstGeom>
          <a:solidFill>
            <a:srgbClr val="1B2A3A"/>
          </a:solidFill>
          <a:ln/>
        </p:spPr>
        <p:txBody>
          <a:bodyPr wrap="square" lIns="127000" tIns="88900" rIns="127000" bIns="8890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Baixo débito com hipoperfusão</a:t>
            </a:r>
            <a:endParaRPr lang="en-US" sz="1200" dirty="0"/>
          </a:p>
        </p:txBody>
      </p:sp>
      <p:sp>
        <p:nvSpPr>
          <p:cNvPr id="17" name="[p3] Dobutamina; milrinona no VD com hiperten"/>
          <p:cNvSpPr txBox="1"/>
          <p:nvPr/>
        </p:nvSpPr>
        <p:spPr>
          <a:xfrm>
            <a:off x="5223470" y="3170165"/>
            <a:ext cx="1764010" cy="925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3"/>
              </a:lnSpc>
              <a:buNone/>
            </a:pPr>
            <a:r>
              <a:rPr lang="pt-BR" altLang="en-US" sz="135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Dobutamina; milrinona no VD com hipertensão pulmonar; NA se a PAM cair</a:t>
            </a:r>
            <a:endParaRPr lang="en-US" sz="1350" dirty="0"/>
          </a:p>
        </p:txBody>
      </p:sp>
      <p:sp>
        <p:nvSpPr>
          <p:cNvPr id="18" name="[p4] Cartão"/>
          <p:cNvSpPr/>
          <p:nvPr/>
        </p:nvSpPr>
        <p:spPr>
          <a:xfrm>
            <a:off x="7228780" y="2486521"/>
            <a:ext cx="2011660" cy="1740694"/>
          </a:xfrm>
          <a:prstGeom prst="roundRect">
            <a:avLst>
              <a:gd name="adj" fmla="val 4378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9" name="[p4] Vasoplegia refratária"/>
          <p:cNvSpPr/>
          <p:nvPr/>
        </p:nvSpPr>
        <p:spPr>
          <a:xfrm>
            <a:off x="7235130" y="2492871"/>
            <a:ext cx="1998960" cy="571500"/>
          </a:xfrm>
          <a:prstGeom prst="roundRect">
            <a:avLst>
              <a:gd name="adj" fmla="val 13333"/>
            </a:avLst>
          </a:prstGeom>
          <a:solidFill>
            <a:srgbClr val="1B2A3A"/>
          </a:solidFill>
          <a:ln/>
        </p:spPr>
        <p:txBody>
          <a:bodyPr wrap="square" lIns="127000" tIns="88900" rIns="127000" bIns="8890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Vasoplegia refratária</a:t>
            </a:r>
            <a:endParaRPr lang="en-US" sz="1200" dirty="0"/>
          </a:p>
        </p:txBody>
      </p:sp>
      <p:sp>
        <p:nvSpPr>
          <p:cNvPr id="20" name="[p4] Vasopressina; azul de metileno como resg"/>
          <p:cNvSpPr txBox="1"/>
          <p:nvPr/>
        </p:nvSpPr>
        <p:spPr>
          <a:xfrm>
            <a:off x="7362130" y="3167784"/>
            <a:ext cx="1764010" cy="925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3"/>
              </a:lnSpc>
              <a:buNone/>
            </a:pPr>
            <a:r>
              <a:rPr lang="pt-BR" altLang="en-US" sz="135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Vasopressina; azul de metileno como resgate (pós-CEC, IECA/BRA, reperfusão hepática)</a:t>
            </a:r>
            <a:endParaRPr lang="en-US" sz="1350" dirty="0"/>
          </a:p>
        </p:txBody>
      </p:sp>
      <p:sp>
        <p:nvSpPr>
          <p:cNvPr id="21" name="[p5] Cartão"/>
          <p:cNvSpPr/>
          <p:nvPr/>
        </p:nvSpPr>
        <p:spPr>
          <a:xfrm>
            <a:off x="9367441" y="2486521"/>
            <a:ext cx="2011660" cy="1740694"/>
          </a:xfrm>
          <a:prstGeom prst="roundRect">
            <a:avLst>
              <a:gd name="adj" fmla="val 4378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2" name="[p5] Pré-carga baixa"/>
          <p:cNvSpPr/>
          <p:nvPr/>
        </p:nvSpPr>
        <p:spPr>
          <a:xfrm>
            <a:off x="9373791" y="2492871"/>
            <a:ext cx="1998960" cy="571500"/>
          </a:xfrm>
          <a:prstGeom prst="roundRect">
            <a:avLst>
              <a:gd name="adj" fmla="val 13333"/>
            </a:avLst>
          </a:prstGeom>
          <a:solidFill>
            <a:srgbClr val="1B2A3A"/>
          </a:solidFill>
          <a:ln/>
        </p:spPr>
        <p:txBody>
          <a:bodyPr wrap="square" lIns="127000" tIns="88900" rIns="127000" bIns="8890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Pré-carga baixa</a:t>
            </a:r>
            <a:endParaRPr lang="en-US" sz="1200" dirty="0"/>
          </a:p>
        </p:txBody>
      </p:sp>
      <p:sp>
        <p:nvSpPr>
          <p:cNvPr id="23" name="[p5] Volume, se o débito responde"/>
          <p:cNvSpPr txBox="1"/>
          <p:nvPr/>
        </p:nvSpPr>
        <p:spPr>
          <a:xfrm>
            <a:off x="9500791" y="3167784"/>
            <a:ext cx="1764010" cy="4627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3"/>
              </a:lnSpc>
              <a:buNone/>
            </a:pPr>
            <a:r>
              <a:rPr lang="pt-BR" altLang="en-US" sz="135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Volume, se o débito responde</a:t>
            </a:r>
            <a:endParaRPr lang="en-US" sz="1350" dirty="0"/>
          </a:p>
        </p:txBody>
      </p:sp>
      <p:sp>
        <p:nvSpPr>
          <p:cNvPr id="24" name="[p6] Transplante hepático (UFRJ): em 19 pacie"/>
          <p:cNvSpPr txBox="1"/>
          <p:nvPr/>
        </p:nvSpPr>
        <p:spPr>
          <a:xfrm>
            <a:off x="812800" y="4468254"/>
            <a:ext cx="1058545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Transplante hepático (UFRJ):</a:t>
            </a: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em 19 pacientes selecionados, a função do VD ao ETE manteve-se preservada nas cinco fases avaliadas, inclusive após a reperfusão (Gouvêa et al., PLoS One 2022).</a:t>
            </a:r>
            <a:endParaRPr lang="en-US" sz="1300" dirty="0"/>
          </a:p>
        </p:txBody>
      </p:sp>
      <p:sp>
        <p:nvSpPr>
          <p:cNvPr id="25" name="Gouvêa, PLoS One 2022 · Hajjar, Anesthes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Gouvêa, PLoS One 2022 · Hajjar, Anesthesiology 2017 (VANCS) · Miller’s Anesthesia, 10ª ed. (2025)</a:t>
            </a:r>
            <a:endParaRPr lang="en-US" sz="1200" dirty="0"/>
          </a:p>
        </p:txBody>
      </p:sp>
      <p:pic>
        <p:nvPicPr>
          <p:cNvPr id="26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/>
      <p:bldP spid="12" grpId="0" animBg="1"/>
      <p:bldP spid="13" grpId="0" animBg="1"/>
      <p:bldP spid="14" grpId="0"/>
      <p:bldP spid="15" grpId="0" animBg="1"/>
      <p:bldP spid="16" grpId="0" animBg="1"/>
      <p:bldP spid="17" grpId="0"/>
      <p:bldP spid="18" grpId="0" animBg="1"/>
      <p:bldP spid="19" grpId="0" animBg="1"/>
      <p:bldP spid="20" grpId="0"/>
      <p:bldP spid="21" grpId="0" animBg="1"/>
      <p:bldP spid="22" grpId="0" animBg="1"/>
      <p:bldP spid="23" grpId="0"/>
      <p:bldP spid="24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6 · PERIOPERATÓRIO · HIPOTENSÃO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PERIOPERATÓRIO · HIPOTENSÃO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Hipotensão intraoperatória e alvo de pressão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556000" cy="2918222"/>
          </a:xfrm>
          <a:prstGeom prst="roundRect">
            <a:avLst>
              <a:gd name="adj" fmla="val 2611"/>
            </a:avLst>
          </a:prstGeom>
          <a:solidFill>
            <a:srgbClr val="1B2A3A"/>
          </a:solidFill>
          <a:ln/>
        </p:spPr>
      </p:sp>
      <p:sp>
        <p:nvSpPr>
          <p:cNvPr id="5" name="RISCO ASSOCIADO"/>
          <p:cNvSpPr txBox="1"/>
          <p:nvPr/>
        </p:nvSpPr>
        <p:spPr>
          <a:xfrm>
            <a:off x="1066800" y="2121537"/>
            <a:ext cx="3067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RISCO ASSOCIADO</a:t>
            </a:r>
            <a:endParaRPr lang="en-US" sz="1200" dirty="0"/>
          </a:p>
        </p:txBody>
      </p:sp>
      <p:sp>
        <p:nvSpPr>
          <p:cNvPr id="6" name="PAM &lt;65"/>
          <p:cNvSpPr txBox="1"/>
          <p:nvPr/>
        </p:nvSpPr>
        <p:spPr>
          <a:xfrm>
            <a:off x="1066800" y="2459038"/>
            <a:ext cx="3067050" cy="6146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840"/>
              </a:lnSpc>
              <a:buNone/>
            </a:pPr>
            <a:r>
              <a:rPr lang="pt-BR" altLang="en-US" sz="4400" dirty="0">
                <a:solidFill>
                  <a:srgbClr val="F5F3E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PAM &lt;65</a:t>
            </a:r>
            <a:endParaRPr lang="en-US" sz="4400" dirty="0"/>
          </a:p>
        </p:txBody>
      </p:sp>
      <p:sp>
        <p:nvSpPr>
          <p:cNvPr id="7" name="Mesmo períodos curtos abaixo de 65 mmHg "/>
          <p:cNvSpPr txBox="1"/>
          <p:nvPr/>
        </p:nvSpPr>
        <p:spPr>
          <a:xfrm>
            <a:off x="1066800" y="3148651"/>
            <a:ext cx="3067050" cy="9941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DFE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Mesmo períodos curtos abaixo de 65 mmHg se associam a lesão renal aguda, lesão miocárdica e delirium (estudos observacionais).</a:t>
            </a:r>
            <a:endParaRPr lang="en-US" sz="1350" dirty="0"/>
          </a:p>
        </p:txBody>
      </p:sp>
      <p:sp>
        <p:nvSpPr>
          <p:cNvPr id="8" name="[p1] Cartão"/>
          <p:cNvSpPr/>
          <p:nvPr/>
        </p:nvSpPr>
        <p:spPr>
          <a:xfrm>
            <a:off x="4572000" y="1879501"/>
            <a:ext cx="6807200" cy="1059061"/>
          </a:xfrm>
          <a:prstGeom prst="roundRect">
            <a:avLst>
              <a:gd name="adj" fmla="val 719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9" name="[p1] Limite mínimo"/>
          <p:cNvSpPr txBox="1"/>
          <p:nvPr/>
        </p:nvSpPr>
        <p:spPr>
          <a:xfrm>
            <a:off x="4781550" y="2034727"/>
            <a:ext cx="64071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 mínimo</a:t>
            </a:r>
            <a:endParaRPr lang="en-US" sz="1500" dirty="0"/>
          </a:p>
        </p:txBody>
      </p:sp>
      <p:sp>
        <p:nvSpPr>
          <p:cNvPr id="10" name="[p1] PAM ≥60 em pacientes de risco (POQI 2024"/>
          <p:cNvSpPr txBox="1"/>
          <p:nvPr/>
        </p:nvSpPr>
        <p:spPr>
          <a:xfrm>
            <a:off x="4781550" y="2304690"/>
            <a:ext cx="640715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 ≥60 em pacientes de risco (POQI 2024); com pressão venosa ou compartimental alta, alvo maior.</a:t>
            </a:r>
            <a:endParaRPr lang="en-US" sz="1300" dirty="0"/>
          </a:p>
        </p:txBody>
      </p:sp>
      <p:sp>
        <p:nvSpPr>
          <p:cNvPr id="11" name="[p2] Cartão"/>
          <p:cNvSpPr/>
          <p:nvPr/>
        </p:nvSpPr>
        <p:spPr>
          <a:xfrm>
            <a:off x="4572000" y="3040162"/>
            <a:ext cx="6807200" cy="827980"/>
          </a:xfrm>
          <a:prstGeom prst="roundRect">
            <a:avLst>
              <a:gd name="adj" fmla="val 9203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2" name="[p2] Alvo maior em pacientes selecionados"/>
          <p:cNvSpPr txBox="1"/>
          <p:nvPr/>
        </p:nvSpPr>
        <p:spPr>
          <a:xfrm>
            <a:off x="4781550" y="3195387"/>
            <a:ext cx="64071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Alvo maior em pacientes selecionados</a:t>
            </a:r>
            <a:endParaRPr lang="en-US" sz="1500" dirty="0"/>
          </a:p>
        </p:txBody>
      </p:sp>
      <p:sp>
        <p:nvSpPr>
          <p:cNvPr id="13" name="[p2] PAM ≥80 (vs. ≥65) reduziu morte ou disfu"/>
          <p:cNvSpPr txBox="1"/>
          <p:nvPr/>
        </p:nvSpPr>
        <p:spPr>
          <a:xfrm>
            <a:off x="4781550" y="3465351"/>
            <a:ext cx="64071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 ≥80 (vs. ≥65) reduziu morte ou disfunção orgânica em hipertensos de alto risco (HISTAP).</a:t>
            </a:r>
            <a:endParaRPr lang="en-US" sz="1300" dirty="0"/>
          </a:p>
        </p:txBody>
      </p:sp>
      <p:sp>
        <p:nvSpPr>
          <p:cNvPr id="14" name="[p3] Cartão"/>
          <p:cNvSpPr/>
          <p:nvPr/>
        </p:nvSpPr>
        <p:spPr>
          <a:xfrm>
            <a:off x="4572000" y="3969742"/>
            <a:ext cx="6807200" cy="827980"/>
          </a:xfrm>
          <a:prstGeom prst="roundRect">
            <a:avLst>
              <a:gd name="adj" fmla="val 9203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5" name="[p3] Manejo proativo"/>
          <p:cNvSpPr txBox="1"/>
          <p:nvPr/>
        </p:nvSpPr>
        <p:spPr>
          <a:xfrm>
            <a:off x="4781550" y="4124968"/>
            <a:ext cx="64071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Manejo proativo</a:t>
            </a:r>
            <a:endParaRPr lang="en-US" sz="1500" dirty="0"/>
          </a:p>
        </p:txBody>
      </p:sp>
      <p:sp>
        <p:nvSpPr>
          <p:cNvPr id="16" name="[p3] Antecipar e tratar cedo; monitorização f"/>
          <p:cNvSpPr txBox="1"/>
          <p:nvPr/>
        </p:nvSpPr>
        <p:spPr>
          <a:xfrm>
            <a:off x="4781550" y="4394932"/>
            <a:ext cx="64071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Antecipar e tratar cedo; monitorização funcional orienta volume, vasopressor ou inotrópico.</a:t>
            </a:r>
            <a:endParaRPr lang="en-US" sz="1300" dirty="0"/>
          </a:p>
        </p:txBody>
      </p:sp>
      <p:sp>
        <p:nvSpPr>
          <p:cNvPr id="17" name="Lineburger, Braz J Anesthesiol 2025 · Sa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Lineburger, Braz J Anesthesiol 2025 · Saugel, Br J Anaesth 2024 (POQI) · Cecconi, Intensive Care Med 2026 (HISTAP)</a:t>
            </a:r>
            <a:endParaRPr lang="en-US" sz="1200" dirty="0"/>
          </a:p>
        </p:txBody>
      </p:sp>
      <p:pic>
        <p:nvPicPr>
          <p:cNvPr id="18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/>
      <p:bldP spid="10" grpId="0"/>
      <p:bldP spid="11" grpId="0" animBg="1"/>
      <p:bldP spid="12" grpId="0"/>
      <p:bldP spid="13" grpId="0"/>
      <p:bldP spid="14" grpId="0" animBg="1"/>
      <p:bldP spid="15" grpId="0"/>
      <p:bldP spid="16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7 · MENSAGENS FINAIS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· MENSAGENS FINAIS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Problema hemodinâmico e droga de escolha</a:t>
            </a:r>
            <a:endParaRPr lang="en-US" sz="3200" dirty="0"/>
          </a:p>
        </p:txBody>
      </p:sp>
      <p:graphicFrame>
        <p:nvGraphicFramePr>
          <p:cNvPr id="4" name="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1879501"/>
          <a:ext cx="10566400" cy="914400"/>
        </p:xfrm>
        <a:graphic>
          <a:graphicData uri="http://schemas.openxmlformats.org/drawingml/2006/table">
            <a:tbl>
              <a:tblPr/>
              <a:tblGrid>
                <a:gridCol w="3592513"/>
                <a:gridCol w="6973888"/>
              </a:tblGrid>
              <a:tr h="41781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Problema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Conduta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" name="[p1] 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2297311"/>
          <a:ext cx="10566400" cy="914400"/>
        </p:xfrm>
        <a:graphic>
          <a:graphicData uri="http://schemas.openxmlformats.org/drawingml/2006/table">
            <a:tbl>
              <a:tblPr/>
              <a:tblGrid>
                <a:gridCol w="3592513"/>
                <a:gridCol w="6973888"/>
              </a:tblGrid>
              <a:tr h="42098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Vasoplegia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Noradrenalina; vasopressina quando a dose sobe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6" name="[p2] 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2721471"/>
          <a:ext cx="10566400" cy="914400"/>
        </p:xfrm>
        <a:graphic>
          <a:graphicData uri="http://schemas.openxmlformats.org/drawingml/2006/table">
            <a:tbl>
              <a:tblPr/>
              <a:tblGrid>
                <a:gridCol w="3592513"/>
                <a:gridCol w="6973888"/>
              </a:tblGrid>
              <a:tr h="42098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Baixo débito com hipoperfusão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Dobutamina ou adrenalina; milrinona sobretudo no VD com hipertensão pulmonar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7" name="[p3] 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3145631"/>
          <a:ext cx="10566400" cy="914400"/>
        </p:xfrm>
        <a:graphic>
          <a:graphicData uri="http://schemas.openxmlformats.org/drawingml/2006/table">
            <a:tbl>
              <a:tblPr/>
              <a:tblGrid>
                <a:gridCol w="3592513"/>
                <a:gridCol w="6973888"/>
              </a:tblGrid>
              <a:tr h="42098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Hipotensão com bradicardia (anestesia)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Efedrina; adrenalina se grave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8" name="[p4] 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3569791"/>
          <a:ext cx="10566400" cy="914400"/>
        </p:xfrm>
        <a:graphic>
          <a:graphicData uri="http://schemas.openxmlformats.org/drawingml/2006/table">
            <a:tbl>
              <a:tblPr/>
              <a:tblGrid>
                <a:gridCol w="3592513"/>
                <a:gridCol w="6973888"/>
              </a:tblGrid>
              <a:tr h="42098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Hipotensão com taquicardia (anestesia)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Fenilefrina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9" name="[p5] 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3993952"/>
          <a:ext cx="10566400" cy="914400"/>
        </p:xfrm>
        <a:graphic>
          <a:graphicData uri="http://schemas.openxmlformats.org/drawingml/2006/table">
            <a:tbl>
              <a:tblPr/>
              <a:tblGrid>
                <a:gridCol w="3592513"/>
                <a:gridCol w="6973888"/>
              </a:tblGrid>
              <a:tr h="42098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Anafilaxia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Adrenalina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[p6] 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4418112"/>
          <a:ext cx="10566400" cy="914400"/>
        </p:xfrm>
        <a:graphic>
          <a:graphicData uri="http://schemas.openxmlformats.org/drawingml/2006/table">
            <a:tbl>
              <a:tblPr/>
              <a:tblGrid>
                <a:gridCol w="3592513"/>
                <a:gridCol w="6973888"/>
              </a:tblGrid>
              <a:tr h="42098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Hipotensão intraoperatória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Tratar cedo: PAM mínima de 60–65 mmHg; alvo individual em selecionados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SSC 2026 · ESICM 2025 · Saugel, Br J Ana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SSC 2026 · ESICM 2025 · Saugel, Br J Anaesth 2024 (POQI) · Lineburger, Braz J Anesthesiol 2025</a:t>
            </a:r>
            <a:endParaRPr lang="en-US" sz="1200" dirty="0"/>
          </a:p>
        </p:txBody>
      </p:sp>
      <p:pic>
        <p:nvPicPr>
          <p:cNvPr id="12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5" grpId="0">
        <p:bldAsOne/>
      </p:bldGraphic>
      <p:bldGraphic spid="6" grpId="0">
        <p:bldAsOne/>
      </p:bldGraphic>
      <p:bldGraphic spid="7" grpId="0">
        <p:bldAsOne/>
      </p:bldGraphic>
      <p:bldGraphic spid="8" grpId="0">
        <p:bldAsOne/>
      </p:bldGraphic>
      <p:bldGraphic spid="9" grpId="0">
        <p:bldAsOne/>
      </p:bldGraphic>
      <p:bldGraphic spid="10" grpId="0">
        <p:bldAsOne/>
      </p:bldGraphic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B2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SSÃO CLÍNICA · ANESTESIOLOGIA"/>
          <p:cNvSpPr txBox="1"/>
          <p:nvPr/>
        </p:nvSpPr>
        <p:spPr>
          <a:xfrm>
            <a:off x="812800" y="2251802"/>
            <a:ext cx="63690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spc="15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SESSÃO CLÍNICA · ANESTESIOLOGIA</a:t>
            </a:r>
            <a:endParaRPr lang="en-US" sz="14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2792781"/>
            <a:ext cx="6502400" cy="1493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880"/>
              </a:lnSpc>
              <a:buNone/>
            </a:pPr>
            <a:r>
              <a:rPr lang="pt-BR" altLang="en-US" sz="5600" dirty="0">
                <a:solidFill>
                  <a:srgbClr val="F5F3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Obrigado</a:t>
            </a:r>
            <a:endParaRPr lang="en-US" sz="5600" dirty="0"/>
          </a:p>
        </p:txBody>
      </p:sp>
      <p:sp>
        <p:nvSpPr>
          <p:cNvPr id="4" name="As referências completas da aula estão n"/>
          <p:cNvSpPr txBox="1"/>
          <p:nvPr/>
        </p:nvSpPr>
        <p:spPr>
          <a:xfrm>
            <a:off x="812800" y="3751375"/>
            <a:ext cx="5734050" cy="3199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pt-BR" altLang="en-US" sz="18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referências completas da aula estão no QR code.</a:t>
            </a:r>
            <a:endParaRPr lang="en-US" sz="1800" dirty="0"/>
          </a:p>
        </p:txBody>
      </p:sp>
      <p:sp>
        <p:nvSpPr>
          <p:cNvPr id="5" name="Bruno Dubois · Orientadores: Marcelo Ban"/>
          <p:cNvSpPr txBox="1"/>
          <p:nvPr/>
        </p:nvSpPr>
        <p:spPr>
          <a:xfrm>
            <a:off x="812800" y="4329343"/>
            <a:ext cx="63690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Bruno Dubois · Orientadores: Marcelo Bandeira e Glauber Gouvêa · UFRJ</a:t>
            </a:r>
            <a:endParaRPr lang="en-US" sz="1400" dirty="0"/>
          </a:p>
        </p:txBody>
      </p:sp>
      <p:sp>
        <p:nvSpPr>
          <p:cNvPr id="6" name="Cartão"/>
          <p:cNvSpPr/>
          <p:nvPr/>
        </p:nvSpPr>
        <p:spPr>
          <a:xfrm>
            <a:off x="8280400" y="1687810"/>
            <a:ext cx="3098800" cy="3098800"/>
          </a:xfrm>
          <a:prstGeom prst="roundRect">
            <a:avLst>
              <a:gd name="adj" fmla="val 3279"/>
            </a:avLst>
          </a:prstGeom>
          <a:solidFill>
            <a:srgbClr val="F5F3EE"/>
          </a:solidFill>
          <a:ln/>
        </p:spPr>
      </p:sp>
      <p:pic>
        <p:nvPicPr>
          <p:cNvPr id="7" name="QR code com o link da lista de referências" descr="QR code com o link da lista de referência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2800" y="1840210"/>
            <a:ext cx="2794000" cy="2794000"/>
          </a:xfrm>
          <a:prstGeom prst="rect">
            <a:avLst/>
          </a:prstGeom>
        </p:spPr>
      </p:pic>
      <p:sp>
        <p:nvSpPr>
          <p:cNvPr id="8" name="REFERÊNCIAS"/>
          <p:cNvSpPr txBox="1"/>
          <p:nvPr/>
        </p:nvSpPr>
        <p:spPr>
          <a:xfrm>
            <a:off x="9299178" y="4926050"/>
            <a:ext cx="1080294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REFERÊNCIAS</a:t>
            </a:r>
            <a:endParaRPr lang="en-US" sz="1300" dirty="0"/>
          </a:p>
        </p:txBody>
      </p:sp>
      <p:pic>
        <p:nvPicPr>
          <p:cNvPr id="9" name="Símbolo da UFRJ" descr="Símbolo da UFRJ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9">
    <p:bg>
      <p:bgPr>
        <a:solidFill>
          <a:srgbClr val="1B2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812800" y="1847982"/>
            <a:ext cx="10718800" cy="497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</a:t>
            </a:r>
            <a:endParaRPr lang="en-US" sz="1400" dirty="0"/>
          </a:p>
        </p:txBody>
      </p:sp>
      <p:sp>
        <p:nvSpPr>
          <p:cNvPr id="3" name="Slides de reserva para perguntas"/>
          <p:cNvSpPr txBox="1"/>
          <p:nvPr/>
        </p:nvSpPr>
        <p:spPr>
          <a:xfrm>
            <a:off x="812800" y="2410271"/>
            <a:ext cx="10179050" cy="5790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560"/>
              </a:lnSpc>
              <a:buNone/>
            </a:pPr>
            <a:r>
              <a:rPr lang="pt-BR" altLang="en-US" sz="3800" dirty="0">
                <a:solidFill>
                  <a:srgbClr val="F5F3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Slides de reserva para perguntas</a:t>
            </a:r>
            <a:endParaRPr lang="en-US" sz="3800" dirty="0"/>
          </a:p>
        </p:txBody>
      </p:sp>
      <p:sp>
        <p:nvSpPr>
          <p:cNvPr id="4" name="Material de apoio, oculto na apresentaçã"/>
          <p:cNvSpPr txBox="1"/>
          <p:nvPr/>
        </p:nvSpPr>
        <p:spPr>
          <a:xfrm>
            <a:off x="812800" y="3283469"/>
            <a:ext cx="9544050" cy="2844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pt-BR" altLang="en-US" sz="16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 de apoio, oculto na apresentação: detalhes e tabelas.</a:t>
            </a:r>
            <a:endParaRPr lang="en-US" sz="1600" dirty="0"/>
          </a:p>
        </p:txBody>
      </p:sp>
      <p:sp>
        <p:nvSpPr>
          <p:cNvPr id="5" name="Classificação"/>
          <p:cNvSpPr/>
          <p:nvPr/>
        </p:nvSpPr>
        <p:spPr>
          <a:xfrm>
            <a:off x="812800" y="3888680"/>
            <a:ext cx="1286570" cy="401241"/>
          </a:xfrm>
          <a:prstGeom prst="roundRect">
            <a:avLst>
              <a:gd name="adj" fmla="val 50000"/>
            </a:avLst>
          </a:prstGeom>
          <a:solidFill>
            <a:srgbClr val="2A3D52"/>
          </a:solidFill>
          <a:ln/>
        </p:spPr>
        <p:txBody>
          <a:bodyPr wrap="none" lIns="177800" tIns="76200" rIns="177800" bIns="76200" rtlCol="0" anchor="ctr"/>
          <a:lstStyle/>
          <a:p>
            <a:pPr algn="ctr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Classificação</a:t>
            </a:r>
            <a:endParaRPr lang="en-US" sz="1400" dirty="0"/>
          </a:p>
        </p:txBody>
      </p:sp>
      <p:sp>
        <p:nvSpPr>
          <p:cNvPr id="6" name="Síntese das drogas"/>
          <p:cNvSpPr/>
          <p:nvPr/>
        </p:nvSpPr>
        <p:spPr>
          <a:xfrm>
            <a:off x="2200970" y="3888680"/>
            <a:ext cx="1722041" cy="401241"/>
          </a:xfrm>
          <a:prstGeom prst="roundRect">
            <a:avLst>
              <a:gd name="adj" fmla="val 50000"/>
            </a:avLst>
          </a:prstGeom>
          <a:solidFill>
            <a:srgbClr val="2A3D52"/>
          </a:solidFill>
          <a:ln/>
        </p:spPr>
        <p:txBody>
          <a:bodyPr wrap="none" lIns="177800" tIns="76200" rIns="177800" bIns="76200" rtlCol="0" anchor="ctr"/>
          <a:lstStyle/>
          <a:p>
            <a:pPr algn="ctr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Síntese das drogas</a:t>
            </a:r>
            <a:endParaRPr lang="en-US" sz="1400" dirty="0"/>
          </a:p>
        </p:txBody>
      </p:sp>
      <p:sp>
        <p:nvSpPr>
          <p:cNvPr id="7" name="Dopamina"/>
          <p:cNvSpPr/>
          <p:nvPr/>
        </p:nvSpPr>
        <p:spPr>
          <a:xfrm>
            <a:off x="4024610" y="3888680"/>
            <a:ext cx="1117997" cy="401241"/>
          </a:xfrm>
          <a:prstGeom prst="roundRect">
            <a:avLst>
              <a:gd name="adj" fmla="val 50000"/>
            </a:avLst>
          </a:prstGeom>
          <a:solidFill>
            <a:srgbClr val="2A3D52"/>
          </a:solidFill>
          <a:ln/>
        </p:spPr>
        <p:txBody>
          <a:bodyPr wrap="none" lIns="177800" tIns="76200" rIns="177800" bIns="76200" rtlCol="0" anchor="ctr"/>
          <a:lstStyle/>
          <a:p>
            <a:pPr algn="ctr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Dopamina</a:t>
            </a:r>
            <a:endParaRPr lang="en-US" sz="1400" dirty="0"/>
          </a:p>
        </p:txBody>
      </p:sp>
      <p:sp>
        <p:nvSpPr>
          <p:cNvPr id="8" name="Dobutamina"/>
          <p:cNvSpPr/>
          <p:nvPr/>
        </p:nvSpPr>
        <p:spPr>
          <a:xfrm>
            <a:off x="5244207" y="3888680"/>
            <a:ext cx="1275060" cy="401241"/>
          </a:xfrm>
          <a:prstGeom prst="roundRect">
            <a:avLst>
              <a:gd name="adj" fmla="val 50000"/>
            </a:avLst>
          </a:prstGeom>
          <a:solidFill>
            <a:srgbClr val="2A3D52"/>
          </a:solidFill>
          <a:ln/>
        </p:spPr>
        <p:txBody>
          <a:bodyPr wrap="none" lIns="177800" tIns="76200" rIns="177800" bIns="76200" rtlCol="0" anchor="ctr"/>
          <a:lstStyle/>
          <a:p>
            <a:pPr algn="ctr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Dobutamina</a:t>
            </a:r>
            <a:endParaRPr lang="en-US" sz="1400" dirty="0"/>
          </a:p>
        </p:txBody>
      </p:sp>
      <p:sp>
        <p:nvSpPr>
          <p:cNvPr id="9" name="Sinalização AMPc"/>
          <p:cNvSpPr/>
          <p:nvPr/>
        </p:nvSpPr>
        <p:spPr>
          <a:xfrm>
            <a:off x="6620867" y="3888680"/>
            <a:ext cx="1642467" cy="401241"/>
          </a:xfrm>
          <a:prstGeom prst="roundRect">
            <a:avLst>
              <a:gd name="adj" fmla="val 50000"/>
            </a:avLst>
          </a:prstGeom>
          <a:solidFill>
            <a:srgbClr val="2A3D52"/>
          </a:solidFill>
          <a:ln/>
        </p:spPr>
        <p:txBody>
          <a:bodyPr wrap="none" lIns="177800" tIns="76200" rIns="177800" bIns="76200" rtlCol="0" anchor="ctr"/>
          <a:lstStyle/>
          <a:p>
            <a:pPr algn="ctr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Sinalização AMPc</a:t>
            </a:r>
            <a:endParaRPr lang="en-US" sz="1400" dirty="0"/>
          </a:p>
        </p:txBody>
      </p:sp>
      <p:sp>
        <p:nvSpPr>
          <p:cNvPr id="10" name="Fenilefrina"/>
          <p:cNvSpPr/>
          <p:nvPr/>
        </p:nvSpPr>
        <p:spPr>
          <a:xfrm>
            <a:off x="8364934" y="3888680"/>
            <a:ext cx="1145282" cy="401241"/>
          </a:xfrm>
          <a:prstGeom prst="roundRect">
            <a:avLst>
              <a:gd name="adj" fmla="val 50000"/>
            </a:avLst>
          </a:prstGeom>
          <a:solidFill>
            <a:srgbClr val="2A3D52"/>
          </a:solidFill>
          <a:ln/>
        </p:spPr>
        <p:txBody>
          <a:bodyPr wrap="none" lIns="177800" tIns="76200" rIns="177800" bIns="76200" rtlCol="0" anchor="ctr"/>
          <a:lstStyle/>
          <a:p>
            <a:pPr algn="ctr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Fenilefrina</a:t>
            </a:r>
            <a:endParaRPr lang="en-US" sz="1400" dirty="0"/>
          </a:p>
        </p:txBody>
      </p:sp>
      <p:sp>
        <p:nvSpPr>
          <p:cNvPr id="11" name="Efedrina"/>
          <p:cNvSpPr/>
          <p:nvPr/>
        </p:nvSpPr>
        <p:spPr>
          <a:xfrm>
            <a:off x="9611816" y="3888680"/>
            <a:ext cx="973634" cy="401241"/>
          </a:xfrm>
          <a:prstGeom prst="roundRect">
            <a:avLst>
              <a:gd name="adj" fmla="val 50000"/>
            </a:avLst>
          </a:prstGeom>
          <a:solidFill>
            <a:srgbClr val="2A3D52"/>
          </a:solidFill>
          <a:ln/>
        </p:spPr>
        <p:txBody>
          <a:bodyPr wrap="none" lIns="177800" tIns="76200" rIns="177800" bIns="76200" rtlCol="0" anchor="ctr"/>
          <a:lstStyle/>
          <a:p>
            <a:pPr algn="ctr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Efedrina</a:t>
            </a:r>
            <a:endParaRPr lang="en-US" sz="1400" dirty="0"/>
          </a:p>
        </p:txBody>
      </p:sp>
      <p:sp>
        <p:nvSpPr>
          <p:cNvPr id="12" name="Vasopressina"/>
          <p:cNvSpPr/>
          <p:nvPr/>
        </p:nvSpPr>
        <p:spPr>
          <a:xfrm>
            <a:off x="812800" y="4391521"/>
            <a:ext cx="1331913" cy="401241"/>
          </a:xfrm>
          <a:prstGeom prst="roundRect">
            <a:avLst>
              <a:gd name="adj" fmla="val 50000"/>
            </a:avLst>
          </a:prstGeom>
          <a:solidFill>
            <a:srgbClr val="2A3D52"/>
          </a:solidFill>
          <a:ln/>
        </p:spPr>
        <p:txBody>
          <a:bodyPr wrap="none" lIns="177800" tIns="76200" rIns="177800" bIns="76200" rtlCol="0" anchor="ctr"/>
          <a:lstStyle/>
          <a:p>
            <a:pPr algn="ctr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Vasopressina</a:t>
            </a:r>
            <a:endParaRPr lang="en-US" sz="1400" dirty="0"/>
          </a:p>
        </p:txBody>
      </p:sp>
      <p:sp>
        <p:nvSpPr>
          <p:cNvPr id="13" name="Choque refratário"/>
          <p:cNvSpPr/>
          <p:nvPr/>
        </p:nvSpPr>
        <p:spPr>
          <a:xfrm>
            <a:off x="2246312" y="4391521"/>
            <a:ext cx="1673126" cy="401241"/>
          </a:xfrm>
          <a:prstGeom prst="roundRect">
            <a:avLst>
              <a:gd name="adj" fmla="val 50000"/>
            </a:avLst>
          </a:prstGeom>
          <a:solidFill>
            <a:srgbClr val="2A3D52"/>
          </a:solidFill>
          <a:ln/>
        </p:spPr>
        <p:txBody>
          <a:bodyPr wrap="none" lIns="177800" tIns="76200" rIns="177800" bIns="76200" rtlCol="0" anchor="ctr"/>
          <a:lstStyle/>
          <a:p>
            <a:pPr algn="ctr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Choque refratário</a:t>
            </a:r>
            <a:endParaRPr lang="en-US" sz="1400" dirty="0"/>
          </a:p>
        </p:txBody>
      </p:sp>
      <p:sp>
        <p:nvSpPr>
          <p:cNvPr id="14" name="Sequência SSC"/>
          <p:cNvSpPr/>
          <p:nvPr/>
        </p:nvSpPr>
        <p:spPr>
          <a:xfrm>
            <a:off x="4021038" y="4391521"/>
            <a:ext cx="1413173" cy="401241"/>
          </a:xfrm>
          <a:prstGeom prst="roundRect">
            <a:avLst>
              <a:gd name="adj" fmla="val 50000"/>
            </a:avLst>
          </a:prstGeom>
          <a:solidFill>
            <a:srgbClr val="2A3D52"/>
          </a:solidFill>
          <a:ln/>
        </p:spPr>
        <p:txBody>
          <a:bodyPr wrap="none" lIns="177800" tIns="76200" rIns="177800" bIns="76200" rtlCol="0" anchor="ctr"/>
          <a:lstStyle/>
          <a:p>
            <a:pPr algn="ctr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Sequência SSC</a:t>
            </a:r>
            <a:endParaRPr lang="en-US" sz="1400" dirty="0"/>
          </a:p>
        </p:txBody>
      </p:sp>
      <p:sp>
        <p:nvSpPr>
          <p:cNvPr id="15" name="Alvo de PAM"/>
          <p:cNvSpPr/>
          <p:nvPr/>
        </p:nvSpPr>
        <p:spPr>
          <a:xfrm>
            <a:off x="5535811" y="4391521"/>
            <a:ext cx="1309886" cy="401241"/>
          </a:xfrm>
          <a:prstGeom prst="roundRect">
            <a:avLst>
              <a:gd name="adj" fmla="val 50000"/>
            </a:avLst>
          </a:prstGeom>
          <a:solidFill>
            <a:srgbClr val="2A3D52"/>
          </a:solidFill>
          <a:ln/>
        </p:spPr>
        <p:txBody>
          <a:bodyPr wrap="none" lIns="177800" tIns="76200" rIns="177800" bIns="76200" rtlCol="0" anchor="ctr"/>
          <a:lstStyle/>
          <a:p>
            <a:pPr algn="ctr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Alvo de PAM</a:t>
            </a:r>
            <a:endParaRPr lang="en-US" sz="1400" dirty="0"/>
          </a:p>
        </p:txBody>
      </p:sp>
      <p:sp>
        <p:nvSpPr>
          <p:cNvPr id="16" name="Início e via"/>
          <p:cNvSpPr/>
          <p:nvPr/>
        </p:nvSpPr>
        <p:spPr>
          <a:xfrm>
            <a:off x="6947297" y="4391521"/>
            <a:ext cx="1141214" cy="401241"/>
          </a:xfrm>
          <a:prstGeom prst="roundRect">
            <a:avLst>
              <a:gd name="adj" fmla="val 50000"/>
            </a:avLst>
          </a:prstGeom>
          <a:solidFill>
            <a:srgbClr val="2A3D52"/>
          </a:solidFill>
          <a:ln/>
        </p:spPr>
        <p:txBody>
          <a:bodyPr wrap="none" lIns="177800" tIns="76200" rIns="177800" bIns="76200" rtlCol="0" anchor="ctr"/>
          <a:lstStyle/>
          <a:p>
            <a:pPr algn="ctr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Início e via</a:t>
            </a:r>
            <a:endParaRPr lang="en-US" sz="1400" dirty="0"/>
          </a:p>
        </p:txBody>
      </p:sp>
      <p:sp>
        <p:nvSpPr>
          <p:cNvPr id="17" name="Alvo intraoperatório"/>
          <p:cNvSpPr/>
          <p:nvPr/>
        </p:nvSpPr>
        <p:spPr>
          <a:xfrm>
            <a:off x="8190111" y="4391521"/>
            <a:ext cx="1869777" cy="401241"/>
          </a:xfrm>
          <a:prstGeom prst="roundRect">
            <a:avLst>
              <a:gd name="adj" fmla="val 50000"/>
            </a:avLst>
          </a:prstGeom>
          <a:solidFill>
            <a:srgbClr val="2A3D52"/>
          </a:solidFill>
          <a:ln/>
        </p:spPr>
        <p:txBody>
          <a:bodyPr wrap="none" lIns="177800" tIns="76200" rIns="177800" bIns="76200" rtlCol="0" anchor="ctr"/>
          <a:lstStyle/>
          <a:p>
            <a:pPr algn="ctr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Alvo intraoperatório</a:t>
            </a:r>
            <a:endParaRPr lang="en-US" sz="1400" dirty="0"/>
          </a:p>
        </p:txBody>
      </p:sp>
      <p:sp>
        <p:nvSpPr>
          <p:cNvPr id="18" name="Roteiro"/>
          <p:cNvSpPr/>
          <p:nvPr/>
        </p:nvSpPr>
        <p:spPr>
          <a:xfrm>
            <a:off x="10161488" y="4391521"/>
            <a:ext cx="904974" cy="401241"/>
          </a:xfrm>
          <a:prstGeom prst="roundRect">
            <a:avLst>
              <a:gd name="adj" fmla="val 50000"/>
            </a:avLst>
          </a:prstGeom>
          <a:solidFill>
            <a:srgbClr val="2A3D52"/>
          </a:solidFill>
          <a:ln/>
        </p:spPr>
        <p:txBody>
          <a:bodyPr wrap="none" lIns="177800" tIns="76200" rIns="177800" bIns="76200" rtlCol="0" anchor="ctr"/>
          <a:lstStyle/>
          <a:p>
            <a:pPr algn="ctr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Roteiro</a:t>
            </a:r>
            <a:endParaRPr lang="en-US" sz="1400" dirty="0"/>
          </a:p>
        </p:txBody>
      </p:sp>
      <p:pic>
        <p:nvPicPr>
          <p:cNvPr id="19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0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SERVA · CLASSIFICAÇÃO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 · CLASSIFICAÇÃO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Catecolaminas e não catecolaminas</a:t>
            </a:r>
            <a:endParaRPr lang="en-US" sz="3200" dirty="0"/>
          </a:p>
        </p:txBody>
      </p:sp>
      <p:sp>
        <p:nvSpPr>
          <p:cNvPr id="4" name="Tirosina"/>
          <p:cNvSpPr/>
          <p:nvPr/>
        </p:nvSpPr>
        <p:spPr>
          <a:xfrm>
            <a:off x="812800" y="1879501"/>
            <a:ext cx="935137" cy="419100"/>
          </a:xfrm>
          <a:prstGeom prst="roundRect">
            <a:avLst>
              <a:gd name="adj" fmla="val 50000"/>
            </a:avLst>
          </a:prstGeom>
          <a:solidFill>
            <a:srgbClr val="1B2A3A"/>
          </a:solidFill>
          <a:ln/>
        </p:spPr>
        <p:txBody>
          <a:bodyPr wrap="none" lIns="152400" tIns="76200" rIns="152400" bIns="76200" rtlCol="0" anchor="ctr"/>
          <a:lstStyle/>
          <a:p>
            <a:pPr algn="ctr" indent="0" marL="0">
              <a:lnSpc>
                <a:spcPts val="2100"/>
              </a:lnSpc>
              <a:buNone/>
            </a:pPr>
            <a:r>
              <a:rPr lang="pt-BR" altLang="en-US" sz="15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Tirosina</a:t>
            </a:r>
            <a:endParaRPr lang="en-US" sz="1500" dirty="0"/>
          </a:p>
        </p:txBody>
      </p:sp>
      <p:sp>
        <p:nvSpPr>
          <p:cNvPr id="5" name="→"/>
          <p:cNvSpPr txBox="1"/>
          <p:nvPr/>
        </p:nvSpPr>
        <p:spPr>
          <a:xfrm>
            <a:off x="1849537" y="1930820"/>
            <a:ext cx="203002" cy="2844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pt-BR" altLang="en-US" sz="160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6" name="DOPA"/>
          <p:cNvSpPr/>
          <p:nvPr/>
        </p:nvSpPr>
        <p:spPr>
          <a:xfrm>
            <a:off x="2135088" y="1879501"/>
            <a:ext cx="770632" cy="419100"/>
          </a:xfrm>
          <a:prstGeom prst="roundRect">
            <a:avLst>
              <a:gd name="adj" fmla="val 50000"/>
            </a:avLst>
          </a:prstGeom>
          <a:solidFill>
            <a:srgbClr val="1B2A3A"/>
          </a:solidFill>
          <a:ln/>
        </p:spPr>
        <p:txBody>
          <a:bodyPr wrap="none" lIns="152400" tIns="76200" rIns="152400" bIns="76200" rtlCol="0" anchor="ctr"/>
          <a:lstStyle/>
          <a:p>
            <a:pPr algn="ctr" indent="0" marL="0">
              <a:lnSpc>
                <a:spcPts val="2100"/>
              </a:lnSpc>
              <a:buNone/>
            </a:pPr>
            <a:r>
              <a:rPr lang="pt-BR" altLang="en-US" sz="15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DOPA</a:t>
            </a:r>
            <a:endParaRPr lang="en-US" sz="1500" dirty="0"/>
          </a:p>
        </p:txBody>
      </p:sp>
      <p:sp>
        <p:nvSpPr>
          <p:cNvPr id="7" name="→"/>
          <p:cNvSpPr txBox="1"/>
          <p:nvPr/>
        </p:nvSpPr>
        <p:spPr>
          <a:xfrm>
            <a:off x="3007320" y="1930820"/>
            <a:ext cx="203002" cy="2844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pt-BR" altLang="en-US" sz="160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8" name="Dopamina"/>
          <p:cNvSpPr/>
          <p:nvPr/>
        </p:nvSpPr>
        <p:spPr>
          <a:xfrm>
            <a:off x="3292872" y="1879501"/>
            <a:ext cx="1121668" cy="419100"/>
          </a:xfrm>
          <a:prstGeom prst="roundRect">
            <a:avLst>
              <a:gd name="adj" fmla="val 50000"/>
            </a:avLst>
          </a:prstGeom>
          <a:solidFill>
            <a:srgbClr val="1B2A3A"/>
          </a:solidFill>
          <a:ln/>
        </p:spPr>
        <p:txBody>
          <a:bodyPr wrap="none" lIns="152400" tIns="76200" rIns="152400" bIns="76200" rtlCol="0" anchor="ctr"/>
          <a:lstStyle/>
          <a:p>
            <a:pPr algn="ctr" indent="0" marL="0">
              <a:lnSpc>
                <a:spcPts val="2100"/>
              </a:lnSpc>
              <a:buNone/>
            </a:pPr>
            <a:r>
              <a:rPr lang="pt-BR" altLang="en-US" sz="15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Dopamina</a:t>
            </a:r>
            <a:endParaRPr lang="en-US" sz="1500" dirty="0"/>
          </a:p>
        </p:txBody>
      </p:sp>
      <p:sp>
        <p:nvSpPr>
          <p:cNvPr id="9" name="→"/>
          <p:cNvSpPr txBox="1"/>
          <p:nvPr/>
        </p:nvSpPr>
        <p:spPr>
          <a:xfrm>
            <a:off x="4516140" y="1930820"/>
            <a:ext cx="203002" cy="2844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pt-BR" altLang="en-US" sz="160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0" name="Noradrenalina"/>
          <p:cNvSpPr/>
          <p:nvPr/>
        </p:nvSpPr>
        <p:spPr>
          <a:xfrm>
            <a:off x="4801691" y="1879501"/>
            <a:ext cx="1446411" cy="419100"/>
          </a:xfrm>
          <a:prstGeom prst="roundRect">
            <a:avLst>
              <a:gd name="adj" fmla="val 50000"/>
            </a:avLst>
          </a:prstGeom>
          <a:solidFill>
            <a:srgbClr val="1B2A3A"/>
          </a:solidFill>
          <a:ln/>
        </p:spPr>
        <p:txBody>
          <a:bodyPr wrap="none" lIns="152400" tIns="76200" rIns="152400" bIns="76200" rtlCol="0" anchor="ctr"/>
          <a:lstStyle/>
          <a:p>
            <a:pPr algn="ctr" indent="0" marL="0">
              <a:lnSpc>
                <a:spcPts val="2100"/>
              </a:lnSpc>
              <a:buNone/>
            </a:pPr>
            <a:r>
              <a:rPr lang="pt-BR" altLang="en-US" sz="15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Noradrenalina</a:t>
            </a:r>
            <a:endParaRPr lang="en-US" sz="1500" dirty="0"/>
          </a:p>
        </p:txBody>
      </p:sp>
      <p:sp>
        <p:nvSpPr>
          <p:cNvPr id="11" name="→"/>
          <p:cNvSpPr txBox="1"/>
          <p:nvPr/>
        </p:nvSpPr>
        <p:spPr>
          <a:xfrm>
            <a:off x="6349702" y="1930820"/>
            <a:ext cx="203002" cy="2844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pt-BR" altLang="en-US" sz="160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Adrenalina"/>
          <p:cNvSpPr/>
          <p:nvPr/>
        </p:nvSpPr>
        <p:spPr>
          <a:xfrm>
            <a:off x="6635254" y="1879501"/>
            <a:ext cx="1172270" cy="419100"/>
          </a:xfrm>
          <a:prstGeom prst="roundRect">
            <a:avLst>
              <a:gd name="adj" fmla="val 50000"/>
            </a:avLst>
          </a:prstGeom>
          <a:solidFill>
            <a:srgbClr val="B9581A"/>
          </a:solidFill>
          <a:ln/>
        </p:spPr>
        <p:txBody>
          <a:bodyPr wrap="none" lIns="152400" tIns="76200" rIns="152400" bIns="76200" rtlCol="0" anchor="ctr"/>
          <a:lstStyle/>
          <a:p>
            <a:pPr algn="ctr" indent="0" marL="0">
              <a:lnSpc>
                <a:spcPts val="2100"/>
              </a:lnSpc>
              <a:buNone/>
            </a:pPr>
            <a:r>
              <a:rPr lang="pt-BR" altLang="en-US" sz="1500" b="1" dirty="0">
                <a:solidFill>
                  <a:srgbClr val="FFF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Adrenalina</a:t>
            </a:r>
            <a:endParaRPr lang="en-US" sz="1500" dirty="0"/>
          </a:p>
        </p:txBody>
      </p:sp>
      <p:sp>
        <p:nvSpPr>
          <p:cNvPr id="13" name="Tirosina hidroxilase (etapa limitante) ·"/>
          <p:cNvSpPr txBox="1"/>
          <p:nvPr/>
        </p:nvSpPr>
        <p:spPr>
          <a:xfrm>
            <a:off x="812800" y="23882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Tirosina hidroxilase (etapa limitante) · DOPA descarboxilase · dopamina β-hidroxilase · PNMT na medula adrenal, induzida por cortisol</a:t>
            </a:r>
            <a:endParaRPr lang="en-US" sz="1200" dirty="0"/>
          </a:p>
        </p:txBody>
      </p:sp>
      <p:sp>
        <p:nvSpPr>
          <p:cNvPr id="14" name="Cartão"/>
          <p:cNvSpPr/>
          <p:nvPr/>
        </p:nvSpPr>
        <p:spPr>
          <a:xfrm>
            <a:off x="812800" y="2918321"/>
            <a:ext cx="5181600" cy="1875532"/>
          </a:xfrm>
          <a:prstGeom prst="roundRect">
            <a:avLst>
              <a:gd name="adj" fmla="val 4063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5" name="Catecolaminas"/>
          <p:cNvSpPr txBox="1"/>
          <p:nvPr/>
        </p:nvSpPr>
        <p:spPr>
          <a:xfrm>
            <a:off x="1073150" y="3174677"/>
            <a:ext cx="46799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Catecolaminas</a:t>
            </a:r>
            <a:endParaRPr lang="en-US" sz="1700" dirty="0"/>
          </a:p>
        </p:txBody>
      </p:sp>
      <p:sp>
        <p:nvSpPr>
          <p:cNvPr id="16" name="Núcleo 3,4-di-hidroxifenil. Endógenas: d"/>
          <p:cNvSpPr txBox="1"/>
          <p:nvPr/>
        </p:nvSpPr>
        <p:spPr>
          <a:xfrm>
            <a:off x="1073150" y="3523301"/>
            <a:ext cx="4679950" cy="9941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Núcleo 3,4-di-hidroxifenil. Endógenas: dopamina, noradrenalina, adrenalina. Sintéticas: dobutamina, isoproterenol. Recaptação neuronal, MAO e COMT encurtam a meia-vida para minutos, o que favorece a infusão contínua e titulável.</a:t>
            </a:r>
            <a:endParaRPr lang="en-US" sz="1350" dirty="0"/>
          </a:p>
        </p:txBody>
      </p:sp>
      <p:sp>
        <p:nvSpPr>
          <p:cNvPr id="17" name="Cartão"/>
          <p:cNvSpPr/>
          <p:nvPr/>
        </p:nvSpPr>
        <p:spPr>
          <a:xfrm>
            <a:off x="6197600" y="2918321"/>
            <a:ext cx="5181600" cy="1875532"/>
          </a:xfrm>
          <a:prstGeom prst="roundRect">
            <a:avLst>
              <a:gd name="adj" fmla="val 4063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8" name="Não catecolaminas"/>
          <p:cNvSpPr txBox="1"/>
          <p:nvPr/>
        </p:nvSpPr>
        <p:spPr>
          <a:xfrm>
            <a:off x="6457950" y="3174677"/>
            <a:ext cx="46799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catecolaminas</a:t>
            </a:r>
            <a:endParaRPr lang="en-US" sz="1700" dirty="0"/>
          </a:p>
        </p:txBody>
      </p:sp>
      <p:sp>
        <p:nvSpPr>
          <p:cNvPr id="19" name="Sem o anel catecol, escapam da COMT, dur"/>
          <p:cNvSpPr txBox="1"/>
          <p:nvPr/>
        </p:nvSpPr>
        <p:spPr>
          <a:xfrm>
            <a:off x="6457950" y="3523301"/>
            <a:ext cx="4679950" cy="9941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o anel catecol, escapam da COMT, duram mais e podem ser usadas em bolus. Fenilefrina: agonista direto α1. Efedrina e metaraminol: ação mista, direta e por liberação de noradrenalina das terminações nervosas.</a:t>
            </a:r>
            <a:endParaRPr lang="en-US" sz="1350" dirty="0"/>
          </a:p>
        </p:txBody>
      </p:sp>
      <p:sp>
        <p:nvSpPr>
          <p:cNvPr id="20" name="Miller’s Anesthesia, 10ª ed. (2025)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Miller’s Anesthesia, 10ª ed. (2025)</a:t>
            </a:r>
            <a:endParaRPr lang="en-US" sz="1200" dirty="0"/>
          </a:p>
        </p:txBody>
      </p:sp>
      <p:pic>
        <p:nvPicPr>
          <p:cNvPr id="21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1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SERVA · SÍNTESE DAS DROGAS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 · SÍNTESE DAS DROGAS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Síntese das drogas</a:t>
            </a:r>
            <a:endParaRPr lang="en-US" sz="3200" dirty="0"/>
          </a:p>
        </p:txBody>
      </p:sp>
      <p:graphicFrame>
        <p:nvGraphicFramePr>
          <p:cNvPr id="4" name="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1879501"/>
          <a:ext cx="10566400" cy="914400"/>
        </p:xfrm>
        <a:graphic>
          <a:graphicData uri="http://schemas.openxmlformats.org/drawingml/2006/table">
            <a:tbl>
              <a:tblPr/>
              <a:tblGrid>
                <a:gridCol w="1796256"/>
                <a:gridCol w="845245"/>
                <a:gridCol w="845245"/>
                <a:gridCol w="845245"/>
                <a:gridCol w="845245"/>
                <a:gridCol w="2324596"/>
                <a:gridCol w="3064570"/>
              </a:tblGrid>
              <a:tr h="36572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Droga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α1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β1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β2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D1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Dose usual (adulto)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Papel principal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</a:tr>
              <a:tr h="36889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Noradrenalina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++++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0,01–0,5 mcg/kg/min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1ª linha no choque vasoplégico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85391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Adrenalina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++++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0,01–0,1 mcg/kg/min (β); maior no choque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Choque refratário; anafilaxia; PCR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20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Dopamina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++++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2–20 mcg/kg/min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Bradicardia sem alternativa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20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Dobutamina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++++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2,5–20 mcg/kg/min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Baixo débito com PAM sustentada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20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Milrinona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0,375–0,75 mcg/kg/min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Inodilatador: baixo débito, VD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20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Vasopressina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 U/min (até 0,04)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Adjuvante no choque vasoplégico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20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Fenilefrina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++++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Bolus 50–100 mcg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Vasodilatação com FC alta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20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Efedrina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Bolus 5–10 mg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Hipotensão com bradicardia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20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Isoproterenol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++++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++++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2–10 mcg/min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Bradicardia refratária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Escala qualitativa (0 a ++++), sem medid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 qualitativa (0 a ++++), sem medida de afinidade · faixas usuais, titular pelo efeito · adaptado de Overgaard &amp; Džavík, Circulation 2008</a:t>
            </a:r>
            <a:endParaRPr lang="en-US" sz="1200" dirty="0"/>
          </a:p>
        </p:txBody>
      </p:sp>
      <p:pic>
        <p:nvPicPr>
          <p:cNvPr id="6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2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SERVA · DOPAMI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 · DOPAMINA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Dopamina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048000" cy="3194844"/>
          </a:xfrm>
          <a:prstGeom prst="roundRect">
            <a:avLst>
              <a:gd name="adj" fmla="val 2500"/>
            </a:avLst>
          </a:prstGeom>
          <a:solidFill>
            <a:srgbClr val="1B2A3A"/>
          </a:solidFill>
          <a:ln/>
        </p:spPr>
      </p:sp>
      <p:sp>
        <p:nvSpPr>
          <p:cNvPr id="5" name="RECEPTORES"/>
          <p:cNvSpPr txBox="1"/>
          <p:nvPr/>
        </p:nvSpPr>
        <p:spPr>
          <a:xfrm>
            <a:off x="1066800" y="2121537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RECEPTORES</a:t>
            </a:r>
            <a:endParaRPr lang="en-US" sz="1200" dirty="0"/>
          </a:p>
        </p:txBody>
      </p:sp>
      <p:sp>
        <p:nvSpPr>
          <p:cNvPr id="6" name="α1"/>
          <p:cNvSpPr txBox="1"/>
          <p:nvPr/>
        </p:nvSpPr>
        <p:spPr>
          <a:xfrm>
            <a:off x="1066800" y="246086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300" dirty="0"/>
          </a:p>
        </p:txBody>
      </p:sp>
      <p:sp>
        <p:nvSpPr>
          <p:cNvPr id="7" name="Cartão"/>
          <p:cNvSpPr/>
          <p:nvPr/>
        </p:nvSpPr>
        <p:spPr>
          <a:xfrm>
            <a:off x="1524000" y="253216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8" name="Cartão"/>
          <p:cNvSpPr/>
          <p:nvPr/>
        </p:nvSpPr>
        <p:spPr>
          <a:xfrm>
            <a:off x="1524000" y="2532162"/>
            <a:ext cx="13335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9" name="β1"/>
          <p:cNvSpPr txBox="1"/>
          <p:nvPr/>
        </p:nvSpPr>
        <p:spPr>
          <a:xfrm>
            <a:off x="1066800" y="281894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300" dirty="0"/>
          </a:p>
        </p:txBody>
      </p:sp>
      <p:sp>
        <p:nvSpPr>
          <p:cNvPr id="10" name="Cartão"/>
          <p:cNvSpPr/>
          <p:nvPr/>
        </p:nvSpPr>
        <p:spPr>
          <a:xfrm>
            <a:off x="1524000" y="289024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1" name="Cartão"/>
          <p:cNvSpPr/>
          <p:nvPr/>
        </p:nvSpPr>
        <p:spPr>
          <a:xfrm>
            <a:off x="1524000" y="2890242"/>
            <a:ext cx="13335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2" name="β2"/>
          <p:cNvSpPr txBox="1"/>
          <p:nvPr/>
        </p:nvSpPr>
        <p:spPr>
          <a:xfrm>
            <a:off x="1066800" y="317702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300" dirty="0"/>
          </a:p>
        </p:txBody>
      </p:sp>
      <p:sp>
        <p:nvSpPr>
          <p:cNvPr id="13" name="Cartão"/>
          <p:cNvSpPr/>
          <p:nvPr/>
        </p:nvSpPr>
        <p:spPr>
          <a:xfrm>
            <a:off x="1524000" y="324832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4" name="Cartão"/>
          <p:cNvSpPr/>
          <p:nvPr/>
        </p:nvSpPr>
        <p:spPr>
          <a:xfrm>
            <a:off x="1524000" y="3248323"/>
            <a:ext cx="4445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5" name="D1"/>
          <p:cNvSpPr txBox="1"/>
          <p:nvPr/>
        </p:nvSpPr>
        <p:spPr>
          <a:xfrm>
            <a:off x="1066800" y="353510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300" dirty="0"/>
          </a:p>
        </p:txBody>
      </p:sp>
      <p:sp>
        <p:nvSpPr>
          <p:cNvPr id="16" name="Cartão"/>
          <p:cNvSpPr/>
          <p:nvPr/>
        </p:nvSpPr>
        <p:spPr>
          <a:xfrm>
            <a:off x="1524000" y="360640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7" name="Cartão"/>
          <p:cNvSpPr/>
          <p:nvPr/>
        </p:nvSpPr>
        <p:spPr>
          <a:xfrm>
            <a:off x="1524000" y="360640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8" name="EFEITO HEMODINÂMICO"/>
          <p:cNvSpPr txBox="1"/>
          <p:nvPr/>
        </p:nvSpPr>
        <p:spPr>
          <a:xfrm>
            <a:off x="1066800" y="3894180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EFEITO HEMODINÂMICO</a:t>
            </a:r>
            <a:endParaRPr lang="en-US" sz="1200" dirty="0"/>
          </a:p>
        </p:txBody>
      </p:sp>
      <p:sp>
        <p:nvSpPr>
          <p:cNvPr id="19" name="PAM ↑"/>
          <p:cNvSpPr txBox="1"/>
          <p:nvPr/>
        </p:nvSpPr>
        <p:spPr>
          <a:xfrm>
            <a:off x="10668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</a:t>
            </a:r>
            <a:endParaRPr lang="en-US" sz="1400" dirty="0"/>
          </a:p>
        </p:txBody>
      </p:sp>
      <p:sp>
        <p:nvSpPr>
          <p:cNvPr id="20" name="DC ↑"/>
          <p:cNvSpPr txBox="1"/>
          <p:nvPr/>
        </p:nvSpPr>
        <p:spPr>
          <a:xfrm>
            <a:off x="24130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</a:t>
            </a:r>
            <a:endParaRPr lang="en-US" sz="1400" dirty="0"/>
          </a:p>
        </p:txBody>
      </p:sp>
      <p:sp>
        <p:nvSpPr>
          <p:cNvPr id="21" name="FC ↑↑"/>
          <p:cNvSpPr txBox="1"/>
          <p:nvPr/>
        </p:nvSpPr>
        <p:spPr>
          <a:xfrm>
            <a:off x="10668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↑↑</a:t>
            </a:r>
            <a:endParaRPr lang="en-US" sz="1400" dirty="0"/>
          </a:p>
        </p:txBody>
      </p:sp>
      <p:sp>
        <p:nvSpPr>
          <p:cNvPr id="22" name="RVS ↔/↑"/>
          <p:cNvSpPr txBox="1"/>
          <p:nvPr/>
        </p:nvSpPr>
        <p:spPr>
          <a:xfrm>
            <a:off x="24130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RVS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↔/↑</a:t>
            </a:r>
            <a:endParaRPr lang="en-US" sz="1400" dirty="0"/>
          </a:p>
        </p:txBody>
      </p:sp>
      <p:sp>
        <p:nvSpPr>
          <p:cNvPr id="23" name="Cartão"/>
          <p:cNvSpPr/>
          <p:nvPr/>
        </p:nvSpPr>
        <p:spPr>
          <a:xfrm>
            <a:off x="4064000" y="1879501"/>
            <a:ext cx="3556000" cy="3194844"/>
          </a:xfrm>
          <a:prstGeom prst="roundRect">
            <a:avLst>
              <a:gd name="adj" fmla="val 238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4" name="Dose e uso"/>
          <p:cNvSpPr txBox="1"/>
          <p:nvPr/>
        </p:nvSpPr>
        <p:spPr>
          <a:xfrm>
            <a:off x="4324350" y="2135857"/>
            <a:ext cx="30543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 e uso</a:t>
            </a:r>
            <a:endParaRPr lang="en-US" sz="1700" dirty="0"/>
          </a:p>
        </p:txBody>
      </p:sp>
      <p:sp>
        <p:nvSpPr>
          <p:cNvPr id="25" name="Faixa de 2 a 20 mcg/kg/min. Até cerca de"/>
          <p:cNvSpPr txBox="1"/>
          <p:nvPr/>
        </p:nvSpPr>
        <p:spPr>
          <a:xfrm>
            <a:off x="4324350" y="2484480"/>
            <a:ext cx="3054350" cy="12427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Faixa de 2 a 20 mcg/kg/min. Até cerca de 3: D1 (vasodilatação renal e mesentérica). De 3 a 10: β1, em parte por liberação de noradrenalina. Acima de 10: α1. Os limiares variam muito entre pacientes.</a:t>
            </a:r>
            <a:endParaRPr lang="en-US" sz="1350" dirty="0"/>
          </a:p>
        </p:txBody>
      </p:sp>
      <p:sp>
        <p:nvSpPr>
          <p:cNvPr id="26" name="Cartão"/>
          <p:cNvSpPr/>
          <p:nvPr/>
        </p:nvSpPr>
        <p:spPr>
          <a:xfrm>
            <a:off x="7823200" y="1879501"/>
            <a:ext cx="3556000" cy="3194844"/>
          </a:xfrm>
          <a:prstGeom prst="roundRect">
            <a:avLst>
              <a:gd name="adj" fmla="val 238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7" name="Evidência e cuidados"/>
          <p:cNvSpPr txBox="1"/>
          <p:nvPr/>
        </p:nvSpPr>
        <p:spPr>
          <a:xfrm>
            <a:off x="8083550" y="2135857"/>
            <a:ext cx="30543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Evidência e cuidados</a:t>
            </a:r>
            <a:endParaRPr lang="en-US" sz="1700" dirty="0"/>
          </a:p>
        </p:txBody>
      </p:sp>
      <p:sp>
        <p:nvSpPr>
          <p:cNvPr id="28" name="Dose “renal” não protege o rim (ANZICS, "/>
          <p:cNvSpPr txBox="1"/>
          <p:nvPr/>
        </p:nvSpPr>
        <p:spPr>
          <a:xfrm>
            <a:off x="8083550" y="2484480"/>
            <a:ext cx="3054350" cy="14912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 “renal” não protege o rim (ANZICS, Lancet 2000). SOAP II: arritmias 24,1% vs. 12,4% com NA e maior mortalidade no subgrupo com choque cardiogênico. SSC 2026: recomendação forte contra o uso como 1ª linha (certeza alta).</a:t>
            </a:r>
            <a:endParaRPr lang="en-US" sz="1350" dirty="0"/>
          </a:p>
        </p:txBody>
      </p:sp>
      <p:sp>
        <p:nvSpPr>
          <p:cNvPr id="29" name="Bellomo, Lancet 2000 (ANZICS) · De Backe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Bellomo, Lancet 2000 (ANZICS) · De Backer, N Engl J Med 2010 (SOAP II) · SSC 2026 · barras: escala qualitativa</a:t>
            </a:r>
            <a:endParaRPr lang="en-US" sz="1200" dirty="0"/>
          </a:p>
        </p:txBody>
      </p:sp>
      <p:pic>
        <p:nvPicPr>
          <p:cNvPr id="30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3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SERVA · DOBUTAMI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 · DOBUTAMINA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Dobutamina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048000" cy="3194844"/>
          </a:xfrm>
          <a:prstGeom prst="roundRect">
            <a:avLst>
              <a:gd name="adj" fmla="val 2500"/>
            </a:avLst>
          </a:prstGeom>
          <a:solidFill>
            <a:srgbClr val="1B2A3A"/>
          </a:solidFill>
          <a:ln/>
        </p:spPr>
      </p:sp>
      <p:sp>
        <p:nvSpPr>
          <p:cNvPr id="5" name="RECEPTORES"/>
          <p:cNvSpPr txBox="1"/>
          <p:nvPr/>
        </p:nvSpPr>
        <p:spPr>
          <a:xfrm>
            <a:off x="1066800" y="2121537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RECEPTORES</a:t>
            </a:r>
            <a:endParaRPr lang="en-US" sz="1200" dirty="0"/>
          </a:p>
        </p:txBody>
      </p:sp>
      <p:sp>
        <p:nvSpPr>
          <p:cNvPr id="6" name="α1"/>
          <p:cNvSpPr txBox="1"/>
          <p:nvPr/>
        </p:nvSpPr>
        <p:spPr>
          <a:xfrm>
            <a:off x="1066800" y="246086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300" dirty="0"/>
          </a:p>
        </p:txBody>
      </p:sp>
      <p:sp>
        <p:nvSpPr>
          <p:cNvPr id="7" name="Cartão"/>
          <p:cNvSpPr/>
          <p:nvPr/>
        </p:nvSpPr>
        <p:spPr>
          <a:xfrm>
            <a:off x="1524000" y="253216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8" name="Cartão"/>
          <p:cNvSpPr/>
          <p:nvPr/>
        </p:nvSpPr>
        <p:spPr>
          <a:xfrm>
            <a:off x="1524000" y="2532162"/>
            <a:ext cx="4445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9" name="β1"/>
          <p:cNvSpPr txBox="1"/>
          <p:nvPr/>
        </p:nvSpPr>
        <p:spPr>
          <a:xfrm>
            <a:off x="1066800" y="281894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300" dirty="0"/>
          </a:p>
        </p:txBody>
      </p:sp>
      <p:sp>
        <p:nvSpPr>
          <p:cNvPr id="10" name="Cartão"/>
          <p:cNvSpPr/>
          <p:nvPr/>
        </p:nvSpPr>
        <p:spPr>
          <a:xfrm>
            <a:off x="1524000" y="289024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1" name="Cartão"/>
          <p:cNvSpPr/>
          <p:nvPr/>
        </p:nvSpPr>
        <p:spPr>
          <a:xfrm>
            <a:off x="1524000" y="289024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2" name="β2"/>
          <p:cNvSpPr txBox="1"/>
          <p:nvPr/>
        </p:nvSpPr>
        <p:spPr>
          <a:xfrm>
            <a:off x="1066800" y="317702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300" dirty="0"/>
          </a:p>
        </p:txBody>
      </p:sp>
      <p:sp>
        <p:nvSpPr>
          <p:cNvPr id="13" name="Cartão"/>
          <p:cNvSpPr/>
          <p:nvPr/>
        </p:nvSpPr>
        <p:spPr>
          <a:xfrm>
            <a:off x="1524000" y="324832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4" name="Cartão"/>
          <p:cNvSpPr/>
          <p:nvPr/>
        </p:nvSpPr>
        <p:spPr>
          <a:xfrm>
            <a:off x="1524000" y="3248323"/>
            <a:ext cx="8890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5" name="D1"/>
          <p:cNvSpPr txBox="1"/>
          <p:nvPr/>
        </p:nvSpPr>
        <p:spPr>
          <a:xfrm>
            <a:off x="1066800" y="353510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300" dirty="0"/>
          </a:p>
        </p:txBody>
      </p:sp>
      <p:sp>
        <p:nvSpPr>
          <p:cNvPr id="16" name="Cartão"/>
          <p:cNvSpPr/>
          <p:nvPr/>
        </p:nvSpPr>
        <p:spPr>
          <a:xfrm>
            <a:off x="1524000" y="360640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7" name="EFEITO HEMODINÂMICO"/>
          <p:cNvSpPr txBox="1"/>
          <p:nvPr/>
        </p:nvSpPr>
        <p:spPr>
          <a:xfrm>
            <a:off x="1066800" y="3894180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EFEITO HEMODINÂMICO</a:t>
            </a:r>
            <a:endParaRPr lang="en-US" sz="1200" dirty="0"/>
          </a:p>
        </p:txBody>
      </p:sp>
      <p:sp>
        <p:nvSpPr>
          <p:cNvPr id="18" name="DC ↑↑"/>
          <p:cNvSpPr txBox="1"/>
          <p:nvPr/>
        </p:nvSpPr>
        <p:spPr>
          <a:xfrm>
            <a:off x="10668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↑↑</a:t>
            </a:r>
            <a:endParaRPr lang="en-US" sz="1400" dirty="0"/>
          </a:p>
        </p:txBody>
      </p:sp>
      <p:sp>
        <p:nvSpPr>
          <p:cNvPr id="19" name="FC ↑"/>
          <p:cNvSpPr txBox="1"/>
          <p:nvPr/>
        </p:nvSpPr>
        <p:spPr>
          <a:xfrm>
            <a:off x="24130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</a:t>
            </a:r>
            <a:endParaRPr lang="en-US" sz="1400" dirty="0"/>
          </a:p>
        </p:txBody>
      </p:sp>
      <p:sp>
        <p:nvSpPr>
          <p:cNvPr id="20" name="RVS ↓"/>
          <p:cNvSpPr txBox="1"/>
          <p:nvPr/>
        </p:nvSpPr>
        <p:spPr>
          <a:xfrm>
            <a:off x="10668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RVS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↓</a:t>
            </a:r>
            <a:endParaRPr lang="en-US" sz="1400" dirty="0"/>
          </a:p>
        </p:txBody>
      </p:sp>
      <p:sp>
        <p:nvSpPr>
          <p:cNvPr id="21" name="PAM ↔/↓"/>
          <p:cNvSpPr txBox="1"/>
          <p:nvPr/>
        </p:nvSpPr>
        <p:spPr>
          <a:xfrm>
            <a:off x="24130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↔/↓</a:t>
            </a:r>
            <a:endParaRPr lang="en-US" sz="1400" dirty="0"/>
          </a:p>
        </p:txBody>
      </p:sp>
      <p:sp>
        <p:nvSpPr>
          <p:cNvPr id="22" name="Cartão"/>
          <p:cNvSpPr/>
          <p:nvPr/>
        </p:nvSpPr>
        <p:spPr>
          <a:xfrm>
            <a:off x="4064000" y="1879501"/>
            <a:ext cx="3556000" cy="3194844"/>
          </a:xfrm>
          <a:prstGeom prst="roundRect">
            <a:avLst>
              <a:gd name="adj" fmla="val 238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3" name="Dose e uso"/>
          <p:cNvSpPr txBox="1"/>
          <p:nvPr/>
        </p:nvSpPr>
        <p:spPr>
          <a:xfrm>
            <a:off x="4324350" y="2135857"/>
            <a:ext cx="30543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 e uso</a:t>
            </a:r>
            <a:endParaRPr lang="en-US" sz="1700" dirty="0"/>
          </a:p>
        </p:txBody>
      </p:sp>
      <p:sp>
        <p:nvSpPr>
          <p:cNvPr id="24" name="Infusão de 2,5 a 20 mcg/kg/min. Mistura "/>
          <p:cNvSpPr txBox="1"/>
          <p:nvPr/>
        </p:nvSpPr>
        <p:spPr>
          <a:xfrm>
            <a:off x="4324350" y="2484480"/>
            <a:ext cx="3054350" cy="14912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Infusão de 2,5 a 20 mcg/kg/min. Mistura racêmica cujos efeitos α1 em grande parte se cancelam: efeito resultante β1, com vasodilatação β2. SSC 2026: com disfunção cardíaca e hipoperfusão persistente, associar à NA ou usar adrenalina isolada.</a:t>
            </a:r>
            <a:endParaRPr lang="en-US" sz="1350" dirty="0"/>
          </a:p>
        </p:txBody>
      </p:sp>
      <p:sp>
        <p:nvSpPr>
          <p:cNvPr id="25" name="Cartão"/>
          <p:cNvSpPr/>
          <p:nvPr/>
        </p:nvSpPr>
        <p:spPr>
          <a:xfrm>
            <a:off x="7823200" y="1879501"/>
            <a:ext cx="3556000" cy="3194844"/>
          </a:xfrm>
          <a:prstGeom prst="roundRect">
            <a:avLst>
              <a:gd name="adj" fmla="val 238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6" name="Evidência e cuidados"/>
          <p:cNvSpPr txBox="1"/>
          <p:nvPr/>
        </p:nvSpPr>
        <p:spPr>
          <a:xfrm>
            <a:off x="8083550" y="2135857"/>
            <a:ext cx="30543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Evidência e cuidados</a:t>
            </a:r>
            <a:endParaRPr lang="en-US" sz="1700" dirty="0"/>
          </a:p>
        </p:txBody>
      </p:sp>
      <p:sp>
        <p:nvSpPr>
          <p:cNvPr id="27" name="Taquicardia, arritmia e maior consumo mi"/>
          <p:cNvSpPr txBox="1"/>
          <p:nvPr/>
        </p:nvSpPr>
        <p:spPr>
          <a:xfrm>
            <a:off x="8083550" y="2484480"/>
            <a:ext cx="3054350" cy="173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Taquicardia, arritmia e maior consumo miocárdico de oxigênio; tolerância após uso prolongado. Hipotensão na hipovolemia ou na vasoplegia. DOREMI (choque cardiogênico): sem diferença estatisticamente significativa vs. milrinona no desfecho composto (54% vs. 49%).</a:t>
            </a:r>
            <a:endParaRPr lang="en-US" sz="1350" dirty="0"/>
          </a:p>
        </p:txBody>
      </p:sp>
      <p:sp>
        <p:nvSpPr>
          <p:cNvPr id="28" name="Mathew, N Engl J Med 2021 (DOREMI) · SSC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Mathew, N Engl J Med 2021 (DOREMI) · SSC 2026 · barras: escala qualitativa</a:t>
            </a:r>
            <a:endParaRPr lang="en-US" sz="1200" dirty="0"/>
          </a:p>
        </p:txBody>
      </p:sp>
      <p:pic>
        <p:nvPicPr>
          <p:cNvPr id="29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4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SERVA · SINALIZAÇÃO DO AMPc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 · SINALIZAÇÃO DO AMPc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AMPc: onde agem dobutamina e milrinona</a:t>
            </a:r>
            <a:endParaRPr lang="en-US" sz="3200" dirty="0"/>
          </a:p>
        </p:txBody>
      </p:sp>
      <p:pic>
        <p:nvPicPr>
          <p:cNvPr id="4" name="Esquema do cardiomiócito: a dobutamina estimula o receptor β1, a proteína Gs e a adenilato ciclase, que produz AMPc; o AMPc ativa a PKA, que aumenta a entrada de cálcio pelo canal tipo L (gatilho da liberação de cálcio pelo RyR2 do retículo sarcoplasmático: mais cálcio na sístole) e fosforila o fosfolambam (recaptação mais rápida pela SERCA2a e retículo mais carregado); a PDE3 degrada o AMPc em 5′-AMP e é inibida pela milrinona; o betabloqueador bloqueia o receptor β1; no músculo liso vascular, AMPc e PKA inibem a MLCK e causam vasodilatação" descr="Esquema do cardiomiócito: a dobutamina estimula o receptor β1, a proteína Gs e a adenilato ciclase, que produz AMPc; o AMPc ativa a PKA, que aumenta a entrada de cálcio pelo canal tipo L (gatilho da liberação de cálcio pelo RyR2 do retículo sarcoplasmático: mais cálcio na sístole) e fosforila o fosfolambam (recaptação mais rápida pela SERCA2a e retículo mais carregado); a PDE3 degrada o AMPc em 5′-AMP e é inibida pela milrinona; o betabloqueador bloqueia o receptor β1; no músculo liso vascular, AMPc e PKA inibem a MLCK e causam vasodilataçã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2800" y="1752501"/>
            <a:ext cx="10566400" cy="3302000"/>
          </a:xfrm>
          <a:prstGeom prst="rect">
            <a:avLst/>
          </a:prstGeom>
        </p:spPr>
      </p:pic>
      <p:sp>
        <p:nvSpPr>
          <p:cNvPr id="5" name="Leitura: a dobutamina aumenta a produção"/>
          <p:cNvSpPr txBox="1"/>
          <p:nvPr/>
        </p:nvSpPr>
        <p:spPr>
          <a:xfrm>
            <a:off x="812800" y="5218842"/>
            <a:ext cx="10585450" cy="2400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Leitura: a dobutamina aumenta a produção de AMPc; a milrinona reduz a degradação, sem depender do receptor β.</a:t>
            </a:r>
            <a:endParaRPr lang="en-US" sz="1350" dirty="0"/>
          </a:p>
        </p:txBody>
      </p:sp>
      <p:sp>
        <p:nvSpPr>
          <p:cNvPr id="6" name="Esquema próprio · Zaccolo &amp; Kovanich, Ph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Esquema próprio · Zaccolo &amp; Kovanich, Physiol Rev 2025 · Miller’s Anesthesia, 10ª ed. (2025)</a:t>
            </a:r>
            <a:endParaRPr lang="en-US" sz="1200" dirty="0"/>
          </a:p>
        </p:txBody>
      </p:sp>
      <p:pic>
        <p:nvPicPr>
          <p:cNvPr id="7" name="Símbolo da UFRJ" descr="Símbolo da UFRJ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5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SERVA · FENILEFRI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 · FENILEFRINA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Fenilefrina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048000" cy="3194844"/>
          </a:xfrm>
          <a:prstGeom prst="roundRect">
            <a:avLst>
              <a:gd name="adj" fmla="val 2500"/>
            </a:avLst>
          </a:prstGeom>
          <a:solidFill>
            <a:srgbClr val="1B2A3A"/>
          </a:solidFill>
          <a:ln/>
        </p:spPr>
      </p:sp>
      <p:sp>
        <p:nvSpPr>
          <p:cNvPr id="5" name="RECEPTORES"/>
          <p:cNvSpPr txBox="1"/>
          <p:nvPr/>
        </p:nvSpPr>
        <p:spPr>
          <a:xfrm>
            <a:off x="1066800" y="2121537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RECEPTORES</a:t>
            </a:r>
            <a:endParaRPr lang="en-US" sz="1200" dirty="0"/>
          </a:p>
        </p:txBody>
      </p:sp>
      <p:sp>
        <p:nvSpPr>
          <p:cNvPr id="6" name="α1"/>
          <p:cNvSpPr txBox="1"/>
          <p:nvPr/>
        </p:nvSpPr>
        <p:spPr>
          <a:xfrm>
            <a:off x="1066800" y="246086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300" dirty="0"/>
          </a:p>
        </p:txBody>
      </p:sp>
      <p:sp>
        <p:nvSpPr>
          <p:cNvPr id="7" name="Cartão"/>
          <p:cNvSpPr/>
          <p:nvPr/>
        </p:nvSpPr>
        <p:spPr>
          <a:xfrm>
            <a:off x="1524000" y="253216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8" name="Cartão"/>
          <p:cNvSpPr/>
          <p:nvPr/>
        </p:nvSpPr>
        <p:spPr>
          <a:xfrm>
            <a:off x="1524000" y="253216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9" name="β1"/>
          <p:cNvSpPr txBox="1"/>
          <p:nvPr/>
        </p:nvSpPr>
        <p:spPr>
          <a:xfrm>
            <a:off x="1066800" y="281894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300" dirty="0"/>
          </a:p>
        </p:txBody>
      </p:sp>
      <p:sp>
        <p:nvSpPr>
          <p:cNvPr id="10" name="Cartão"/>
          <p:cNvSpPr/>
          <p:nvPr/>
        </p:nvSpPr>
        <p:spPr>
          <a:xfrm>
            <a:off x="1524000" y="289024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1" name="β2"/>
          <p:cNvSpPr txBox="1"/>
          <p:nvPr/>
        </p:nvSpPr>
        <p:spPr>
          <a:xfrm>
            <a:off x="1066800" y="317702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300" dirty="0"/>
          </a:p>
        </p:txBody>
      </p:sp>
      <p:sp>
        <p:nvSpPr>
          <p:cNvPr id="12" name="Cartão"/>
          <p:cNvSpPr/>
          <p:nvPr/>
        </p:nvSpPr>
        <p:spPr>
          <a:xfrm>
            <a:off x="1524000" y="324832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3" name="D1"/>
          <p:cNvSpPr txBox="1"/>
          <p:nvPr/>
        </p:nvSpPr>
        <p:spPr>
          <a:xfrm>
            <a:off x="1066800" y="353510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300" dirty="0"/>
          </a:p>
        </p:txBody>
      </p:sp>
      <p:sp>
        <p:nvSpPr>
          <p:cNvPr id="14" name="Cartão"/>
          <p:cNvSpPr/>
          <p:nvPr/>
        </p:nvSpPr>
        <p:spPr>
          <a:xfrm>
            <a:off x="1524000" y="360640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5" name="EFEITO HEMODINÂMICO"/>
          <p:cNvSpPr txBox="1"/>
          <p:nvPr/>
        </p:nvSpPr>
        <p:spPr>
          <a:xfrm>
            <a:off x="1066800" y="3894180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EFEITO HEMODINÂMICO</a:t>
            </a:r>
            <a:endParaRPr lang="en-US" sz="1200" dirty="0"/>
          </a:p>
        </p:txBody>
      </p:sp>
      <p:sp>
        <p:nvSpPr>
          <p:cNvPr id="16" name="PAM ↑"/>
          <p:cNvSpPr txBox="1"/>
          <p:nvPr/>
        </p:nvSpPr>
        <p:spPr>
          <a:xfrm>
            <a:off x="10668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</a:t>
            </a:r>
            <a:endParaRPr lang="en-US" sz="1400" dirty="0"/>
          </a:p>
        </p:txBody>
      </p:sp>
      <p:sp>
        <p:nvSpPr>
          <p:cNvPr id="17" name="RVS ↑↑"/>
          <p:cNvSpPr txBox="1"/>
          <p:nvPr/>
        </p:nvSpPr>
        <p:spPr>
          <a:xfrm>
            <a:off x="24130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RVS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↑↑</a:t>
            </a:r>
            <a:endParaRPr lang="en-US" sz="1400" dirty="0"/>
          </a:p>
        </p:txBody>
      </p:sp>
      <p:sp>
        <p:nvSpPr>
          <p:cNvPr id="18" name="FC ↓"/>
          <p:cNvSpPr txBox="1"/>
          <p:nvPr/>
        </p:nvSpPr>
        <p:spPr>
          <a:xfrm>
            <a:off x="10668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↓</a:t>
            </a:r>
            <a:endParaRPr lang="en-US" sz="1400" dirty="0"/>
          </a:p>
        </p:txBody>
      </p:sp>
      <p:sp>
        <p:nvSpPr>
          <p:cNvPr id="19" name="DC ↔/↓"/>
          <p:cNvSpPr txBox="1"/>
          <p:nvPr/>
        </p:nvSpPr>
        <p:spPr>
          <a:xfrm>
            <a:off x="24130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↔/↓</a:t>
            </a:r>
            <a:endParaRPr lang="en-US" sz="1400" dirty="0"/>
          </a:p>
        </p:txBody>
      </p:sp>
      <p:sp>
        <p:nvSpPr>
          <p:cNvPr id="20" name="Cartão"/>
          <p:cNvSpPr/>
          <p:nvPr/>
        </p:nvSpPr>
        <p:spPr>
          <a:xfrm>
            <a:off x="4064000" y="1879501"/>
            <a:ext cx="3556000" cy="3194844"/>
          </a:xfrm>
          <a:prstGeom prst="roundRect">
            <a:avLst>
              <a:gd name="adj" fmla="val 238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1" name="Dose e uso"/>
          <p:cNvSpPr txBox="1"/>
          <p:nvPr/>
        </p:nvSpPr>
        <p:spPr>
          <a:xfrm>
            <a:off x="4324350" y="2135857"/>
            <a:ext cx="30543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 e uso</a:t>
            </a:r>
            <a:endParaRPr lang="en-US" sz="1700" dirty="0"/>
          </a:p>
        </p:txBody>
      </p:sp>
      <p:sp>
        <p:nvSpPr>
          <p:cNvPr id="22" name="Bolus de 50–100 mcg, início imediato e e"/>
          <p:cNvSpPr txBox="1"/>
          <p:nvPr/>
        </p:nvSpPr>
        <p:spPr>
          <a:xfrm>
            <a:off x="4324350" y="2484480"/>
            <a:ext cx="3054350" cy="1988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Bolus de 50–100 mcg, início imediato e efeito curto. Na cesárea sob raquianestesia, infusão profilática de </a:t>
            </a: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25–50 mcg/min</a:t>
            </a: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mantendo a PAS ≥90% da basal. Útil na vasodilatação com FC normal ou alta e, em casos selecionados, na estenose aórtica ou na obstrução dinâmica da via de saída do VE.</a:t>
            </a:r>
            <a:endParaRPr lang="en-US" sz="1350" dirty="0"/>
          </a:p>
        </p:txBody>
      </p:sp>
      <p:sp>
        <p:nvSpPr>
          <p:cNvPr id="23" name="Cartão"/>
          <p:cNvSpPr/>
          <p:nvPr/>
        </p:nvSpPr>
        <p:spPr>
          <a:xfrm>
            <a:off x="7823200" y="1879501"/>
            <a:ext cx="3556000" cy="3194844"/>
          </a:xfrm>
          <a:prstGeom prst="roundRect">
            <a:avLst>
              <a:gd name="adj" fmla="val 238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4" name="Evidência e cuidados"/>
          <p:cNvSpPr txBox="1"/>
          <p:nvPr/>
        </p:nvSpPr>
        <p:spPr>
          <a:xfrm>
            <a:off x="8083550" y="2135857"/>
            <a:ext cx="30543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Evidência e cuidados</a:t>
            </a:r>
            <a:endParaRPr lang="en-US" sz="1700" dirty="0"/>
          </a:p>
        </p:txBody>
      </p:sp>
      <p:sp>
        <p:nvSpPr>
          <p:cNvPr id="25" name="A bradicardia barorreflexa pode reduzir "/>
          <p:cNvSpPr txBox="1"/>
          <p:nvPr/>
        </p:nvSpPr>
        <p:spPr>
          <a:xfrm>
            <a:off x="8083550" y="2484480"/>
            <a:ext cx="3054350" cy="14912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bradicardia barorreflexa pode reduzir o DC, sobretudo com disfunção de VE. Na cesárea, NA 6 mcg em bolus causou menos bradicardia que fenilefrina 100 mcg (10,7% vs. 37,5%). No choque séptico, sem evidência para uso como 1ª linha.</a:t>
            </a:r>
            <a:endParaRPr lang="en-US" sz="1350" dirty="0"/>
          </a:p>
        </p:txBody>
      </p:sp>
      <p:sp>
        <p:nvSpPr>
          <p:cNvPr id="26" name="Kinsella, Anaesthesia 2018 · Sharkey, An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Kinsella, Anaesthesia 2018 · Sharkey, Anesth Analg 2019 · Park &amp; Choi, Anesth Pain Med 2024 · barras: escala qualitativa</a:t>
            </a:r>
            <a:endParaRPr lang="en-US" sz="1200" dirty="0"/>
          </a:p>
        </p:txBody>
      </p:sp>
      <p:pic>
        <p:nvPicPr>
          <p:cNvPr id="27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6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SERVA · EFEDRI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 · EFEDRINA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Efedrina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048000" cy="3194844"/>
          </a:xfrm>
          <a:prstGeom prst="roundRect">
            <a:avLst>
              <a:gd name="adj" fmla="val 2500"/>
            </a:avLst>
          </a:prstGeom>
          <a:solidFill>
            <a:srgbClr val="1B2A3A"/>
          </a:solidFill>
          <a:ln/>
        </p:spPr>
      </p:sp>
      <p:sp>
        <p:nvSpPr>
          <p:cNvPr id="5" name="RECEPTORES"/>
          <p:cNvSpPr txBox="1"/>
          <p:nvPr/>
        </p:nvSpPr>
        <p:spPr>
          <a:xfrm>
            <a:off x="1066800" y="2121537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RECEPTORES</a:t>
            </a:r>
            <a:endParaRPr lang="en-US" sz="1200" dirty="0"/>
          </a:p>
        </p:txBody>
      </p:sp>
      <p:sp>
        <p:nvSpPr>
          <p:cNvPr id="6" name="α1"/>
          <p:cNvSpPr txBox="1"/>
          <p:nvPr/>
        </p:nvSpPr>
        <p:spPr>
          <a:xfrm>
            <a:off x="1066800" y="246086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300" dirty="0"/>
          </a:p>
        </p:txBody>
      </p:sp>
      <p:sp>
        <p:nvSpPr>
          <p:cNvPr id="7" name="Cartão"/>
          <p:cNvSpPr/>
          <p:nvPr/>
        </p:nvSpPr>
        <p:spPr>
          <a:xfrm>
            <a:off x="1524000" y="253216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8" name="Cartão"/>
          <p:cNvSpPr/>
          <p:nvPr/>
        </p:nvSpPr>
        <p:spPr>
          <a:xfrm>
            <a:off x="1524000" y="2532162"/>
            <a:ext cx="8890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9" name="β1"/>
          <p:cNvSpPr txBox="1"/>
          <p:nvPr/>
        </p:nvSpPr>
        <p:spPr>
          <a:xfrm>
            <a:off x="1066800" y="281894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300" dirty="0"/>
          </a:p>
        </p:txBody>
      </p:sp>
      <p:sp>
        <p:nvSpPr>
          <p:cNvPr id="10" name="Cartão"/>
          <p:cNvSpPr/>
          <p:nvPr/>
        </p:nvSpPr>
        <p:spPr>
          <a:xfrm>
            <a:off x="1524000" y="289024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1" name="Cartão"/>
          <p:cNvSpPr/>
          <p:nvPr/>
        </p:nvSpPr>
        <p:spPr>
          <a:xfrm>
            <a:off x="1524000" y="2890242"/>
            <a:ext cx="8890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2" name="β2"/>
          <p:cNvSpPr txBox="1"/>
          <p:nvPr/>
        </p:nvSpPr>
        <p:spPr>
          <a:xfrm>
            <a:off x="1066800" y="317702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300" dirty="0"/>
          </a:p>
        </p:txBody>
      </p:sp>
      <p:sp>
        <p:nvSpPr>
          <p:cNvPr id="13" name="Cartão"/>
          <p:cNvSpPr/>
          <p:nvPr/>
        </p:nvSpPr>
        <p:spPr>
          <a:xfrm>
            <a:off x="1524000" y="324832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4" name="Cartão"/>
          <p:cNvSpPr/>
          <p:nvPr/>
        </p:nvSpPr>
        <p:spPr>
          <a:xfrm>
            <a:off x="1524000" y="3248323"/>
            <a:ext cx="4445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5" name="D1"/>
          <p:cNvSpPr txBox="1"/>
          <p:nvPr/>
        </p:nvSpPr>
        <p:spPr>
          <a:xfrm>
            <a:off x="1066800" y="353510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300" dirty="0"/>
          </a:p>
        </p:txBody>
      </p:sp>
      <p:sp>
        <p:nvSpPr>
          <p:cNvPr id="16" name="Cartão"/>
          <p:cNvSpPr/>
          <p:nvPr/>
        </p:nvSpPr>
        <p:spPr>
          <a:xfrm>
            <a:off x="1524000" y="360640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7" name="EFEITO HEMODINÂMICO"/>
          <p:cNvSpPr txBox="1"/>
          <p:nvPr/>
        </p:nvSpPr>
        <p:spPr>
          <a:xfrm>
            <a:off x="1066800" y="3894180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EFEITO HEMODINÂMICO</a:t>
            </a:r>
            <a:endParaRPr lang="en-US" sz="1200" dirty="0"/>
          </a:p>
        </p:txBody>
      </p:sp>
      <p:sp>
        <p:nvSpPr>
          <p:cNvPr id="18" name="PAM ↑"/>
          <p:cNvSpPr txBox="1"/>
          <p:nvPr/>
        </p:nvSpPr>
        <p:spPr>
          <a:xfrm>
            <a:off x="10668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</a:t>
            </a:r>
            <a:endParaRPr lang="en-US" sz="1400" dirty="0"/>
          </a:p>
        </p:txBody>
      </p:sp>
      <p:sp>
        <p:nvSpPr>
          <p:cNvPr id="19" name="FC ↑"/>
          <p:cNvSpPr txBox="1"/>
          <p:nvPr/>
        </p:nvSpPr>
        <p:spPr>
          <a:xfrm>
            <a:off x="24130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</a:t>
            </a:r>
            <a:endParaRPr lang="en-US" sz="1400" dirty="0"/>
          </a:p>
        </p:txBody>
      </p:sp>
      <p:sp>
        <p:nvSpPr>
          <p:cNvPr id="20" name="DC ↑"/>
          <p:cNvSpPr txBox="1"/>
          <p:nvPr/>
        </p:nvSpPr>
        <p:spPr>
          <a:xfrm>
            <a:off x="10668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</a:t>
            </a:r>
            <a:endParaRPr lang="en-US" sz="1400" dirty="0"/>
          </a:p>
        </p:txBody>
      </p:sp>
      <p:sp>
        <p:nvSpPr>
          <p:cNvPr id="21" name="RVS ↔/↑"/>
          <p:cNvSpPr txBox="1"/>
          <p:nvPr/>
        </p:nvSpPr>
        <p:spPr>
          <a:xfrm>
            <a:off x="24130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RVS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↔/↑</a:t>
            </a:r>
            <a:endParaRPr lang="en-US" sz="1400" dirty="0"/>
          </a:p>
        </p:txBody>
      </p:sp>
      <p:sp>
        <p:nvSpPr>
          <p:cNvPr id="22" name="Cartão"/>
          <p:cNvSpPr/>
          <p:nvPr/>
        </p:nvSpPr>
        <p:spPr>
          <a:xfrm>
            <a:off x="4064000" y="1879501"/>
            <a:ext cx="3556000" cy="3194844"/>
          </a:xfrm>
          <a:prstGeom prst="roundRect">
            <a:avLst>
              <a:gd name="adj" fmla="val 238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3" name="Dose e uso"/>
          <p:cNvSpPr txBox="1"/>
          <p:nvPr/>
        </p:nvSpPr>
        <p:spPr>
          <a:xfrm>
            <a:off x="4324350" y="2135857"/>
            <a:ext cx="30543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 e uso</a:t>
            </a:r>
            <a:endParaRPr lang="en-US" sz="1700" dirty="0"/>
          </a:p>
        </p:txBody>
      </p:sp>
      <p:sp>
        <p:nvSpPr>
          <p:cNvPr id="24" name="Bolus de 5–10 mg EV, repetível. Agonista"/>
          <p:cNvSpPr txBox="1"/>
          <p:nvPr/>
        </p:nvSpPr>
        <p:spPr>
          <a:xfrm>
            <a:off x="4324350" y="2484480"/>
            <a:ext cx="3054350" cy="1988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Bolus de 5–10 mg EV, repetível. Agonista direto α e β e indireto, liberando noradrenalina das terminações nervosas. Sem o anel catecol, escapa da COMT; o grupo α-metil a protege da MAO: dura mais que as catecolaminas. Boa opção na hipotensão com bradicardia após indução ou raquianestesia.</a:t>
            </a:r>
            <a:endParaRPr lang="en-US" sz="1350" dirty="0"/>
          </a:p>
        </p:txBody>
      </p:sp>
      <p:sp>
        <p:nvSpPr>
          <p:cNvPr id="25" name="Cartão"/>
          <p:cNvSpPr/>
          <p:nvPr/>
        </p:nvSpPr>
        <p:spPr>
          <a:xfrm>
            <a:off x="7823200" y="1879501"/>
            <a:ext cx="3556000" cy="3194844"/>
          </a:xfrm>
          <a:prstGeom prst="roundRect">
            <a:avLst>
              <a:gd name="adj" fmla="val 238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6" name="Evidência e cuidados"/>
          <p:cNvSpPr txBox="1"/>
          <p:nvPr/>
        </p:nvSpPr>
        <p:spPr>
          <a:xfrm>
            <a:off x="8083550" y="2135857"/>
            <a:ext cx="30543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Evidência e cuidados</a:t>
            </a:r>
            <a:endParaRPr lang="en-US" sz="1700" dirty="0"/>
          </a:p>
        </p:txBody>
      </p:sp>
      <p:sp>
        <p:nvSpPr>
          <p:cNvPr id="27" name="Taquifilaxia por depleção dos estoques d"/>
          <p:cNvSpPr txBox="1"/>
          <p:nvPr/>
        </p:nvSpPr>
        <p:spPr>
          <a:xfrm>
            <a:off x="8083550" y="2484480"/>
            <a:ext cx="3054350" cy="14912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Taquifilaxia por depleção dos estoques de noradrenalina: doses repetidas perdem efeito. Interação grave com IMAO. Na cesárea, atravessa a placenta e se associa a mais acidose fetal que a fenilefrina; é reservada para resgate.</a:t>
            </a:r>
            <a:endParaRPr lang="en-US" sz="1350" dirty="0"/>
          </a:p>
        </p:txBody>
      </p:sp>
      <p:sp>
        <p:nvSpPr>
          <p:cNvPr id="28" name="Kinsella, Anaesthesia 2018 · Park &amp; Choi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Kinsella, Anaesthesia 2018 · Park &amp; Choi, Anesth Pain Med 2024 · Miller’s Anesthesia, 10ª ed. (2025) · barras: escala qualitativa</a:t>
            </a:r>
            <a:endParaRPr lang="en-US" sz="1200" dirty="0"/>
          </a:p>
        </p:txBody>
      </p:sp>
      <p:pic>
        <p:nvPicPr>
          <p:cNvPr id="29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7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SERVA · VASOPRESSI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 · VASOPRESSINA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Vasopressina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386634" cy="2621161"/>
          </a:xfrm>
          <a:prstGeom prst="roundRect">
            <a:avLst>
              <a:gd name="adj" fmla="val 290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5" name="Mecanismo"/>
          <p:cNvSpPr txBox="1"/>
          <p:nvPr/>
        </p:nvSpPr>
        <p:spPr>
          <a:xfrm>
            <a:off x="1073150" y="2135857"/>
            <a:ext cx="28849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Mecanismo</a:t>
            </a:r>
            <a:endParaRPr lang="en-US" sz="1700" dirty="0"/>
          </a:p>
        </p:txBody>
      </p:sp>
      <p:sp>
        <p:nvSpPr>
          <p:cNvPr id="6" name="Hormônio não adrenérgico que age no rece"/>
          <p:cNvSpPr txBox="1"/>
          <p:nvPr/>
        </p:nvSpPr>
        <p:spPr>
          <a:xfrm>
            <a:off x="1073150" y="2484480"/>
            <a:ext cx="2884984" cy="14912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Hormônio não adrenérgico que age no receptor V1 do músculo liso vascular. Costuma manter efeito em acidose e com adrenoceptores dessensibilizados. No choque séptico há deficiência relativa de vasopressina endógena.</a:t>
            </a:r>
            <a:endParaRPr lang="en-US" sz="1350" dirty="0"/>
          </a:p>
        </p:txBody>
      </p:sp>
      <p:sp>
        <p:nvSpPr>
          <p:cNvPr id="7" name="Cartão"/>
          <p:cNvSpPr/>
          <p:nvPr/>
        </p:nvSpPr>
        <p:spPr>
          <a:xfrm>
            <a:off x="4402634" y="1879501"/>
            <a:ext cx="3386634" cy="2621161"/>
          </a:xfrm>
          <a:prstGeom prst="roundRect">
            <a:avLst>
              <a:gd name="adj" fmla="val 290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8" name="Uso"/>
          <p:cNvSpPr txBox="1"/>
          <p:nvPr/>
        </p:nvSpPr>
        <p:spPr>
          <a:xfrm>
            <a:off x="4662984" y="2135857"/>
            <a:ext cx="28849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Uso</a:t>
            </a:r>
            <a:endParaRPr lang="en-US" sz="1700" dirty="0"/>
          </a:p>
        </p:txBody>
      </p:sp>
      <p:sp>
        <p:nvSpPr>
          <p:cNvPr id="9" name="Em geral, dose fixa de 0,03 U/min (até 0"/>
          <p:cNvSpPr txBox="1"/>
          <p:nvPr/>
        </p:nvSpPr>
        <p:spPr>
          <a:xfrm>
            <a:off x="4662984" y="2484480"/>
            <a:ext cx="2884984" cy="173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geral, dose fixa de 0,03 U/min (até 0,04 U/min), ao contrário da NA, que é titulada. SSC 2026: associar quando a NA está em escalada (condicional, certeza moderada); na enquete dos painelistas, a mediana de NA para associar foi 0,3 mcg/kg/min.</a:t>
            </a:r>
            <a:endParaRPr lang="en-US" sz="1350" dirty="0"/>
          </a:p>
        </p:txBody>
      </p:sp>
      <p:sp>
        <p:nvSpPr>
          <p:cNvPr id="10" name="Cartão"/>
          <p:cNvSpPr/>
          <p:nvPr/>
        </p:nvSpPr>
        <p:spPr>
          <a:xfrm>
            <a:off x="7992467" y="1879501"/>
            <a:ext cx="3386634" cy="2621161"/>
          </a:xfrm>
          <a:prstGeom prst="roundRect">
            <a:avLst>
              <a:gd name="adj" fmla="val 290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1" name="Evidência"/>
          <p:cNvSpPr txBox="1"/>
          <p:nvPr/>
        </p:nvSpPr>
        <p:spPr>
          <a:xfrm>
            <a:off x="8252817" y="2135857"/>
            <a:ext cx="28849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Evidência</a:t>
            </a:r>
            <a:endParaRPr lang="en-US" sz="1700" dirty="0"/>
          </a:p>
        </p:txBody>
      </p:sp>
      <p:sp>
        <p:nvSpPr>
          <p:cNvPr id="12" name="VASST: sem redução de mortalidade em 28 "/>
          <p:cNvSpPr txBox="1"/>
          <p:nvPr/>
        </p:nvSpPr>
        <p:spPr>
          <a:xfrm>
            <a:off x="8252817" y="2484480"/>
            <a:ext cx="2884984" cy="173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VASST: sem redução de mortalidade em 28 dias (35,4% vs. 39,3%). VASSPR (JAMA 2026; n = 3.959): políticas hospitalares de iniciar a vasopressina com 0,1 vs. 0,4 mcg/kg/min de NA-equivalente não mudaram a mortalidade (31,8% vs. 33,0%).</a:t>
            </a:r>
            <a:endParaRPr lang="en-US" sz="1350" dirty="0"/>
          </a:p>
        </p:txBody>
      </p:sp>
      <p:sp>
        <p:nvSpPr>
          <p:cNvPr id="13" name="Russell, N Engl J Med 2008 (VASST) · Pel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Russell, N Engl J Med 2008 (VASST) · Peltan, JAMA 2026 (VASSPR) · SSC 2026</a:t>
            </a:r>
            <a:endParaRPr lang="en-US" sz="1200" dirty="0"/>
          </a:p>
        </p:txBody>
      </p:sp>
      <p:pic>
        <p:nvPicPr>
          <p:cNvPr id="14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8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SERVA · CHOQUE REFRATÁRIO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 · CHOQUE REFRATÁRIO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Choque refratário: adjuvantes</a:t>
            </a:r>
            <a:endParaRPr lang="en-US" sz="3200" dirty="0"/>
          </a:p>
        </p:txBody>
      </p:sp>
      <p:graphicFrame>
        <p:nvGraphicFramePr>
          <p:cNvPr id="4" name="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1879501"/>
          <a:ext cx="10566400" cy="914400"/>
        </p:xfrm>
        <a:graphic>
          <a:graphicData uri="http://schemas.openxmlformats.org/drawingml/2006/table">
            <a:tbl>
              <a:tblPr/>
              <a:tblGrid>
                <a:gridCol w="1901924"/>
                <a:gridCol w="2747169"/>
                <a:gridCol w="3592513"/>
                <a:gridCol w="2324795"/>
              </a:tblGrid>
              <a:tr h="39112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Agente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Mecanismo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Evidência-chave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SSC 2026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</a:tr>
              <a:tr h="820936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Hidrocortisona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Restaura a resposta vascular às catecolaminas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ADRENAL: resolução mais rápida do choque, sem ↓mortalidade. APROCCHSS: ↓mortalidade com hidrocortisona + fludrocortisona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Sugere usar no choque séptico (condicional, certeza baixa)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10791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Angiotensina II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Agonista AT1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ATHOS-3: resposta da PAM em 3 h (69,9% vs. 23,4%); mortalidade sem diferença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 preferida como 1ª linha (condicional)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74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Azul de metileno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Inibe a via óxido nítrico–GMPc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ECRs pequenos, sem desfecho clínico robusto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Evidência insuficiente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10791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Milrinona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Inibidor da PDE3: inodilatador não adrenérgico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DOREMI: sem diferença significativa vs. dobutamina no choque cardiogênico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 dados vs. dobutamina no choque séptico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10791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Levosimendana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Sensibilizador ao Ca</a:t>
                      </a:r>
                      <a:r>
                        <a:rPr lang="pt-BR" altLang="en-US" sz="1200" baseline="300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2+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 benefício clínico demonstrado no choque séptico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Sugere não usar (condicional)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Venkatesh, N Engl J Med 2018 (ADRENAL) ·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Venkatesh, N Engl J Med 2018 (ADRENAL) · Annane, N Engl J Med 2018 (APROCCHSS) · Khanna, N Engl J Med 2017 (ATHOS-3) · SSC 2026</a:t>
            </a:r>
            <a:endParaRPr lang="en-US" sz="1200" dirty="0"/>
          </a:p>
        </p:txBody>
      </p:sp>
      <p:pic>
        <p:nvPicPr>
          <p:cNvPr id="6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9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SERVA · SEQUÊNCIA SSC 2026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 · SEQUÊNCIA SSC 2026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Sequência de vasopressores na SSC 2026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138190" cy="1688802"/>
          </a:xfrm>
          <a:prstGeom prst="roundRect">
            <a:avLst>
              <a:gd name="adj" fmla="val 4512"/>
            </a:avLst>
          </a:prstGeom>
          <a:solidFill>
            <a:srgbClr val="1B2A3A"/>
          </a:solidFill>
          <a:ln/>
        </p:spPr>
      </p:sp>
      <p:sp>
        <p:nvSpPr>
          <p:cNvPr id="5" name="PASSO 1"/>
          <p:cNvSpPr txBox="1"/>
          <p:nvPr/>
        </p:nvSpPr>
        <p:spPr>
          <a:xfrm>
            <a:off x="1016000" y="2070737"/>
            <a:ext cx="275084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PASSO 1</a:t>
            </a:r>
            <a:endParaRPr lang="en-US" sz="1200" dirty="0"/>
          </a:p>
        </p:txBody>
      </p:sp>
      <p:sp>
        <p:nvSpPr>
          <p:cNvPr id="6" name="Noradrenalina"/>
          <p:cNvSpPr txBox="1"/>
          <p:nvPr/>
        </p:nvSpPr>
        <p:spPr>
          <a:xfrm>
            <a:off x="1016000" y="2342592"/>
            <a:ext cx="2750840" cy="2742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pt-BR" altLang="en-US" sz="18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Noradrenalina</a:t>
            </a:r>
            <a:endParaRPr lang="en-US" sz="1800" dirty="0"/>
          </a:p>
        </p:txBody>
      </p:sp>
      <p:sp>
        <p:nvSpPr>
          <p:cNvPr id="7" name="1ª linha (forte vs. dopamina; condiciona"/>
          <p:cNvSpPr txBox="1"/>
          <p:nvPr/>
        </p:nvSpPr>
        <p:spPr>
          <a:xfrm>
            <a:off x="1016000" y="2658901"/>
            <a:ext cx="2750840" cy="6932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1ª linha (forte vs. dopamina; condicional vs. vasopressina e angiotensina II); iniciar cedo, inclusive por veia periférica.</a:t>
            </a:r>
            <a:endParaRPr lang="en-US" sz="1300" dirty="0"/>
          </a:p>
        </p:txBody>
      </p:sp>
      <p:sp>
        <p:nvSpPr>
          <p:cNvPr id="8" name="→"/>
          <p:cNvSpPr txBox="1"/>
          <p:nvPr/>
        </p:nvSpPr>
        <p:spPr>
          <a:xfrm>
            <a:off x="4077990" y="2560810"/>
            <a:ext cx="341015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pt-BR" altLang="en-US" sz="2800" b="1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800" dirty="0"/>
          </a:p>
        </p:txBody>
      </p:sp>
      <p:sp>
        <p:nvSpPr>
          <p:cNvPr id="9" name="Cartão"/>
          <p:cNvSpPr/>
          <p:nvPr/>
        </p:nvSpPr>
        <p:spPr>
          <a:xfrm>
            <a:off x="4526955" y="1994991"/>
            <a:ext cx="3138190" cy="1457722"/>
          </a:xfrm>
          <a:prstGeom prst="roundRect">
            <a:avLst>
              <a:gd name="adj" fmla="val 5227"/>
            </a:avLst>
          </a:prstGeom>
          <a:solidFill>
            <a:srgbClr val="1B2A3A"/>
          </a:solidFill>
          <a:ln/>
        </p:spPr>
      </p:sp>
      <p:sp>
        <p:nvSpPr>
          <p:cNvPr id="10" name="PASSO 2"/>
          <p:cNvSpPr txBox="1"/>
          <p:nvPr/>
        </p:nvSpPr>
        <p:spPr>
          <a:xfrm>
            <a:off x="4730155" y="2186228"/>
            <a:ext cx="275084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PASSO 2</a:t>
            </a:r>
            <a:endParaRPr lang="en-US" sz="1200" dirty="0"/>
          </a:p>
        </p:txBody>
      </p:sp>
      <p:sp>
        <p:nvSpPr>
          <p:cNvPr id="11" name="+ Vasopressina"/>
          <p:cNvSpPr txBox="1"/>
          <p:nvPr/>
        </p:nvSpPr>
        <p:spPr>
          <a:xfrm>
            <a:off x="4730155" y="2458083"/>
            <a:ext cx="2750840" cy="2742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pt-BR" altLang="en-US" sz="18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Vasopressina</a:t>
            </a:r>
            <a:endParaRPr lang="en-US" sz="1800" dirty="0"/>
          </a:p>
        </p:txBody>
      </p:sp>
      <p:sp>
        <p:nvSpPr>
          <p:cNvPr id="12" name="NA em escalada (condicional, certeza mod"/>
          <p:cNvSpPr txBox="1"/>
          <p:nvPr/>
        </p:nvSpPr>
        <p:spPr>
          <a:xfrm>
            <a:off x="4730155" y="2774392"/>
            <a:ext cx="275084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em escalada (condicional, certeza moderada).</a:t>
            </a:r>
            <a:endParaRPr lang="en-US" sz="1300" dirty="0"/>
          </a:p>
        </p:txBody>
      </p:sp>
      <p:sp>
        <p:nvSpPr>
          <p:cNvPr id="13" name="→"/>
          <p:cNvSpPr txBox="1"/>
          <p:nvPr/>
        </p:nvSpPr>
        <p:spPr>
          <a:xfrm>
            <a:off x="7792145" y="2560810"/>
            <a:ext cx="341015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pt-BR" altLang="en-US" sz="2800" b="1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800" dirty="0"/>
          </a:p>
        </p:txBody>
      </p:sp>
      <p:sp>
        <p:nvSpPr>
          <p:cNvPr id="14" name="Cartão"/>
          <p:cNvSpPr/>
          <p:nvPr/>
        </p:nvSpPr>
        <p:spPr>
          <a:xfrm>
            <a:off x="8241109" y="1994991"/>
            <a:ext cx="3138190" cy="1457722"/>
          </a:xfrm>
          <a:prstGeom prst="roundRect">
            <a:avLst>
              <a:gd name="adj" fmla="val 5227"/>
            </a:avLst>
          </a:prstGeom>
          <a:solidFill>
            <a:srgbClr val="1B2A3A"/>
          </a:solidFill>
          <a:ln/>
        </p:spPr>
      </p:sp>
      <p:sp>
        <p:nvSpPr>
          <p:cNvPr id="15" name="PASSO 3"/>
          <p:cNvSpPr txBox="1"/>
          <p:nvPr/>
        </p:nvSpPr>
        <p:spPr>
          <a:xfrm>
            <a:off x="8444309" y="2186228"/>
            <a:ext cx="275084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PASSO 3</a:t>
            </a:r>
            <a:endParaRPr lang="en-US" sz="1200" dirty="0"/>
          </a:p>
        </p:txBody>
      </p:sp>
      <p:sp>
        <p:nvSpPr>
          <p:cNvPr id="16" name="+ Adrenalina"/>
          <p:cNvSpPr txBox="1"/>
          <p:nvPr/>
        </p:nvSpPr>
        <p:spPr>
          <a:xfrm>
            <a:off x="8444309" y="2458083"/>
            <a:ext cx="2750840" cy="2742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pt-BR" altLang="en-US" sz="18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Adrenalina</a:t>
            </a:r>
            <a:endParaRPr lang="en-US" sz="1800" dirty="0"/>
          </a:p>
        </p:txBody>
      </p:sp>
      <p:sp>
        <p:nvSpPr>
          <p:cNvPr id="17" name="PAM ainda inadequada (condicional, certe"/>
          <p:cNvSpPr txBox="1"/>
          <p:nvPr/>
        </p:nvSpPr>
        <p:spPr>
          <a:xfrm>
            <a:off x="8444309" y="2774392"/>
            <a:ext cx="275084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 ainda inadequada (condicional, certeza muito baixa).</a:t>
            </a:r>
            <a:endParaRPr lang="en-US" sz="1300" dirty="0"/>
          </a:p>
        </p:txBody>
      </p:sp>
      <p:sp>
        <p:nvSpPr>
          <p:cNvPr id="18" name="Cartão"/>
          <p:cNvSpPr/>
          <p:nvPr/>
        </p:nvSpPr>
        <p:spPr>
          <a:xfrm>
            <a:off x="812800" y="3771503"/>
            <a:ext cx="5181600" cy="1626989"/>
          </a:xfrm>
          <a:prstGeom prst="roundRect">
            <a:avLst>
              <a:gd name="adj" fmla="val 4683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9" name="Disfunção cardíaca"/>
          <p:cNvSpPr txBox="1"/>
          <p:nvPr/>
        </p:nvSpPr>
        <p:spPr>
          <a:xfrm>
            <a:off x="1073150" y="4027859"/>
            <a:ext cx="46799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Disfunção cardíaca</a:t>
            </a:r>
            <a:endParaRPr lang="en-US" sz="1700" dirty="0"/>
          </a:p>
        </p:txBody>
      </p:sp>
      <p:sp>
        <p:nvSpPr>
          <p:cNvPr id="20" name="Hipoperfusão apesar de volume e PAM adeq"/>
          <p:cNvSpPr txBox="1"/>
          <p:nvPr/>
        </p:nvSpPr>
        <p:spPr>
          <a:xfrm>
            <a:off x="1073150" y="4376483"/>
            <a:ext cx="4679950" cy="745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Hipoperfusão apesar de volume e PAM adequados: dobutamina + NA, ou adrenalina isolada. Na escolha inicial, NA se taquiarritmia, adrenalina se bradiarritmia. Evitar levosimendana.</a:t>
            </a:r>
            <a:endParaRPr lang="en-US" sz="1350" dirty="0"/>
          </a:p>
        </p:txBody>
      </p:sp>
      <p:sp>
        <p:nvSpPr>
          <p:cNvPr id="21" name="Cartão"/>
          <p:cNvSpPr/>
          <p:nvPr/>
        </p:nvSpPr>
        <p:spPr>
          <a:xfrm>
            <a:off x="6197600" y="3771503"/>
            <a:ext cx="5181600" cy="1626989"/>
          </a:xfrm>
          <a:prstGeom prst="roundRect">
            <a:avLst>
              <a:gd name="adj" fmla="val 4683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2" name="Adjuvantes e o que evitar"/>
          <p:cNvSpPr txBox="1"/>
          <p:nvPr/>
        </p:nvSpPr>
        <p:spPr>
          <a:xfrm>
            <a:off x="6457950" y="4027859"/>
            <a:ext cx="46799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Adjuvantes e o que evitar</a:t>
            </a:r>
            <a:endParaRPr lang="en-US" sz="1700" dirty="0"/>
          </a:p>
        </p:txBody>
      </p:sp>
      <p:sp>
        <p:nvSpPr>
          <p:cNvPr id="23" name="Hidrocortisona EV sugerida (condicional,"/>
          <p:cNvSpPr txBox="1"/>
          <p:nvPr/>
        </p:nvSpPr>
        <p:spPr>
          <a:xfrm>
            <a:off x="6457950" y="4376483"/>
            <a:ext cx="4679950" cy="745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Hidrocortisona EV sugerida (condicional, certeza baixa). Não usar dopamina como 1ª linha (forte). Evitar terlipressina. Azul de metileno: evidência insuficiente.</a:t>
            </a:r>
            <a:endParaRPr lang="en-US" sz="1350" dirty="0"/>
          </a:p>
        </p:txBody>
      </p:sp>
      <p:sp>
        <p:nvSpPr>
          <p:cNvPr id="24" name="Prescott, Crit Care Med 2026 (SSC)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Prescott, Crit Care Med 2026 (SSC)</a:t>
            </a:r>
            <a:endParaRPr lang="en-US" sz="1200" dirty="0"/>
          </a:p>
        </p:txBody>
      </p:sp>
      <p:pic>
        <p:nvPicPr>
          <p:cNvPr id="25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30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SERVA · ALVO DE PAM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 · ALVO DE PAM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Alvo de PAM no choque séptico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556000" cy="3380383"/>
          </a:xfrm>
          <a:prstGeom prst="roundRect">
            <a:avLst>
              <a:gd name="adj" fmla="val 2254"/>
            </a:avLst>
          </a:prstGeom>
          <a:solidFill>
            <a:srgbClr val="1B2A3A"/>
          </a:solidFill>
          <a:ln/>
        </p:spPr>
      </p:sp>
      <p:sp>
        <p:nvSpPr>
          <p:cNvPr id="5" name="SSC 2026"/>
          <p:cNvSpPr txBox="1"/>
          <p:nvPr/>
        </p:nvSpPr>
        <p:spPr>
          <a:xfrm>
            <a:off x="1066800" y="2121537"/>
            <a:ext cx="3067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SSC 2026</a:t>
            </a:r>
            <a:endParaRPr lang="en-US" sz="1200" dirty="0"/>
          </a:p>
        </p:txBody>
      </p:sp>
      <p:sp>
        <p:nvSpPr>
          <p:cNvPr id="6" name="65"/>
          <p:cNvSpPr txBox="1"/>
          <p:nvPr/>
        </p:nvSpPr>
        <p:spPr>
          <a:xfrm>
            <a:off x="1066800" y="2549005"/>
            <a:ext cx="3067050" cy="1016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000"/>
              </a:lnSpc>
              <a:buNone/>
            </a:pPr>
            <a:r>
              <a:rPr lang="pt-BR" altLang="en-US" sz="8000" dirty="0">
                <a:solidFill>
                  <a:srgbClr val="F5F3E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65</a:t>
            </a:r>
            <a:endParaRPr lang="en-US" sz="8000" dirty="0"/>
          </a:p>
        </p:txBody>
      </p:sp>
      <p:sp>
        <p:nvSpPr>
          <p:cNvPr id="7" name="mmHg como alvo inicial no choque séptico"/>
          <p:cNvSpPr txBox="1"/>
          <p:nvPr/>
        </p:nvSpPr>
        <p:spPr>
          <a:xfrm>
            <a:off x="1066800" y="3650997"/>
            <a:ext cx="3067050" cy="10310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30"/>
              </a:lnSpc>
              <a:buNone/>
            </a:pPr>
            <a:r>
              <a:rPr lang="pt-BR" altLang="en-US" sz="1400" dirty="0">
                <a:solidFill>
                  <a:srgbClr val="DFE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mmHg como alvo inicial no choque séptico (forte, certeza moderada). A partir dos 65 anos: 60–65 mmHg (condicional, certeza baixa).</a:t>
            </a:r>
            <a:endParaRPr lang="en-US" sz="1400" dirty="0"/>
          </a:p>
        </p:txBody>
      </p:sp>
      <p:sp>
        <p:nvSpPr>
          <p:cNvPr id="8" name="Cartão"/>
          <p:cNvSpPr/>
          <p:nvPr/>
        </p:nvSpPr>
        <p:spPr>
          <a:xfrm>
            <a:off x="4572000" y="1879501"/>
            <a:ext cx="6807200" cy="1059061"/>
          </a:xfrm>
          <a:prstGeom prst="roundRect">
            <a:avLst>
              <a:gd name="adj" fmla="val 719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9" name="65 trial · JAMA 2020"/>
          <p:cNvSpPr txBox="1"/>
          <p:nvPr/>
        </p:nvSpPr>
        <p:spPr>
          <a:xfrm>
            <a:off x="4781550" y="2034727"/>
            <a:ext cx="64071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65 trial · JAMA 2020</a:t>
            </a:r>
            <a:endParaRPr lang="en-US" sz="1500" dirty="0"/>
          </a:p>
        </p:txBody>
      </p:sp>
      <p:sp>
        <p:nvSpPr>
          <p:cNvPr id="10" name="≥65 anos, PAM 60–65 mmHg vs. cuidado usu"/>
          <p:cNvSpPr txBox="1"/>
          <p:nvPr/>
        </p:nvSpPr>
        <p:spPr>
          <a:xfrm>
            <a:off x="4781550" y="2304690"/>
            <a:ext cx="640715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≥65 anos, PAM 60–65 mmHg vs. cuidado usual: mortalidade em 90 dias 41,0% vs. 43,8% (NS), com menor dose e menor duração de vasopressor.</a:t>
            </a:r>
            <a:endParaRPr lang="en-US" sz="1300" dirty="0"/>
          </a:p>
        </p:txBody>
      </p:sp>
      <p:sp>
        <p:nvSpPr>
          <p:cNvPr id="11" name="Cartão"/>
          <p:cNvSpPr/>
          <p:nvPr/>
        </p:nvSpPr>
        <p:spPr>
          <a:xfrm>
            <a:off x="4572000" y="3040162"/>
            <a:ext cx="6807200" cy="1059061"/>
          </a:xfrm>
          <a:prstGeom prst="roundRect">
            <a:avLst>
              <a:gd name="adj" fmla="val 719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2" name="OPTPRESS · Intensive Care Med 2025"/>
          <p:cNvSpPr txBox="1"/>
          <p:nvPr/>
        </p:nvSpPr>
        <p:spPr>
          <a:xfrm>
            <a:off x="4781550" y="3195387"/>
            <a:ext cx="64071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OPTPRESS · Intensive Care Med 2025</a:t>
            </a:r>
            <a:endParaRPr lang="en-US" sz="1500" dirty="0"/>
          </a:p>
        </p:txBody>
      </p:sp>
      <p:sp>
        <p:nvSpPr>
          <p:cNvPr id="13" name="≥65 anos com choque séptico, alvo 80–85 "/>
          <p:cNvSpPr txBox="1"/>
          <p:nvPr/>
        </p:nvSpPr>
        <p:spPr>
          <a:xfrm>
            <a:off x="4781550" y="3465351"/>
            <a:ext cx="640715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≥65 anos com choque séptico, alvo 80–85 vs. 65–70 mmHg: interrompido por dano (mortalidade em 90 dias 39,3% vs. 28,6%; n = 518).</a:t>
            </a:r>
            <a:endParaRPr lang="en-US" sz="1300" dirty="0"/>
          </a:p>
        </p:txBody>
      </p:sp>
      <p:sp>
        <p:nvSpPr>
          <p:cNvPr id="14" name="Cartão"/>
          <p:cNvSpPr/>
          <p:nvPr/>
        </p:nvSpPr>
        <p:spPr>
          <a:xfrm>
            <a:off x="4572000" y="4200823"/>
            <a:ext cx="6807200" cy="1059061"/>
          </a:xfrm>
          <a:prstGeom prst="roundRect">
            <a:avLst>
              <a:gd name="adj" fmla="val 719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5" name="ESICM 2025"/>
          <p:cNvSpPr txBox="1"/>
          <p:nvPr/>
        </p:nvSpPr>
        <p:spPr>
          <a:xfrm>
            <a:off x="4781550" y="4356048"/>
            <a:ext cx="64071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ESICM 2025</a:t>
            </a:r>
            <a:endParaRPr lang="en-US" sz="1500" dirty="0"/>
          </a:p>
        </p:txBody>
      </p:sp>
      <p:sp>
        <p:nvSpPr>
          <p:cNvPr id="16" name="Individualizar: considerar alvo maior em"/>
          <p:cNvSpPr txBox="1"/>
          <p:nvPr/>
        </p:nvSpPr>
        <p:spPr>
          <a:xfrm>
            <a:off x="4781550" y="4626012"/>
            <a:ext cx="640715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Individualizar: considerar alvo maior em hipertensão crônica ou PVC alta, se houver melhora clínica com PA mais alta.</a:t>
            </a:r>
            <a:endParaRPr lang="en-US" sz="1300" dirty="0"/>
          </a:p>
        </p:txBody>
      </p:sp>
      <p:sp>
        <p:nvSpPr>
          <p:cNvPr id="17" name="Lamontagne, JAMA 2020 (65 trial) · Endo,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Lamontagne, JAMA 2020 (65 trial) · Endo, Intensive Care Med 2025 (OPTPRESS) · Monnet, Intensive Care Med 2025 (ESICM) · SSC 2026</a:t>
            </a:r>
            <a:endParaRPr lang="en-US" sz="1200" dirty="0"/>
          </a:p>
        </p:txBody>
      </p:sp>
      <p:pic>
        <p:nvPicPr>
          <p:cNvPr id="18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31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SERVA · INÍCIO E VI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 · INÍCIO E VIA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Início precoce e via periférica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386634" cy="2372618"/>
          </a:xfrm>
          <a:prstGeom prst="roundRect">
            <a:avLst>
              <a:gd name="adj" fmla="val 321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5" name="Início precoce"/>
          <p:cNvSpPr txBox="1"/>
          <p:nvPr/>
        </p:nvSpPr>
        <p:spPr>
          <a:xfrm>
            <a:off x="1073150" y="2135857"/>
            <a:ext cx="28849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Início precoce</a:t>
            </a:r>
            <a:endParaRPr lang="en-US" sz="1700" dirty="0"/>
          </a:p>
        </p:txBody>
      </p:sp>
      <p:sp>
        <p:nvSpPr>
          <p:cNvPr id="6" name="CENSER: NA 0,05 mcg/kg/min desde a admis"/>
          <p:cNvSpPr txBox="1"/>
          <p:nvPr/>
        </p:nvSpPr>
        <p:spPr>
          <a:xfrm>
            <a:off x="1073150" y="2484480"/>
            <a:ext cx="2884984" cy="14912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CENSER: NA 0,05 mcg/kg/min desde a admissão aumentou o controle do choque em 6 h (76,1% vs. 48,4%), com menos edema pulmonar (14,4% vs. 27,7%) e arritmia. Mortalidade sem diferença.</a:t>
            </a:r>
            <a:endParaRPr lang="en-US" sz="1350" dirty="0"/>
          </a:p>
        </p:txBody>
      </p:sp>
      <p:sp>
        <p:nvSpPr>
          <p:cNvPr id="7" name="Cartão"/>
          <p:cNvSpPr/>
          <p:nvPr/>
        </p:nvSpPr>
        <p:spPr>
          <a:xfrm>
            <a:off x="4402634" y="1879501"/>
            <a:ext cx="3386634" cy="2372618"/>
          </a:xfrm>
          <a:prstGeom prst="roundRect">
            <a:avLst>
              <a:gd name="adj" fmla="val 321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8" name="Via periférica"/>
          <p:cNvSpPr txBox="1"/>
          <p:nvPr/>
        </p:nvSpPr>
        <p:spPr>
          <a:xfrm>
            <a:off x="4662984" y="2135857"/>
            <a:ext cx="28849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Via periférica</a:t>
            </a:r>
            <a:endParaRPr lang="en-US" sz="1700" dirty="0"/>
          </a:p>
        </p:txBody>
      </p:sp>
      <p:sp>
        <p:nvSpPr>
          <p:cNvPr id="9" name="Metanálise de Tran (n = 1.835): complica"/>
          <p:cNvSpPr txBox="1"/>
          <p:nvPr/>
        </p:nvSpPr>
        <p:spPr>
          <a:xfrm>
            <a:off x="4662984" y="2484480"/>
            <a:ext cx="2884984" cy="14912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Metanálise de Tran (n = 1.835): complicações em 7% (prevalência combinada de 8,6%), 96% leves; menos com protocolo de segurança (2,9% vs. 12%). SSC 2026: iniciar por via periférica em vez de esperar o acesso central.</a:t>
            </a:r>
            <a:endParaRPr lang="en-US" sz="1350" dirty="0"/>
          </a:p>
        </p:txBody>
      </p:sp>
      <p:sp>
        <p:nvSpPr>
          <p:cNvPr id="10" name="Cartão"/>
          <p:cNvSpPr/>
          <p:nvPr/>
        </p:nvSpPr>
        <p:spPr>
          <a:xfrm>
            <a:off x="7992467" y="1879501"/>
            <a:ext cx="3386634" cy="2372618"/>
          </a:xfrm>
          <a:prstGeom prst="roundRect">
            <a:avLst>
              <a:gd name="adj" fmla="val 321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1" name="Prescrição"/>
          <p:cNvSpPr txBox="1"/>
          <p:nvPr/>
        </p:nvSpPr>
        <p:spPr>
          <a:xfrm>
            <a:off x="8252817" y="2135857"/>
            <a:ext cx="28849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Prescrição</a:t>
            </a:r>
            <a:endParaRPr lang="en-US" sz="1700" dirty="0"/>
          </a:p>
        </p:txBody>
      </p:sp>
      <p:sp>
        <p:nvSpPr>
          <p:cNvPr id="12" name="No Brasil, a ampola de hemitartarato 2 m"/>
          <p:cNvSpPr txBox="1"/>
          <p:nvPr/>
        </p:nvSpPr>
        <p:spPr>
          <a:xfrm>
            <a:off x="8252817" y="2484480"/>
            <a:ext cx="2884984" cy="14912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Brasil, a ampola de hemitartarato 2 mg/mL equivale a 1 mg/mL de noradrenalina base. A mesma infusão expressa em sal tem o dobro do valor em base: especificar a forma na prescrição e ao comparar com estudos.</a:t>
            </a:r>
            <a:endParaRPr lang="en-US" sz="1350" dirty="0"/>
          </a:p>
        </p:txBody>
      </p:sp>
      <p:sp>
        <p:nvSpPr>
          <p:cNvPr id="13" name="Permpikul, Am J Respir Crit Care Med 201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Permpikul, Am J Respir Crit Care Med 2019 (CENSER) · Tran, Am J Emerg Med 2020 · Kattan, Intensive Care Med 2024 · SSC 2026</a:t>
            </a:r>
            <a:endParaRPr lang="en-US" sz="1200" dirty="0"/>
          </a:p>
        </p:txBody>
      </p:sp>
      <p:pic>
        <p:nvPicPr>
          <p:cNvPr id="14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32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SERVA · ALVO INTRAOPERATÓRIO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 · ALVO INTRAOPERATÓRIO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Alvo de PAM no intraoperatório: ensaios</a:t>
            </a:r>
            <a:endParaRPr lang="en-US" sz="3200" dirty="0"/>
          </a:p>
        </p:txBody>
      </p:sp>
      <p:graphicFrame>
        <p:nvGraphicFramePr>
          <p:cNvPr id="4" name="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1879501"/>
          <a:ext cx="10566400" cy="914400"/>
        </p:xfrm>
        <a:graphic>
          <a:graphicData uri="http://schemas.openxmlformats.org/drawingml/2006/table">
            <a:tbl>
              <a:tblPr/>
              <a:tblGrid>
                <a:gridCol w="2535932"/>
                <a:gridCol w="2324596"/>
                <a:gridCol w="2535932"/>
                <a:gridCol w="3169940"/>
              </a:tblGrid>
              <a:tr h="39112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Estudo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População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Alvos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Resultado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</a:tr>
              <a:tr h="1034256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POISE-3 · Ann Intern Med 2023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 = 7.490; cirurgia não cardíaca, risco cardiovascular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PAM ≥80, IECA/BRA suspensos e demais anti‑hipertensivos se PAS ≥130 vs. PAM ≥60 com todos mantidos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Eventos vasculares em 30 dias: 13,9% vs. 14,0% (NS)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10791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IMPROVE-multi · JAMA 2025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 = 1.134; cirurgia abdominal maior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PAM individualizada pela basal noturna vs. ≥65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Composto em 7 dias: 33,5% vs. 30,5% (NS)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10791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HISTAP · Intensive Care Med 2026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 = 630; ≥60 anos, hipertensos, abdominal maior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PAM ≥80 vs. ≥65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Morte ou disfunção orgânica: 38,1% vs. 48,9% (RR 0,78), sobretudo lesão renal aguda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POQI 2024: PAM ≥60 em pacientes de risco"/>
          <p:cNvSpPr txBox="1"/>
          <p:nvPr/>
        </p:nvSpPr>
        <p:spPr>
          <a:xfrm>
            <a:off x="812800" y="4820476"/>
            <a:ext cx="10585450" cy="4976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POQI 2024: PAM ≥60 em pacientes de risco é o limite mínimo e não assegura perfusão; com pressão venosa ou compartimental alta, o alvo é maior. Acima desse piso, o benefício demonstrado até agora foi em hipertensos de alto risco (HISTAP).</a:t>
            </a:r>
            <a:endParaRPr lang="en-US" sz="1400" dirty="0"/>
          </a:p>
        </p:txBody>
      </p:sp>
      <p:sp>
        <p:nvSpPr>
          <p:cNvPr id="6" name="Marcucci, Ann Intern Med 2023 (POISE-3) 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Marcucci, Ann Intern Med 2023 (POISE-3) · Saugel, JAMA 2025 (IMPROVE-multi) · Cecconi, Intensive Care Med 2026 (HISTAP) · Saugel, Br J Anaesth 2024 (POQI)</a:t>
            </a:r>
            <a:endParaRPr lang="en-US" sz="1200" dirty="0"/>
          </a:p>
        </p:txBody>
      </p:sp>
      <p:pic>
        <p:nvPicPr>
          <p:cNvPr id="7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33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SERVA · ROTEIRO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 · ROTEIRO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Roteiro</a:t>
            </a:r>
            <a:endParaRPr lang="en-US" sz="3200" dirty="0"/>
          </a:p>
        </p:txBody>
      </p:sp>
      <p:sp>
        <p:nvSpPr>
          <p:cNvPr id="4" name="01"/>
          <p:cNvSpPr txBox="1"/>
          <p:nvPr/>
        </p:nvSpPr>
        <p:spPr>
          <a:xfrm>
            <a:off x="812800" y="1857860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2400" dirty="0"/>
          </a:p>
        </p:txBody>
      </p:sp>
      <p:sp>
        <p:nvSpPr>
          <p:cNvPr id="5" name="Fisiologia: PAM, débito, resistência vas"/>
          <p:cNvSpPr txBox="1"/>
          <p:nvPr/>
        </p:nvSpPr>
        <p:spPr>
          <a:xfrm>
            <a:off x="1371600" y="1964280"/>
            <a:ext cx="4540250" cy="5611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Fisiologia: PAM, débito, resistência vascular e perfusão</a:t>
            </a:r>
            <a:endParaRPr lang="en-US" sz="1700" dirty="0"/>
          </a:p>
        </p:txBody>
      </p:sp>
      <p:sp>
        <p:nvSpPr>
          <p:cNvPr id="6" name="02"/>
          <p:cNvSpPr txBox="1"/>
          <p:nvPr/>
        </p:nvSpPr>
        <p:spPr>
          <a:xfrm>
            <a:off x="6299200" y="1857860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2400" dirty="0"/>
          </a:p>
        </p:txBody>
      </p:sp>
      <p:sp>
        <p:nvSpPr>
          <p:cNvPr id="7" name="Receptores e vias de sinalização"/>
          <p:cNvSpPr txBox="1"/>
          <p:nvPr/>
        </p:nvSpPr>
        <p:spPr>
          <a:xfrm>
            <a:off x="6858000" y="1964280"/>
            <a:ext cx="2814836" cy="280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Receptores e vias de sinalização</a:t>
            </a:r>
            <a:endParaRPr lang="en-US" sz="1700" dirty="0"/>
          </a:p>
        </p:txBody>
      </p:sp>
      <p:sp>
        <p:nvSpPr>
          <p:cNvPr id="8" name="03"/>
          <p:cNvSpPr txBox="1"/>
          <p:nvPr/>
        </p:nvSpPr>
        <p:spPr>
          <a:xfrm>
            <a:off x="812800" y="2666691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2400" dirty="0"/>
          </a:p>
        </p:txBody>
      </p:sp>
      <p:sp>
        <p:nvSpPr>
          <p:cNvPr id="9" name="Drogas: noradrenalina, adrenalina, dobut"/>
          <p:cNvSpPr txBox="1"/>
          <p:nvPr/>
        </p:nvSpPr>
        <p:spPr>
          <a:xfrm>
            <a:off x="1371600" y="2773111"/>
            <a:ext cx="4540250" cy="841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Drogas: noradrenalina, adrenalina, dobutamina (e dopamina), milrinona, fenilefrina e efedrina; quando preferir milrinona; falência de VD</a:t>
            </a:r>
            <a:endParaRPr lang="en-US" sz="1700" dirty="0"/>
          </a:p>
        </p:txBody>
      </p:sp>
      <p:sp>
        <p:nvSpPr>
          <p:cNvPr id="10" name="04"/>
          <p:cNvSpPr txBox="1"/>
          <p:nvPr/>
        </p:nvSpPr>
        <p:spPr>
          <a:xfrm>
            <a:off x="6299200" y="2666691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2400" dirty="0"/>
          </a:p>
        </p:txBody>
      </p:sp>
      <p:sp>
        <p:nvSpPr>
          <p:cNvPr id="11" name="Além das aminas: vasopressina e adjuvant"/>
          <p:cNvSpPr txBox="1"/>
          <p:nvPr/>
        </p:nvSpPr>
        <p:spPr>
          <a:xfrm>
            <a:off x="6858000" y="2773111"/>
            <a:ext cx="4540250" cy="5611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Além das aminas: vasopressina e adjuvantes do choque refratário</a:t>
            </a:r>
            <a:endParaRPr lang="en-US" sz="1700" dirty="0"/>
          </a:p>
        </p:txBody>
      </p:sp>
      <p:sp>
        <p:nvSpPr>
          <p:cNvPr id="12" name="05"/>
          <p:cNvSpPr txBox="1"/>
          <p:nvPr/>
        </p:nvSpPr>
        <p:spPr>
          <a:xfrm>
            <a:off x="812800" y="3756113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2400" dirty="0"/>
          </a:p>
        </p:txBody>
      </p:sp>
      <p:sp>
        <p:nvSpPr>
          <p:cNvPr id="13" name="Choque séptico: a sequência da SSC 2026"/>
          <p:cNvSpPr txBox="1"/>
          <p:nvPr/>
        </p:nvSpPr>
        <p:spPr>
          <a:xfrm>
            <a:off x="1371600" y="3862533"/>
            <a:ext cx="3634085" cy="280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Choque séptico: a sequência da SSC 2026</a:t>
            </a:r>
            <a:endParaRPr lang="en-US" sz="1700" dirty="0"/>
          </a:p>
        </p:txBody>
      </p:sp>
      <p:sp>
        <p:nvSpPr>
          <p:cNvPr id="14" name="06"/>
          <p:cNvSpPr txBox="1"/>
          <p:nvPr/>
        </p:nvSpPr>
        <p:spPr>
          <a:xfrm>
            <a:off x="6299200" y="3756113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2400" dirty="0"/>
          </a:p>
        </p:txBody>
      </p:sp>
      <p:sp>
        <p:nvSpPr>
          <p:cNvPr id="15" name="Perioperatório: escolha da droga e alvo "/>
          <p:cNvSpPr txBox="1"/>
          <p:nvPr/>
        </p:nvSpPr>
        <p:spPr>
          <a:xfrm>
            <a:off x="6858000" y="3862533"/>
            <a:ext cx="4463256" cy="280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Perioperatório: escolha da droga e alvo de pressão</a:t>
            </a:r>
            <a:endParaRPr lang="en-US" sz="1700" dirty="0"/>
          </a:p>
        </p:txBody>
      </p:sp>
      <p:sp>
        <p:nvSpPr>
          <p:cNvPr id="16" name="07"/>
          <p:cNvSpPr txBox="1"/>
          <p:nvPr/>
        </p:nvSpPr>
        <p:spPr>
          <a:xfrm>
            <a:off x="812800" y="4335154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07</a:t>
            </a:r>
            <a:endParaRPr lang="en-US" sz="2400" dirty="0"/>
          </a:p>
        </p:txBody>
      </p:sp>
      <p:sp>
        <p:nvSpPr>
          <p:cNvPr id="17" name="Mensagens finais"/>
          <p:cNvSpPr txBox="1"/>
          <p:nvPr/>
        </p:nvSpPr>
        <p:spPr>
          <a:xfrm>
            <a:off x="1371600" y="4441573"/>
            <a:ext cx="1534418" cy="280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Mensagens finais</a:t>
            </a:r>
            <a:endParaRPr lang="en-US" sz="1700" dirty="0"/>
          </a:p>
        </p:txBody>
      </p:sp>
      <p:sp>
        <p:nvSpPr>
          <p:cNvPr id="18" name="SSC 2026 · ESICM 2025 · Miller’s Anesthe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SSC 2026 · ESICM 2025 · Miller’s Anesthesia, 10ª ed. (2025)</a:t>
            </a:r>
            <a:endParaRPr lang="en-US" sz="1200" dirty="0"/>
          </a:p>
        </p:txBody>
      </p:sp>
      <p:pic>
        <p:nvPicPr>
          <p:cNvPr id="19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Aminas Vasoativas">
      <a:dk1>
        <a:srgbClr val="1B2A3A"/>
      </a:dk1>
      <a:lt1>
        <a:srgbClr val="FFFDF8"/>
      </a:lt1>
      <a:dk2>
        <a:srgbClr val="2C3A48"/>
      </a:dk2>
      <a:lt2>
        <a:srgbClr val="F5F3EE"/>
      </a:lt2>
      <a:accent1>
        <a:srgbClr val="B9581A"/>
      </a:accent1>
      <a:accent2>
        <a:srgbClr val="2E5E8C"/>
      </a:accent2>
      <a:accent3>
        <a:srgbClr val="56606B"/>
      </a:accent3>
      <a:accent4>
        <a:srgbClr val="E49A5C"/>
      </a:accent4>
      <a:accent5>
        <a:srgbClr val="33475E"/>
      </a:accent5>
      <a:accent6>
        <a:srgbClr val="E2DDD2"/>
      </a:accent6>
      <a:hlink>
        <a:srgbClr val="2E5E8C"/>
      </a:hlink>
      <a:folHlink>
        <a:srgbClr val="56606B"/>
      </a:folHlink>
    </a:clrScheme>
    <a:fontScheme name="Office">
      <a:majorFont>
        <a:latin typeface="Georg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33</Slides>
  <Notes>33</Notes>
  <HiddenSlides>15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6" baseType="lpstr">
      <vt:lpstr>Georgia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Aminas Vasoativas</dc:title>
  <dc:subject>Sessão clínica</dc:subject>
  <dc:creator>Bruno Dubois</dc:creator>
  <cp:lastModifiedBy>Bruno Dubois</cp:lastModifiedBy>
  <cp:revision>1</cp:revision>
  <dcterms:created xsi:type="dcterms:W3CDTF">2026-10-19T16:24:18Z</dcterms:created>
  <dcterms:modified xsi:type="dcterms:W3CDTF">2026-10-19T16:24:18Z</dcterms:modified>
</cp:coreProperties>
</file>