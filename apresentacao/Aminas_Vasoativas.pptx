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227a7285-d4ee-3bfe-6fe2-ad2e42be3fe6}">
          <p14:sldIdLst>
            <p14:sldId id="256"/>
            <p14:sldId id="257"/>
          </p14:sldIdLst>
        </p14:section>
        <p14:section name="Fisiologia: pressão, débito e perfusão; farmacologia dos receptores" id="{8d54771f-6a35-9ef1-8f23-a66150f3691e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, escolha frente à dobutamina e falência de VD), fenilefrina, efedrina e vasopressina" id="{ccaf1c84-0294-47d5-146b-78344d9363f8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hoque séptico: a sequência da SSC 2026" id="{4baaaa6c-0850-84a7-4364-164354bf8c7b}">
          <p14:sldIdLst>
            <p14:sldId id="271"/>
          </p14:sldIdLst>
        </p14:section>
        <p14:section name="Perioperatório: escolha da droga e alvo de pressão" id="{d40629cb-c85e-d121-2f4c-47f1bb731265}">
          <p14:sldIdLst>
            <p14:sldId id="272"/>
            <p14:sldId id="273"/>
          </p14:sldIdLst>
        </p14:section>
        <p14:section name="Mensagens finais" id="{75ba1bd7-65e6-17a2-9a34-7d46782c5103}">
          <p14:sldIdLst>
            <p14:sldId id="274"/>
          </p14:sldIdLst>
        </p14:section>
        <p14:section name="Slides de reserva para perguntas" id="{33a29988-2b40-eefc-8707-95315cf90475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A pergunta que vai orientar a aula é: qual componente da pressão arterial está falhando?</a:t>
            </a:r>
            <a:endParaRPr lang="en-US" dirty="0"/>
          </a:p>
          <a:p>
            <a:r>
              <a:rPr lang="en-US" dirty="0"/>
              <a:t>TEMPO: 30 s (0:00 → 0:30). Total previsto: 17 min 35 s nos 19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 e no centro cirúrgico.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(0:30 → 1:00)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  <a:p>
            <a:r>
              <a:rPr lang="en-US" dirty="0"/>
              <a:t>TEMPO: 1 min (1:00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como a PAM depende do débito e da resistência, uma resistência alta pode manter a PAM com o débito baixo. Por isso, a decisão de usar inotrópico depende de sinais de hipoperfusão e de uma estimativa do débito, e não apenas da pressão. Na clínica, enchimento capilar e temperatura das extremidades; no laboratório, lactato e saturação venosa central. Antes da droga, vale perguntar se o débito responde a volume, com parâmetros dinâmicos ou um teste de volume medindo o débito; o eco mostra o VTI e a função dos ventrículos. O inverso também vale: aumentar o débito com uma droga não é o mesmo que melhorar o desfecho. No OPTIME-CHF, a milrinona usada sem indicação clara não trouxe benefício e aumentou hipotensão e arritmia.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(2:00 → 3:00)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β1 aumenta contratilidade e frequência; β2 dilata vasos e brônquios e eleva glicemia e lactato; D1 dilata os leitos renal e mesentérico. α2 está na tabela apenas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  <a:p>
            <a:r>
              <a:rPr lang="en-US" dirty="0"/>
              <a:t>TEMPO: 50 s (3:00 → 3:50)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A curta duração das catecolaminas facilita a titulação por infusão contínua;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  <a:p>
            <a:r>
              <a:rPr lang="en-US" dirty="0"/>
              <a:t>TEMPO: 35 s (3:50 → 4:25)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ser iniciada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50 s (4:25 → 5:15)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50 s (5:15 → 6:05)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(6:05 → 7:05)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sinalização pela PKA aumenta a disponibilidade de cálcio na sístole, pela fosforilação do canal de cálcio tipo L, favorecendo a contração; na diástole, a fosforilação do fosfolambam reduz a inibição da SERCA2a e acelera a recaptação de cálcio, melhorando o relaxamento. A milrinona entra em outro ponto: inibe a PDE3, a enzima que degrada o AMPc em 5′-AMP. Ela não depende do receptor β, mas precisa de alguma produção de AMPc. Por isso mantém efeito com betabloqueio ou com receptores dessensibilizados. Mas isso é fundamento farmacológico, não benefício demonstrado: na subanálise do DOREMI com betabloqueados, não houve vantagem clínica.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30 s (7:05 → 8:35)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TEMPO: 50 s (8:35 → 9:25)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O DOREMI não demonstrou superioridade de uma droga sobre a outra, o que não comprova equivalência; a escolha é farmacológica, e as diferenças da tabela são perfis esperados, não demonstrados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rapidamente. Na prática, três perguntas antes de escolher: havia baixo débito com hipoperfusão? Havia disfunção de VD ou hipertensão pulmonar? A hipotensão era vasoplegia?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20 s (9:25 → 10:45)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Primeiro, a pressão de perfusão: o VD fica isquêmico quando a PAM cai, então noradrenalina para sustentar a PAM e, conforme a vasoplegia associada, vasopressina. Segundo, a resistência pulmonar: corrigir hipóxia, hipercapnia e acidose e, se preciso, vasodilatador pulmonar inalado. Terceiro, a contratilidade: aqui a milrinona faz sentido, porque é inotrópica e reduz a resistência pulmonar; a dobutamina é alternativa. Quarto, volume e ritmo: o VD dilatado tolera mal mais volume. A milrinona pode baixar a PAM e não substitui o diagnóstico: com débito preservado e resistência baixa, considerar vasoplegia, e aí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50 s (10:45 → 11:35)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  <a:p>
            <a:r>
              <a:rPr lang="en-US" dirty="0"/>
              <a:t>TEMPO: 55 s (11:35 → 12:30)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pacientes em uso de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1 min (12:30 → 13:30)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iniciada cedo e, se preciso, por veia periférica (forte em relação à dopamina).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(13:30 → 14:30)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pneumotórax, anafilaxia. Se persistir, avaliar a resposta a volume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Na cesárea, a noradrenalina em bolus causou menos bradicardia materna que a fenilefrina (Sharkey, Anesth Analg 2019). Na anafilaxia, adrenalina. Um dado do nosso serviço: Gouvêa, Diaz e colaboradores, por ETE em 19 pacientes selecionados, encontraram função do VD preservada em todas as fases do transplante hepático, inclusive após a reperfusão: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20 s (14:30 → 15:50)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hepatectomia,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tende a ser maior. No HISTAP, PAM ≥80 beneficiou hipertensos de alto risco, mas os ensaios divergem.</a:t>
            </a:r>
            <a:endParaRPr lang="en-US" dirty="0"/>
          </a:p>
          <a:p>
            <a:r>
              <a:rPr lang="en-US" dirty="0"/>
              <a:t>TRANSIÇÃO: Para terminar, voltamos à pergunta do início: qual é o mecanismo do distúrbio hemodinâmico?</a:t>
            </a:r>
            <a:endParaRPr lang="en-US" dirty="0"/>
          </a:p>
          <a:p>
            <a:r>
              <a:rPr lang="en-US" dirty="0"/>
              <a:t>TEMPO: 55 s (15:50 → 16:45)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 pede noradrenalina e, quando a dose sobe, vasopressina; baixo débito com hipoperfusão pede inotrópico, com a milrinona reservada sobretudo para o VD com hipertensão pulmonar; na hipotensão anestésica com bradicardia, efedrina; anafilaxia, adrenalina. A droga certa é a que corrige esse componente, na menor dose eficaz e pelo menor tempo. Para discutir com o grupo: no nosso serviço, como documentamos o baixo débito antes do inotrópico, e quando associamos vasopressina?</a:t>
            </a:r>
            <a:endParaRPr lang="en-US" dirty="0"/>
          </a:p>
          <a:p>
            <a:r>
              <a:rPr lang="en-US" dirty="0"/>
              <a:t>TRANSIÇÃO: Obrigado. Fico à disposição para perguntas.</a:t>
            </a:r>
            <a:endParaRPr lang="en-US" dirty="0"/>
          </a:p>
          <a:p>
            <a:r>
              <a:rPr lang="en-US" dirty="0"/>
              <a:t>TEMPO: 50 s (16:45 → 17:35)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Depois das mensagens finais deixei material de apoio: a síntese das drogas, um slide para cada droga de bolus e para a vasopressina, os adjuvantes do choque refratário, a sequência da SSC 2026, os alvos de pressão no choque e no intraoperatório, o roteiro e as referências. Posso abrir o que for útil para a discussão.</a:t>
            </a:r>
            <a:endParaRPr lang="en-US" dirty="0"/>
          </a:p>
          <a:p>
            <a:r>
              <a:rPr lang="en-US" dirty="0"/>
              <a:t>USO: fim da apresentação principal; mostrar só se houver perguntas.</a:t>
            </a:r>
            <a:endParaRPr lang="en-US" dirty="0"/>
          </a:p>
          <a:p>
            <a:r>
              <a:rPr lang="en-US" dirty="0"/>
              <a:t>PONTO-CHAVE: daqui em diante é material de apoio, para responder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aparece apenas aqui: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renal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renal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baixa a pressão, e aí se associa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mantém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neste mês,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33,0%; sem ganho em dias livres de terapia renal substitutiva; sinal de mais choque cardiogênico no grupo precoce (7,4% vs. 6,3%).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 o choque resolveu mais rápido, sem redução de mortalidade; no APROCCHSS, hidrocortisona com fludrocortisona reduziu a mortalidade; a SSC 2026 sugere usar. A angiotensina II, agonista AT1, elevou a PAM no ATHOS-3 sem mudar a mortalidade e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em idosos, a hipotensão permissiva não aumentou a mortalidade e reduziu a dose e a duração do vasopressor. O OPTPRESS testou o contrário, alvo de 80 a 85 em idosos, e foi interrompido por dano, com mortalidade maior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noradrenalina em dose baixa e fixa desde a admissão aumentou o controle do choque em 6 horas, com menos edema pulmonar e arritmia, sem diferença de mortalidade. A via periférica é segura com protocolo: na metanálise de Tran,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então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 comparou evitar hipotensão, com PAM de 80 e anti-hipertensivos suspensos, a evitar hipertensão, e não reduziu eventos vasculares. O IMPROVE-multi individualizou o alvo pela pressão basal noturna e não foi melhor que 65. O HISTAP, em idosos hipertensos de alto risco em cirurgia abdominal maior, encontrou menos morte ou disfunção orgânica com PAM de 80,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só se mostrou útil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no centro, e termina na aplicação no choque séptico e no centro cirúrgico.</a:t>
            </a:r>
            <a:endParaRPr lang="en-US" dirty="0"/>
          </a:p>
          <a:p>
            <a:r>
              <a:rPr lang="en-US" dirty="0"/>
              <a:t>USO: só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As principais referências estão resumidas neste slide; os detalhes dos estudos estão nas notas correspondentes.</a:t>
            </a:r>
            <a:endParaRPr lang="en-US" dirty="0"/>
          </a:p>
          <a:p>
            <a:r>
              <a:rPr lang="en-US" dirty="0"/>
              <a:t>USO: se pedirem a referência exata de um estudo citado.</a:t>
            </a:r>
            <a:endParaRPr lang="en-US" dirty="0"/>
          </a:p>
          <a:p>
            <a:r>
              <a:rPr lang="en-US" dirty="0"/>
              <a:t>PONTO-CHAVE: as citações completas estão abaixo; as diretrizes de base são SSC 2026, ESICM 2025, POQI 2024 e Miller, 10ª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Com indicação de inotrópico: hipotensão "/>
          <p:cNvSpPr txBox="1"/>
          <p:nvPr/>
        </p:nvSpPr>
        <p:spPr>
          <a:xfrm>
            <a:off x="64071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indicação de inotrópico: hipotensão associada;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Transplante hepático (UFRJ): em 19 pacie"/>
          <p:cNvSpPr txBox="1"/>
          <p:nvPr/>
        </p:nvSpPr>
        <p:spPr>
          <a:xfrm>
            <a:off x="812800" y="532560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41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37312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 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15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15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15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15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15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15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15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15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15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15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15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15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15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15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15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15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15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15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150" dirty="0"/>
          </a:p>
        </p:txBody>
      </p:sp>
      <p:sp>
        <p:nvSpPr>
          <p:cNvPr id="23" name="Gouvêa · VD no transplante hepático (UFR"/>
          <p:cNvSpPr txBox="1"/>
          <p:nvPr/>
        </p:nvSpPr>
        <p:spPr>
          <a:xfrm>
            <a:off x="8128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 · VD no transplante hepático (UFRJ) · PLoS One 2022</a:t>
            </a:r>
            <a:endParaRPr lang="en-US" sz="1150" dirty="0"/>
          </a:p>
        </p:txBody>
      </p:sp>
      <p:sp>
        <p:nvSpPr>
          <p:cNvPr id="24" name="Bellomo · dopamina em dose baixa (ANZICS"/>
          <p:cNvSpPr txBox="1"/>
          <p:nvPr/>
        </p:nvSpPr>
        <p:spPr>
          <a:xfrm>
            <a:off x="62484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150" dirty="0"/>
          </a:p>
        </p:txBody>
      </p:sp>
      <p:sp>
        <p:nvSpPr>
          <p:cNvPr id="25" name="Venkatesh · ADRENAL · N Engl J Med 2018"/>
          <p:cNvSpPr txBox="1"/>
          <p:nvPr/>
        </p:nvSpPr>
        <p:spPr>
          <a:xfrm>
            <a:off x="62484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150" dirty="0"/>
          </a:p>
        </p:txBody>
      </p:sp>
      <p:sp>
        <p:nvSpPr>
          <p:cNvPr id="26" name="Annane · APROCCHSS · N Engl J Med 2018"/>
          <p:cNvSpPr txBox="1"/>
          <p:nvPr/>
        </p:nvSpPr>
        <p:spPr>
          <a:xfrm>
            <a:off x="62484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150" dirty="0"/>
          </a:p>
        </p:txBody>
      </p:sp>
      <p:sp>
        <p:nvSpPr>
          <p:cNvPr id="27" name="Kinsella · consenso cesárea · Anaesthesi"/>
          <p:cNvSpPr txBox="1"/>
          <p:nvPr/>
        </p:nvSpPr>
        <p:spPr>
          <a:xfrm>
            <a:off x="62484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150" dirty="0"/>
          </a:p>
        </p:txBody>
      </p:sp>
      <p:sp>
        <p:nvSpPr>
          <p:cNvPr id="28" name="Sharkey · NA vs. fenilefrina na cesárea "/>
          <p:cNvSpPr txBox="1"/>
          <p:nvPr/>
        </p:nvSpPr>
        <p:spPr>
          <a:xfrm>
            <a:off x="62484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150" dirty="0"/>
          </a:p>
        </p:txBody>
      </p:sp>
      <p:sp>
        <p:nvSpPr>
          <p:cNvPr id="29" name="Park, Choi · vasopressores na cesárea · "/>
          <p:cNvSpPr txBox="1"/>
          <p:nvPr/>
        </p:nvSpPr>
        <p:spPr>
          <a:xfrm>
            <a:off x="62484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150" dirty="0"/>
          </a:p>
        </p:txBody>
      </p:sp>
      <p:sp>
        <p:nvSpPr>
          <p:cNvPr id="30" name="Marcucci · POISE-3 · Ann Intern Med 2023"/>
          <p:cNvSpPr txBox="1"/>
          <p:nvPr/>
        </p:nvSpPr>
        <p:spPr>
          <a:xfrm>
            <a:off x="62484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150" dirty="0"/>
          </a:p>
        </p:txBody>
      </p:sp>
      <p:sp>
        <p:nvSpPr>
          <p:cNvPr id="31" name="Saugel · POQI · Br J Anaesth 2024"/>
          <p:cNvSpPr txBox="1"/>
          <p:nvPr/>
        </p:nvSpPr>
        <p:spPr>
          <a:xfrm>
            <a:off x="62484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150" dirty="0"/>
          </a:p>
        </p:txBody>
      </p:sp>
      <p:sp>
        <p:nvSpPr>
          <p:cNvPr id="32" name="Lineburger · custo da hipotensão · Braz "/>
          <p:cNvSpPr txBox="1"/>
          <p:nvPr/>
        </p:nvSpPr>
        <p:spPr>
          <a:xfrm>
            <a:off x="62484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150" dirty="0"/>
          </a:p>
        </p:txBody>
      </p:sp>
      <p:sp>
        <p:nvSpPr>
          <p:cNvPr id="33" name="Salmasi · hipotensão e lesão orgânica · "/>
          <p:cNvSpPr txBox="1"/>
          <p:nvPr/>
        </p:nvSpPr>
        <p:spPr>
          <a:xfrm>
            <a:off x="62484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150" dirty="0"/>
          </a:p>
        </p:txBody>
      </p:sp>
      <p:sp>
        <p:nvSpPr>
          <p:cNvPr id="34" name="Saugel · IMPROVE-multi · JAMA 2025"/>
          <p:cNvSpPr txBox="1"/>
          <p:nvPr/>
        </p:nvSpPr>
        <p:spPr>
          <a:xfrm>
            <a:off x="62484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150" dirty="0"/>
          </a:p>
        </p:txBody>
      </p:sp>
      <p:sp>
        <p:nvSpPr>
          <p:cNvPr id="35" name="Cecconi · HISTAP · Intensive Care Med 20"/>
          <p:cNvSpPr txBox="1"/>
          <p:nvPr/>
        </p:nvSpPr>
        <p:spPr>
          <a:xfrm>
            <a:off x="62484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150" dirty="0"/>
          </a:p>
        </p:txBody>
      </p:sp>
      <p:sp>
        <p:nvSpPr>
          <p:cNvPr id="36" name="Tran · NA periférica · Am J Emerg Med 20"/>
          <p:cNvSpPr txBox="1"/>
          <p:nvPr/>
        </p:nvSpPr>
        <p:spPr>
          <a:xfrm>
            <a:off x="62484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150" dirty="0"/>
          </a:p>
        </p:txBody>
      </p:sp>
      <p:sp>
        <p:nvSpPr>
          <p:cNvPr id="37" name="Kattan · NA base vs. sal · Intensive Car"/>
          <p:cNvSpPr txBox="1"/>
          <p:nvPr/>
        </p:nvSpPr>
        <p:spPr>
          <a:xfrm>
            <a:off x="62484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Kattan · NA base vs. sal · Intensive Care Med 2024</a:t>
            </a:r>
            <a:endParaRPr lang="en-US" sz="1150" dirty="0"/>
          </a:p>
        </p:txBody>
      </p:sp>
      <p:sp>
        <p:nvSpPr>
          <p:cNvPr id="38" name="ANZCA/ANZAAG · anafilaxia perioperatória"/>
          <p:cNvSpPr txBox="1"/>
          <p:nvPr/>
        </p:nvSpPr>
        <p:spPr>
          <a:xfrm>
            <a:off x="62484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150" dirty="0"/>
          </a:p>
        </p:txBody>
      </p:sp>
      <p:sp>
        <p:nvSpPr>
          <p:cNvPr id="39" name="Overgaard, Džavík · revisão · Circulatio"/>
          <p:cNvSpPr txBox="1"/>
          <p:nvPr/>
        </p:nvSpPr>
        <p:spPr>
          <a:xfrm>
            <a:off x="62484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150" dirty="0"/>
          </a:p>
        </p:txBody>
      </p:sp>
      <p:sp>
        <p:nvSpPr>
          <p:cNvPr id="40" name="Persichini · NA e retorno venoso · Crit "/>
          <p:cNvSpPr txBox="1"/>
          <p:nvPr/>
        </p:nvSpPr>
        <p:spPr>
          <a:xfrm>
            <a:off x="62484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150" dirty="0"/>
          </a:p>
        </p:txBody>
      </p:sp>
      <p:sp>
        <p:nvSpPr>
          <p:cNvPr id="41" name="Cecconi · consenso de choque (ESICM) · I"/>
          <p:cNvSpPr txBox="1"/>
          <p:nvPr/>
        </p:nvSpPr>
        <p:spPr>
          <a:xfrm>
            <a:off x="62484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150" dirty="0"/>
          </a:p>
        </p:txBody>
      </p:sp>
      <p:sp>
        <p:nvSpPr>
          <p:cNvPr id="42" name="Konstam · falência de VD (AHA) · Circula"/>
          <p:cNvSpPr txBox="1"/>
          <p:nvPr/>
        </p:nvSpPr>
        <p:spPr>
          <a:xfrm>
            <a:off x="62484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150" dirty="0"/>
          </a:p>
        </p:txBody>
      </p:sp>
      <p:sp>
        <p:nvSpPr>
          <p:cNvPr id="43" name="Zaccolo, Kovanich · AMPc em nanodomínios"/>
          <p:cNvSpPr txBox="1"/>
          <p:nvPr/>
        </p:nvSpPr>
        <p:spPr>
          <a:xfrm>
            <a:off x="62484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150" dirty="0"/>
          </a:p>
        </p:txBody>
      </p:sp>
      <p:pic>
        <p:nvPicPr>
          <p:cNvPr id="4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2026-10-18T21:43:36Z</dcterms:created>
  <dcterms:modified xsi:type="dcterms:W3CDTF">2026-10-18T21:43:36Z</dcterms:modified>
</cp:coreProperties>
</file>