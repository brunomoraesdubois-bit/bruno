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05beed71-1621-94d9-7b54-3f514f25808b}">
          <p14:sldIdLst>
            <p14:sldId id="256"/>
            <p14:sldId id="257"/>
          </p14:sldIdLst>
        </p14:section>
        <p14:section name="Fisiologia: pressão, débito e perfusão; farmacologia dos receptores" id="{b58c789d-d2a8-03cd-2410-079d73307d17}">
          <p14:sldIdLst>
            <p14:sldId id="258"/>
            <p14:sldId id="259"/>
            <p14:sldId id="260"/>
            <p14:sldId id="261"/>
          </p14:sldIdLst>
        </p14:section>
        <p14:section name="Drogas: noradrenalina, adrenalina, dopamina, dobutamina, milrinona (mecanismo e escolha frente à dobutamina), fenilefrina, efedrina e vasopressina" id="{c7ae14f0-1671-ea3a-95dc-1631030d8a0e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Choque séptico: a sequência da SSC 2026" id="{f878247f-1e43-92b1-5fb5-c74d34060ece}">
          <p14:sldIdLst>
            <p14:sldId id="270"/>
          </p14:sldIdLst>
        </p14:section>
        <p14:section name="Perioperatório: escolha da droga, alvo de pressão e caso de falência de VD após CEC" id="{214b127a-963d-8d7d-f92c-1281ee9fec42}">
          <p14:sldIdLst>
            <p14:sldId id="271"/>
            <p14:sldId id="272"/>
            <p14:sldId id="273"/>
            <p14:sldId id="274"/>
          </p14:sldIdLst>
        </p14:section>
        <p14:section name="Mensagens finais" id="{3f8674ed-1b00-6a99-1643-780f9f6f7362}">
          <p14:sldIdLst>
            <p14:sldId id="275"/>
          </p14:sldIdLst>
        </p14:section>
        <p14:section name="Slides de reserva para perguntas" id="{86204875-05e2-43e2-76ac-7df363cecbfa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previsto: cerca de 18 minutos e 20 segundos nos 20 slides principais; ensaiar para 18 a 19 minutos, sem passar de 20. Tempos: capa, 20 s; objetivos, 30 s; fisiologia, 1 min; pressão e perfusão, 1 min; receptores, 45 s; catecolaminas, 30 s; noradrenalina, 1 min 15 s; adrenalina, 1 min; dopamina e dobutamina, 1 min; AMPc, 1 min; milrinona, 45 s; milrinona ou dobutamina, 1 min 15 s; fenilefrina e efedrina, 1 min; vasopressina e adjuvantes, 1 min; choque séptico, 1 min; intraoperatório, 1 min 15 s; hipotensão intraoperatória, 45 s; caso, 1 min; conduta na falência de VD, 1 min 15 s; mensagens finais, 45 s. Depois das mensagens finais ficam os slides de reserva, para perguntas. Fontes principais: Surviving Sepsis Campaign 2026, ESICM 2025, POQI 2024 e Miller’s Anesthesia, 10ª ed. (2025).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Trinta segundos. O objetivo é fixar um raciocínio: diante da hipotensão, perguntar qual componente da PAM está falhando. Tônus vascular baixo pede vasopressor, bomba fraca pede inotrópico e pré-carga baixa pede volume. Depois vêm a fisiologia, os receptores, as drogas uma a uma e, no fim, a aplicação no choque séptico, no centro cirúrgico e num caso de falência de VD após CEC.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A PAM depende do débito cardíaco e da resistência vascular; a relação completa é PAM − PVC = DC × RVS, e a PVC pesa quando está alta. Na vasoplegia o problema é o tônus: sepse, anestesia geral, neuroeixo, anafilaxia, saída de CEC. Na falência de bomba o débito é baixo, em geral com resistência alta; na sepse, a disfunção miocárdica pode coexistir com vasoplegia. Hipovolemia se trata com volume. O α1 também contrai veias, recruta volume não estressado e aumenta o retorno venoso, e por isso a noradrenalina pode aumentar o débito no choque séptico (Persichini, Crit Care Med 2012). Para diferenciar, a ESICM 2025 recomenda eco como primeira imagem, parâmetros dinâmicos antes de mais volume e perfusão seriada pelo tempo de enchimento capilar, com temperatura e livedo da pele.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Pressão não é fluxo: como a PAM depende do débito e da resistência, uma resistência alta pode manter a PAM com o débito baixo. Por isso, a decisão de usar inotrópico depende de sinais de hipoperfusão e de uma estimativa do débito, e não só da pressão. Na clínica, enchimento capilar, livedo e temperatura das extremidades; no laboratório, lactato, saturação venosa central e gap de CO₂; e ainda diurese e consciência. Antes da droga, vale perguntar se o débito responde a volume, com parâmetros dinâmicos ou com um teste de volume medindo o débito; o eco mostra o VTI e a função dos dois ventrículos. O inverso também vale: aumentar o débito com uma droga não é o mesmo que melhorar o desfecho. No OPTIME-CHF, a milrinona usada sem indicação clara não trouxe benefício e aumentou hipotensão e arritmia. Se perguntarem: num ECR de 2025 (Tongyoo, Ann Med; 64 pacientes em choque séptico com hipoperfusão ou disfunção de VE), a milrinona aumentou o débito em 6 horas em relação ao placebo, mas a mortalidade em 28 dias foi igual, 50% nos dois grupos.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Quarenta e cinco segundos. α1 contrai artérias e veias; β1 aumenta contratilidade e frequência; β2 dilata vasos e brônquios e eleva glicemia e lactato; D1 dilata os leitos renal e mesentérico. α2 está na tabela só para lembrar que clonidina e dexmedetomidina são simpatolíticos, e não vasopressores. V1 e PDE3 entram porque vasopressina e milrinona não dependem do adrenoceptor: a vasopressina age no receptor V1, e a milrinona inibe a enzima que degrada o AMPc, depois do receptor β. A dessensibilização com o uso prolongado ajuda a explicar a taquifilaxia e a lógica de associar uma droga de outra via.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Trinta segundos. A via de síntese explica duas coisas práticas: parte do efeito da dopamina vem da conversão e da liberação de noradrenalina, e a síntese de adrenalina na medula adrenal depende de cortisol. As catecolaminas têm meia-vida de minutos e são usadas em infusão; sem o anel catecol, fenilefrina e efedrina duram mais e servem para bolus.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 e quinze. É a droga de primeira linha no choque séptico. É um α1 potente, com efeito β1 modesto: eleva a PAM pela resistência e pela venoconstrição, com débito mantido ou maior e frequência estável ou menor, por reflexo. A dose usual vai de 0,01 a 0,5 mcg/kg/min, sem teto fixo no choque refratário; no centro cirúrgico, bolus de 5 a 10 mcg. Pode começar em veia periférica calibrosa. Se perguntarem: no SOAP II (n = 1.679), a mortalidade em 28 dias foi semelhante à da dopamina (48,5% vs. 52,5%), com metade das arritmias (12,4% vs. 24,1%); a SSC 2026 recomenda a noradrenalina em vez da dopamina (forte, certeza alta). No Brasil, a ampola de hemitartarato de 2 mg/mL equivale a 1 mg/mL de base: registrar na prescrição se a dose está em base ou em sal. Início precoce (CENSER) e via periférica estão nos slides de reserva. No extravasamento, fentolamina infiltrada no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O efeito depende da dose: em dose baixa predominam β1 e β2, com débito alto e resistência que pode cair; em dose alta prevalece o α1. É a droga da anafilaxia e, no choque séptico, entra como terceira droga quando a PAM segue inadequada com noradrenalina e vasopressina. Na anafilaxia em ambiente monitorizado, bolus EV diluídos e titulados (ANZCA/ANZAAG 2022); se forem necessários mais de três bolus, iniciar infusão; sem acesso venoso, ou fora desse ambiente, 0,5 mg IM. O lactato pode subir por efeito β2, mas isso não autoriza ignorar hipoperfusão. 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Dopamina: o efeito muda com a dose, primeiro D1, depois β1 e, em doses altas, α1, mas a resposta varia muito entre pacientes. A dose “renal” não protege o rim: no ANZICS (n = 328), não houve diferença em creatinina, diálise ou mortalidade. No SOAP II, a mortalidade foi semelhante à da noradrenalina, com o dobro de arritmias, e a SSC 2026 recomenda não usar a dopamina como primeira linha. Uso residual: bradicardia sintomática sem alternativa. Dobutamina: inotropismo β1 com queda discreta da resistência, indicada no baixo débito com hipoperfusão. Se a PAM cair, associar vasopressor para sustentar a pressão de perfusão. Em seguida, o mecanismo que separa a dobutamina da milrinona.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Este é o mecanismo que separa as duas drogas. A dobutamina estimula o receptor β1, que, pela proteína Gs, ativa a adenilato ciclase e aumenta a produção de AMPc; o AMPc ativa a PKA, que aumenta o cálcio disponível para a contração e acelera a recaptação, melhorando também o relaxamento. A milrinona entra mais adiante: inibe a PDE3, a enzima que degrada o AMPc. Por isso, a milrinona não depende do receptor β e mantém efeito com betabloqueio ou com receptores dessensibilizados. Mas atenção: isso é fundamento farmacológico, não benefício demonstrado. Na subanálise do DOREMI com pacientes betabloqueados, a milrinona não teve vantagem clínica. No músculo liso vascular, o AMPc causa relaxamento, e por isso a milrinona é um inodilatador, que pode baixar a PAM. E, como as duas aumentam AMPc e cálcio intracelular, as duas podem causar arritmias.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Quarenta e cinco segundos. Como vimos, a milrinona inibe a PDE3 e age depois do receptor β. É um inodilatador: aumenta a contratilidade e o relaxamento e reduz as resistências sistêmica e pulmonar. Por ser vasodilatadora, muitas vezes exige associação com noradrenalina. Tem eliminação renal e meia-vida bem mais longa que a da dobutamina: é menos titulável e acumula na insuficiência renal; a dose máxima diária em bula é 1,13 mg/kg. A indicação é a disfunção ventricular com baixo débito que exige suporte inotrópico, o que no centro cirúrgico inclui a dificuldade de saída de CEC; a comparação com a dobutamina vem no próximo slide. 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 e quinze. Esta é a pergunta prática da aula. Primeiro, a indicação: inotrópico se justifica quando há disfunção ventricular com baixo débito ou hipoperfusão, depois de otimizar volume e PAM. Se a hipotensão é por vasoplegia, a droga é o vasopressor, e um inodilatador baixa ainda mais a pressão. Entre as duas, nenhuma é superior em desfecho; a escolha é farmacológica, e as diferenças da tabela são perfis esperados, não diferenças demonstradas em ensaio. A milrinona faz sentido quando o problema é o VD com hipertensão pulmonar, como na saída de CEC, porque reduz a resistência pulmonar, e quando a taquicardia ou o betabloqueio limitam a dobutamina, ainda que, no betabloqueado, o benefício seja teórico. A dobutamina é preferível quando há hipotensão ou vasoplegia, insuficiência renal, porque a milrinona acumula, ou quando é preciso titular rápido. Para discutir o caso que motivou a aula: havia baixo débito com hipoperfusão? Havia disfunção de VD ou hipertensão pulmonar? A hipotensão era vasoplegia? Se perguntarem: no DOREMI (n = 192, choque cardiogênico), o desfecho composto foi 49% com milrinona e 54% com dobutamina (RR 0,90; IC 95% de 0,69 a 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 na insuficiência cardíaca e aumenta na insuficiência renal, que pede dose de manutenção menor; a da dobutamina é de cerca de 2 minutos. Sem hipoperfusão, inotrópico não traz benefício: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Fenilefrina: α1 puro, sem ação β; a PAM sobe pela resistência e a frequência cai por reflexo. Isso é útil quando a taquicardia é indesejável, mas pode reduzir o débito quando ele depende da frequência. Na estenose aórtica, o objetivo é manter a pós-carga e evitar taquicardia; a escolha depende da frequência e da função ventricular, e não de uma regra fixa. Na cesárea, o consenso internacional de 2018 recomenda vasopressor α-agonista em infusão profilática, titulado para manter a PAS perto da basal. Efedrina: por ter ação indireta, perde efeito com doses repetidas e com estoques de noradrenalina depletados; atravessa a placenta e se associa a mais acidose fetal.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A vasopressina age no receptor V1, fora da via adrenérgica: poupa catecolamina e costuma manter efeito em acidose; no choque séptico há deficiência relativa de vasopressina. Em geral, usa-se dose fixa; a ordem do desmame não tem regra definida e segue o protocolo do serviço, considerando a dose de noradrenalina e a tolerância. Indicações: choque séptico com noradrenalina em escalada, vasoplegia após CEC e hipotensão refratária em quem usa IECA ou BRA. Riscos: isquemia digital e mesentérica, hiponatremia. Antes de associar drogas, corrigir causas tratáveis (volume, foco, acidose, cálcio, disfunção ventricular). Adjuvantes: a hidrocortisona restaura a resposta às catecolaminas; a angiotensina II poupa catecolamina, mas é pouco disponível; o azul de metileno fica como resgate na vasoplegia refratária. 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ciclase; é resgate na vasoplegia pós-CEC e na reperfusão do enxerto hepático, com evidência limitada; interfere na oximetria e pode causar síndrome serotoninérgica com ISRS e outros serotoninérgicos.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A SSC 2026 organiza os vasopressores em sequência. Noradrenalina primeiro, iniciada cedo e, se preciso, por veia periférica (recomendação forte em relação à dopamina; a preferência em relação à vasopressina e à angiotensina II passou a ser condicional). Vasopressina quando a dose de noradrenalina está subindo (condicional, certeza moderada); a diretriz não define um limiar, e na enquete dos painelistas a mediana de noradrenalina para associá-la foi 0,3 mcg/kg/min. Adrenalina se a PAM continuar inadequada (condicional, certeza muito baixa). Alvo inicial de 65 mmHg (forte, certeza moderada), ou 60 a 65 mmHg a partir dos 65 anos (condicional, certeza baixa). Na disfunção cardíaca com hipoperfusão apesar de volume e PAM adequados, dobutamina com noradrenalina, ou adrenalina. A diretriz também sugere hidrocortisona e se posiciona contra levosimendana e terlipressina. Se perguntarem: o VASSPR (JAMA 2026, n = 3.959) comparou políticas hospitalares de iniciar a vasopressina com noradrenalina de 0,1 vs. 0,4 mcg/kg/min; a vasopressina foi usada em 52,4% vs. 32,9%, e a mortalidade foi 31,8% vs. 33,0%. A antecipação sistemática não trouxe benefício, o que não exclui ganho em pacientes selecionados. No OPTPRESS, alvo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 e quinze. Antes da droga, afastar causas tratáveis: plano anestésico profundo, hipovolemia, compressão aortocava, pneumotórax, anafilaxia. Se a hipotensão persistir, avaliar a resposta a volume com parâmetros dinâmicos e fazer eco. A escolha segue o mecanismo: tônus baixo com frequência preservada pede α1; bradicardia associada pede ação β1, com efedrina ou, se grave, adrenalina; baixo débito pede inotrópico, e a milrinona tem a vantagem de reduzir a resistência pulmonar. A vasoplegia que não responde às catecolaminas, como após CEC, com uso crônico de IECA ou BRA ou na reperfusão do enxerto hepático, pode responder à vasopressina, que age por outra via; o azul de metileno fica como resgate, com evidência limitada. Bolus na hipotensão transitória e infusão na persistente. Na cesárea, metanálises recentes mostram menos bradicardia materna com noradrenalina e pH umbilical semelhante ao da fenilefrina. Na anafilaxia, adrenalina.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Quarenta e cinco segundos. É a mensagem do editorial “The hidden cost of hypotension” (Braz J Anesthesiol 2025), que tem Rodrigo Diaz, da UFRJ, entre os autores: a hipotensão intraoperatória, mesmo por períodos curtos, se associa a lesão renal aguda, lesão miocárdica, delirium, AVC, reinternação e mortalidade, e o risco cresce com a profundidade e a duração. O editorial defende monitorização contínua, manejo proativo e metas individualizadas. O POQI 2024 trata PAM ≥60 mmHg em pacientes de risco como limite mínimo, e não como garantia de perfusão; com pressão venosa central, intracraniana ou abdominal alta, o alvo deve ser maior. No HISTAP, PAM ≥80 beneficiou hipertensos de alto risco, mas os ensaios divergem. Se perguntarem: Salmasi (Anesthesiology 2017) associou mais de 13 minutos acumulados com PAM abaixo de 65 mmHg a mais lesão miocárdica e renal. No HISTAP (n = 630), PAM ≥80 vs. ≥65 em hipertensos de alto risco reduziu morte ou disfunção orgânica (38,1% vs. 48,9%), sobretudo por lesão renal aguda; a PAM alcançada foi 88 vs. 77 mmHg. No IMPROVE-multi (n = 1.134), o alvo individual pela PA noturna não foi melhor que PAM ≥65 (RR 1,10; IC 95% 0,93–1,30). Índice de previsão de hipotensão e sistemas em alça fechada reduzem a exposição à hipotensão, ainda sem benefício claro em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Caso ilustrativo, para aplicar o raciocínio. Na saída da CEC, a PAM está em 55 mmHg. Antes de escolher a droga, a pergunta é a mesma do início: o que está falhando? Na vasoplegia, o índice cardíaco é normal ou alto, a PVC não está alta e os ventrículos contraem bem. Aqui é o contrário: índice cardíaco baixo, PVC alta, lactato subindo e, no ETE, VD dilatado e hipocinético, com o septo retificado e o VE pequeno, mal enchido. É falência de VD, com hipertensão pulmonar. Deixar a pergunta para a plateia por alguns segundos antes de passar.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 e quinze. Na falência de VD, quatro frentes andam juntas. Primeiro, a pressão de perfusão: o VD fica isquêmico quando a PAM cai, então noradrenalina, ou vasopressina, para sustentar a PAM. Segundo, a resistência pulmonar: corrigir hipóxia, hipercapnia e acidose, ajustar a ventilação e, se preciso, usar vasodilatador pulmonar inalado, como óxido nítrico ou prostaciclina. Terceiro, a contratilidade: aqui a milrinona faz sentido, porque é inotrópica e reduz a resistência pulmonar; a dobutamina é alternativa, e a adrenalina entra se o choque for grave. Quarto, volume e ritmo: o VD dilatado tolera mal mais volume, e a perda do ritmo sinusal pesa muito; se nada disso funcionar, assistência mecânica. A milrinona, sozinha, não trata toda hipertensão pulmonar e pode baixar a PAM. Voltando à pergunta que motivou a aula: a milrinona tem indicação quando há baixo débito por disfunção ventricular, sobretudo de VD com hipertensão pulmonar. Se o problema fosse vasoplegia, com débito preservado, a droga seria o vasopressor.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Quarenta e cinco segundos. Voltar à pergunta do início: qual componente da PAM está falhando? A droga certa é a que corrige esse componente, na menor dose eficaz e pelo menor tempo. Terminar com a pergunta para o grupo, sobre a prática do serviço. Depois deste slide ficam os slides de reserva.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apresentação principal termina no slide de mensagens finais. Daqui em diante, só material de apoio: resumo das drogas, slides individuais de dopamina, dobutamina, fenilefrina, efedrina e vasopressina, choque refratário, sequência da SSC 2026, alvo de PAM, início precoce e via periférica, estudos de alvo no intraoperatório, roteiro e referências.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consolidar, ler por coluna: as drogas com α1 alto elevam a RVS (noradrenalina, fenilefrina); as com β1 alto elevam DC e FC (adrenalina, dobutamina, isoproterenol); β2 explica vasodilatação e lactato. Na dopamina, o receptor que predomina muda com a dose. Milrinona e vasopressina têm zero nas colunas porque não agem nesses receptores: a milrinona inibe a PDE3 e a vasopressina age no V1. O isoproterenol só tem linha nesta tabela: uso restrito à bradicardia refratária e à ponte para marca-passo. As faixas de dose são as usuais em adultos e devem ser tituladas pela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de dose mostram o perfil esperado; na prática, a resposta a cada faixa é imprevisível. ANZICS (n = 328): dopamina 2 mcg/kg/min vs. placebo, sem diferença no pico de creatinina, na necessidade de diálise ou na mortalidade. SOAP II: no subgrupo de choque cardiogênico, mortalidade maior com dopamina (p = 0,03). Uso residual: bradicardia sintomática, quando não houver alternativa.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Isômero (+): agonista β1 e β2 e antagonista α1; isômero (−): agonista α1. O resultado clínico é inotropismo com queda discreta da RVS; por isso, no paciente vasoplégico, associar vasopressor quando necessário para sustentar a pressão de perfusão. DOREMI (n = 192): mortalidade hospitalar de 43% vs. 37% com milrinona, sem diferença significativa. A SSC 2026 não encontrou dados suficientes para comparar dobutamina e milrinona e sugere não usar levosimendana.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Agonista α1 direto, sem ação β: a PAM sobe pela RVS e a FC cai por reflexo. Isso é vantagem quando a taquicardia é o problema (estenose aórtica, cardiomiopatia hipertrófica obstrutiva, fibrilação atrial com resposta rápida) e desvantagem quando o DC depende da FC. O consenso internacional obstétrico (Kinsella 2018) indica a fenilefrina como agente de escolha, em infusão profilática; a noradrenalina é alternativa cada vez mais usada, com melhor preservação do DC materno e desfechos neonatais comparáveis. Os números da comparação em bolus são do ensaio de Sharkey (Anesth Analg 2019), citado na revisão de Park e Choi.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ação indireta explica as limitações: resposta menor quando os estoques de noradrenalina estão depletados (choque prolongado, uso crônico de simpatolíticos) e pouca eficácia no coração transplantado, que é desnervado. Na cesárea, a efedrina foi substituída pela fenilefrina como primeira escolha; continua útil como resgate quando há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Embora não seja amina, é o principal adjuvante da noradrenalina. VASST: no subgrupo de choque menos grave (NA de 5 a 14 mcg/min), mortalidade de 26,5% vs. 35,7%, achado só gerador de hipótese. VANISH (Gordon, JAMA 2016), com vasopressina precoce: sem diferença em dias livres de falência renal. VASSPR (publicado em 14/10/2026): comparou políticas de início por hospital (vasopressina de fato usada em 52,4% vs. 32,9%), sem ganho de mortalidade nem de dias livres de terapia renal substitutiva, com sinal de mais choque cardiogênico no grupo precoce (7,4% vs. 6,3%). Equivalência usada em escores: vasopressina 0,03 U/min corresponde a cerca de 0,075 mcg/kg/min de noradrenalina (fator 2,5).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choque que não responde à noradrenalina, associam-se drogas de mecanismos diferentes em vez de aumentar indefinidamente a dose da mesma droga. ATHOS-3 (n = 344): mortalidade em 28 dias de 46% vs. 53,8% (NS). Azul de metileno: na enquete com os painelistas da SSC 2026, 69% nunca ou quase nunca o usam como resgate. A angiotensina II é pouco disponível; confirmar no serviço antes de citá-la como opção.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Pontos da SSC 2026: a preferência pela noradrenalina em relação à vasopressina e à angiotensina II passou a ser sugestão (condicional); mantém-se a sugestão, já presente em 2021, de iniciar o vasopressor por via periférica em vez de esperar o acesso central; a sugestão contra a levosimendana, também de 2021, foi mantida, e a terlipressina recebeu sugestão contra; o azul de metileno ficou sem recomendação, por evidência insuficiente. A SSC não define um limiar numérico para associar vasopressina.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65 trial (n = 2.463 na análise primária): menos exposição a vasopressor no grupo permissivo (duração média de 46,0 vs. 55,9 h; dose total média de noradrenalina-equivalente de 31,5 vs. 44,3 mg), sem sinal de dano; a razão de chances (OR) ajustada favoreceu a hipotensão permissiva (0,82). OPTPRESS (29 hospitais japoneses): interrompido precocemente por dano, com diferença absoluta de 10,7 pontos percentuais (IC 95% de 2,6 a 18,9) e menos dias livres de terapia renal substitutiva no alvo alto; o protocolo associava vasopressina cedo, com NA ≥0,1 mcg/kg/min. A ESICM 2025 também sugere alvo menor no trauma com sangramento ativo sem TCE e PAM ≥80 mmHg no TCE 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CENSER (n = 310): dose fixa, não titulada, por 24 h; mortalidade em 28 dias de 15,5% vs. 21,9% (NS). Na metanálise de Tran (Am J Emerg Med 2020), houve 122 complicações em 1.835 pacientes (7%), 96% delas leves; a prevalência combinada por efeitos aleatórios foi de 8,6% (IC 95% de 3,1 a 21%), e os estudos com protocolo de segurança tiveram menos complicações (2,9% vs. 12%). Na prática: veia calibrosa e proximal, inspeção frequente do sítio e plano para acesso central se a dose subir ou a infusão se prolongar; no extravasamento, fentolamina local. A equivalência de 2 mg/mL de hemitartarato a 1 mg/mL de base consta da bula do hemitartarato de norepinefrina. Ibarra-Estrada, Kattan e Jung (Intensive Care Med 2024) defendem padronizar o relato da dose: a mesma infusão expressa em sal corresponde ao dobro do valor em base (0,1 mcg/kg/min de sal ≈ 0,05 de base).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POISE-3: o braço de evitar hipotensão suspendia anti-hipertensivos e visava PAM ≥80, sem redução de eventos vasculares. IMPROVE-multi: o alvo individualizado não foi melhor que PAM ≥65 (RR 1,10; IC 95% 0,93–1,30). HISTAP (n = 630, 18 centros italianos): em idosos hipertensos de alto risco, com monitorização contínua e fluidoterapia protocolada, PAM ≥80 reduziu o desfecho composto, sobretudo por menos lesão renal aguda leve a moderada (23,5% vs. 33,7%). A PAM média alcançada foi 77 mmHg no controle e 88 mmHg no alvo alto, ou seja, o controle não ficou em 65; o alvo alto exigiu mais noradrenalina, efedrina e transfusão. Na prática, evitar PAM abaixo de 60–65 mmHg é consenso; elevar o alvo é decisão individual, em paciente selecionado.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Roteiro da apresentação, mantido como reserva (o slide de objetivos faz esse papel). A aula vai do raciocínio fisiológico para a farmacologia, depois para cada droga e, por fim, para a aplicação no choque séptico e no centro cirúrgico. O bloco de drogas é o centro da aula: cerca de 1 minuto por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Miller’s Anesthesia, 10ª ed.: Gropper MA, Cohen NH, Eriksson LI, Fleisher LA, Johnson-Akeju O, Leslie K (eds.), Elsevier, 2025; capítulos e páginas a acrescentar quando o sumário estiver disponível. Tongyoo et al., milrinona vs. placebo no choque séptico: Ann Med 2025;57(1):2484464. SSC 2026: Crit Care Med 2026;54(4):725–812. VASSPR: JAMA, publicado online em 14/10/2026. HISTAP: Intensive Care Med 2026;52(8):1619–1634. IMPROVE-multi: JAMA 2025;334(21):1893–1904. POISE-3 (braço de pressão): Ann Intern Med 2023;176:605–614. POQI: Br J Anaesth 2024;133(2):264–276. Lineburger et al., “The hidden cost of hypotension” (editorial; entre os autores, Rodrigo Diaz): Braz J Anesthesiol 2025;75(1):844581. DOREMI: N Engl J Med 2021;385(6):516–525. Di Santo et al., subanálise do DOREMI por uso de betabloqueador: Crit Care 2021;25:289. OPTIME-CHF: JAMA 2002;287(12):1541–1547. VANCS: Anesthesiology 2017;126(1):85–93. CAT: Intensive Care Med 2008;34:2226–2234. VANISH: JAMA 2016;316(5):509–518. Salmasi: Anesthesiology 2017;126(1):47–65. Sharkey: Anesth Analg 2019;129(5):1312–1318. Cecconi et al., consenso da ESICM sobre choque circulatório: Intensive Care Med 2014;40:1795–1815. Konstam et al., declaração da AHA sobre insuficiência cardíaca direita: Circulation 2018;137(20):e578–e622.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Gouvea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lacionar o perfil de receptores de cad"/>
          <p:cNvSpPr txBox="1"/>
          <p:nvPr/>
        </p:nvSpPr>
        <p:spPr>
          <a:xfrm>
            <a:off x="1371600" y="2568720"/>
            <a:ext cx="671760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Conhecer ação, dose, indicações e cuidad"/>
          <p:cNvSpPr txBox="1"/>
          <p:nvPr/>
        </p:nvSpPr>
        <p:spPr>
          <a:xfrm>
            <a:off x="1371600" y="3173161"/>
            <a:ext cx="967422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ação, dose, indicações e cuidados das drogas vasoativas e quando preferir milrinona ou dobutamina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esse raciocínio no choque séptic"/>
          <p:cNvSpPr txBox="1"/>
          <p:nvPr/>
        </p:nvSpPr>
        <p:spPr>
          <a:xfrm>
            <a:off x="1371600" y="3777602"/>
            <a:ext cx="8938816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esse raciocínio no choque séptico, na hipotensão intraoperatória e na falência de VD após CEC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 A "/>
          <p:cNvSpPr txBox="1"/>
          <p:nvPr/>
        </p:nvSpPr>
        <p:spPr>
          <a:xfrm>
            <a:off x="4260056" y="4769969"/>
            <a:ext cx="6247507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 A resposta orienta a escolha da droga.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 com DC preservado ou alto (sep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 com DC preservado ou alto (sepse, anestesia geral, neuroeixo, anafilaxia, pós-CEC). Alvo: tônus arterial, com vasopressor α1 ou V1.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em geral com RVS alta, como no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em geral com RVS alta, como no choque cardiogênico; na sepse, a disfunção miocárdica pode coexistir com vasoplegia. Alvo: contratilidade, com inotrópico (β1 ou PDE3), associado a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</a:t>
            </a:r>
            <a:endParaRPr lang="en-US" sz="1700" dirty="0"/>
          </a:p>
        </p:txBody>
      </p:sp>
      <p:sp>
        <p:nvSpPr>
          <p:cNvPr id="12" name="Hipovolemia se corrige com volume. O α1 "/>
          <p:cNvSpPr txBox="1"/>
          <p:nvPr/>
        </p:nvSpPr>
        <p:spPr>
          <a:xfrm>
            <a:off x="8252817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se corrige com volume. O α1 também contrai veias, recruta volume não estressado e aumenta o retorno venoso.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556919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Como diferenciar?"/>
          <p:cNvSpPr txBox="1"/>
          <p:nvPr/>
        </p:nvSpPr>
        <p:spPr>
          <a:xfrm>
            <a:off x="1073150" y="4737614"/>
            <a:ext cx="3327598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diferenciar?</a:t>
            </a:r>
            <a:endParaRPr lang="en-US" sz="3200" dirty="0"/>
          </a:p>
        </p:txBody>
      </p:sp>
      <p:sp>
        <p:nvSpPr>
          <p:cNvPr id="15" name="Ecocardiografia inicial para o tipo de c"/>
          <p:cNvSpPr txBox="1"/>
          <p:nvPr/>
        </p:nvSpPr>
        <p:spPr>
          <a:xfrm>
            <a:off x="4584898" y="4769275"/>
            <a:ext cx="655300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inicial para o tipo de choque, parâmetros dinâmicos para a resposta a volume e perfusão seriada (enchimento capilar).</a:t>
            </a:r>
            <a:endParaRPr lang="en-US" sz="1500" dirty="0"/>
          </a:p>
        </p:txBody>
      </p:sp>
      <p:sp>
        <p:nvSpPr>
          <p:cNvPr id="16" name="Miller’s Anesthesia, 10ª ed. (2025) · P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 · Persichini, Crit Care Med 2012 · Monnet, Intensive Care Med 2025 (ESICM)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Pressão arterial não garante perfusão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Sinais de hipoperfusão"/>
          <p:cNvSpPr txBox="1"/>
          <p:nvPr/>
        </p:nvSpPr>
        <p:spPr>
          <a:xfrm>
            <a:off x="10731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hipoperfusão</a:t>
            </a:r>
            <a:endParaRPr lang="en-US" sz="1700" dirty="0"/>
          </a:p>
        </p:txBody>
      </p:sp>
      <p:sp>
        <p:nvSpPr>
          <p:cNvPr id="6" name="Enchimento capilar lento, livedo, extrem"/>
          <p:cNvSpPr txBox="1"/>
          <p:nvPr/>
        </p:nvSpPr>
        <p:spPr>
          <a:xfrm>
            <a:off x="1073150" y="251245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lento, livedo, extremidades frias</a:t>
            </a:r>
            <a:endParaRPr lang="en-US" sz="1350" dirty="0"/>
          </a:p>
        </p:txBody>
      </p:sp>
      <p:sp>
        <p:nvSpPr>
          <p:cNvPr id="7" name="Lactato alto ou sem queda"/>
          <p:cNvSpPr txBox="1"/>
          <p:nvPr/>
        </p:nvSpPr>
        <p:spPr>
          <a:xfrm>
            <a:off x="1073150" y="281596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alto ou sem queda</a:t>
            </a:r>
            <a:endParaRPr lang="en-US" sz="1350" dirty="0"/>
          </a:p>
        </p:txBody>
      </p:sp>
      <p:sp>
        <p:nvSpPr>
          <p:cNvPr id="8" name="Saturação venosa central baixa; gap veno"/>
          <p:cNvSpPr txBox="1"/>
          <p:nvPr/>
        </p:nvSpPr>
        <p:spPr>
          <a:xfrm>
            <a:off x="1073150" y="31194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Saturação venosa central baixa; gap venoarterial de CO</a:t>
            </a:r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baseline="-40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aumentado</a:t>
            </a:r>
            <a:endParaRPr lang="en-US" sz="1350" dirty="0"/>
          </a:p>
        </p:txBody>
      </p:sp>
      <p:sp>
        <p:nvSpPr>
          <p:cNvPr id="9" name="Oligúria e alteração da consciência"/>
          <p:cNvSpPr txBox="1"/>
          <p:nvPr/>
        </p:nvSpPr>
        <p:spPr>
          <a:xfrm>
            <a:off x="1073150" y="36629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Oligúria e alteração da consciência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61976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O débito responde a volume?"/>
          <p:cNvSpPr txBox="1"/>
          <p:nvPr/>
        </p:nvSpPr>
        <p:spPr>
          <a:xfrm>
            <a:off x="64579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débito responde a volume?</a:t>
            </a:r>
            <a:endParaRPr lang="en-US" sz="1700" dirty="0"/>
          </a:p>
        </p:txBody>
      </p:sp>
      <p:sp>
        <p:nvSpPr>
          <p:cNvPr id="12" name="VPP ou VVS em ventilação controlada, den"/>
          <p:cNvSpPr txBox="1"/>
          <p:nvPr/>
        </p:nvSpPr>
        <p:spPr>
          <a:xfrm>
            <a:off x="6457950" y="251245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ou VVS em ventilação controlada, dentro dos limites do método</a:t>
            </a:r>
            <a:endParaRPr lang="en-US" sz="1350" dirty="0"/>
          </a:p>
        </p:txBody>
      </p:sp>
      <p:sp>
        <p:nvSpPr>
          <p:cNvPr id="13" name="Elevação passiva das pernas ou minidesaf"/>
          <p:cNvSpPr txBox="1"/>
          <p:nvPr/>
        </p:nvSpPr>
        <p:spPr>
          <a:xfrm>
            <a:off x="6457950" y="30559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Elevação passiva das pernas ou minidesafio hídrico, medindo o débito</a:t>
            </a:r>
            <a:endParaRPr lang="en-US" sz="1350" dirty="0"/>
          </a:p>
        </p:txBody>
      </p:sp>
      <p:sp>
        <p:nvSpPr>
          <p:cNvPr id="14" name="Eco: VTI na via de saída do VE e função "/>
          <p:cNvSpPr txBox="1"/>
          <p:nvPr/>
        </p:nvSpPr>
        <p:spPr>
          <a:xfrm>
            <a:off x="6457950" y="35994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Eco: VTI na via de saída do VE e função de VE e VD</a:t>
            </a:r>
            <a:endParaRPr lang="en-US" sz="1350" dirty="0"/>
          </a:p>
        </p:txBody>
      </p:sp>
      <p:sp>
        <p:nvSpPr>
          <p:cNvPr id="15" name="Cartão"/>
          <p:cNvSpPr/>
          <p:nvPr/>
        </p:nvSpPr>
        <p:spPr>
          <a:xfrm>
            <a:off x="812800" y="4481612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Atenção"/>
          <p:cNvSpPr txBox="1"/>
          <p:nvPr/>
        </p:nvSpPr>
        <p:spPr>
          <a:xfrm>
            <a:off x="1073150" y="4662307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17" name="PAM normal não exclui débito baixo. E dé"/>
          <p:cNvSpPr txBox="1"/>
          <p:nvPr/>
        </p:nvSpPr>
        <p:spPr>
          <a:xfrm>
            <a:off x="2734270" y="4827318"/>
            <a:ext cx="7671296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baixo. E débito que sobe com a droga não garante melhor desfecho.</a:t>
            </a:r>
            <a:endParaRPr lang="en-US" sz="1500" dirty="0"/>
          </a:p>
        </p:txBody>
      </p:sp>
      <p:sp>
        <p:nvSpPr>
          <p:cNvPr id="18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Tongyoo, Ann Med 2025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e vias de sinalização</a:t>
            </a:r>
            <a:endParaRPr lang="en-US" sz="3200" dirty="0"/>
          </a:p>
        </p:txBody>
      </p:sp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pré-sináptico, SNC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 liberação de noradrenalina; sedação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 → ↓AMPc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 degradação do 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om o uso prolongado, os adrenoceptores "/>
          <p:cNvSpPr txBox="1"/>
          <p:nvPr/>
        </p:nvSpPr>
        <p:spPr>
          <a:xfrm>
            <a:off x="812800" y="5343756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uso prolongado, os adrenoceptores se dessensibilizam; vasopressina (V1) e milrinona (PDE3) não dependem deles.</a:t>
            </a:r>
            <a:endParaRPr lang="en-US" sz="1400" dirty="0"/>
          </a:p>
        </p:txBody>
      </p:sp>
      <p:sp>
        <p:nvSpPr>
          <p:cNvPr id="6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CLASSIFICAÇ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CLASSIFICAÇÃO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Catecolaminas e não catecolaminas</a:t>
            </a:r>
            <a:endParaRPr lang="en-US" sz="3200" dirty="0"/>
          </a:p>
        </p:txBody>
      </p:sp>
      <p:sp>
        <p:nvSpPr>
          <p:cNvPr id="4" name="Tirosina"/>
          <p:cNvSpPr/>
          <p:nvPr/>
        </p:nvSpPr>
        <p:spPr>
          <a:xfrm>
            <a:off x="812800" y="1879501"/>
            <a:ext cx="935137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</a:t>
            </a:r>
            <a:endParaRPr lang="en-US" sz="1500" dirty="0"/>
          </a:p>
        </p:txBody>
      </p:sp>
      <p:sp>
        <p:nvSpPr>
          <p:cNvPr id="5" name="→"/>
          <p:cNvSpPr txBox="1"/>
          <p:nvPr/>
        </p:nvSpPr>
        <p:spPr>
          <a:xfrm>
            <a:off x="1849537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DOPA"/>
          <p:cNvSpPr/>
          <p:nvPr/>
        </p:nvSpPr>
        <p:spPr>
          <a:xfrm>
            <a:off x="2135088" y="1879501"/>
            <a:ext cx="770632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</a:t>
            </a:r>
            <a:endParaRPr lang="en-US" sz="1500" dirty="0"/>
          </a:p>
        </p:txBody>
      </p:sp>
      <p:sp>
        <p:nvSpPr>
          <p:cNvPr id="7" name="→"/>
          <p:cNvSpPr txBox="1"/>
          <p:nvPr/>
        </p:nvSpPr>
        <p:spPr>
          <a:xfrm>
            <a:off x="300732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Dopamina"/>
          <p:cNvSpPr/>
          <p:nvPr/>
        </p:nvSpPr>
        <p:spPr>
          <a:xfrm>
            <a:off x="3292872" y="1879501"/>
            <a:ext cx="1121668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500" dirty="0"/>
          </a:p>
        </p:txBody>
      </p:sp>
      <p:sp>
        <p:nvSpPr>
          <p:cNvPr id="9" name="→"/>
          <p:cNvSpPr txBox="1"/>
          <p:nvPr/>
        </p:nvSpPr>
        <p:spPr>
          <a:xfrm>
            <a:off x="451614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Noradrenalina"/>
          <p:cNvSpPr/>
          <p:nvPr/>
        </p:nvSpPr>
        <p:spPr>
          <a:xfrm>
            <a:off x="4801691" y="1879501"/>
            <a:ext cx="1446411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500" dirty="0"/>
          </a:p>
        </p:txBody>
      </p:sp>
      <p:sp>
        <p:nvSpPr>
          <p:cNvPr id="11" name="→"/>
          <p:cNvSpPr txBox="1"/>
          <p:nvPr/>
        </p:nvSpPr>
        <p:spPr>
          <a:xfrm>
            <a:off x="6349702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Adrenalina"/>
          <p:cNvSpPr/>
          <p:nvPr/>
        </p:nvSpPr>
        <p:spPr>
          <a:xfrm>
            <a:off x="6635254" y="1879501"/>
            <a:ext cx="1172270" cy="419100"/>
          </a:xfrm>
          <a:prstGeom prst="roundRect">
            <a:avLst>
              <a:gd name="adj" fmla="val 50000"/>
            </a:avLst>
          </a:prstGeom>
          <a:solidFill>
            <a:srgbClr val="B9581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Adrenalina</a:t>
            </a:r>
            <a:endParaRPr lang="en-US" sz="1500" dirty="0"/>
          </a:p>
        </p:txBody>
      </p:sp>
      <p:sp>
        <p:nvSpPr>
          <p:cNvPr id="13" name="Tirosina hidroxilase (etapa limitante) ·"/>
          <p:cNvSpPr txBox="1"/>
          <p:nvPr/>
        </p:nvSpPr>
        <p:spPr>
          <a:xfrm>
            <a:off x="812800" y="23882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 hidroxilase (etapa limitante) · DOPA descarboxilase · dopamina β-hidroxilase · PNMT na medula adrenal, induzida por cortisol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8128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Catecolaminas"/>
          <p:cNvSpPr txBox="1"/>
          <p:nvPr/>
        </p:nvSpPr>
        <p:spPr>
          <a:xfrm>
            <a:off x="10731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</a:t>
            </a:r>
            <a:endParaRPr lang="en-US" sz="1700" dirty="0"/>
          </a:p>
        </p:txBody>
      </p:sp>
      <p:sp>
        <p:nvSpPr>
          <p:cNvPr id="16" name="Núcleo 3,4-di-hidroxifenil. Endógenas: d"/>
          <p:cNvSpPr txBox="1"/>
          <p:nvPr/>
        </p:nvSpPr>
        <p:spPr>
          <a:xfrm>
            <a:off x="10731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3,4-di-hidroxifenil. Endógenas: dopamina, noradrenalina, adrenalina. Sintéticas: dobutamina, isoproterenol. Recaptação neuronal, MAO e COMT encurtam a meia-vida para minutos, o que exige infusão contínua e titulável.</a:t>
            </a:r>
            <a:endParaRPr lang="en-US" sz="1350" dirty="0"/>
          </a:p>
        </p:txBody>
      </p:sp>
      <p:sp>
        <p:nvSpPr>
          <p:cNvPr id="17" name="Cartão"/>
          <p:cNvSpPr/>
          <p:nvPr/>
        </p:nvSpPr>
        <p:spPr>
          <a:xfrm>
            <a:off x="61976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Não catecolaminas"/>
          <p:cNvSpPr txBox="1"/>
          <p:nvPr/>
        </p:nvSpPr>
        <p:spPr>
          <a:xfrm>
            <a:off x="64579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catecolaminas</a:t>
            </a:r>
            <a:endParaRPr lang="en-US" sz="1700" dirty="0"/>
          </a:p>
        </p:txBody>
      </p:sp>
      <p:sp>
        <p:nvSpPr>
          <p:cNvPr id="19" name="Sem o anel catecol, escapam da COMT, dur"/>
          <p:cNvSpPr txBox="1"/>
          <p:nvPr/>
        </p:nvSpPr>
        <p:spPr>
          <a:xfrm>
            <a:off x="64579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anel catecol, escapam da COMT, duram mais e podem ser usadas em bolus. Fenilefrina: agonista direto α1. Efedrina e metaraminol: ação mista, direta e por liberação de noradrenalina das terminações nervosas.</a:t>
            </a:r>
            <a:endParaRPr lang="en-US" sz="1350" dirty="0"/>
          </a:p>
        </p:txBody>
      </p:sp>
      <p:sp>
        <p:nvSpPr>
          <p:cNvPr id="20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2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↔/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0" name="F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 com β1 modesto: eleva a PAM a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 com β1 modesto: eleva a PAM ao aumentar a RVS e, por venoconstrição, o retorno venoso. DC preservado ou maior; FC estável ou menor. Primeira linha no choque séptico e na vasoplegia que exige infusão.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 no ch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 no choque refratário; bolus de 5–10 mcg no centro cirúrgico. Pode ser iniciada em veia periférica calibrosa. Menos arritmia que a dopamina (SOAP II). Riscos: isquemia digital e esplâncnica, extravasamento.</a:t>
            </a:r>
            <a:endParaRPr lang="en-US" sz="1350" dirty="0"/>
          </a:p>
        </p:txBody>
      </p:sp>
      <p:sp>
        <p:nvSpPr>
          <p:cNvPr id="27" name="De Backer, N Engl J Med 2010 (SOAP II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Backer, N Engl J Med 2010 (SOAP II) · Persichini, Crit Care Med 2012 · SSC 2026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-dependente: em dose baixa predomina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Dose-dependente: em dose baixa predomina β (↑DC; a RVS pode cair); em dose alta, α1. Droga de escolha na anafilaxia; no choque séptico, entra se a PAM seguir inadequada com noradrenalina (NA) +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; doses maiores no ch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mcg/kg/min; doses maiores no choque refratário. Na anafilaxia durante a anestesia, bolus titulado: 10–20 mcg EV no grau 2,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50–100 mcg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grau 3. Taquicardia, arritmia e hiperglicemia. O lactato pode subir por efeito β2, mas é preciso excluir hipoperfusão.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PAMINA E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DOPAMINA E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 e 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pamina"/>
          <p:cNvSpPr txBox="1"/>
          <p:nvPr/>
        </p:nvSpPr>
        <p:spPr>
          <a:xfrm>
            <a:off x="10668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6" name="PAM ↑ · DC ↑ · FC ↑↑"/>
          <p:cNvSpPr txBox="1"/>
          <p:nvPr/>
        </p:nvSpPr>
        <p:spPr>
          <a:xfrm>
            <a:off x="4106069" y="2069740"/>
            <a:ext cx="1653381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9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Efeito dose-dependente e imprevisível: D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dose-dependente e imprevisível: D1, depois β1 (em parte por liberar NA) e, em doses altas, α1. Dose “renal” não protege o rim. Causa mais arritmia que a NA e não é primeira linha no choque.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2" name="Dobutamina"/>
          <p:cNvSpPr txBox="1"/>
          <p:nvPr/>
        </p:nvSpPr>
        <p:spPr>
          <a:xfrm>
            <a:off x="64516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23" name="DC ↑↑ · FC ↑ · RVS ↓"/>
          <p:cNvSpPr txBox="1"/>
          <p:nvPr/>
        </p:nvSpPr>
        <p:spPr>
          <a:xfrm>
            <a:off x="9554468" y="2069740"/>
            <a:ext cx="1589782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↑↑ · FC ↑ · RVS ↓</a:t>
            </a:r>
            <a:endParaRPr lang="en-US" sz="1300" dirty="0"/>
          </a:p>
        </p:txBody>
      </p:sp>
      <p:sp>
        <p:nvSpPr>
          <p:cNvPr id="24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68580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8580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3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Inotrópico β1 com vasodilatação β2: pode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pode baixar a PAM; associar vasopressor quando necessário para sustentar a pressão de perfusão. Indicada no baixo débito com hipoperfusão, em 2,5–20 mcg/kg/min; taquicardia e arritmia limitam a dose.</a:t>
            </a:r>
            <a:endParaRPr lang="en-US" sz="1350" dirty="0"/>
          </a:p>
        </p:txBody>
      </p:sp>
      <p:sp>
        <p:nvSpPr>
          <p:cNvPr id="37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AMPc: onde agem dobutamina e milrinona</a:t>
            </a:r>
            <a:endParaRPr lang="en-US" sz="3200" dirty="0"/>
          </a:p>
        </p:txBody>
      </p:sp>
      <p:pic>
        <p:nvPicPr>
          <p:cNvPr id="4" name="Esquema do cardiomiócito: a dobutamina estimula o receptor β1, a proteína Gs e a adenilato ciclase, que produz AMPc; o AMPc ativa a PKA, que fosforila o canal de cálcio tipo L, o RyR2 e o fosfolambam; a PDE3 degrada o AMPc e é inibida pela milrinona; o betabloqueador bloqueia o receptor β1" descr="Esquema do cardiomiócito: a dobutamina estimula o receptor β1, a proteína Gs e a adenilato ciclase, que produz AMPc; o AMPc ativa a PKA, que fosforila o canal de cálcio tipo L, o RyR2 e o fosfolambam; a PDE3 degrada o AMPc e é inibida pela milrinona; o betabloqueador bloqueia o receptor β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52501"/>
            <a:ext cx="10566400" cy="3302000"/>
          </a:xfrm>
          <a:prstGeom prst="rect">
            <a:avLst/>
          </a:prstGeom>
        </p:spPr>
      </p:pic>
      <p:sp>
        <p:nvSpPr>
          <p:cNvPr id="5" name="Leitura: a dobutamina aumenta a produção"/>
          <p:cNvSpPr txBox="1"/>
          <p:nvPr/>
        </p:nvSpPr>
        <p:spPr>
          <a:xfrm>
            <a:off x="812800" y="5218842"/>
            <a:ext cx="105854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pt-BR" altLang="en-US" sz="135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</a:t>
            </a:r>
            <a:pPr algn="l" indent="0" marL="0">
              <a:lnSpc>
                <a:spcPts val="1890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dobutamina aumenta a produção de AMPc; a milrinona reduz a degradação, depois do receptor β. Nos vasos, o AMPc relaxa o músculo liso: a milrinona é inodilatadora. Com betabloqueador, o fundamento é farmacológico; no DOREMI, não houve vantagem clínica.</a:t>
            </a:r>
            <a:endParaRPr lang="en-US" sz="1350" dirty="0"/>
          </a:p>
        </p:txBody>
      </p:sp>
      <p:sp>
        <p:nvSpPr>
          <p:cNvPr id="6" name="Esquema próprio · Overgaard &amp; Džavík, C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próprio · Overgaard &amp; Džavík, Circulation 2008 · Di Santo, Crit Care 2021 (DOREMI, betabloqueador) · Miller’s Anesthesia, 10ª ed. (2025)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355578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suporte inotrópico: IC descompensada, dificuldade de saída de CEC, falência de VD com hipertensão pulmonar, ponte para transplante ou assistência ventricular.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608090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86444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, muitas ve"/>
          <p:cNvSpPr txBox="1"/>
          <p:nvPr/>
        </p:nvSpPr>
        <p:spPr>
          <a:xfrm>
            <a:off x="4324350" y="4213069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min, muitas vezes omitido; manutenção de 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0,375–0,75 mcg/kg/min</a:t>
            </a:r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Eliminação renal: reduzir a dose na insuficiência renal. Hipotensão (associar NA) e arritmias. No choque cardiogênico, sem diferença significativa vs. dobutamina (DOREMI).</a:t>
            </a:r>
            <a:endParaRPr lang="en-US" sz="1350" dirty="0"/>
          </a:p>
        </p:txBody>
      </p:sp>
      <p:sp>
        <p:nvSpPr>
          <p:cNvPr id="21" name="Mathew, N Engl J Med 2021 (DOREMI) · Cuf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Cuffe, JAMA 2002 (OPTIME-CHF) · Miller’s Anesthesia, 10ª ed. (2025)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13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3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depois do receptor β; no DOREMI, sem vantagem clínica nesse subgrupo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Falência de VD com hipertensão pulmonar,"/>
          <p:cNvSpPr txBox="1"/>
          <p:nvPr/>
        </p:nvSpPr>
        <p:spPr>
          <a:xfrm>
            <a:off x="1022350" y="492565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VD com hipertensão pulmonar, inclusive na saída de CEC; taquicardia ou betabloqueio limitando a dobutamina (fundamento farmacológico).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Hipotensão ou vasoplegia; insuficiência "/>
          <p:cNvSpPr txBox="1"/>
          <p:nvPr/>
        </p:nvSpPr>
        <p:spPr>
          <a:xfrm>
            <a:off x="6407150" y="4925653"/>
            <a:ext cx="47815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ou vasoplegia; insuficiência renal; necessidade de titular rápido; disfunção miocárdica da sepse (droga citada pela SSC 2026).</a:t>
            </a:r>
            <a:endParaRPr lang="en-US" sz="1300" dirty="0"/>
          </a:p>
        </p:txBody>
      </p:sp>
      <p:sp>
        <p:nvSpPr>
          <p:cNvPr id="12" name="Mathew, N Engl J Med 2021 (DOREMI) · Di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Di Santo, Crit Care 2021 (DOREMI, betabloqueador) · bula da milrinona · SSC 2026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ENILEFRINA E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FENILEFRINA E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RVS ↑↑ · FC ↓ · DC ↔/↓"/>
          <p:cNvSpPr txBox="1"/>
          <p:nvPr/>
        </p:nvSpPr>
        <p:spPr>
          <a:xfrm>
            <a:off x="3882430" y="2069740"/>
            <a:ext cx="187702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↑↑ · FC ↓ · DC ↔/↓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, em bolus de 50–100 m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direto, em bolus de 50–100 mcg. A bradicardia reflexa pode reduzir o DC, mas é útil quando a taquicardia é indesejável, como em casos selecionados de estenose aórtica. Cesárea: infusão profilática de 25–50 mcg/min.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FC ↑ · DC ↑"/>
          <p:cNvSpPr txBox="1"/>
          <p:nvPr/>
        </p:nvSpPr>
        <p:spPr>
          <a:xfrm>
            <a:off x="9640292" y="2069740"/>
            <a:ext cx="150395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FC ↑ · DC 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mista: direta em α e β e indireta, 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mista: direta em α e β e indireta, liberando noradrenalina. Bolus de 5–10 mg; útil na hipotensão com bradicardia. Taquifilaxia com doses repetidas;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 e adjuvantes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Em geral, dose fixa (até 0,04 U/min); co"/>
          <p:cNvSpPr txBox="1"/>
          <p:nvPr/>
        </p:nvSpPr>
        <p:spPr>
          <a:xfrm>
            <a:off x="1066800" y="3036831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(até 0,04 U/min);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A em esc"/>
          <p:cNvSpPr txBox="1"/>
          <p:nvPr/>
        </p:nvSpPr>
        <p:spPr>
          <a:xfrm>
            <a:off x="1066800" y="3884060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NA em escalada, vasoplegia pós-CEC e hipotensão refratária em uso de IECA/BRA.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vascular às catecola"/>
          <p:cNvSpPr txBox="1"/>
          <p:nvPr/>
        </p:nvSpPr>
        <p:spPr>
          <a:xfrm>
            <a:off x="5289550" y="2304690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catecolaminas. No choque séptico, 200 mg/dia (sugerida pela SSC 2026).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3040162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ngiotensina II"/>
          <p:cNvSpPr txBox="1"/>
          <p:nvPr/>
        </p:nvSpPr>
        <p:spPr>
          <a:xfrm>
            <a:off x="5289550" y="319538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Angiotensina II</a:t>
            </a:r>
            <a:endParaRPr lang="en-US" sz="1500" dirty="0"/>
          </a:p>
        </p:txBody>
      </p:sp>
      <p:sp>
        <p:nvSpPr>
          <p:cNvPr id="14" name="Agonista AT1: eleva a PAM rapidamente e "/>
          <p:cNvSpPr txBox="1"/>
          <p:nvPr/>
        </p:nvSpPr>
        <p:spPr>
          <a:xfrm>
            <a:off x="5289550" y="3465351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AT1: eleva a PAM rapidamente e poupa catecolamina. Pouco disponível; a NA continua preferida.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5080000" y="4200823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Azul de metileno"/>
          <p:cNvSpPr txBox="1"/>
          <p:nvPr/>
        </p:nvSpPr>
        <p:spPr>
          <a:xfrm>
            <a:off x="5289550" y="4356048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7" name="Bloqueia a via óxido nítrico–GMPc: resga"/>
          <p:cNvSpPr txBox="1"/>
          <p:nvPr/>
        </p:nvSpPr>
        <p:spPr>
          <a:xfrm>
            <a:off x="5289550" y="4626012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a via óxido nítrico–GMPc: resgate na vasoplegia refratária (pós-CEC, reperfusão hepática). Evitar em uso de ISRS e na deficiência de G6PD.</a:t>
            </a:r>
            <a:endParaRPr lang="en-US" sz="1300" dirty="0"/>
          </a:p>
        </p:txBody>
      </p:sp>
      <p:sp>
        <p:nvSpPr>
          <p:cNvPr id="18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Khanna, N Engl J Med 2017 (ATHOS-3)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recomendações da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Alvo e momento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e momento</a:t>
            </a:r>
            <a:endParaRPr lang="en-US" sz="1700" dirty="0"/>
          </a:p>
        </p:txBody>
      </p:sp>
      <p:sp>
        <p:nvSpPr>
          <p:cNvPr id="20" name="PAM-alvo inicial de 65 mmHg (60–65 mmHg 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PAM-alvo inicial de 65 mmHg (60–65 mmHg a partir dos 65 anos). Antecipar sistematicamente a vasopressina não reduziu a mortalidade (VASSPR).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Disfunção cardíaca e adjuvantes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 e adjuvantes</a:t>
            </a:r>
            <a:endParaRPr lang="en-US" sz="1700" dirty="0"/>
          </a:p>
        </p:txBody>
      </p:sp>
      <p:sp>
        <p:nvSpPr>
          <p:cNvPr id="23" name="Hipoperfusão com volume e PAM adequados: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com volume e PAM adequados: dobutamina com NA, ou adrenalina. Hidrocortisona EV sugerida. Evitar levosimendana e terlipressina.</a:t>
            </a:r>
            <a:endParaRPr lang="en-US" sz="1350" dirty="0"/>
          </a:p>
        </p:txBody>
      </p:sp>
      <p:sp>
        <p:nvSpPr>
          <p:cNvPr id="24" name="Prescott, Crit Care Med 2026 (SSC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 · Peltan, JAMA 2026 (VASSPR)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81280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Fenilefrina 50–100 mcg ou NA 5–10 mcg em"/>
          <p:cNvSpPr txBox="1"/>
          <p:nvPr/>
        </p:nvSpPr>
        <p:spPr>
          <a:xfrm>
            <a:off x="946150" y="3170972"/>
            <a:ext cx="176401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 em bolus; NA em infusão se persistir</a:t>
            </a:r>
            <a:endParaRPr lang="en-US" sz="1250" dirty="0"/>
          </a:p>
        </p:txBody>
      </p:sp>
      <p:sp>
        <p:nvSpPr>
          <p:cNvPr id="12" name="Corrige o tônus sem taquicardia"/>
          <p:cNvSpPr txBox="1"/>
          <p:nvPr/>
        </p:nvSpPr>
        <p:spPr>
          <a:xfrm>
            <a:off x="946150" y="3878619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 o tônus sem taquicardia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295146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5" name="Efedrina 5–10 mg"/>
          <p:cNvSpPr txBox="1"/>
          <p:nvPr/>
        </p:nvSpPr>
        <p:spPr>
          <a:xfrm>
            <a:off x="3084810" y="3170972"/>
            <a:ext cx="176401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</a:t>
            </a:r>
            <a:endParaRPr lang="en-US" sz="1250" dirty="0"/>
          </a:p>
        </p:txBody>
      </p:sp>
      <p:sp>
        <p:nvSpPr>
          <p:cNvPr id="16" name="β1 e liberação de noradrenalina"/>
          <p:cNvSpPr txBox="1"/>
          <p:nvPr/>
        </p:nvSpPr>
        <p:spPr>
          <a:xfrm>
            <a:off x="3084810" y="3449994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 e liberação de noradrenalina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509012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9" name="Dobutamina; milrinona se VD com hiperten"/>
          <p:cNvSpPr txBox="1"/>
          <p:nvPr/>
        </p:nvSpPr>
        <p:spPr>
          <a:xfrm>
            <a:off x="5223470" y="3170972"/>
            <a:ext cx="176401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se VD com hipertensão pulmonar; NA se a PAM cair</a:t>
            </a:r>
            <a:endParaRPr lang="en-US" sz="1250" dirty="0"/>
          </a:p>
        </p:txBody>
      </p:sp>
      <p:sp>
        <p:nvSpPr>
          <p:cNvPr id="20" name="Inotropismo; a milrinona também reduz a "/>
          <p:cNvSpPr txBox="1"/>
          <p:nvPr/>
        </p:nvSpPr>
        <p:spPr>
          <a:xfrm>
            <a:off x="5223470" y="4092931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Inotropismo; a milrinona também reduz a RVP</a:t>
            </a:r>
            <a:endParaRPr lang="en-US" sz="1100" dirty="0"/>
          </a:p>
        </p:txBody>
      </p:sp>
      <p:sp>
        <p:nvSpPr>
          <p:cNvPr id="21" name="Cartão"/>
          <p:cNvSpPr/>
          <p:nvPr/>
        </p:nvSpPr>
        <p:spPr>
          <a:xfrm>
            <a:off x="7228780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Vasoplegia refratária"/>
          <p:cNvSpPr/>
          <p:nvPr/>
        </p:nvSpPr>
        <p:spPr>
          <a:xfrm>
            <a:off x="7235130" y="2492871"/>
            <a:ext cx="1998960" cy="375841"/>
          </a:xfrm>
          <a:prstGeom prst="roundRect">
            <a:avLst>
              <a:gd name="adj" fmla="val 20275"/>
            </a:avLst>
          </a:prstGeom>
          <a:solidFill>
            <a:srgbClr val="1B2A3A"/>
          </a:solidFill>
          <a:ln/>
        </p:spPr>
        <p:txBody>
          <a:bodyPr wrap="none" lIns="127000" tIns="88900" rIns="127000" bIns="8890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3" name="Vasopressina; azul de metileno como resg"/>
          <p:cNvSpPr txBox="1"/>
          <p:nvPr/>
        </p:nvSpPr>
        <p:spPr>
          <a:xfrm>
            <a:off x="7362130" y="2972931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</a:t>
            </a:r>
            <a:endParaRPr lang="en-US" sz="1250" dirty="0"/>
          </a:p>
        </p:txBody>
      </p:sp>
      <p:sp>
        <p:nvSpPr>
          <p:cNvPr id="24" name="Pós-CEC, IECA/BRA, reperfusão hepática"/>
          <p:cNvSpPr txBox="1"/>
          <p:nvPr/>
        </p:nvSpPr>
        <p:spPr>
          <a:xfrm>
            <a:off x="7362130" y="3466266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Pós-CEC, IECA/BRA, reperfusão hepática</a:t>
            </a:r>
            <a:endParaRPr lang="en-US" sz="1100" dirty="0"/>
          </a:p>
        </p:txBody>
      </p:sp>
      <p:sp>
        <p:nvSpPr>
          <p:cNvPr id="25" name="Cartão"/>
          <p:cNvSpPr/>
          <p:nvPr/>
        </p:nvSpPr>
        <p:spPr>
          <a:xfrm>
            <a:off x="9367441" y="2486521"/>
            <a:ext cx="2011660" cy="2112963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Pré-carga baixa"/>
          <p:cNvSpPr/>
          <p:nvPr/>
        </p:nvSpPr>
        <p:spPr>
          <a:xfrm>
            <a:off x="9373791" y="2492871"/>
            <a:ext cx="1998960" cy="375841"/>
          </a:xfrm>
          <a:prstGeom prst="roundRect">
            <a:avLst>
              <a:gd name="adj" fmla="val 20275"/>
            </a:avLst>
          </a:prstGeom>
          <a:solidFill>
            <a:srgbClr val="1B2A3A"/>
          </a:solidFill>
          <a:ln/>
        </p:spPr>
        <p:txBody>
          <a:bodyPr wrap="none" lIns="127000" tIns="88900" rIns="127000" bIns="8890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7" name="Volume, se o débito responde"/>
          <p:cNvSpPr txBox="1"/>
          <p:nvPr/>
        </p:nvSpPr>
        <p:spPr>
          <a:xfrm>
            <a:off x="9500791" y="2972931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250" dirty="0"/>
          </a:p>
        </p:txBody>
      </p:sp>
      <p:sp>
        <p:nvSpPr>
          <p:cNvPr id="28" name="Hipovolemia não se corrige com amina"/>
          <p:cNvSpPr txBox="1"/>
          <p:nvPr/>
        </p:nvSpPr>
        <p:spPr>
          <a:xfrm>
            <a:off x="9500791" y="3466266"/>
            <a:ext cx="1764010" cy="377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5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não se corrige com amina</a:t>
            </a:r>
            <a:endParaRPr lang="en-US" sz="1100" dirty="0"/>
          </a:p>
        </p:txBody>
      </p:sp>
      <p:sp>
        <p:nvSpPr>
          <p:cNvPr id="29" name="Raquianestesia na cesárea: fenilefrina p"/>
          <p:cNvSpPr txBox="1"/>
          <p:nvPr/>
        </p:nvSpPr>
        <p:spPr>
          <a:xfrm>
            <a:off x="812800" y="484052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Raquianestesia na cesárea:</a:t>
            </a:r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fenilefrina profilática 25–50 mcg/min, NA como alternativa; alvo de PAS ≥90% da basal.</a:t>
            </a:r>
            <a:endParaRPr lang="en-US" sz="1300" dirty="0"/>
          </a:p>
        </p:txBody>
      </p:sp>
      <p:sp>
        <p:nvSpPr>
          <p:cNvPr id="30" name="Kinsella, Anaesthesia 2018 · Hajjar, An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Hajjar, Anesthesiology 2017 (VANCS) · Miller’s Anesthesia, 10ª ed. (2025)</a:t>
            </a:r>
            <a:endParaRPr lang="en-US" sz="1200" dirty="0"/>
          </a:p>
        </p:txBody>
      </p:sp>
      <p:pic>
        <p:nvPicPr>
          <p:cNvPr id="3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HIPOTEN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HIPOTENSÃO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Hipotensão intraoperatória e alvo de pressão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RISCO ASSOCIADO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ASSOCIADO</a:t>
            </a:r>
            <a:endParaRPr lang="en-US" sz="1200" dirty="0"/>
          </a:p>
        </p:txBody>
      </p:sp>
      <p:sp>
        <p:nvSpPr>
          <p:cNvPr id="6" name="PAM &lt; 65"/>
          <p:cNvSpPr txBox="1"/>
          <p:nvPr/>
        </p:nvSpPr>
        <p:spPr>
          <a:xfrm>
            <a:off x="1066800" y="2459038"/>
            <a:ext cx="3067050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40"/>
              </a:lnSpc>
              <a:buNone/>
            </a:pPr>
            <a:r>
              <a:rPr lang="pt-BR" altLang="en-US" sz="44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 &lt; 65</a:t>
            </a:r>
            <a:endParaRPr lang="en-US" sz="4400" dirty="0"/>
          </a:p>
        </p:txBody>
      </p:sp>
      <p:sp>
        <p:nvSpPr>
          <p:cNvPr id="7" name="Em estudos observacionais, mesmo período"/>
          <p:cNvSpPr txBox="1"/>
          <p:nvPr/>
        </p:nvSpPr>
        <p:spPr>
          <a:xfrm>
            <a:off x="1066800" y="3148651"/>
            <a:ext cx="30670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estudos observacionais, mesmo períodos curtos abaixo de 65 mmHg se associam a lesão renal aguda, lesão miocárdica e delirium. Associação não prova que tratar evite o dano.</a:t>
            </a:r>
            <a:endParaRPr lang="en-US" sz="135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Limite mínimo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mínimo</a:t>
            </a:r>
            <a:endParaRPr lang="en-US" sz="1500" dirty="0"/>
          </a:p>
        </p:txBody>
      </p:sp>
      <p:sp>
        <p:nvSpPr>
          <p:cNvPr id="10" name="PAM ≥60 em pacientes de risco (POQI 2024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≥60 em pacientes de risco (POQI 2024); o limite seguro individual é incerto. Com pressão venosa ou compartimental alta, o alvo é maior.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Alvo maior em pacientes selecionados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maior em pacientes selecionados</a:t>
            </a:r>
            <a:endParaRPr lang="en-US" sz="1500" dirty="0"/>
          </a:p>
        </p:txBody>
      </p:sp>
      <p:sp>
        <p:nvSpPr>
          <p:cNvPr id="13" name="PAM ≥80 (vs. ≥65) reduziu morte ou disfu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≥80 (vs. ≥65) reduziu morte ou disfunção orgânica, sobretudo lesão renal aguda, em hipertensos de alto risco (HISTAP).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Manejo proativo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proativo</a:t>
            </a:r>
            <a:endParaRPr lang="en-US" sz="1500" dirty="0"/>
          </a:p>
        </p:txBody>
      </p:sp>
      <p:sp>
        <p:nvSpPr>
          <p:cNvPr id="16" name="Antecipar e tratar cedo; monitorização f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Antecipar e tratar cedo; monitorização funcional (VPP, volume sistólico, eco) orienta a escolha entre volume, vasopressor e inotrópico.</a:t>
            </a:r>
            <a:endParaRPr lang="en-US" sz="1300" dirty="0"/>
          </a:p>
        </p:txBody>
      </p:sp>
      <p:sp>
        <p:nvSpPr>
          <p:cNvPr id="17" name="Lineburger, Braz J Anesthesiol 2025 · S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Lineburger, Braz J Anesthesiol 2025 · Saugel, Br J Anaesth 2024 (POQI) · Cecconi, Intensive Care Med 2026 (HISTAP)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CAS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CASO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Caso: hipotensão na saída de CEC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777901"/>
            <a:ext cx="10566400" cy="2616002"/>
          </a:xfrm>
          <a:prstGeom prst="roundRect">
            <a:avLst>
              <a:gd name="adj" fmla="val 291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CASO ILUSTRATIVO"/>
          <p:cNvSpPr txBox="1"/>
          <p:nvPr/>
        </p:nvSpPr>
        <p:spPr>
          <a:xfrm>
            <a:off x="1073150" y="1975487"/>
            <a:ext cx="100647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ILUSTRATIVO</a:t>
            </a:r>
            <a:endParaRPr lang="en-US" sz="1200" dirty="0"/>
          </a:p>
        </p:txBody>
      </p:sp>
      <p:sp>
        <p:nvSpPr>
          <p:cNvPr id="6" name="Troca valvar mitral em paciente com hipe"/>
          <p:cNvSpPr txBox="1"/>
          <p:nvPr/>
        </p:nvSpPr>
        <p:spPr>
          <a:xfrm>
            <a:off x="1073150" y="2314312"/>
            <a:ext cx="100647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 valvar mitral em paciente com hipertensão pulmonar. Na saída da CEC:</a:t>
            </a:r>
            <a:endParaRPr lang="en-US" sz="1350" dirty="0"/>
          </a:p>
        </p:txBody>
      </p:sp>
      <p:sp>
        <p:nvSpPr>
          <p:cNvPr id="7" name="PAM"/>
          <p:cNvSpPr txBox="1"/>
          <p:nvPr/>
        </p:nvSpPr>
        <p:spPr>
          <a:xfrm>
            <a:off x="1073150" y="2683815"/>
            <a:ext cx="3265984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b="1" spc="50" kern="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endParaRPr lang="en-US" sz="1100" dirty="0"/>
          </a:p>
        </p:txBody>
      </p:sp>
      <p:sp>
        <p:nvSpPr>
          <p:cNvPr id="8" name="55 mmHg"/>
          <p:cNvSpPr txBox="1"/>
          <p:nvPr/>
        </p:nvSpPr>
        <p:spPr>
          <a:xfrm>
            <a:off x="1073150" y="2886093"/>
            <a:ext cx="3265984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mmHg</a:t>
            </a:r>
            <a:endParaRPr lang="en-US" sz="1700" dirty="0"/>
          </a:p>
        </p:txBody>
      </p:sp>
      <p:sp>
        <p:nvSpPr>
          <p:cNvPr id="9" name="IC"/>
          <p:cNvSpPr txBox="1"/>
          <p:nvPr/>
        </p:nvSpPr>
        <p:spPr>
          <a:xfrm>
            <a:off x="4472484" y="2683815"/>
            <a:ext cx="3265984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b="1" spc="50" kern="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</a:t>
            </a:r>
            <a:endParaRPr lang="en-US" sz="1100" dirty="0"/>
          </a:p>
        </p:txBody>
      </p:sp>
      <p:sp>
        <p:nvSpPr>
          <p:cNvPr id="10" name="1,8 L/min/m²"/>
          <p:cNvSpPr txBox="1"/>
          <p:nvPr/>
        </p:nvSpPr>
        <p:spPr>
          <a:xfrm>
            <a:off x="4472484" y="2886093"/>
            <a:ext cx="3265984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 L/min/m</a:t>
            </a:r>
            <a:pPr algn="l" indent="0" marL="0">
              <a:lnSpc>
                <a:spcPts val="2380"/>
              </a:lnSpc>
              <a:buNone/>
            </a:pPr>
            <a:r>
              <a:rPr lang="pt-BR" altLang="en-US" sz="1700" b="1" baseline="300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PVC"/>
          <p:cNvSpPr txBox="1"/>
          <p:nvPr/>
        </p:nvSpPr>
        <p:spPr>
          <a:xfrm>
            <a:off x="7871817" y="2683815"/>
            <a:ext cx="3266083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b="1" spc="50" kern="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PVC</a:t>
            </a:r>
            <a:endParaRPr lang="en-US" sz="1100" dirty="0"/>
          </a:p>
        </p:txBody>
      </p:sp>
      <p:sp>
        <p:nvSpPr>
          <p:cNvPr id="12" name="18 mmHg"/>
          <p:cNvSpPr txBox="1"/>
          <p:nvPr/>
        </p:nvSpPr>
        <p:spPr>
          <a:xfrm>
            <a:off x="7871817" y="2886093"/>
            <a:ext cx="3266083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mmHg</a:t>
            </a:r>
            <a:endParaRPr lang="en-US" sz="1700" dirty="0"/>
          </a:p>
        </p:txBody>
      </p:sp>
      <p:sp>
        <p:nvSpPr>
          <p:cNvPr id="13" name="PAP"/>
          <p:cNvSpPr txBox="1"/>
          <p:nvPr/>
        </p:nvSpPr>
        <p:spPr>
          <a:xfrm>
            <a:off x="1073150" y="3295895"/>
            <a:ext cx="3265984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b="1" spc="50" kern="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</a:t>
            </a:r>
            <a:endParaRPr lang="en-US" sz="1100" dirty="0"/>
          </a:p>
        </p:txBody>
      </p:sp>
      <p:sp>
        <p:nvSpPr>
          <p:cNvPr id="14" name="60/30 mmHg"/>
          <p:cNvSpPr txBox="1"/>
          <p:nvPr/>
        </p:nvSpPr>
        <p:spPr>
          <a:xfrm>
            <a:off x="1073150" y="3498174"/>
            <a:ext cx="3265984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60/30 mmHg</a:t>
            </a:r>
            <a:endParaRPr lang="en-US" sz="1700" dirty="0"/>
          </a:p>
        </p:txBody>
      </p:sp>
      <p:sp>
        <p:nvSpPr>
          <p:cNvPr id="15" name="FC"/>
          <p:cNvSpPr txBox="1"/>
          <p:nvPr/>
        </p:nvSpPr>
        <p:spPr>
          <a:xfrm>
            <a:off x="4472484" y="3295895"/>
            <a:ext cx="3265984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b="1" spc="50" kern="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endParaRPr lang="en-US" sz="1100" dirty="0"/>
          </a:p>
        </p:txBody>
      </p:sp>
      <p:sp>
        <p:nvSpPr>
          <p:cNvPr id="16" name="100 bpm"/>
          <p:cNvSpPr txBox="1"/>
          <p:nvPr/>
        </p:nvSpPr>
        <p:spPr>
          <a:xfrm>
            <a:off x="4472484" y="3498174"/>
            <a:ext cx="3265984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bpm</a:t>
            </a:r>
            <a:endParaRPr lang="en-US" sz="1700" dirty="0"/>
          </a:p>
        </p:txBody>
      </p:sp>
      <p:sp>
        <p:nvSpPr>
          <p:cNvPr id="17" name="LACTATO"/>
          <p:cNvSpPr txBox="1"/>
          <p:nvPr/>
        </p:nvSpPr>
        <p:spPr>
          <a:xfrm>
            <a:off x="7871817" y="3295895"/>
            <a:ext cx="3266083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b="1" spc="50" kern="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</a:t>
            </a:r>
            <a:endParaRPr lang="en-US" sz="1100" dirty="0"/>
          </a:p>
        </p:txBody>
      </p:sp>
      <p:sp>
        <p:nvSpPr>
          <p:cNvPr id="18" name="4 mmol/L ↑"/>
          <p:cNvSpPr txBox="1"/>
          <p:nvPr/>
        </p:nvSpPr>
        <p:spPr>
          <a:xfrm>
            <a:off x="7871817" y="3498174"/>
            <a:ext cx="3266083" cy="3022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mmol/L ↑</a:t>
            </a:r>
            <a:endParaRPr lang="en-US" sz="1700" dirty="0"/>
          </a:p>
        </p:txBody>
      </p:sp>
      <p:sp>
        <p:nvSpPr>
          <p:cNvPr id="19" name="ETE: VD dilatado e hipocinético, septo r"/>
          <p:cNvSpPr txBox="1"/>
          <p:nvPr/>
        </p:nvSpPr>
        <p:spPr>
          <a:xfrm>
            <a:off x="1073150" y="3930883"/>
            <a:ext cx="100647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pt-BR" altLang="en-US" sz="135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ETE:</a:t>
            </a:r>
            <a:pPr algn="l" indent="0" marL="0">
              <a:lnSpc>
                <a:spcPts val="1890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VD dilatado e hipocinético, septo retificado, VE pequeno e hiperdinâmico.</a:t>
            </a:r>
            <a:endParaRPr lang="en-US" sz="1350" dirty="0"/>
          </a:p>
        </p:txBody>
      </p:sp>
      <p:sp>
        <p:nvSpPr>
          <p:cNvPr id="20" name="Cartão"/>
          <p:cNvSpPr/>
          <p:nvPr/>
        </p:nvSpPr>
        <p:spPr>
          <a:xfrm>
            <a:off x="812800" y="4597102"/>
            <a:ext cx="10566400" cy="853380"/>
          </a:xfrm>
          <a:prstGeom prst="roundRect">
            <a:avLst>
              <a:gd name="adj" fmla="val 8929"/>
            </a:avLst>
          </a:prstGeom>
          <a:solidFill>
            <a:srgbClr val="1B2A3A"/>
          </a:solidFill>
          <a:ln/>
        </p:spPr>
      </p:sp>
      <p:sp>
        <p:nvSpPr>
          <p:cNvPr id="21" name="Pergunta"/>
          <p:cNvSpPr txBox="1"/>
          <p:nvPr/>
        </p:nvSpPr>
        <p:spPr>
          <a:xfrm>
            <a:off x="1066800" y="4749655"/>
            <a:ext cx="1451173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</a:t>
            </a:r>
            <a:endParaRPr lang="en-US" sz="2800" dirty="0"/>
          </a:p>
        </p:txBody>
      </p:sp>
      <p:sp>
        <p:nvSpPr>
          <p:cNvPr id="22" name="Falência de VD ou vasoplegia? Dobutamina"/>
          <p:cNvSpPr txBox="1"/>
          <p:nvPr/>
        </p:nvSpPr>
        <p:spPr>
          <a:xfrm>
            <a:off x="2702123" y="4875439"/>
            <a:ext cx="7589738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VD ou vasoplegia? Dobutamina, milrinona, noradrenalina ou vasodilatador pulmonar?</a:t>
            </a:r>
            <a:endParaRPr lang="en-US" sz="1500" dirty="0"/>
          </a:p>
        </p:txBody>
      </p:sp>
      <p:sp>
        <p:nvSpPr>
          <p:cNvPr id="23" name="Caso ilustrativo, construído para a aul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ilustrativo, construído para a aula</a:t>
            </a:r>
            <a:endParaRPr lang="en-US" sz="1200" dirty="0"/>
          </a:p>
        </p:txBody>
      </p:sp>
      <p:pic>
        <p:nvPicPr>
          <p:cNvPr id="2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CAS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CASO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Falência de VD após CEC: o que fazer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1"/>
          <p:cNvSpPr txBox="1"/>
          <p:nvPr/>
        </p:nvSpPr>
        <p:spPr>
          <a:xfrm>
            <a:off x="1022350" y="2001141"/>
            <a:ext cx="139105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Pressão de perfusão"/>
          <p:cNvSpPr txBox="1"/>
          <p:nvPr/>
        </p:nvSpPr>
        <p:spPr>
          <a:xfrm>
            <a:off x="1269405" y="1983927"/>
            <a:ext cx="45725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Pressão de perfusão</a:t>
            </a:r>
            <a:endParaRPr lang="en-US" sz="1500" dirty="0"/>
          </a:p>
        </p:txBody>
      </p:sp>
      <p:sp>
        <p:nvSpPr>
          <p:cNvPr id="7" name="Noradrenalina, ou vasopressina, para man"/>
          <p:cNvSpPr txBox="1"/>
          <p:nvPr/>
        </p:nvSpPr>
        <p:spPr>
          <a:xfrm>
            <a:off x="1269405" y="2241689"/>
            <a:ext cx="457259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Noradrenalina, ou vasopressina, para manter a PAM e a perfusão coronariana do VD.</a:t>
            </a:r>
            <a:endParaRPr lang="en-US" sz="1250" dirty="0"/>
          </a:p>
        </p:txBody>
      </p:sp>
      <p:sp>
        <p:nvSpPr>
          <p:cNvPr id="8" name="Cartão"/>
          <p:cNvSpPr/>
          <p:nvPr/>
        </p:nvSpPr>
        <p:spPr>
          <a:xfrm>
            <a:off x="61595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2"/>
          <p:cNvSpPr txBox="1"/>
          <p:nvPr/>
        </p:nvSpPr>
        <p:spPr>
          <a:xfrm>
            <a:off x="6369050" y="2001141"/>
            <a:ext cx="175121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Resistência pulmonar"/>
          <p:cNvSpPr txBox="1"/>
          <p:nvPr/>
        </p:nvSpPr>
        <p:spPr>
          <a:xfrm>
            <a:off x="6652121" y="1983927"/>
            <a:ext cx="45365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Resistência pulmonar</a:t>
            </a:r>
            <a:endParaRPr lang="en-US" sz="1500" dirty="0"/>
          </a:p>
        </p:txBody>
      </p:sp>
      <p:sp>
        <p:nvSpPr>
          <p:cNvPr id="11" name="Corrigir hipóxia, hipercapnia e acidose;"/>
          <p:cNvSpPr txBox="1"/>
          <p:nvPr/>
        </p:nvSpPr>
        <p:spPr>
          <a:xfrm>
            <a:off x="6652121" y="2241689"/>
            <a:ext cx="4536579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hipóxia, hipercapnia e acidose; óxido nítrico ou prostaciclina inalados.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8128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3"/>
          <p:cNvSpPr txBox="1"/>
          <p:nvPr/>
        </p:nvSpPr>
        <p:spPr>
          <a:xfrm>
            <a:off x="1022350" y="3156841"/>
            <a:ext cx="173236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Contratilidade"/>
          <p:cNvSpPr txBox="1"/>
          <p:nvPr/>
        </p:nvSpPr>
        <p:spPr>
          <a:xfrm>
            <a:off x="1303536" y="3139627"/>
            <a:ext cx="45384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Contratilidade</a:t>
            </a:r>
            <a:endParaRPr lang="en-US" sz="1500" dirty="0"/>
          </a:p>
        </p:txBody>
      </p:sp>
      <p:sp>
        <p:nvSpPr>
          <p:cNvPr id="15" name="Milrinona, que também reduz a RVP, ou do"/>
          <p:cNvSpPr txBox="1"/>
          <p:nvPr/>
        </p:nvSpPr>
        <p:spPr>
          <a:xfrm>
            <a:off x="1303536" y="3397389"/>
            <a:ext cx="453846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Milrinona, que também reduz a RVP, ou dobutamina; adrenalina se o choque for grave.</a:t>
            </a:r>
            <a:endParaRPr lang="en-US" sz="1250" dirty="0"/>
          </a:p>
        </p:txBody>
      </p:sp>
      <p:sp>
        <p:nvSpPr>
          <p:cNvPr id="16" name="Cartão"/>
          <p:cNvSpPr/>
          <p:nvPr/>
        </p:nvSpPr>
        <p:spPr>
          <a:xfrm>
            <a:off x="61595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4"/>
          <p:cNvSpPr txBox="1"/>
          <p:nvPr/>
        </p:nvSpPr>
        <p:spPr>
          <a:xfrm>
            <a:off x="6369050" y="3156841"/>
            <a:ext cx="176907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Volume e ritmo"/>
          <p:cNvSpPr txBox="1"/>
          <p:nvPr/>
        </p:nvSpPr>
        <p:spPr>
          <a:xfrm>
            <a:off x="6653907" y="3139627"/>
            <a:ext cx="453479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 ritmo</a:t>
            </a:r>
            <a:endParaRPr lang="en-US" sz="1500" dirty="0"/>
          </a:p>
        </p:txBody>
      </p:sp>
      <p:sp>
        <p:nvSpPr>
          <p:cNvPr id="19" name="Evitar sobrecarga de volume; manter ritm"/>
          <p:cNvSpPr txBox="1"/>
          <p:nvPr/>
        </p:nvSpPr>
        <p:spPr>
          <a:xfrm>
            <a:off x="6653907" y="3397389"/>
            <a:ext cx="4534793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sobrecarga de volume; manter ritmo sinusal e sincronia AV. Se falhar, assistência mecânica.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812800" y="4267101"/>
            <a:ext cx="10566400" cy="853380"/>
          </a:xfrm>
          <a:prstGeom prst="roundRect">
            <a:avLst>
              <a:gd name="adj" fmla="val 8929"/>
            </a:avLst>
          </a:prstGeom>
          <a:solidFill>
            <a:srgbClr val="1B2A3A"/>
          </a:solidFill>
          <a:ln/>
        </p:spPr>
      </p:sp>
      <p:sp>
        <p:nvSpPr>
          <p:cNvPr id="21" name="No caso"/>
          <p:cNvSpPr txBox="1"/>
          <p:nvPr/>
        </p:nvSpPr>
        <p:spPr>
          <a:xfrm>
            <a:off x="1066800" y="4419653"/>
            <a:ext cx="1255316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caso</a:t>
            </a:r>
            <a:endParaRPr lang="en-US" sz="2800" dirty="0"/>
          </a:p>
        </p:txBody>
      </p:sp>
      <p:sp>
        <p:nvSpPr>
          <p:cNvPr id="22" name="Há indicação de inotrópico, e a milrinon"/>
          <p:cNvSpPr txBox="1"/>
          <p:nvPr/>
        </p:nvSpPr>
        <p:spPr>
          <a:xfrm>
            <a:off x="2506266" y="4430943"/>
            <a:ext cx="8637984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Há indicação de inotrópico, e a milrinona tem fundamento, associada à noradrenalina. Se o IC fosse normal com RVS baixa, a droga seria o vasopressor.</a:t>
            </a:r>
            <a:endParaRPr lang="en-US" sz="1400" dirty="0"/>
          </a:p>
        </p:txBody>
      </p:sp>
      <p:sp>
        <p:nvSpPr>
          <p:cNvPr id="23" name="Konstam, Circulation 2018 (AHA) · Miller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Konstam, Circulation 2018 (AHA) · Miller’s Anesthesia, 10ª ed. (2025)</a:t>
            </a:r>
            <a:endParaRPr lang="en-US" sz="1200" dirty="0"/>
          </a:p>
        </p:txBody>
      </p:sp>
      <p:pic>
        <p:nvPicPr>
          <p:cNvPr id="2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21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adrenalina; milrinona no VD com hipertensão pulmonar; NA se a PAM cair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intraoperatória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Tratar cedo: PAM mínima de 60–65 mmHg; alvo individual em selecionados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ara discutir: no nosso serviço, como do"/>
          <p:cNvSpPr txBox="1"/>
          <p:nvPr/>
        </p:nvSpPr>
        <p:spPr>
          <a:xfrm>
            <a:off x="812800" y="5133115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discutir: no nosso serviço, como documentamos o baixo débito antes do inotrópico, e quando associamos vasopressina?</a:t>
            </a:r>
            <a:endParaRPr lang="en-US" sz="1400" dirty="0"/>
          </a:p>
        </p:txBody>
      </p:sp>
      <p:sp>
        <p:nvSpPr>
          <p:cNvPr id="6" name="Surviving Sepsis Campaign 2026 · ESICM 2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Sepsis Campaign 2026 · ESICM 2025 · Saugel, Br J Anaesth 2024 (POQI) · Lineburger, Braz J Anesthesiol 2025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400" dirty="0"/>
          </a:p>
        </p:txBody>
      </p:sp>
      <p:sp>
        <p:nvSpPr>
          <p:cNvPr id="3" name="Slides de reserva para perguntas"/>
          <p:cNvSpPr txBox="1"/>
          <p:nvPr/>
        </p:nvSpPr>
        <p:spPr>
          <a:xfrm>
            <a:off x="812800" y="2410271"/>
            <a:ext cx="10179050" cy="579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560"/>
              </a:lnSpc>
              <a:buNone/>
            </a:pPr>
            <a:r>
              <a:rPr lang="pt-BR" altLang="en-US" sz="38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Slides de reserva para perguntas</a:t>
            </a:r>
            <a:endParaRPr lang="en-US" sz="3800" dirty="0"/>
          </a:p>
        </p:txBody>
      </p:sp>
      <p:sp>
        <p:nvSpPr>
          <p:cNvPr id="4" name="Material de apoio: detalhes, tabelas e r"/>
          <p:cNvSpPr txBox="1"/>
          <p:nvPr/>
        </p:nvSpPr>
        <p:spPr>
          <a:xfrm>
            <a:off x="812800" y="3283469"/>
            <a:ext cx="9544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apoio: detalhes, tabelas e referências.</a:t>
            </a:r>
            <a:endParaRPr lang="en-US" sz="1600" dirty="0"/>
          </a:p>
        </p:txBody>
      </p:sp>
      <p:sp>
        <p:nvSpPr>
          <p:cNvPr id="5" name="Síntese das drogas"/>
          <p:cNvSpPr/>
          <p:nvPr/>
        </p:nvSpPr>
        <p:spPr>
          <a:xfrm>
            <a:off x="812800" y="3888680"/>
            <a:ext cx="1722041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drogas</a:t>
            </a:r>
            <a:endParaRPr lang="en-US" sz="1400" dirty="0"/>
          </a:p>
        </p:txBody>
      </p:sp>
      <p:sp>
        <p:nvSpPr>
          <p:cNvPr id="6" name="Dopamina"/>
          <p:cNvSpPr/>
          <p:nvPr/>
        </p:nvSpPr>
        <p:spPr>
          <a:xfrm>
            <a:off x="2636441" y="3888680"/>
            <a:ext cx="111799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400" dirty="0"/>
          </a:p>
        </p:txBody>
      </p:sp>
      <p:sp>
        <p:nvSpPr>
          <p:cNvPr id="7" name="Dobutamina"/>
          <p:cNvSpPr/>
          <p:nvPr/>
        </p:nvSpPr>
        <p:spPr>
          <a:xfrm>
            <a:off x="3856037" y="3888680"/>
            <a:ext cx="127506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400" dirty="0"/>
          </a:p>
        </p:txBody>
      </p:sp>
      <p:sp>
        <p:nvSpPr>
          <p:cNvPr id="8" name="Fenilefrina"/>
          <p:cNvSpPr/>
          <p:nvPr/>
        </p:nvSpPr>
        <p:spPr>
          <a:xfrm>
            <a:off x="5232698" y="3888680"/>
            <a:ext cx="1145282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400" dirty="0"/>
          </a:p>
        </p:txBody>
      </p:sp>
      <p:sp>
        <p:nvSpPr>
          <p:cNvPr id="9" name="Efedrina"/>
          <p:cNvSpPr/>
          <p:nvPr/>
        </p:nvSpPr>
        <p:spPr>
          <a:xfrm>
            <a:off x="6479580" y="3888680"/>
            <a:ext cx="97363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400" dirty="0"/>
          </a:p>
        </p:txBody>
      </p:sp>
      <p:sp>
        <p:nvSpPr>
          <p:cNvPr id="10" name="Vasopressina"/>
          <p:cNvSpPr/>
          <p:nvPr/>
        </p:nvSpPr>
        <p:spPr>
          <a:xfrm>
            <a:off x="7554813" y="3888680"/>
            <a:ext cx="133191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</a:t>
            </a:r>
            <a:endParaRPr lang="en-US" sz="1400" dirty="0"/>
          </a:p>
        </p:txBody>
      </p:sp>
      <p:sp>
        <p:nvSpPr>
          <p:cNvPr id="11" name="Choque refratário"/>
          <p:cNvSpPr/>
          <p:nvPr/>
        </p:nvSpPr>
        <p:spPr>
          <a:xfrm>
            <a:off x="8988326" y="3888680"/>
            <a:ext cx="16731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refratário</a:t>
            </a:r>
            <a:endParaRPr lang="en-US" sz="1400" dirty="0"/>
          </a:p>
        </p:txBody>
      </p:sp>
      <p:sp>
        <p:nvSpPr>
          <p:cNvPr id="12" name="Sequência SSC"/>
          <p:cNvSpPr/>
          <p:nvPr/>
        </p:nvSpPr>
        <p:spPr>
          <a:xfrm>
            <a:off x="812800" y="4391521"/>
            <a:ext cx="141317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SSC</a:t>
            </a:r>
            <a:endParaRPr lang="en-US" sz="1400" dirty="0"/>
          </a:p>
        </p:txBody>
      </p:sp>
      <p:sp>
        <p:nvSpPr>
          <p:cNvPr id="13" name="Alvo de PAM"/>
          <p:cNvSpPr/>
          <p:nvPr/>
        </p:nvSpPr>
        <p:spPr>
          <a:xfrm>
            <a:off x="2327573" y="4391521"/>
            <a:ext cx="130988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de PAM</a:t>
            </a:r>
            <a:endParaRPr lang="en-US" sz="1400" dirty="0"/>
          </a:p>
        </p:txBody>
      </p:sp>
      <p:sp>
        <p:nvSpPr>
          <p:cNvPr id="14" name="Início e via"/>
          <p:cNvSpPr/>
          <p:nvPr/>
        </p:nvSpPr>
        <p:spPr>
          <a:xfrm>
            <a:off x="3739059" y="4391521"/>
            <a:ext cx="114121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e via</a:t>
            </a:r>
            <a:endParaRPr lang="en-US" sz="1400" dirty="0"/>
          </a:p>
        </p:txBody>
      </p:sp>
      <p:sp>
        <p:nvSpPr>
          <p:cNvPr id="15" name="Alvo intraoperatório"/>
          <p:cNvSpPr/>
          <p:nvPr/>
        </p:nvSpPr>
        <p:spPr>
          <a:xfrm>
            <a:off x="4981873" y="4391521"/>
            <a:ext cx="186977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intraoperatório</a:t>
            </a:r>
            <a:endParaRPr lang="en-US" sz="1400" dirty="0"/>
          </a:p>
        </p:txBody>
      </p:sp>
      <p:sp>
        <p:nvSpPr>
          <p:cNvPr id="16" name="Roteiro"/>
          <p:cNvSpPr/>
          <p:nvPr/>
        </p:nvSpPr>
        <p:spPr>
          <a:xfrm>
            <a:off x="6953250" y="4391521"/>
            <a:ext cx="90497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400" dirty="0"/>
          </a:p>
        </p:txBody>
      </p:sp>
      <p:sp>
        <p:nvSpPr>
          <p:cNvPr id="17" name="Referências"/>
          <p:cNvSpPr/>
          <p:nvPr/>
        </p:nvSpPr>
        <p:spPr>
          <a:xfrm>
            <a:off x="7959824" y="4391521"/>
            <a:ext cx="12159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4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ÍNTESE DAS DROG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SÍNTESE DAS DROGAS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Síntese das drogas</a:t>
            </a:r>
            <a:endParaRPr lang="en-US" sz="3200" dirty="0"/>
          </a:p>
        </p:txBody>
      </p:sp>
      <p:graphicFrame>
        <p:nvGraphicFramePr>
          <p:cNvPr id="23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796256"/>
                <a:gridCol w="845245"/>
                <a:gridCol w="845245"/>
                <a:gridCol w="845245"/>
                <a:gridCol w="845245"/>
                <a:gridCol w="2324596"/>
                <a:gridCol w="3064570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 usual (adulto)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principal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1ª linha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0,01–0,1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Choque refratário; anafilaxia; PCR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sem alternativa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PAM sustentada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0,375–0,75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Inodilatador: baixo débito, VD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Vasopressina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 U/min (até 0,04)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Adjuvante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50–100 mcg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FC alta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5–10 mg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Isoproterenol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2–10 mcg/min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refratária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Escala qualitativa (0 a ++++), sem medid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qualitativa (0 a ++++), sem medida de afinidade · faixas usuais, titular pelo efeito · adaptado de Overgaard &amp; Džavík, Circulation 2008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8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9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2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3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Faixa de 2 a 20 mcg/kg/min. Até cerca de"/>
          <p:cNvSpPr txBox="1"/>
          <p:nvPr/>
        </p:nvSpPr>
        <p:spPr>
          <a:xfrm>
            <a:off x="4324350" y="2484480"/>
            <a:ext cx="30543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de 2 a 20 mcg/kg/min. Até cerca de 3: D1 (vasodilatação renal e mesentérica). De 3 a 10: β1, em parte por liberação de noradrenalina. Acima de 10: α1. Os limiares variam muito entre pacientes.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8" name="Dose “renal” não protege o rim (ANZICS,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“renal” não protege o rim (ANZICS, Lancet 2000). SOAP II: arritmias 24,1% vs. 12,4% com NA e maior mortalidade no subgrupo com choque cardiogênico. SSC 2026: recomendação forte contra o uso como primeira linha (certeza alta).</a:t>
            </a:r>
            <a:endParaRPr lang="en-US" sz="1350" dirty="0"/>
          </a:p>
        </p:txBody>
      </p:sp>
      <p:sp>
        <p:nvSpPr>
          <p:cNvPr id="29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DC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RVS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21" name="PAM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Infusão de 2,5 a 20 mcg/kg/min. Mistura 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Infusão de 2,5 a 20 mcg/kg/min. Mistura racêmica cujos efeitos α1 se anulam: efeito resultante β1, com vasodilatação β2. SSC 2026: com disfunção cardíaca e hipoperfusão persistente, associar à NA ou usar adrenalina isolada.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cardia, arritmia e maior consumo mi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Taquicardia, arritmia e maior consumo miocárdico de oxigênio; tolerância após uso prolongado. Hipotensão na hipovolemia ou na vasoplegia. DOREMI (choque cardiogênico): sem diferença estatisticamente significativa vs. milrinona no desfecho composto (54% vs. 49%).</a:t>
            </a:r>
            <a:endParaRPr lang="en-US" sz="1350" dirty="0"/>
          </a:p>
        </p:txBody>
      </p:sp>
      <p:sp>
        <p:nvSpPr>
          <p:cNvPr id="28" name="Mathew, N Engl J Med 2021 (DOREMI) · SSC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FENILEF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FENILEFRINA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3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6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7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FC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9" name="D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1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2" name="Bolus de 50–100 mcg, início imediato e e"/>
          <p:cNvSpPr txBox="1"/>
          <p:nvPr/>
        </p:nvSpPr>
        <p:spPr>
          <a:xfrm>
            <a:off x="4324350" y="2484480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50–100 mcg, início imediato e efeito curto. Na cesárea sob raquianestesia, infusão profilática de 25–50 mcg/min, mantendo a PAS ≥90% da basal. Útil na vasodilatação com FC normal ou alta e, em casos selecionados, na estenose aórtica ou na obstrução dinâmica da via de saída do VE.</a:t>
            </a:r>
            <a:endParaRPr lang="en-US" sz="1350" dirty="0"/>
          </a:p>
        </p:txBody>
      </p:sp>
      <p:sp>
        <p:nvSpPr>
          <p:cNvPr id="23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5" name="A bradicardia barorreflexa pode reduzir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bradicardia barorreflexa pode reduzir o DC, sobretudo com disfunção de VE. Na cesárea, NA 6 mcg em bolus causou menos bradicardia que fenilefrina 100 mcg (10,7% vs. 37,5%). No choque séptico, sem evidência para uso como primeira linha.</a:t>
            </a:r>
            <a:endParaRPr lang="en-US" sz="1350" dirty="0"/>
          </a:p>
        </p:txBody>
      </p:sp>
      <p:sp>
        <p:nvSpPr>
          <p:cNvPr id="26" name="Kinsella, Anaesthesia 2018 · Sharkey, An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Sharkey, Anesth Analg 2019 · Park &amp; Choi, Anesth Pain Med 2024 · barras: escala qualitativa</a:t>
            </a:r>
            <a:endParaRPr lang="en-US" sz="1200" dirty="0"/>
          </a:p>
        </p:txBody>
      </p:sp>
      <p:pic>
        <p:nvPicPr>
          <p:cNvPr id="2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Bolus de 5–10 mg EV, repetível. Agonista"/>
          <p:cNvSpPr txBox="1"/>
          <p:nvPr/>
        </p:nvSpPr>
        <p:spPr>
          <a:xfrm>
            <a:off x="43243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5–10 mg EV, repetível. Agonista direto α e β e indireto, liberando noradrenalina das terminações nervosas. Sem o anel catecol, resiste à MAO e à COMT e dura mais que as catecolaminas. Boa opção na hipotensão com bradicardia após indução ou raquianestesia.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filaxia por depleção dos estoques d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Taquifilaxia por depleção dos estoques de noradrenalina: doses repetidas perdem efeito. Interação grave com IMAO. Na cesárea, atravessa a placenta e se associa a mais acidose fetal que a fenilefrina; é reservada para resgate.</a:t>
            </a:r>
            <a:endParaRPr lang="en-US" sz="1350" dirty="0"/>
          </a:p>
        </p:txBody>
      </p:sp>
      <p:sp>
        <p:nvSpPr>
          <p:cNvPr id="28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VASOPRESS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VASOPRESSINA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Mecanismo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700" dirty="0"/>
          </a:p>
        </p:txBody>
      </p:sp>
      <p:sp>
        <p:nvSpPr>
          <p:cNvPr id="6" name="Hormônio não adrenérgico que age no rece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Hormônio não adrenérgico que age no receptor V1 do músculo liso vascular. Mantém efeito em acidose e com adrenoceptores dessensibilizados. No choque séptico há deficiência relativa de vasopressina endógena.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Uso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1700" dirty="0"/>
          </a:p>
        </p:txBody>
      </p:sp>
      <p:sp>
        <p:nvSpPr>
          <p:cNvPr id="9" name="Em geral, dose fixa de 0,03 U/min (até 0"/>
          <p:cNvSpPr txBox="1"/>
          <p:nvPr/>
        </p:nvSpPr>
        <p:spPr>
          <a:xfrm>
            <a:off x="4662984" y="2484480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de 0,03 U/min (até 0,04 U/min), ao contrário da NA, que é titulada. SSC 2026: associar quando a NA está em escalada (condicional, certeza moderada); na enquete dos painelistas, a mediana de NA para associar foi 0,3 mcg/kg/min.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Evidênci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</a:t>
            </a:r>
            <a:endParaRPr lang="en-US" sz="1700" dirty="0"/>
          </a:p>
        </p:txBody>
      </p:sp>
      <p:sp>
        <p:nvSpPr>
          <p:cNvPr id="12" name="VASST: sem redução de mortalidade em 28 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VASST: sem redução de mortalidade em 28 dias (35,4% vs. 39,3%). VASSPR (JAMA 2026; n = 3.959): políticas hospitalares de iniciar a vasopressina com NA 0,1 vs. 0,4 mcg/kg/min não mudaram a mortalidade (31,8% vs. 33,0%).</a:t>
            </a:r>
            <a:endParaRPr lang="en-US" sz="1350" dirty="0"/>
          </a:p>
        </p:txBody>
      </p:sp>
      <p:sp>
        <p:nvSpPr>
          <p:cNvPr id="13" name="Russell, N Engl J Med 2008 (VASST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Russell, N Engl J Med 2008 (VASST) · Peltan, JAMA 2026 (VASSPR)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CHOQUE REFRATÁ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CHOQUE REFRATÁRIO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refratário: adjuvantes</a:t>
            </a:r>
            <a:endParaRPr lang="en-US" sz="3200" dirty="0"/>
          </a:p>
        </p:txBody>
      </p:sp>
      <p:graphicFrame>
        <p:nvGraphicFramePr>
          <p:cNvPr id="29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901924"/>
                <a:gridCol w="2747169"/>
                <a:gridCol w="3592513"/>
                <a:gridCol w="2324795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Evidência-chave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SSC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82093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Restaura a resposta vascular às catecolaminas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ADRENAL: resolução mais rápida do choque, sem ↓ mortalidade. APROCCHSS: ↓ mortalidade com hidrocortisona + fludrocortisona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usar (condicional, certeza baixa)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Angiotensina II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Agonista AT1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ATHOS-3: resposta da PAM em 3 h (69,9% vs. 23,4%); mortalidade sem diferença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preferida como 1ª linha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Azul de metileno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Inibe a via óxido nítrico–GMPc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ECRs pequenos, sem desfecho clínico robusto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 insuficiente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Milrinona, levosimendana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Inodilatadores não adrenérgicos (PDE3; sensibilização ao 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DOREMI: sem diferença significativa vs. dobutamina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não usar levosimendana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Venkatesh, N Engl J Med 2018 (ADRENAL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Venkatesh, N Engl J Med 2018 (ADRENAL) · Annane, N Engl J Med 2018 (APROCCHSS) · Khanna, N Engl J Med 2017 (ATHOS-3) · SSC 2026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EQUÊNCIA SSC 2026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SEQUÊNCIA SSC 2026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Sequência de vasopressores na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 (forte); iniciar cedo, inclusiv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 (forte); iniciar cedo, inclusive por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NA em escalada (condicional, certeza mod"/>
          <p:cNvSpPr txBox="1"/>
          <p:nvPr/>
        </p:nvSpPr>
        <p:spPr>
          <a:xfrm>
            <a:off x="4730155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em escalada (condicional, certeza moderada).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PAM ainda inadequada (condicional, certe"/>
          <p:cNvSpPr txBox="1"/>
          <p:nvPr/>
        </p:nvSpPr>
        <p:spPr>
          <a:xfrm>
            <a:off x="8444309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ainda inadequada (condicional, certeza muito baixa).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isfunção cardíaca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</a:t>
            </a:r>
            <a:endParaRPr lang="en-US" sz="1700" dirty="0"/>
          </a:p>
        </p:txBody>
      </p:sp>
      <p:sp>
        <p:nvSpPr>
          <p:cNvPr id="20" name="Hipoperfusão apesar de volume e PAM adeq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apesar de volume e PAM adequados: dobutamina + NA, ou adrenalina isolada. Na escolha inicial, NA se taquiarritmia, adrenalina se bradiarritmia. Evitar levosimendana.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djuvantes e o que evitar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Adjuvantes e o que evitar</a:t>
            </a:r>
            <a:endParaRPr lang="en-US" sz="1700" dirty="0"/>
          </a:p>
        </p:txBody>
      </p:sp>
      <p:sp>
        <p:nvSpPr>
          <p:cNvPr id="23" name="Hidrocortisona EV sugerida (condicional,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 EV sugerida (condicional, certeza baixa). Não usar dopamina como primeira linha (forte). Evitar terlipressina. Azul de metileno: evidência insuficiente.</a:t>
            </a:r>
            <a:endParaRPr lang="en-US" sz="1350" dirty="0"/>
          </a:p>
        </p:txBody>
      </p:sp>
      <p:sp>
        <p:nvSpPr>
          <p:cNvPr id="24" name="Prescott, Crit Care Med 2026 (SSC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DE PAM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DE PAM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choque séptico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SSC 2026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</a:t>
            </a:r>
            <a:endParaRPr lang="en-US" sz="1200" dirty="0"/>
          </a:p>
        </p:txBody>
      </p:sp>
      <p:sp>
        <p:nvSpPr>
          <p:cNvPr id="6" name="65"/>
          <p:cNvSpPr txBox="1"/>
          <p:nvPr/>
        </p:nvSpPr>
        <p:spPr>
          <a:xfrm>
            <a:off x="1066800" y="2549005"/>
            <a:ext cx="306705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0"/>
              </a:lnSpc>
              <a:buNone/>
            </a:pPr>
            <a:r>
              <a:rPr lang="pt-BR" altLang="en-US" sz="80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8000" dirty="0"/>
          </a:p>
        </p:txBody>
      </p:sp>
      <p:sp>
        <p:nvSpPr>
          <p:cNvPr id="7" name="mmHg como alvo inicial no choque séptico"/>
          <p:cNvSpPr txBox="1"/>
          <p:nvPr/>
        </p:nvSpPr>
        <p:spPr>
          <a:xfrm>
            <a:off x="1066800" y="3650997"/>
            <a:ext cx="3067050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pt-BR" altLang="en-US" sz="140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 como alvo inicial no choque séptico (forte, certeza moderada). A partir dos 65 anos: 60–65 mmHg (condicional, certeza baixa).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65 trial · JAMA 2020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trial · JAMA 2020</a:t>
            </a:r>
            <a:endParaRPr lang="en-US" sz="1500" dirty="0"/>
          </a:p>
        </p:txBody>
      </p:sp>
      <p:sp>
        <p:nvSpPr>
          <p:cNvPr id="10" name="≥65 anos, PAM 60–65 mmHg vs. cuidado usu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anos, PAM 60–65 mmHg vs. cuidado usual: mortalidade em 90 dias 41,0% vs. 43,8% (NS), com menor dose e menor duração de vasopressor.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OPTPRESS · Intensive Care Med 2025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OPTPRESS · Intensive Care Med 2025</a:t>
            </a:r>
            <a:endParaRPr lang="en-US" sz="1500" dirty="0"/>
          </a:p>
        </p:txBody>
      </p:sp>
      <p:sp>
        <p:nvSpPr>
          <p:cNvPr id="13" name="≥65 anos com choque séptico, alvo 80–85 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 com choque séptico, alvo 80–85 vs. 65–70 mmHg: interrompido por dano (mortalidade em 90 dias 39,3% vs. 28,6%; n = 518).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ESICM 2025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ESICM 2025</a:t>
            </a:r>
            <a:endParaRPr lang="en-US" sz="1500" dirty="0"/>
          </a:p>
        </p:txBody>
      </p:sp>
      <p:sp>
        <p:nvSpPr>
          <p:cNvPr id="16" name="Individualizar: considerar alvo maior em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Individualizar: considerar alvo maior em hipertensão crônica ou PVC alta, se houver melhora clínica com PA mais alta.</a:t>
            </a:r>
            <a:endParaRPr lang="en-US" sz="1300" dirty="0"/>
          </a:p>
        </p:txBody>
      </p:sp>
      <p:sp>
        <p:nvSpPr>
          <p:cNvPr id="17" name="Lamontagne, JAMA 2020 (65 trial) · Endo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Lamontagne, JAMA 2020 (65 trial) · Endo, Intensive Care Med 2025 (OPTPRESS) · Monnet, Intensive Care Med 2025 (ESICM) · SSC 2026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INÍCIO E V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INÍCIO E VIA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Início precoce e via periférica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Início precoce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precoce</a:t>
            </a:r>
            <a:endParaRPr lang="en-US" sz="1700" dirty="0"/>
          </a:p>
        </p:txBody>
      </p:sp>
      <p:sp>
        <p:nvSpPr>
          <p:cNvPr id="6" name="CENSER: NA 0,05 mcg/kg/min desde a admis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CENSER: NA 0,05 mcg/kg/min desde a admissão aumentou o controle do choque em 6 h (76,1% vs. 48,4%), com menos edema pulmonar (14,4% vs. 27,7%) e arritmia. Mortalidade sem diferença.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Via periféric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periférica</a:t>
            </a:r>
            <a:endParaRPr lang="en-US" sz="1700" dirty="0"/>
          </a:p>
        </p:txBody>
      </p:sp>
      <p:sp>
        <p:nvSpPr>
          <p:cNvPr id="9" name="Metanálise de Tran (n = 1.835): complica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Metanálise de Tran (n = 1.835): complicações em 7% (prevalência combinada de 8,6%), 96% leves; menos com protocolo de segurança (2,9% vs. 12%). SSC 2026: iniciar por via periférica em vez de esperar o acesso central.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escrição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Prescrição</a:t>
            </a:r>
            <a:endParaRPr lang="en-US" sz="1700" dirty="0"/>
          </a:p>
        </p:txBody>
      </p:sp>
      <p:sp>
        <p:nvSpPr>
          <p:cNvPr id="12" name="No Brasil, a ampola de hemitartarato 2 m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a ampola de hemitartarato 2 mg/mL equivale a 1 mg/mL de noradrenalina base. A mesma infusão expressa em sal tem o dobro do valor em base: especificar a forma na prescrição e ao comparar com estudos.</a:t>
            </a:r>
            <a:endParaRPr lang="en-US" sz="1350" dirty="0"/>
          </a:p>
        </p:txBody>
      </p:sp>
      <p:sp>
        <p:nvSpPr>
          <p:cNvPr id="13" name="Permpikul, Am J Respir Crit Care Med 201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Permpikul, Am J Respir Crit Care Med 2019 (CENSER) · Tran, Am J Emerg Med 2020 · Ibarra-Estrada, Intensive Care Med 2024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INTRA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INTRAOPERATÓRIO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intraoperatório: ensaios</a:t>
            </a:r>
            <a:endParaRPr lang="en-US" sz="3200" dirty="0"/>
          </a:p>
        </p:txBody>
      </p:sp>
      <p:graphicFrame>
        <p:nvGraphicFramePr>
          <p:cNvPr id="33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2535932"/>
                <a:gridCol w="2324596"/>
                <a:gridCol w="2535932"/>
                <a:gridCol w="3169940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60761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POISE-3 · Ann Intern Med 2023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7.490; cirurgia não cardíaca, risco cardiovascular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suspendendo anti-hipertensivos vs. ≥60 mantendo-os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Eventos vasculares em 30 dias: 13,9% vs. 14,0%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IMPROVE-multi · JAMA 2025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1.134; cirurgia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individualizada pela basal noturna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Composto em 7 dias: 33,5% vs. 30,5%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HISTAP · Intensive Care Med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630; ≥60 anos, hipertensos,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Morte ou disfunção orgânica: 38,1% vs. 48,9% (RR 0,78), sobretudo lesão renal aguda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OQI 2024: PAM ≥60 em pacientes de risco"/>
          <p:cNvSpPr txBox="1"/>
          <p:nvPr/>
        </p:nvSpPr>
        <p:spPr>
          <a:xfrm>
            <a:off x="812800" y="4393836"/>
            <a:ext cx="1058545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POQI 2024: PAM ≥60 em pacientes de risco é o limite mínimo e não assegura perfusão; com pressão venosa ou compartimental alta, o alvo é maior. Acima desse piso, só houve benefício em hipertensos de alto risco (HISTAP).</a:t>
            </a:r>
            <a:endParaRPr lang="en-US" sz="1400" dirty="0"/>
          </a:p>
        </p:txBody>
      </p:sp>
      <p:sp>
        <p:nvSpPr>
          <p:cNvPr id="6" name="Marcucci, Ann Intern Med 2023 (POISE-3)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Marcucci, Ann Intern Med 2023 (POISE-3) · Saugel, JAMA 2025 (IMPROVE-multi) · Cecconi, Intensive Care Med 2026 (HISTAP) · Saugel, Br J Anaesth 2024 (POQI)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OTEIR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ROTEIRO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Roteiro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Fisiologia: PAM, débito, resistência vas"/>
          <p:cNvSpPr txBox="1"/>
          <p:nvPr/>
        </p:nvSpPr>
        <p:spPr>
          <a:xfrm>
            <a:off x="1371600" y="1964280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Fisiologia: PAM, débito, resistência vascular e perfusão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62992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ceptores e classificação das aminas"/>
          <p:cNvSpPr txBox="1"/>
          <p:nvPr/>
        </p:nvSpPr>
        <p:spPr>
          <a:xfrm>
            <a:off x="6858000" y="1964280"/>
            <a:ext cx="332124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 e classificação das aminas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rogas: noradrenalina, adrenalina, dopam"/>
          <p:cNvSpPr txBox="1"/>
          <p:nvPr/>
        </p:nvSpPr>
        <p:spPr>
          <a:xfrm>
            <a:off x="1371600" y="2773111"/>
            <a:ext cx="4540250" cy="84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Drogas: noradrenalina, adrenalina, dopamina, dobutamina, milrinona, fenilefrina e efedrina; quando preferir milrinona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62992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lém das aminas: vasopressina e adjuvant"/>
          <p:cNvSpPr txBox="1"/>
          <p:nvPr/>
        </p:nvSpPr>
        <p:spPr>
          <a:xfrm>
            <a:off x="6858000" y="2773111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das aminas: vasopressina e adjuvantes do choque refratário</a:t>
            </a:r>
            <a:endParaRPr lang="en-US" sz="1700" dirty="0"/>
          </a:p>
        </p:txBody>
      </p:sp>
      <p:sp>
        <p:nvSpPr>
          <p:cNvPr id="12" name="05"/>
          <p:cNvSpPr txBox="1"/>
          <p:nvPr/>
        </p:nvSpPr>
        <p:spPr>
          <a:xfrm>
            <a:off x="8128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13" name="Choque séptico: a sequência da SSC 2026"/>
          <p:cNvSpPr txBox="1"/>
          <p:nvPr/>
        </p:nvSpPr>
        <p:spPr>
          <a:xfrm>
            <a:off x="1371600" y="3862533"/>
            <a:ext cx="363408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a sequência da SSC 2026</a:t>
            </a:r>
            <a:endParaRPr lang="en-US" sz="1700" dirty="0"/>
          </a:p>
        </p:txBody>
      </p:sp>
      <p:sp>
        <p:nvSpPr>
          <p:cNvPr id="14" name="06"/>
          <p:cNvSpPr txBox="1"/>
          <p:nvPr/>
        </p:nvSpPr>
        <p:spPr>
          <a:xfrm>
            <a:off x="62992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15" name="Perioperatório: escolha da droga, alvo d"/>
          <p:cNvSpPr txBox="1"/>
          <p:nvPr/>
        </p:nvSpPr>
        <p:spPr>
          <a:xfrm>
            <a:off x="6858000" y="3862533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Perioperatório: escolha da droga, alvo de pressão e falência de VD</a:t>
            </a:r>
            <a:endParaRPr lang="en-US" sz="1700" dirty="0"/>
          </a:p>
        </p:txBody>
      </p:sp>
      <p:sp>
        <p:nvSpPr>
          <p:cNvPr id="16" name="07"/>
          <p:cNvSpPr txBox="1"/>
          <p:nvPr/>
        </p:nvSpPr>
        <p:spPr>
          <a:xfrm>
            <a:off x="812800" y="4564944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400" dirty="0"/>
          </a:p>
        </p:txBody>
      </p:sp>
      <p:sp>
        <p:nvSpPr>
          <p:cNvPr id="17" name="Mensagens finais"/>
          <p:cNvSpPr txBox="1"/>
          <p:nvPr/>
        </p:nvSpPr>
        <p:spPr>
          <a:xfrm>
            <a:off x="1371600" y="4671364"/>
            <a:ext cx="153441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finais</a:t>
            </a:r>
            <a:endParaRPr lang="en-US" sz="1700" dirty="0"/>
          </a:p>
        </p:txBody>
      </p:sp>
      <p:sp>
        <p:nvSpPr>
          <p:cNvPr id="18" name="Surviving Sepsis Campaign 2026 · ESICM 2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Sepsis Campaign 2026 · ESICM 2025 · Miller’s Anesthesia, 10ª ed. (2025)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EFERÊNCI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REFERÊNCIAS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Referências</a:t>
            </a:r>
            <a:endParaRPr lang="en-US" sz="3200" dirty="0"/>
          </a:p>
        </p:txBody>
      </p:sp>
      <p:sp>
        <p:nvSpPr>
          <p:cNvPr id="4" name="Prescott, Antonelli · SSC 2026 · Crit Ca"/>
          <p:cNvSpPr txBox="1"/>
          <p:nvPr/>
        </p:nvSpPr>
        <p:spPr>
          <a:xfrm>
            <a:off x="812800" y="1770509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Antonelli · SSC 2026 · Crit Care Med 2026</a:t>
            </a:r>
            <a:endParaRPr lang="en-US" sz="1200" dirty="0"/>
          </a:p>
        </p:txBody>
      </p:sp>
      <p:sp>
        <p:nvSpPr>
          <p:cNvPr id="5" name="Monnet, Messina · ESICM 2025 · Intensive"/>
          <p:cNvSpPr txBox="1"/>
          <p:nvPr/>
        </p:nvSpPr>
        <p:spPr>
          <a:xfrm>
            <a:off x="812800" y="1981250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Monnet, Messina · ESICM 2025 · Intensive Care Med 2025</a:t>
            </a:r>
            <a:endParaRPr lang="en-US" sz="1200" dirty="0"/>
          </a:p>
        </p:txBody>
      </p:sp>
      <p:sp>
        <p:nvSpPr>
          <p:cNvPr id="6" name="Miller’s Anesthesia, 10ª ed. · Elsevier "/>
          <p:cNvSpPr txBox="1"/>
          <p:nvPr/>
        </p:nvSpPr>
        <p:spPr>
          <a:xfrm>
            <a:off x="812800" y="2191991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· Elsevier 2025</a:t>
            </a:r>
            <a:endParaRPr lang="en-US" sz="1200" dirty="0"/>
          </a:p>
        </p:txBody>
      </p:sp>
      <p:sp>
        <p:nvSpPr>
          <p:cNvPr id="7" name="De Backer · SOAP II · N Engl J Med 2010"/>
          <p:cNvSpPr txBox="1"/>
          <p:nvPr/>
        </p:nvSpPr>
        <p:spPr>
          <a:xfrm>
            <a:off x="812800" y="2402731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Backer · SOAP II · N Engl J Med 2010</a:t>
            </a:r>
            <a:endParaRPr lang="en-US" sz="1200" dirty="0"/>
          </a:p>
        </p:txBody>
      </p:sp>
      <p:sp>
        <p:nvSpPr>
          <p:cNvPr id="8" name="Russell · VASST · N Engl J Med 2008"/>
          <p:cNvSpPr txBox="1"/>
          <p:nvPr/>
        </p:nvSpPr>
        <p:spPr>
          <a:xfrm>
            <a:off x="812800" y="2613472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 · VASST · N Engl J Med 2008</a:t>
            </a:r>
            <a:endParaRPr lang="en-US" sz="1200" dirty="0"/>
          </a:p>
        </p:txBody>
      </p:sp>
      <p:sp>
        <p:nvSpPr>
          <p:cNvPr id="9" name="Gordon · VANISH · JAMA 2016"/>
          <p:cNvSpPr txBox="1"/>
          <p:nvPr/>
        </p:nvSpPr>
        <p:spPr>
          <a:xfrm>
            <a:off x="812800" y="2824213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Gordon · VANISH · JAMA 2016</a:t>
            </a:r>
            <a:endParaRPr lang="en-US" sz="1200" dirty="0"/>
          </a:p>
        </p:txBody>
      </p:sp>
      <p:sp>
        <p:nvSpPr>
          <p:cNvPr id="10" name="Peltan · VASSPR · JAMA 2026"/>
          <p:cNvSpPr txBox="1"/>
          <p:nvPr/>
        </p:nvSpPr>
        <p:spPr>
          <a:xfrm>
            <a:off x="812800" y="3034953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Peltan · VASSPR · JAMA 2026</a:t>
            </a:r>
            <a:endParaRPr lang="en-US" sz="1200" dirty="0"/>
          </a:p>
        </p:txBody>
      </p:sp>
      <p:sp>
        <p:nvSpPr>
          <p:cNvPr id="11" name="Lamontagne · 65 trial · JAMA 2020"/>
          <p:cNvSpPr txBox="1"/>
          <p:nvPr/>
        </p:nvSpPr>
        <p:spPr>
          <a:xfrm>
            <a:off x="812800" y="3245694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 · 65 trial · JAMA 2020</a:t>
            </a:r>
            <a:endParaRPr lang="en-US" sz="1200" dirty="0"/>
          </a:p>
        </p:txBody>
      </p:sp>
      <p:sp>
        <p:nvSpPr>
          <p:cNvPr id="12" name="Endo · OPTPRESS · Intensive Care Med 202"/>
          <p:cNvSpPr txBox="1"/>
          <p:nvPr/>
        </p:nvSpPr>
        <p:spPr>
          <a:xfrm>
            <a:off x="812800" y="3456434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 · OPTPRESS · Intensive Care Med 2025</a:t>
            </a:r>
            <a:endParaRPr lang="en-US" sz="1200" dirty="0"/>
          </a:p>
        </p:txBody>
      </p:sp>
      <p:sp>
        <p:nvSpPr>
          <p:cNvPr id="13" name="Permpikul · CENSER · Am J Respir Crit Ca"/>
          <p:cNvSpPr txBox="1"/>
          <p:nvPr/>
        </p:nvSpPr>
        <p:spPr>
          <a:xfrm>
            <a:off x="812800" y="3667175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 · CENSER · Am J Respir Crit Care Med 2019</a:t>
            </a:r>
            <a:endParaRPr lang="en-US" sz="1200" dirty="0"/>
          </a:p>
        </p:txBody>
      </p:sp>
      <p:sp>
        <p:nvSpPr>
          <p:cNvPr id="14" name="Annane · CATS · Lancet 2007"/>
          <p:cNvSpPr txBox="1"/>
          <p:nvPr/>
        </p:nvSpPr>
        <p:spPr>
          <a:xfrm>
            <a:off x="812800" y="3877916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Annane · CATS · Lancet 2007</a:t>
            </a:r>
            <a:endParaRPr lang="en-US" sz="1200" dirty="0"/>
          </a:p>
        </p:txBody>
      </p:sp>
      <p:sp>
        <p:nvSpPr>
          <p:cNvPr id="15" name="Myburgh · CAT · Intensive Care Med 2008"/>
          <p:cNvSpPr txBox="1"/>
          <p:nvPr/>
        </p:nvSpPr>
        <p:spPr>
          <a:xfrm>
            <a:off x="812800" y="4088656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Myburgh · CAT · Intensive Care Med 2008</a:t>
            </a:r>
            <a:endParaRPr lang="en-US" sz="1200" dirty="0"/>
          </a:p>
        </p:txBody>
      </p:sp>
      <p:sp>
        <p:nvSpPr>
          <p:cNvPr id="16" name="Levy · OptimaCC · J Am Coll Cardiol 2018"/>
          <p:cNvSpPr txBox="1"/>
          <p:nvPr/>
        </p:nvSpPr>
        <p:spPr>
          <a:xfrm>
            <a:off x="812800" y="4299397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Levy · OptimaCC · J Am Coll Cardiol 2018</a:t>
            </a:r>
            <a:endParaRPr lang="en-US" sz="1200" dirty="0"/>
          </a:p>
        </p:txBody>
      </p:sp>
      <p:sp>
        <p:nvSpPr>
          <p:cNvPr id="17" name="Mathew · DOREMI · N Engl J Med 2021"/>
          <p:cNvSpPr txBox="1"/>
          <p:nvPr/>
        </p:nvSpPr>
        <p:spPr>
          <a:xfrm>
            <a:off x="812800" y="4510138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 · DOREMI · N Engl J Med 2021</a:t>
            </a:r>
            <a:endParaRPr lang="en-US" sz="1200" dirty="0"/>
          </a:p>
        </p:txBody>
      </p:sp>
      <p:sp>
        <p:nvSpPr>
          <p:cNvPr id="18" name="Di Santo · DOREMI, betabloqueador · Crit"/>
          <p:cNvSpPr txBox="1"/>
          <p:nvPr/>
        </p:nvSpPr>
        <p:spPr>
          <a:xfrm>
            <a:off x="812800" y="4720878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Santo · DOREMI, betabloqueador · Crit Care 2021</a:t>
            </a:r>
            <a:endParaRPr lang="en-US" sz="1200" dirty="0"/>
          </a:p>
        </p:txBody>
      </p:sp>
      <p:sp>
        <p:nvSpPr>
          <p:cNvPr id="19" name="Cuffe · OPTIME-CHF · JAMA 2002"/>
          <p:cNvSpPr txBox="1"/>
          <p:nvPr/>
        </p:nvSpPr>
        <p:spPr>
          <a:xfrm>
            <a:off x="812800" y="4931619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Cuffe · OPTIME-CHF · JAMA 2002</a:t>
            </a:r>
            <a:endParaRPr lang="en-US" sz="1200" dirty="0"/>
          </a:p>
        </p:txBody>
      </p:sp>
      <p:sp>
        <p:nvSpPr>
          <p:cNvPr id="20" name="Hajjar · VANCS · Anesthesiology 2017"/>
          <p:cNvSpPr txBox="1"/>
          <p:nvPr/>
        </p:nvSpPr>
        <p:spPr>
          <a:xfrm>
            <a:off x="812800" y="5142359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Hajjar · VANCS · Anesthesiology 2017</a:t>
            </a:r>
            <a:endParaRPr lang="en-US" sz="1200" dirty="0"/>
          </a:p>
        </p:txBody>
      </p:sp>
      <p:sp>
        <p:nvSpPr>
          <p:cNvPr id="21" name="Khanna · ATHOS-3 · N Engl J Med 2017"/>
          <p:cNvSpPr txBox="1"/>
          <p:nvPr/>
        </p:nvSpPr>
        <p:spPr>
          <a:xfrm>
            <a:off x="812800" y="5353100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Khanna · ATHOS-3 · N Engl J Med 2017</a:t>
            </a:r>
            <a:endParaRPr lang="en-US" sz="1200" dirty="0"/>
          </a:p>
        </p:txBody>
      </p:sp>
      <p:sp>
        <p:nvSpPr>
          <p:cNvPr id="22" name="Tongyoo · milrinona no choque séptico · "/>
          <p:cNvSpPr txBox="1"/>
          <p:nvPr/>
        </p:nvSpPr>
        <p:spPr>
          <a:xfrm>
            <a:off x="812800" y="5563841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Tongyoo · milrinona no choque séptico · Ann Med 2025</a:t>
            </a:r>
            <a:endParaRPr lang="en-US" sz="1200" dirty="0"/>
          </a:p>
        </p:txBody>
      </p:sp>
      <p:sp>
        <p:nvSpPr>
          <p:cNvPr id="23" name="Bellomo · dopamina em dose baixa (ANZICS"/>
          <p:cNvSpPr txBox="1"/>
          <p:nvPr/>
        </p:nvSpPr>
        <p:spPr>
          <a:xfrm>
            <a:off x="6248400" y="1770509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 · dopamina em dose baixa (ANZICS) · Lancet 2000</a:t>
            </a:r>
            <a:endParaRPr lang="en-US" sz="1200" dirty="0"/>
          </a:p>
        </p:txBody>
      </p:sp>
      <p:sp>
        <p:nvSpPr>
          <p:cNvPr id="24" name="Venkatesh · ADRENAL · N Engl J Med 2018"/>
          <p:cNvSpPr txBox="1"/>
          <p:nvPr/>
        </p:nvSpPr>
        <p:spPr>
          <a:xfrm>
            <a:off x="6248400" y="1981250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 · ADRENAL · N Engl J Med 2018</a:t>
            </a:r>
            <a:endParaRPr lang="en-US" sz="1200" dirty="0"/>
          </a:p>
        </p:txBody>
      </p:sp>
      <p:sp>
        <p:nvSpPr>
          <p:cNvPr id="25" name="Annane · APROCCHSS · N Engl J Med 2018"/>
          <p:cNvSpPr txBox="1"/>
          <p:nvPr/>
        </p:nvSpPr>
        <p:spPr>
          <a:xfrm>
            <a:off x="6248400" y="2191991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Annane · APROCCHSS · N Engl J Med 2018</a:t>
            </a:r>
            <a:endParaRPr lang="en-US" sz="1200" dirty="0"/>
          </a:p>
        </p:txBody>
      </p:sp>
      <p:sp>
        <p:nvSpPr>
          <p:cNvPr id="26" name="Kinsella · consenso cesárea · Anaesthesi"/>
          <p:cNvSpPr txBox="1"/>
          <p:nvPr/>
        </p:nvSpPr>
        <p:spPr>
          <a:xfrm>
            <a:off x="6248400" y="2402731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 · consenso cesárea · Anaesthesia 2018</a:t>
            </a:r>
            <a:endParaRPr lang="en-US" sz="1200" dirty="0"/>
          </a:p>
        </p:txBody>
      </p:sp>
      <p:sp>
        <p:nvSpPr>
          <p:cNvPr id="27" name="Sharkey · NA vs. fenilefrina na cesárea "/>
          <p:cNvSpPr txBox="1"/>
          <p:nvPr/>
        </p:nvSpPr>
        <p:spPr>
          <a:xfrm>
            <a:off x="6248400" y="2613472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Sharkey · NA vs. fenilefrina na cesárea · Anesth Analg 2019</a:t>
            </a:r>
            <a:endParaRPr lang="en-US" sz="1200" dirty="0"/>
          </a:p>
        </p:txBody>
      </p:sp>
      <p:sp>
        <p:nvSpPr>
          <p:cNvPr id="28" name="Park, Choi · vasopressores na cesárea · "/>
          <p:cNvSpPr txBox="1"/>
          <p:nvPr/>
        </p:nvSpPr>
        <p:spPr>
          <a:xfrm>
            <a:off x="6248400" y="2824213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Park, Choi · vasopressores na cesárea · Anesth Pain Med 2024</a:t>
            </a:r>
            <a:endParaRPr lang="en-US" sz="1200" dirty="0"/>
          </a:p>
        </p:txBody>
      </p:sp>
      <p:sp>
        <p:nvSpPr>
          <p:cNvPr id="29" name="Marcucci · POISE-3 · Ann Intern Med 2023"/>
          <p:cNvSpPr txBox="1"/>
          <p:nvPr/>
        </p:nvSpPr>
        <p:spPr>
          <a:xfrm>
            <a:off x="6248400" y="3034953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 · POISE-3 · Ann Intern Med 2023</a:t>
            </a:r>
            <a:endParaRPr lang="en-US" sz="1200" dirty="0"/>
          </a:p>
        </p:txBody>
      </p:sp>
      <p:sp>
        <p:nvSpPr>
          <p:cNvPr id="30" name="Saugel · POQI · Br J Anaesth 2024"/>
          <p:cNvSpPr txBox="1"/>
          <p:nvPr/>
        </p:nvSpPr>
        <p:spPr>
          <a:xfrm>
            <a:off x="6248400" y="3245694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Saugel · POQI · Br J Anaesth 2024</a:t>
            </a:r>
            <a:endParaRPr lang="en-US" sz="1200" dirty="0"/>
          </a:p>
        </p:txBody>
      </p:sp>
      <p:sp>
        <p:nvSpPr>
          <p:cNvPr id="31" name="Lineburger · custo da hipotensão · Braz "/>
          <p:cNvSpPr txBox="1"/>
          <p:nvPr/>
        </p:nvSpPr>
        <p:spPr>
          <a:xfrm>
            <a:off x="6248400" y="3456434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 · custo da hipotensão · Braz J Anesthesiol 2025</a:t>
            </a:r>
            <a:endParaRPr lang="en-US" sz="1200" dirty="0"/>
          </a:p>
        </p:txBody>
      </p:sp>
      <p:sp>
        <p:nvSpPr>
          <p:cNvPr id="32" name="Salmasi · hipotensão e lesão orgânica · "/>
          <p:cNvSpPr txBox="1"/>
          <p:nvPr/>
        </p:nvSpPr>
        <p:spPr>
          <a:xfrm>
            <a:off x="6248400" y="3667175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Salmasi · hipotensão e lesão orgânica · Anesthesiology 2017</a:t>
            </a:r>
            <a:endParaRPr lang="en-US" sz="1200" dirty="0"/>
          </a:p>
        </p:txBody>
      </p:sp>
      <p:sp>
        <p:nvSpPr>
          <p:cNvPr id="33" name="Saugel · IMPROVE-multi · JAMA 2025"/>
          <p:cNvSpPr txBox="1"/>
          <p:nvPr/>
        </p:nvSpPr>
        <p:spPr>
          <a:xfrm>
            <a:off x="6248400" y="3877916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Saugel · IMPROVE-multi · JAMA 2025</a:t>
            </a:r>
            <a:endParaRPr lang="en-US" sz="1200" dirty="0"/>
          </a:p>
        </p:txBody>
      </p:sp>
      <p:sp>
        <p:nvSpPr>
          <p:cNvPr id="34" name="Cecconi · HISTAP · Intensive Care Med 20"/>
          <p:cNvSpPr txBox="1"/>
          <p:nvPr/>
        </p:nvSpPr>
        <p:spPr>
          <a:xfrm>
            <a:off x="6248400" y="4088656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 · HISTAP · Intensive Care Med 2026</a:t>
            </a:r>
            <a:endParaRPr lang="en-US" sz="1200" dirty="0"/>
          </a:p>
        </p:txBody>
      </p:sp>
      <p:sp>
        <p:nvSpPr>
          <p:cNvPr id="35" name="Tran · NA periférica · Am J Emerg Med 20"/>
          <p:cNvSpPr txBox="1"/>
          <p:nvPr/>
        </p:nvSpPr>
        <p:spPr>
          <a:xfrm>
            <a:off x="6248400" y="4299397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 · NA periférica · Am J Emerg Med 2020</a:t>
            </a:r>
            <a:endParaRPr lang="en-US" sz="1200" dirty="0"/>
          </a:p>
        </p:txBody>
      </p:sp>
      <p:sp>
        <p:nvSpPr>
          <p:cNvPr id="36" name="Ibarra-Estrada · NA base vs. sal · Inten"/>
          <p:cNvSpPr txBox="1"/>
          <p:nvPr/>
        </p:nvSpPr>
        <p:spPr>
          <a:xfrm>
            <a:off x="6248400" y="4510138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Ibarra-Estrada · NA base vs. sal · Intensive Care Med 2024</a:t>
            </a:r>
            <a:endParaRPr lang="en-US" sz="1200" dirty="0"/>
          </a:p>
        </p:txBody>
      </p:sp>
      <p:sp>
        <p:nvSpPr>
          <p:cNvPr id="37" name="ANZCA/ANZAAG · anafilaxia perioperatória"/>
          <p:cNvSpPr txBox="1"/>
          <p:nvPr/>
        </p:nvSpPr>
        <p:spPr>
          <a:xfrm>
            <a:off x="6248400" y="4720878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· anafilaxia perioperatória · 2022</a:t>
            </a:r>
            <a:endParaRPr lang="en-US" sz="1200" dirty="0"/>
          </a:p>
        </p:txBody>
      </p:sp>
      <p:sp>
        <p:nvSpPr>
          <p:cNvPr id="38" name="Overgaard, Džavík · revisão · Circulatio"/>
          <p:cNvSpPr txBox="1"/>
          <p:nvPr/>
        </p:nvSpPr>
        <p:spPr>
          <a:xfrm>
            <a:off x="6248400" y="4931619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Overgaard, Džavík · revisão · Circulation 2008</a:t>
            </a:r>
            <a:endParaRPr lang="en-US" sz="1200" dirty="0"/>
          </a:p>
        </p:txBody>
      </p:sp>
      <p:sp>
        <p:nvSpPr>
          <p:cNvPr id="39" name="Persichini · NA e retorno venoso · Crit "/>
          <p:cNvSpPr txBox="1"/>
          <p:nvPr/>
        </p:nvSpPr>
        <p:spPr>
          <a:xfrm>
            <a:off x="6248400" y="5142359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Persichini · NA e retorno venoso · Crit Care Med 2012</a:t>
            </a:r>
            <a:endParaRPr lang="en-US" sz="1200" dirty="0"/>
          </a:p>
        </p:txBody>
      </p:sp>
      <p:sp>
        <p:nvSpPr>
          <p:cNvPr id="40" name="Cecconi · consenso de choque (ESICM) · I"/>
          <p:cNvSpPr txBox="1"/>
          <p:nvPr/>
        </p:nvSpPr>
        <p:spPr>
          <a:xfrm>
            <a:off x="6248400" y="5353100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 · consenso de choque (ESICM) · Intensive Care Med 2014</a:t>
            </a:r>
            <a:endParaRPr lang="en-US" sz="1200" dirty="0"/>
          </a:p>
        </p:txBody>
      </p:sp>
      <p:sp>
        <p:nvSpPr>
          <p:cNvPr id="41" name="Konstam · falência de VD (AHA) · Circula"/>
          <p:cNvSpPr txBox="1"/>
          <p:nvPr/>
        </p:nvSpPr>
        <p:spPr>
          <a:xfrm>
            <a:off x="6248400" y="5563841"/>
            <a:ext cx="5149850" cy="198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 · falência de VD (AHA) · Circulation 2018</a:t>
            </a:r>
            <a:endParaRPr lang="en-US" sz="1200" dirty="0"/>
          </a:p>
        </p:txBody>
      </p:sp>
      <p:pic>
        <p:nvPicPr>
          <p:cNvPr id="4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2026-10-18T20:15:46Z</dcterms:created>
  <dcterms:modified xsi:type="dcterms:W3CDTF">2026-10-18T20:15:46Z</dcterms:modified>
</cp:coreProperties>
</file>