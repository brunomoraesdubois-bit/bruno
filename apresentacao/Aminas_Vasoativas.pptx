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a45e46ca-debf-fb47-a2c1-8fa1601f81b4}">
          <p14:sldIdLst>
            <p14:sldId id="256"/>
            <p14:sldId id="257"/>
          </p14:sldIdLst>
        </p14:section>
        <p14:section name="01 · Fisiologia: pressão, débito e perfusão" id="{8277609a-068b-70ea-0f23-cd38140c143e}">
          <p14:sldIdLst>
            <p14:sldId id="258"/>
            <p14:sldId id="259"/>
            <p14:sldId id="260"/>
          </p14:sldIdLst>
        </p14:section>
        <p14:section name="02 · Receptores" id="{6b92e832-7555-b2cf-8b4a-69d89aab77fc}">
          <p14:sldIdLst>
            <p14:sldId id="261"/>
          </p14:sldIdLst>
        </p14:section>
        <p14:section name="03 · Drogas: noradrenalina, adrenalina, dobutamina (e dopamina), milrinona (escolha), fenilefrina e efedrina" id="{689cbfd3-79d1-df0e-406a-a3a6c66fc6f9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, hidrocortisona e azul de metileno" id="{4702f689-7f35-7330-24ac-039d1ea2f47c}">
          <p14:sldIdLst>
            <p14:sldId id="268"/>
          </p14:sldIdLst>
        </p14:section>
        <p14:section name="05 · Choque séptico: a sequência da SSC 2026" id="{823d5a81-d0d0-ee65-9199-b7d5f9a23235}">
          <p14:sldIdLst>
            <p14:sldId id="269"/>
          </p14:sldIdLst>
        </p14:section>
        <p14:section name="06 · Perioperatório: escolha da droga" id="{bf82be20-3ebb-0702-1f29-6d620df1415e}">
          <p14:sldIdLst>
            <p14:sldId id="270"/>
          </p14:sldIdLst>
        </p14:section>
        <p14:section name="07 · Mensagens finais e encerramento" id="{9c8f9c8a-cf5f-1d08-708c-b60b6b4b715e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15 min 25 s nos 17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a perfusão raramente é medida de forma direta, então o caminho é combinar métodos. O eco, transesofágico ou à beira do leito, é o primeiro recurso para definir o tipo de choque, e a diretriz europeia de terapia intensiva de 2025 o sugere como primeira linha de imagem para isso: função do VE e do VD, com a variação fracional de área e o TAPSE para o VD; volemia, pela área do VE ao fim da diástole; pericárdio; e o VTI na via de saída, que multiplicado pela área da via de saída dá o volume sistólico e, repetido, mostra a resposta a volume ou a droga. Os monitores de débito dão o número, contínuo ou seriado, e a resposta a uma intervenção.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20 s (1:50 → 3:10)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Monitores de débito: o que cada um mede e onde falha. A termodiluição pelo cateter de artéria pulmonar continua a referência clínica: bolus frio no átrio direito e curva de temperatura na artéria pulmonar; dá também as pressões pulmonares e a saturação venosa mista; é invasiva e, no modo clássico, intermitente; fica sugerida sobretudo no choque refratário, na disfunção de VD e na hipertensão pulmonar. A termodiluição transpulmonar, como o PiCCO, lê o bolus em artéria femoral, calibra o contorno de pulso e estima volumes cardíacos e água pulmonar extravascular. O contorno de pulso não calibrado, como o FloTrac, estima o volume sistólico pela forma da onda arterial; é contínuo e pouco invasivo, mas perde acurácia quando o tônus vascular muda, com resistência baixa ou vasopressor: no cirrótico, o erro contra a termodiluição chegou a 54%, bem acima dos 30% aceitáveis. O Doppler esofágico estima o volume sistólico pela velocidade na aorta descendente e um nomograma; depende da posição e do ângulo da sonda. VPP e VVS exigem ventilação controlada sem esforço, volume corrente de pelo menos 8 mL/kg, ritmo regular, tórax fechado, sem disfunção de VD nem hipertensão intra-abdominal; para a VPP, entre 9 e 13% há uma zona cinzenta. Quando a limitação é o volume corrente baixo, mantidas as demais condições: desafio de volume corrente, de 6 para 8 mL/kg por um minuto. Fora dessas condições: elevação passiva das pernas, com aumento do débito de 10% ou mais, ou minidesafio de 100 mL, medindo o débito, não a pressão.</a:t>
            </a:r>
            <a:endParaRPr lang="en-US" dirty="0"/>
          </a:p>
          <a:p>
            <a:r>
              <a:rPr lang="en-US" dirty="0"/>
              <a:t>TEMPO: 1 min 55 s (3:10 → 5:05)</a:t>
            </a:r>
            <a:endParaRPr lang="en-US" dirty="0"/>
          </a:p>
          <a:p>
            <a:r>
              <a:rPr lang="en-US" dirty="0"/>
              <a:t>PONTO-CHAVE: Saber o que cada monitor mede e onde falha; VPP e VVS têm condições; fora delas, teste dinâmico medindo o débito.</a:t>
            </a:r>
            <a:endParaRPr lang="en-US" dirty="0"/>
          </a:p>
          <a:p>
            <a:r>
              <a:rPr lang="en-US" dirty="0"/>
              <a:t>SE PERGUNTAREM: Cannesson (Anesthesiology 2011): zona cinzenta da VPP entre 9 e 13% em pacientes sob anestesia geral e ventilação mecânica. Myatra (Crit Care Med 2017; 20 pacientes ventilados com 6 mL/kg): o aumento da VPP ou da VVS após elevar o volume corrente para 8 mL/kg por 1 min previu a resposta a volume. Monnet (Intensive Care Med 2016; metanálise, 21 estudos, 991 pacientes): elevação passiva das pernas com aumento do débito de 10% ou mais tem sensibilidade de 85% e especificidade de 91%; medida pela pressão de pulso, a sensibilidade cai para 56%. Biais (Anesthesiology 2017; 44 pacientes em neurocirurgia): 100 mL de cristaloide em dois passos de 50 mL, 1 min cada, com o índice sistólico medido ao contorno de pulso após cada passo; aumento acima de 6% após os 100 mL previu a resposta a 250 mL (sensibilidade 93%, especificidade 85%; zona cinzenta de 4 a 7%). Biancofiore (Br J Anaesth 2009; cirróticos em cirurgia hepática): FloTrac/Vigileo de segunda geração vs. termodiluição pulmonar, erro percentual de 54% (limite aceito de 30%), pior com resistência baixa; o software seguinte ficou em 52%, e um estudo de 2022 com a quarta geração no transplante hepático manteve erro em torno de 54%. ESICM 2025: eco como primeira linha para definir o tipo de choque; monitorização de débito ou volume sistólico em quem não responde ao tratamento inicial; avaliar a responsividade antes de mais volume; perfusão tissular avaliada de forma seriada. Doppler esofágico: supõe que cerca de 70% do débito passa pela aorta descendente, proporção que varia entre pacientes. Sob anestesia, o ETE também permite ver a variação do diâmetro da veia cava superior com a ventilação, outro índice dinâmico, e a área diastólica final do VE para estimar a volemia.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está em três lugares que importam aqui: pré-sináptico, reduzindo a liberação de noradrenalina; no sistema nervoso central, com sedação pelo locus coeruleus e simpatólise pelos centros vasomotores do tronco encefálico, que é o efeito da dexmedetomidina; e no músculo liso vascular, onde a noradrenalina e a adrenalina também agem, somando vasoconstrição, e onde um bolus de dexmedetomidina causa hipertensão transitória.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mais, por isso são as drogas habituais de bolus. E o uso prolongado dessensibiliza os receptores, sobretudo os β.</a:t>
            </a:r>
            <a:endParaRPr lang="en-US" dirty="0"/>
          </a:p>
          <a:p>
            <a:r>
              <a:rPr lang="en-US" dirty="0"/>
              <a:t>TEMPO: 1 min 15 s (5:05 → 6:20)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(6:20 → 7:00)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(7:00 → 7:40)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(7:40 → 8:15)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(8:15 → 9:10)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 farmacológico, que está na tabela. Milrinona quando a circulação pulmonar e o VD são o problema, como na hipertensão pulmonar e na saída de CEC com resistência pulmonar alta, e quando o betabloqueio ou a taquicardia limitam a dobutamina; a milrinona precisa de uma PAM sustentada, em geral com noradrenalina. Dobutamina, junto com o vasopressor, quando o baixo débito vem acompanhado de hipotensão ou vasoplegia, em que a vasodilatação e a meia-vida longa da milrinona pesam contra; na insuficiência renal; e quando se quer titulação rápida, porque a meia-vida é de minutos. No choque séptico com disfunção miocárdica e hipoperfusão persistente, a Surviving Sepsis Campaign de 2026, a SSC, sugere dobutamina associada à noradrenalina, ou adrenalina isolada, e reconhece que faltam dados para preferir a dobutamina à milrinona: é preferência prática, não superioridade demonstrada.</a:t>
            </a:r>
            <a:endParaRPr lang="en-US" dirty="0"/>
          </a:p>
          <a:p>
            <a:r>
              <a:rPr lang="en-US" dirty="0"/>
              <a:t>TEMPO: 1 min 20 s (9:10 → 10:30)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(10:30 → 11:20)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a via adrenérgica não basta, três recursos além das aminas. A vasopressina age no receptor V1, fora da via adrenérgica: poupa catecolamina e costuma manter efeito em acidose; no choque séptico há deficiência relativa do hormônio endógeno. No choque séptico, com noradrenalina em escalada, a dose é em geral fixa, 0,03 unidades por minuto; na vasoplegia após CEC, o VANCS titulou de 0,01 a 0,06 unidades por minuto; na hipotensão refratária com IECA ou BRA, bolus pequenos ou infusão titulada; o risco é isquemia digital e mesentérica. A hidrocortisona restaura a resposta vascular às catecolaminas, 200 mg por dia no choque séptico. O azul de metileno inibe a óxido nítrico sintase e a guanilato ciclase solúvel, e fica como resgate na vasoplegia refratária: após CEC, onde há mais estudos, e na reperfusão do enxerto hepático, onde a base são relatos e séries; um ensaio pequeno mostrou PAM maior e menos adrenalina com a dose dada antes da reperfusão, mas uma coorte pareada de 715 transplantes não confirmou benefício do uso profilático. Outras indicações, apenas para citar: metemoglobinemia, a indicação clássica, e choque séptico refratário, ainda em estudo. Cuidados: deficiência de G6PD, interferência na oximetria e no BIS, e síndrome serotoninérgica com ISRS.</a:t>
            </a:r>
            <a:endParaRPr lang="en-US" dirty="0"/>
          </a:p>
          <a:p>
            <a:r>
              <a:rPr lang="en-US" dirty="0"/>
              <a:t>TEMPO: 1 min 35 s (11:20 → 12:55)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reservado à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(12:55 → 13:30)</a:t>
            </a:r>
            <a:endParaRPr lang="en-US" dirty="0"/>
          </a:p>
          <a:p>
            <a:r>
              <a:rPr lang="en-US" dirty="0"/>
              <a:t>PONTO-CHAVE: Noradrenalina, depois vasopressina, depois adrenalina; inotrópico reservado à disfunção cardíaca com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que é a do pós-CEC, do paciente em IECA ou BRA e da reperfusão do enxerto hepático: vasopressina, e azul de metileno como resgate; pré-carga baixa, volume. Um dado do nosso serviço ajuda nessa decisão: Gouvêa, Diaz e colaboradores acompanharam por ecocardiografia transesofágica o ventrículo direito de 19 pacientes selecionados em cinco fases do transplante hepático, e a função sistólica do VD se manteve preservada nos momentos avaliados, inclusive trinta minutos após a reperfusão. O estudo não mediu os primeiros minutos da reperfusão, então não diz se a instabilidade aguda é vasoplegia ou disfunção transitória do VD. O que fica dele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(13:30 → 14:45)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(14:45 → 15:15)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(15:15 → 15:25)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100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MONITORES DE DÉBIT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MONITORES DE DÉBITO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100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Monitores de débito: o que medem e onde falham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3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4649192"/>
                <a:gridCol w="3803948"/>
              </a:tblGrid>
              <a:tr h="3098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 e o que oferece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Limites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679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Termodiluição pulmonar (cateter de artéria pulmonar)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clínica: bolus frio no átrio direito, curva de temperatura na artéria pulmonar; dá também PAP, POAP e SvO</a:t>
                      </a:r>
                      <a:r>
                        <a:rPr lang="pt-BR" altLang="en-US" sz="1100" baseline="-25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Invasivo; intermitente ou semicontínuo; sobretudo em choque refratário, disfunção de VD e hipertensão pulmonar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Termodiluição transpulmonar (PiCCO, VolumeView)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frio pelo acesso central, curva em artéria femoral; calibra o contorno de pulso; estima volumes e água pulmonar extravascular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cateter central e arterial calibroso, em geral femoral; recalibrar quando o tônus vascular muda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Contorno de pulso não calibrado (FloTrac, ClearSight)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 o volume sistólico pela forma da onda arterial e dados demográficos; contínuo; pouco invasivo (FloTrac) ou não invasivo (ClearSight); fornece a VVS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Perde acurácia com RVS baixa e vasopressor: no cirrótico, erro de 54% vs. termodiluição (limite aceito: 30%)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Doppler esofágico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 do fluxo na aorta descendente; volume sistólico por nomograma do diâmetro aórtico; base das metas hemodinâmicas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da posição e do ângulo da sonda; assume o diâmetro aórtico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Ecocardiografia (ETE)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sistólico = VTI × área da via de saída do VE; função de VE e VD (variação fracional de área, TAPSE), volemia, pericárdio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Intermitente e dependente do operador; VTI seriado mais confiável que o valor absoluto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tão"/>
          <p:cNvSpPr/>
          <p:nvPr/>
        </p:nvSpPr>
        <p:spPr>
          <a:xfrm>
            <a:off x="812800" y="4468614"/>
            <a:ext cx="10566400" cy="781447"/>
          </a:xfrm>
          <a:prstGeom prst="roundRect">
            <a:avLst>
              <a:gd name="adj" fmla="val 975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6" name="Responsividade a volume"/>
          <p:cNvSpPr txBox="1"/>
          <p:nvPr/>
        </p:nvSpPr>
        <p:spPr>
          <a:xfrm>
            <a:off x="1022350" y="4611956"/>
            <a:ext cx="1924050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5"/>
              </a:lnSpc>
              <a:buNone/>
            </a:pPr>
            <a:r>
              <a:rPr lang="pt-BR" altLang="en-US" sz="17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Responsividade a volume</a:t>
            </a:r>
            <a:endParaRPr lang="en-US" sz="1700" dirty="0"/>
          </a:p>
        </p:txBody>
      </p:sp>
      <p:sp>
        <p:nvSpPr>
          <p:cNvPr id="7" name="VPP e VVS: ventilação controlada sem esf"/>
          <p:cNvSpPr txBox="1"/>
          <p:nvPr/>
        </p:nvSpPr>
        <p:spPr>
          <a:xfrm>
            <a:off x="3105150" y="4567693"/>
            <a:ext cx="80835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VVS: ventilação controlada sem esforço, volume corrente ≥ 8 mL/kg, ritmo regular, tórax fechado, sem disfunção de VD nem hipertensão intra-abdominal; zona cinzenta da VPP de 9–13%. Limitação apenas do volume corrente: desafio de volume corrente (6 → 8 mL/kg por 1 min). Demais situações: elevação passiva das pernas (↑DC ≥ 10%) ou minidesafio de 100 mL, medindo o débito.</a:t>
            </a:r>
            <a:endParaRPr lang="en-US" sz="1100" dirty="0"/>
          </a:p>
        </p:txBody>
      </p:sp>
      <p:sp>
        <p:nvSpPr>
          <p:cNvPr id="8" name="ESICM 2014 e 2025 · Cannesson, Anesthesi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2014 e 2025 · Cannesson, Anesthesiology 2011 · Monnet, Intensive Care Med 2016 · Biancofiore, Br J Anaesth 2009 · Miller’s Anesthesia, 10ª ed. (2025), cap. 33</a:t>
            </a:r>
            <a:endParaRPr lang="en-US" sz="11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SNC (locus coeruleus e tronco encefálico); 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central (dexmedetomidina); vasoconstrição pós-sináptica (hipertensão transitória do bolus de dexmedetomidina)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6458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8332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4269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reservado à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3084810" y="3170165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(ou adrenalina, no choque séptico);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7397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2026-10-20T11:16:49Z</dcterms:created>
  <dcterms:modified xsi:type="dcterms:W3CDTF">2026-10-20T11:16:49Z</dcterms:modified>
</cp:coreProperties>
</file>