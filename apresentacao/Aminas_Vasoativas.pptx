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85d1af41-3d03-15ad-ba34-92c370442e0f}">
          <p14:sldIdLst>
            <p14:sldId id="256"/>
            <p14:sldId id="257"/>
          </p14:sldIdLst>
        </p14:section>
        <p14:section name="01 · Fisiologia: pressão, débito e perfusão" id="{c81757a5-021e-ab70-25e2-6eb3f6ecefa2}">
          <p14:sldIdLst>
            <p14:sldId id="258"/>
            <p14:sldId id="259"/>
          </p14:sldIdLst>
        </p14:section>
        <p14:section name="02 · Receptores" id="{5b31f04a-3f2c-f52c-6391-aaa1f6910276}">
          <p14:sldIdLst>
            <p14:sldId id="260"/>
          </p14:sldIdLst>
        </p14:section>
        <p14:section name="03 · Drogas: noradrenalina, adrenalina, dobutamina (e dopamina), milrinona (escolha), fenilefrina e efedrina" id="{a4b135f2-228d-d593-3e7f-6cb9a324c2f4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04 · Além das aminas: vasopressina, hidrocortisona e azul de metileno" id="{91619335-87d3-459e-5966-23afe5f829d8}">
          <p14:sldIdLst>
            <p14:sldId id="267"/>
          </p14:sldIdLst>
        </p14:section>
        <p14:section name="05 · Choque séptico: a sequência da SSC 2026" id="{a7f97a38-2dea-e97c-1554-a6b1c0f9fece}">
          <p14:sldIdLst>
            <p14:sldId id="268"/>
          </p14:sldIdLst>
        </p14:section>
        <p14:section name="06 · Perioperatório: escolha da droga" id="{111deaf7-017a-a0ee-67ad-46e8141ab53f}">
          <p14:sldIdLst>
            <p14:sldId id="269"/>
          </p14:sldIdLst>
        </p14:section>
        <p14:section name="07 · Mensagens finais e encerramento" id="{054dcc67-847e-56a0-79a4-8498b818b47c}">
          <p14:sldIdLst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Bom dia. Sou Bruno Dubois; meus orientadores são Marcelo Bandeira e Glauber Gouvêa. O tema é aminas vasoativas, e a aula nasceu de uma pergunta prática: quando a milrinona tem indicação, e quando a dobutamina ou um vasopressor seriam a escolha.</a:t>
            </a:r>
            <a:endParaRPr lang="en-US" dirty="0"/>
          </a:p>
          <a:p>
            <a:r>
              <a:rPr lang="en-US" dirty="0"/>
              <a:t>TEMPO: 25 s (0:00 → 0:25). Total previsto: 12 min 35 s nos 16 slides; ensaiar mirando 12 minutos.</a:t>
            </a:r>
            <a:endParaRPr lang="en-US" dirty="0"/>
          </a:p>
          <a:p>
            <a:r>
              <a:rPr lang="en-US" dirty="0"/>
              <a:t>PONTO-CHAVE: A aula nasceu de uma pergunta prática: quando a milrinona tem indicação?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Quatro objetivos. Distinguir vasoplegia, falência de bomba e pré-carga baixa. Ligar o perfil de receptores de cada droga ao seu efeito hemodinâmico. Conhecer doses, indicações e cuidados de cada droga. Aplicar isso no choque séptico e no centro cirúrgico. A pergunta que organiza a aula: qual componente da pressão arterial média está falhando?</a:t>
            </a:r>
            <a:endParaRPr lang="en-US" dirty="0"/>
          </a:p>
          <a:p>
            <a:r>
              <a:rPr lang="en-US" dirty="0"/>
              <a:t>TEMPO: 25 s (0:25 → 0:50)</a:t>
            </a:r>
            <a:endParaRPr lang="en-US" dirty="0"/>
          </a:p>
          <a:p>
            <a:r>
              <a:rPr lang="en-US" dirty="0"/>
              <a:t>PONTO-CHAVE: Qual componente da PAM está falhando?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Começo pela fisiologia. Na prática, a PAM é o débito cardíaco multiplicado pela resistência vascular sistêmica, somado à pressão venosa central. Como a PVC costuma ser baixa, a PAM depende sobretudo do débito e da resistência; quando a PVC sobe, o que cai é a perfusão, porque, na prática, a pressão de perfusão do órgão aproxima-se da diferença entre a PAM e a PVC. Três situações. Na vasoplegia o problema é o tônus vascular, sobretudo arterial, como na sepse, na anestesia geral e no bloqueio de neuroeixo: a droga é o vasopressor. Na falência de bomba o débito é baixo e a resistência em geral alta: o alvo é a contratilidade. Na pré-carga baixa, a hipovolemia pede volume; o α1 contrai veias e recruta volume não estressado, mas não substitui a reposição.</a:t>
            </a:r>
            <a:endParaRPr lang="en-US" dirty="0"/>
          </a:p>
          <a:p>
            <a:r>
              <a:rPr lang="en-US" dirty="0"/>
              <a:t>TEMPO: 1 min (0:50 → 1:50)</a:t>
            </a:r>
            <a:endParaRPr lang="en-US" dirty="0"/>
          </a:p>
          <a:p>
            <a:r>
              <a:rPr lang="en-US" dirty="0"/>
              <a:t>PONTO-CHAVE: PAM ≈ DC × RVS + PVC: vasoplegia pede vasopressor; bomba fraca, inotrópico; pré-carga baixa, volume.</a:t>
            </a:r>
            <a:endParaRPr lang="en-US" dirty="0"/>
          </a:p>
          <a:p>
            <a:r>
              <a:rPr lang="en-US" dirty="0"/>
              <a:t>SE PERGUNTAREM: A relação PAM = DC × RVS + PVC é a definição da RVS, não uma causa (Magder, Crit Care 2018): a RVS é calculada como (PAM − PVC)/DC. A pressão a jusante efetiva do leito arterial é uma pressão crítica de fechamento, acima da PVC; a PVC importa para a pressão de perfusão dos órgãos (PAM − PVC) e para o gradiente do retorno venoso (pressão sistêmica média − pressão de átrio direito). Persichini (Crit Care Med 2012; 16 pacientes com choque séptico): reduzir a dose de noradrenalina baixou a pressão sistêmica média mais do que a resistência ao retorno venoso, com queda do retorno venoso e, portanto, do débito; é evidência de que a venoconstrição α recruta volume não estressado. O esquema cobre os determinantes da PAM; a obstrução (tamponamento, embolia pulmonar, pneumotórax hipertensivo, auto-PEEP) é o quarto tipo de choque da classificação da ESICM 2014: o eco precoce a identifica, e o tratamento é da causa, não com amina. No intraoperatório, pneumotórax e compressão aortocava estão entre as causas a afastar (slide 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Mas pressão não é fluxo: uma resistência alta pode manter a PAM com débito baixo. No intraoperatório o caminho é combinar métodos. O eco, transesofágico ou transtorácico à beira do leito, é o primeiro recurso para definir o tipo de choque: função do VE e do VD, com a variação fracional de área e o TAPSE; dimensões cavitárias como pistas de enchimento; pericárdio; e o VTI na via de saída, que vezes a área dá o volume sistólico e, repetido, mostra a resposta a volume ou a droga. Os monitores de débito dão o número e a resposta a uma intervenção. E os marcadores de perfusão tissular dizem se o fluxo está bastando: lactato e sua tendência, saturação venosa central, gap de CO₂, diurese, enchimento capilar e temperatura das extremidades. A decisão de usar inotrópico vem daí, não da pressão.</a:t>
            </a:r>
            <a:endParaRPr lang="en-US" dirty="0"/>
          </a:p>
          <a:p>
            <a:r>
              <a:rPr lang="en-US" dirty="0"/>
              <a:t>TEMPO: 1 min 5 s (1:50 → 2:55)</a:t>
            </a:r>
            <a:endParaRPr lang="en-US" dirty="0"/>
          </a:p>
          <a:p>
            <a:r>
              <a:rPr lang="en-US" dirty="0"/>
              <a:t>PONTO-CHAVE: Pressão não é fluxo: combinar eco, débito e marcadores de perfusão antes de decidir por inotrópico.</a:t>
            </a:r>
            <a:endParaRPr lang="en-US" dirty="0"/>
          </a:p>
          <a:p>
            <a:r>
              <a:rPr lang="en-US" dirty="0"/>
              <a:t>SE PERGUNTAREM: no OPTIME-CHF (Cuffe, JAMA 2002; 951 pacientes com IC descompensada sem indicação clara de inotrópico), milrinona vs. placebo por 48 h: sem benefício, com mais hipotensão sustentada e arritmia atrial. Em um ECR (Tongyoo, Ann Med 2025; 64 pacientes em choque séptico), a milrinona aumentou o débito em 6 horas em relação ao placebo, mas a mortalidade em 28 dias foi de 50% nos dois grupos. Na sepse a SvcO₂ pode estar normal ou alta apesar da hipoperfusão (defeito de extração e shunt microcirculatório); nesse caso, a diferença venoarterial de CO₂ acima de 6 mmHg sugere fluxo insuficiente para remover o CO₂ produzido (Vallée, Intensive Care Med 2008). Limites de VPP e VVS: ventilação controlada sem esforço espontâneo, volume corrente de pelo menos 8 mL/kg, ritmo regular, tórax fechado, sem disfunção de VD nem hipertensão intra-abdominal; com volume corrente baixo a sensibilidade cai. Fora dessas condições: elevação passiva das pernas ou minidesafio hídrico com medida direta do débito (ESICM 2025). Monitores de débito: termodiluição pelo cateter de artéria pulmonar é a referência clínica (invasiva, intermitente ou semicontínua; sugerida no choque refratário e na disfunção de VD); termodiluição transpulmonar (PiCCO) calibra o contorno de pulso e estima volumes e água pulmonar extravascular; contorno de pulso não calibrado (FloTrac, ClearSight) perde acurácia com RVS baixa e vasopressor: em cirróticos, versão antiga do FloTrac teve erro percentual de 54% vs. termodiluição, limite aceito 30% (Biancofiore, Br J Anaesth 2009); Doppler esofágico depende da posição e do ângulo da sonda e assume o diâmetro aórtico. Zona cinzenta da VPP de 9–13% (Cannesson, Anesthesiology 2011); desafio de volume corrente 6 → 8 mL/kg por 1 min quando a limitação é apenas o volume corrente baixo (Myatra, Crit Care Med 2017); elevação passiva das pernas com ↑DC ≥ 10%: sensibilidade 85%, especificidade 91% (Monnet, Intensive Care Med 2016, metanálise de 21 estudos); minidesafio de 100 mL em dois passos de 50 mL, ↑índice sistólico &gt; 6% (Biais, Anesthesiology 2017; 44 pacientes em neurocirurgia).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Uma revisão breve dos receptores, apenas o que importa para as drogas de hoje. α1 contrai artérias e veias: sobe a resistência e o retorno venoso. α2: pré-sináptico, reduz a liberação de noradrenalina; no tronco encefálico, sedação e simpatólise, o efeito da dexmedetomidina; no músculo liso vascular, vasoconstrição, que explica a hipertensão transitória do bolus de dexmedetomidina. β1 aumenta contratilidade e frequência. β2 dilata vasos e brônquios e eleva glicemia e lactato. D1 dilata os leitos renal e mesentérico. V1 e PDE3 estão na tabela porque vasopressina e milrinona não dependem do adrenoceptor. Dois pontos práticos: as catecolaminas têm meia-vida de minutos, por isso vão em geral em infusão; fenilefrina e efedrina duram mais, por isso são as drogas habituais de bolus. E o uso prolongado dessensibiliza os receptores, sobretudo os β.</a:t>
            </a:r>
            <a:endParaRPr lang="en-US" dirty="0"/>
          </a:p>
          <a:p>
            <a:r>
              <a:rPr lang="en-US" dirty="0"/>
              <a:t>TEMPO: 1 min (2:55 → 3:55)</a:t>
            </a:r>
            <a:endParaRPr lang="en-US" dirty="0"/>
          </a:p>
          <a:p>
            <a:r>
              <a:rPr lang="en-US" dirty="0"/>
              <a:t>PONTO-CHAVE: Cada droga tem um perfil de receptores; vasopressina e milrinona usam outras vias.</a:t>
            </a:r>
            <a:endParaRPr lang="en-US" dirty="0"/>
          </a:p>
          <a:p>
            <a:r>
              <a:rPr lang="en-US" dirty="0"/>
              <a:t>SE PERGUNTAREM: Subtipos: α2A medeia a sedação (locus coeruleus) e a simpatólise (centros vasomotores do tronco encefálico); α2B, no músculo liso vascular, a vasoconstrição e a hipertensão transitória do bolus de dexmedetomidina; a hipotensão e a bradicardia que se seguem vêm da simpatólise e do aumento do tônus vagal. A clonidina tem perfil semelhante, com menor seletividade para α2.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Começo pela noradrenalina, a droga de primeira linha no choque séptico, com ação α1 potente e efeito β1 clinicamente modesto: sobe a PAM pela resistência e pela venoconstrição, com débito em geral mantido, que pode subir pelo retorno venoso ou cair pela pós-carga, e frequência estável ou menor, por reflexo. Dose de 0,01 a 0,5 microgramas por quilo por minuto, sem teto fixo no choque refratário; no centro cirúrgico, bolus de 5 a 10 microgramas; pode começar em veia periférica calibrosa. Riscos: isquemia digital e esplâncnica, além de extravasamento.</a:t>
            </a:r>
            <a:endParaRPr lang="en-US" dirty="0"/>
          </a:p>
          <a:p>
            <a:r>
              <a:rPr lang="en-US" dirty="0"/>
              <a:t>TEMPO: 40 s (3:55 → 4:35)</a:t>
            </a:r>
            <a:endParaRPr lang="en-US" dirty="0"/>
          </a:p>
          <a:p>
            <a:r>
              <a:rPr lang="en-US" dirty="0"/>
              <a:t>PONTO-CHAVE: α1 potente com β1 modesto: sobe a PAM com débito em geral mantido.</a:t>
            </a:r>
            <a:endParaRPr lang="en-US" dirty="0"/>
          </a:p>
          <a:p>
            <a:r>
              <a:rPr lang="en-US" dirty="0"/>
              <a:t>SE PERGUNTAREM: no SOAP II (De Backer, N Engl J Med 2010; n = 1.679), a mortalidade em 28 dias foi semelhante à da dopamina (48,5% vs. 52,5%), com metade das arritmias (12,4% vs. 24,1%); a SSC 2026 mantém a noradrenalina como primeira linha, à frente da dopamina. No Brasil, a ampola de hemitartarato de 2 mg/mL equivale a 1 mg/mL de base: registrar na prescrição se a dose está em base ou em sal. Início precoce (CENSER, Permpikul 2019: controle do choque em 6 h em 76% vs. 48%) e via periférica com protocolo (Tran 2020) estão nas referências. No extravasamento, fentolamina infiltrada no local. Afinidade por β1: a da noradrenalina é da mesma ordem da adrenalina; o que é modesto é o efeito cardíaco líquido, porque o barorreflexo e a pós-carga contêm a taquicardia e o aumento do débito; a ação β2 é pequena, por isso praticamente não há vasodilatação e o lactato sobe pouco. As barras do slide representam o efeito clínico esperado em cada via, não a afinidade pelo receptor.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Adrenalina: potente em α1, β1 e β2. O efeito depende da dose: em dose baixa predominam β1 e β2, com débito alto e resistência que pode cair; em dose alta prevalece o α1. É a droga da anafilaxia e, no choque séptico, a terceira droga. Na anafilaxia, bolus endovenosos pequenos e titulados, repetíveis a cada um ou dois minutos, com infusão se forem necessários mais de três bolus. O lactato pode subir por efeito β2, e isso não autoriza ignorar hipoperfusão.</a:t>
            </a:r>
            <a:endParaRPr lang="en-US" dirty="0"/>
          </a:p>
          <a:p>
            <a:r>
              <a:rPr lang="en-US" dirty="0"/>
              <a:t>TEMPO: 40 s (4:35 → 5:15)</a:t>
            </a:r>
            <a:endParaRPr lang="en-US" dirty="0"/>
          </a:p>
          <a:p>
            <a:r>
              <a:rPr lang="en-US" dirty="0"/>
              <a:t>PONTO-CHAVE: Dose baixa, β; dose alta, α. Droga da anafilaxia; terceira droga no choque séptico.</a:t>
            </a:r>
            <a:endParaRPr lang="en-US" dirty="0"/>
          </a:p>
          <a:p>
            <a:r>
              <a:rPr lang="en-US" dirty="0"/>
              <a:t>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o artigo apresenta como desfecho de segurança; o estudo foi interrompido precocemente. Dose no choque séptico: a bula americana de epinefrina prevê infusão de 0,05–2 mcg/kg/min, titulada pela PAM. Cartão ANZCA/ANZAAG 2022 (adulto; 1 mg em 10 mL = 100 mcg/mL): reação moderada (grau 2), 10–20 mcg, e 50 mcg se não houver resposta; reação ameaçadora à vida (grau 3), 50–100 mcg, e 200 mcg se não houver resposta; repetir a cada 1–2 min; após mais de três bolus, infusão de 3 mg em 50 mL, de 3 a 40 mL/h; sem acesso venoso ou sem monitorização, 500 mcg IM na face lateral da coxa, repetível a cada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Dobutamina: inotrópico β1 com vasodilatação β2; sobe o débito, baixa um pouco a resistência e pode baixar a PAM. Indicada no baixo débito com hipoperfusão, de 2,5 a 20 microgramas por quilo por minuto; se a PAM cair, associar vasopressor; taquicardia e arritmia limitam a dose. A dopamina, em uma frase: efeito pouco previsível, risco de taquicardia e arritmias, e a chamada dose renal não protege o rim; hoje tem uso restrito.</a:t>
            </a:r>
            <a:endParaRPr lang="en-US" dirty="0"/>
          </a:p>
          <a:p>
            <a:r>
              <a:rPr lang="en-US" dirty="0"/>
              <a:t>TEMPO: 35 s (5:15 → 5:50)</a:t>
            </a:r>
            <a:endParaRPr lang="en-US" dirty="0"/>
          </a:p>
          <a:p>
            <a:r>
              <a:rPr lang="en-US" dirty="0"/>
              <a:t>PONTO-CHAVE: Dobutamina para baixo débito com hipoperfusão; dopamina de uso restrito.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milrinona chega ao mesmo ponto por outra via: a dobutamina aumenta a produção de AMPc pelo receptor β1; a milrinona inibe a PDE3, uma das fosfodiesterases que degradam o AMPc no miocárdio e no vaso, e por isso age depois do receptor. É um inodilatador: aumenta contratilidade e relaxamento e reduz as resistências sistêmica e pulmonar. A indicação é a disfunção ventricular com baixo débito que exige inotrópico, sobretudo quando há hipertensão pulmonar ou falência de VD. Dose: ataque de 50 microgramas por quilo em 10 minutos, muitas vezes omitido, e manutenção de 0,375 a 0,75 microgramas por quilo por minuto. Costuma exigir noradrenalina; tem eliminação renal e meia-vida bem mais longa que a da dobutamina, acumulando na insuficiência renal.</a:t>
            </a:r>
            <a:endParaRPr lang="en-US" dirty="0"/>
          </a:p>
          <a:p>
            <a:r>
              <a:rPr lang="en-US" dirty="0"/>
              <a:t>TEMPO: 55 s (5:50 → 6:45)</a:t>
            </a:r>
            <a:endParaRPr lang="en-US" dirty="0"/>
          </a:p>
          <a:p>
            <a:r>
              <a:rPr lang="en-US" dirty="0"/>
              <a:t>PONTO-CHAVE: Inodilatador que age depois do receptor β; meia-vida longa e eliminação renal; costuma exigir noradrenalina.</a:t>
            </a:r>
            <a:endParaRPr lang="en-US" dirty="0"/>
          </a:p>
          <a:p>
            <a:r>
              <a:rPr lang="en-US" dirty="0"/>
              <a:t>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Então, quando escolher? Primeiro, a indicação: inotrópico quando há disfunção ventricular com baixo débito e hipoperfusão, depois de otimizar volume e PAM; se a hipotensão é por vasoplegia, a droga é o vasopressor, e um inodilatador baixa ainda mais a pressão. Depois, o perfil, que está na tabela. Milrinona quando a circulação pulmonar e o VD são o problema, como na hipertensão pulmonar e na saída de CEC com resistência pulmonar alta, ou quando betabloqueio ou taquicardia limitam a dobutamina; a milrinona exige PAM sustentada, em geral com noradrenalina. Dobutamina, com vasopressor, quando o baixo débito vem com hipotensão ou vasoplegia, em que a vasodilatação e a meia-vida longa da milrinona pesam contra; na insuficiência renal; e para titulação rápida, com meia-vida de minutos. No choque séptico com disfunção miocárdica e hipoperfusão persistente, a Surviving Sepsis Campaign de 2026, a SSC, sugere dobutamina com noradrenalina, ou adrenalina, sem dados que a prefiram à milrinona: preferência prática, não superioridade demonstrada.</a:t>
            </a:r>
            <a:endParaRPr lang="en-US" dirty="0"/>
          </a:p>
          <a:p>
            <a:r>
              <a:rPr lang="en-US" dirty="0"/>
              <a:t>TEMPO: 1 min 15 s (6:45 → 8:00)</a:t>
            </a:r>
            <a:endParaRPr lang="en-US" dirty="0"/>
          </a:p>
          <a:p>
            <a:r>
              <a:rPr lang="en-US" dirty="0"/>
              <a:t>PONTO-CHAVE: Primeiro a indicação; depois o perfil: milrinona para VD e circulação pulmonar com PAM sustentada; dobutamina com pressão baixa ou para titular rápido. Na sepse, dobutamina é preferência prática, não superioridade demonstrada.</a:t>
            </a:r>
            <a:endParaRPr lang="en-US" dirty="0"/>
          </a:p>
          <a:p>
            <a:r>
              <a:rPr lang="en-US" dirty="0"/>
              <a:t>SE PERGUNTAREM: no DOREMI (n = 192, choque cardiogênico), o desfecho composto foi 49% com milrinona e 54% com dobutamina (RR 0,90; IC 95% 0,69–1,19);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horas na insuficiência cardíaca e aumenta na insuficiência renal, que pede dose de manutenção menor; a da dobutamina é de cerca de 2 minutos. Sem hipoperfusão, não há benefício demonstrado de inotrópico: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Agora duas aminas simpaticomiméticas que não são catecolaminas, as drogas habituais de bolus do centro cirúrgico. Fenilefrina: agonista α1 direto, praticamente sem ação β; a PAM sobe pela resistência e a frequência cai por reflexo, o que pode reduzir o débito quando ele depende da frequência; é a escolha na hipotensão vasodilatadora com frequência normal ou alta. Efedrina: age diretamente em α e β e também, de forma indireta, libera noradrenalina das terminações; sobe pressão, frequência e débito, por isso é a escolha quando há bradicardia; perde efeito com doses repetidas, em parte porque depleta a noradrenalina, e na cesárea atravessa a placenta e associa-se a mais acidose fetal que a fenilefrina.</a:t>
            </a:r>
            <a:endParaRPr lang="en-US" dirty="0"/>
          </a:p>
          <a:p>
            <a:r>
              <a:rPr lang="en-US" dirty="0"/>
              <a:t>TEMPO: 50 s (8:00 → 8:50)</a:t>
            </a:r>
            <a:endParaRPr lang="en-US" dirty="0"/>
          </a:p>
          <a:p>
            <a:r>
              <a:rPr lang="en-US" dirty="0"/>
              <a:t>PONTO-CHAVE: Fenilefrina: hipotensão vasodilatadora com FC normal ou alta. Efedrina: com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Três recursos além das aminas. A vasopressina age no receptor V1, fora da via adrenérgica, e costuma manter efeito em acidose; no choque séptico há deficiência relativa do hormônio. No choque séptico, com noradrenalina em escalada, a dose é em geral fixa, 0,03 unidades por minuto; na vasoplegia após CEC, o VANCS titulou de 0,01 a 0,06 unidades por minuto; com IECA ou BRA, bolus pequenos ou infusão titulada; o risco é isquemia digital e mesentérica. A hidrocortisona restaura a resposta vascular às catecolaminas, 200 mg por dia no choque séptico. O azul de metileno inibe a via do óxido nítrico e fica como resgate na vasoplegia refratária: após CEC, onde há mais estudos, e na reperfusão do enxerto hepático, com base em relatos, séries e um ensaio pequeno; o uso profilático não mostrou benefício em uma coorte pareada. Outras indicações, apenas para citar: metemoglobinemia e choque séptico refratário. Cuidados: deficiência de G6PD, interferência na oximetria e no BIS, e síndrome serotoninérgica, inclusive com certos opioides.</a:t>
            </a:r>
            <a:endParaRPr lang="en-US" dirty="0"/>
          </a:p>
          <a:p>
            <a:r>
              <a:rPr lang="en-US" dirty="0"/>
              <a:t>TEMPO: 1 min 15 s (8:50 → 10:05)</a:t>
            </a:r>
            <a:endParaRPr lang="en-US" dirty="0"/>
          </a:p>
          <a:p>
            <a:r>
              <a:rPr lang="en-US" dirty="0"/>
              <a:t>PONTO-CHAVE: Fora das aminas: vasopressina (V1), hidrocortisona e azul de metileno, cada uma por um mecanismo diferente.</a:t>
            </a:r>
            <a:endParaRPr lang="en-US" dirty="0"/>
          </a:p>
          <a:p>
            <a:r>
              <a:rPr lang="en-US" dirty="0"/>
              <a:t>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 solúvel; na vasoplegia, em geral 1,5 a 2 mg/kg EV em 20 a 30 min. Pós-CEC: ensaios pequenos e séries. Transplante hepático: ECR de 36 pacientes com 1,5 mg/kg antes da reperfusão (Koelzow, Anesth Analg 2002): PAM maior e menos adrenalina; coorte pareada por propensão de 715 transplantes, 105 com azul de metileno profilático de 1 a 1,5 mg/kg (Fukazawa, J Hepatobiliary Pancreat Sci 2011): sem redução da hipotensão da reperfusão, do vasopressor ou da transfusão, e sem efeito na função do enxerto; revisões de 2021 e 2025 apontam a falta de ECRs no transplante e a hidroxocobalamina como alternativa em estudo. Outras indicações: metemoglobinemia (1 a 2 mg/kg EV, a indicação clássica); choque séptico (metanálise de ECRs: menos tempo de vasopressor e de UTI, sem substituir a vasopressina); encefalopatia por ifosfamida; relatos em anafilaxia refratária e em intoxicação por betabloqueador ou bloqueador de canal de cálcio. Contraindicado na deficiência de G6PD (hemólise, com anemia que pode aparecer dias depois); subestima a SpO₂ e pode reduzir o BIS (a bula recomenda outro método para avaliar a profundidade anestésica); síndrome serotoninérgica com ISRS, IRSN, IMAO e alguns opioides, por inibir a MAO-A.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choque séptico, a Surviving Sepsis Campaign, a diretriz internacional de sepse, atualizada em 2026, organiza os vasopressores em sequência: noradrenalina primeiro, cedo, mesmo por veia periférica; vasopressina quando a dose de noradrenalina sobe, sem limiar definido; adrenalina se a PAM continuar inadequada. É o mesmo raciocínio da aula: tônus com noradrenalina, outra via com vasopressina, e inotrópico reservado à disfunção cardíaca com hipoperfusão, com volume e PAM já otimizados.</a:t>
            </a:r>
            <a:endParaRPr lang="en-US" dirty="0"/>
          </a:p>
          <a:p>
            <a:r>
              <a:rPr lang="en-US" dirty="0"/>
              <a:t>TEMPO: 35 s (10:05 → 10:40)</a:t>
            </a:r>
            <a:endParaRPr lang="en-US" dirty="0"/>
          </a:p>
          <a:p>
            <a:r>
              <a:rPr lang="en-US" dirty="0"/>
              <a:t>PONTO-CHAVE: Noradrenalina, depois vasopressina, depois adrenalina; inotrópico reservado à disfunção cardíaca com hipoperfusão.</a:t>
            </a:r>
            <a:endParaRPr lang="en-US" dirty="0"/>
          </a:p>
          <a:p>
            <a:r>
              <a:rPr lang="en-US" dirty="0"/>
              <a:t>SE PERGUNTAREM: o VASSPR (JAMA 2026, n = 3.959; 13 hospitais, desenho cluster-crossover com ordem sorteada) comparou políticas hospitalares de iniciar a vasopressina com 0,1 vs. 0,4 mcg/kg/min de noradrenalina-equivalente; a vasopressina foi usada em 52,4% vs. 32,9%, e a mortalidade foi 31,8% vs. 33,0%. A antecipação sistemática não trouxe benefício, o que não exclui ganho em pacientes selecionados. No OPTPRESS, alvo de PAM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centro cirúrgico, antes da droga, afastar causas tratáveis: plano profundo, hipovolemia, compressão aortocava, pneumotórax e anafilaxia. Depois, o mecanismo: tônus baixo com frequência normal ou alta, agonista α1; bradicardia, efedrina ou, se grave, adrenalina; baixo débito, inotrópico; vasoplegia refratária às catecolaminas, do pós-CEC, do uso de IECA ou BRA e da reperfusão do enxerto hepático: vasopressina, com azul de metileno como resgate; pré-carga baixa, volume. Um dado do nosso serviço ajuda nessa decisão: Gouvêa, Diaz e colaboradores acompanharam por ecocardiografia transesofágica o VD de 19 pacientes selecionados em cinco fases do transplante hepático, e a função sistólica se manteve preservada nos momentos avaliados, inclusive trinta minutos após a reperfusão. Como não mediu os primeiros minutos da reperfusão, o estudo não diz se a instabilidade aguda é vasoplegia ou disfunção transitória do VD; o que fica para a prática é o método: usar o eco para separar disfunção de VD de vasoplegia antes de escolher entre inotrópico e vasopressor.</a:t>
            </a:r>
            <a:endParaRPr lang="en-US" dirty="0"/>
          </a:p>
          <a:p>
            <a:r>
              <a:rPr lang="en-US" dirty="0"/>
              <a:t>TEMPO: 1 min 15 s (10:40 → 11:55)</a:t>
            </a:r>
            <a:endParaRPr lang="en-US" dirty="0"/>
          </a:p>
          <a:p>
            <a:r>
              <a:rPr lang="en-US" dirty="0"/>
              <a:t>PONTO-CHAVE: Afastar causas, identificar o mecanismo, escolher a droga; o eco separa vasoplegia de falência de VD.</a:t>
            </a:r>
            <a:endParaRPr lang="en-US" dirty="0"/>
          </a:p>
          <a:p>
            <a:r>
              <a:rPr lang="en-US" dirty="0"/>
              <a:t>SE PERGUNTAREM: Gouvêa G, Feiner J, Joshi S, Diaz R, et al., PLoS One 2022;17(10):e0275301: estudo observacional, 19 adultos de 18 a 65 anos, TAPSE e variação fracional de área do VD em cinco fases (basal, fase de hepatectomia, fase anepática, 30 min após a reperfusão e fechamento); função sistólica do VD preservada nos cinco momentos; excluídos hipertensão portopulmonar, síndrome hepatopulmonar, doença cardiopulmonar e insuficiência hepática fulminante. População selecionada e medida feita 30 min depois da reperfusão: o estudo não mediu os primeiros minutos, quando ocorre a síndrome pós-reperfusão, não exclui disfunção transitória do VD nesse período e não permite atribuir a instabilidade aguda a vasoplegia. TAPSE e variação fracional de área dependem da carga, e o TAPSE mede apenas a excursão longitudinal do anel lateral; normais sob anestesia, com pós-carga baixa, afastam disfunção sistólica evidente nos momentos avaliados, não medem reserva contrátil. O estudo mediu a função do VD; não testou a capacidade do eco de diferenciar vasoplegia de disfunção ventricular na hipotensão aguda: essa é a aplicação clínica proposta na aula, não um resultado do estudo.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Voltando à pergunta do início: qual componente da PAM está falhando? Vasoplegia: noradrenalina e, quando a dose sobe, vasopressina. Baixo débito com hipoperfusão: inotrópico, com a milrinona sobretudo no VD com hipertensão pulmonar. Hipotensão vasodilatadora da anestesia com bradicardia: efedrina; com frequência normal ou alta: fenilefrina. Anafilaxia: adrenalina. A droga certa corrige o componente que falha, na menor dose eficaz e pelo menor tempo.</a:t>
            </a:r>
            <a:endParaRPr lang="en-US" dirty="0"/>
          </a:p>
          <a:p>
            <a:r>
              <a:rPr lang="en-US" dirty="0"/>
              <a:t>TEMPO: 30 s (11:55 → 12:25)</a:t>
            </a:r>
            <a:endParaRPr lang="en-US" dirty="0"/>
          </a:p>
          <a:p>
            <a:r>
              <a:rPr lang="en-US" dirty="0"/>
              <a:t>PONTO-CHAVE: A droga certa corrige o componente que falha, na menor dose e pelo menor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Obrigado pela atenção. As referências completas da aula estão no QR code. Fico à disposição para perguntas.</a:t>
            </a:r>
            <a:endParaRPr lang="en-US" dirty="0"/>
          </a:p>
          <a:p>
            <a:r>
              <a:rPr lang="en-US" dirty="0"/>
              <a:t>TEMPO: 10 s (12:25 → 12:35)</a:t>
            </a:r>
            <a:endParaRPr lang="en-US" dirty="0"/>
          </a:p>
          <a:p>
            <a:r>
              <a:rPr lang="en-US" dirty="0"/>
              <a:t>PONTO-CHAVE: Referências completas no QR code;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Ligar o perfil de receptores de cada dro"/>
          <p:cNvSpPr txBox="1"/>
          <p:nvPr/>
        </p:nvSpPr>
        <p:spPr>
          <a:xfrm>
            <a:off x="1371600" y="2568720"/>
            <a:ext cx="6213773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Ligar o perfil de receptores de cada droga ao seu efeito hemodinâmico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Conhecer doses, indicações e cuidados de"/>
          <p:cNvSpPr txBox="1"/>
          <p:nvPr/>
        </p:nvSpPr>
        <p:spPr>
          <a:xfrm>
            <a:off x="1371600" y="3173161"/>
            <a:ext cx="470346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Conhecer doses, indicações e cuidados de cada droga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plicar no choque séptico e na hipotensã"/>
          <p:cNvSpPr txBox="1"/>
          <p:nvPr/>
        </p:nvSpPr>
        <p:spPr>
          <a:xfrm>
            <a:off x="1371600" y="3777602"/>
            <a:ext cx="5131891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no choque séptico e na hipotensão intraoperatória</a:t>
            </a:r>
            <a:endParaRPr lang="en-US" sz="1700" dirty="0"/>
          </a:p>
        </p:txBody>
      </p:sp>
      <p:sp>
        <p:nvSpPr>
          <p:cNvPr id="12" name="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Qual componente da PAM está falhando?"/>
          <p:cNvSpPr txBox="1"/>
          <p:nvPr/>
        </p:nvSpPr>
        <p:spPr>
          <a:xfrm>
            <a:off x="4463256" y="4769969"/>
            <a:ext cx="3245545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RVS baixa, DC em geral preservado ou alt"/>
          <p:cNvSpPr txBox="1"/>
          <p:nvPr/>
        </p:nvSpPr>
        <p:spPr>
          <a:xfrm>
            <a:off x="1073150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baixa, DC em geral preservado ou alto: sepse, anestesia geral, bloqueio de neuroeixo, anafilaxia, pós-CEC. Alvo: tônus arterial (α1 ou V1).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DC baixo, RVS em geral alta: choque card"/>
          <p:cNvSpPr txBox="1"/>
          <p:nvPr/>
        </p:nvSpPr>
        <p:spPr>
          <a:xfrm>
            <a:off x="4662984" y="2484480"/>
            <a:ext cx="2884984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RVS em geral alta: choque cardiogênico; na sepse pode coexistir com vasoplegia. Alvo: contratilidade (β1 ou PDE3), com vasopressor se a PAM cair.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é-carga baix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700" dirty="0"/>
          </a:p>
        </p:txBody>
      </p:sp>
      <p:sp>
        <p:nvSpPr>
          <p:cNvPr id="12" name="Hipovolemia pede volume. O α1 contrai ve"/>
          <p:cNvSpPr txBox="1"/>
          <p:nvPr/>
        </p:nvSpPr>
        <p:spPr>
          <a:xfrm>
            <a:off x="8252817" y="2484480"/>
            <a:ext cx="2884984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pede volume. O α1 contrai veias e recruta volume não estressado, mas não substitui a reposição.</a:t>
            </a:r>
            <a:endParaRPr lang="en-US" sz="1350" dirty="0"/>
          </a:p>
        </p:txBody>
      </p:sp>
      <p:sp>
        <p:nvSpPr>
          <p:cNvPr id="13" name="Cartão"/>
          <p:cNvSpPr/>
          <p:nvPr/>
        </p:nvSpPr>
        <p:spPr>
          <a:xfrm>
            <a:off x="812800" y="4308376"/>
            <a:ext cx="10566400" cy="1219200"/>
          </a:xfrm>
          <a:prstGeom prst="roundRect">
            <a:avLst>
              <a:gd name="adj" fmla="val 6250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PAM ≈ DC × RVS + PVC"/>
          <p:cNvSpPr txBox="1"/>
          <p:nvPr/>
        </p:nvSpPr>
        <p:spPr>
          <a:xfrm>
            <a:off x="1073150" y="4604661"/>
            <a:ext cx="4379317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PAM ≈ DC × RVS + PVC</a:t>
            </a:r>
            <a:endParaRPr lang="en-US" sz="3200" dirty="0"/>
          </a:p>
        </p:txBody>
      </p:sp>
      <p:sp>
        <p:nvSpPr>
          <p:cNvPr id="15" name="A PVC costuma ser baixa: a PAM depende s"/>
          <p:cNvSpPr txBox="1"/>
          <p:nvPr/>
        </p:nvSpPr>
        <p:spPr>
          <a:xfrm>
            <a:off x="5839817" y="4502972"/>
            <a:ext cx="5298083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PVC costuma ser baixa: a PAM depende sobretudo do débito e da resistência. Quando a PVC sobe, o que cai é a perfusão (PAM − PVC) e o retorno venoso.</a:t>
            </a:r>
            <a:endParaRPr lang="en-US" sz="1500" dirty="0"/>
          </a:p>
        </p:txBody>
      </p:sp>
      <p:sp>
        <p:nvSpPr>
          <p:cNvPr id="16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13, 43 · Persichini, Crit Care Med 2012 · ESICM 2025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avaliar a perfusão no intraoperatório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03301"/>
            <a:ext cx="3386634" cy="2612231"/>
          </a:xfrm>
          <a:prstGeom prst="roundRect">
            <a:avLst>
              <a:gd name="adj" fmla="val 29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Ecocardiografia (ETE ou POCUS)"/>
          <p:cNvSpPr txBox="1"/>
          <p:nvPr/>
        </p:nvSpPr>
        <p:spPr>
          <a:xfrm>
            <a:off x="1047750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Ecocardiografia (ETE ou POCUS)</a:t>
            </a:r>
            <a:endParaRPr lang="en-US" sz="1700" dirty="0"/>
          </a:p>
        </p:txBody>
      </p:sp>
      <p:sp>
        <p:nvSpPr>
          <p:cNvPr id="6" name="Tipo de choque em minutos: função de VE "/>
          <p:cNvSpPr txBox="1"/>
          <p:nvPr/>
        </p:nvSpPr>
        <p:spPr>
          <a:xfrm>
            <a:off x="1047750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choque em minutos: função de VE e VD, volemia, pericárdio</a:t>
            </a:r>
            <a:endParaRPr lang="en-US" sz="1350" dirty="0"/>
          </a:p>
        </p:txBody>
      </p:sp>
      <p:sp>
        <p:nvSpPr>
          <p:cNvPr id="7" name="VTI na via de saída do VE: estimativa se"/>
          <p:cNvSpPr txBox="1"/>
          <p:nvPr/>
        </p:nvSpPr>
        <p:spPr>
          <a:xfrm>
            <a:off x="1047750" y="292897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VTI na via de saída do VE: estimativa seriada do volume sistólico</a:t>
            </a:r>
            <a:endParaRPr lang="en-US" sz="1350" dirty="0"/>
          </a:p>
        </p:txBody>
      </p:sp>
      <p:sp>
        <p:nvSpPr>
          <p:cNvPr id="8" name="Reavaliar após volume ou droga"/>
          <p:cNvSpPr txBox="1"/>
          <p:nvPr/>
        </p:nvSpPr>
        <p:spPr>
          <a:xfrm>
            <a:off x="1047750" y="3472493"/>
            <a:ext cx="2935784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Reavaliar após volume ou droga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4402634" y="1803301"/>
            <a:ext cx="3386634" cy="2612231"/>
          </a:xfrm>
          <a:prstGeom prst="roundRect">
            <a:avLst>
              <a:gd name="adj" fmla="val 29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Débito e parâmetros dinâmicos"/>
          <p:cNvSpPr txBox="1"/>
          <p:nvPr/>
        </p:nvSpPr>
        <p:spPr>
          <a:xfrm>
            <a:off x="4637584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Débito e parâmetros dinâmicos</a:t>
            </a:r>
            <a:endParaRPr lang="en-US" sz="1700" dirty="0"/>
          </a:p>
        </p:txBody>
      </p:sp>
      <p:sp>
        <p:nvSpPr>
          <p:cNvPr id="11" name="Monitores de débito: contorno de pulso, "/>
          <p:cNvSpPr txBox="1"/>
          <p:nvPr/>
        </p:nvSpPr>
        <p:spPr>
          <a:xfrm>
            <a:off x="4637584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Monitores de débito: contorno de pulso, termodiluição, Doppler</a:t>
            </a:r>
            <a:endParaRPr lang="en-US" sz="1350" dirty="0"/>
          </a:p>
        </p:txBody>
      </p:sp>
      <p:sp>
        <p:nvSpPr>
          <p:cNvPr id="12" name="VPP e VVS em ventilação controlada, dent"/>
          <p:cNvSpPr txBox="1"/>
          <p:nvPr/>
        </p:nvSpPr>
        <p:spPr>
          <a:xfrm>
            <a:off x="4637584" y="292897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e VVS em ventilação controlada, dentro dos limites do método</a:t>
            </a:r>
            <a:endParaRPr lang="en-US" sz="1350" dirty="0"/>
          </a:p>
        </p:txBody>
      </p:sp>
      <p:sp>
        <p:nvSpPr>
          <p:cNvPr id="13" name="Minidesafio hídrico ou, se o posicioname"/>
          <p:cNvSpPr txBox="1"/>
          <p:nvPr/>
        </p:nvSpPr>
        <p:spPr>
          <a:xfrm>
            <a:off x="4637584" y="3472493"/>
            <a:ext cx="2935784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Minidesafio hídrico ou, se o posicionamento permitir, elevação passiva das pernas, medindo o débito</a:t>
            </a:r>
            <a:endParaRPr lang="en-US" sz="1350" dirty="0"/>
          </a:p>
        </p:txBody>
      </p:sp>
      <p:sp>
        <p:nvSpPr>
          <p:cNvPr id="14" name="Cartão"/>
          <p:cNvSpPr/>
          <p:nvPr/>
        </p:nvSpPr>
        <p:spPr>
          <a:xfrm>
            <a:off x="7992467" y="1803301"/>
            <a:ext cx="3386634" cy="2612231"/>
          </a:xfrm>
          <a:prstGeom prst="roundRect">
            <a:avLst>
              <a:gd name="adj" fmla="val 29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Perfusão tissular"/>
          <p:cNvSpPr txBox="1"/>
          <p:nvPr/>
        </p:nvSpPr>
        <p:spPr>
          <a:xfrm>
            <a:off x="8227417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Perfusão tissular</a:t>
            </a:r>
            <a:endParaRPr lang="en-US" sz="1700" dirty="0"/>
          </a:p>
        </p:txBody>
      </p:sp>
      <p:sp>
        <p:nvSpPr>
          <p:cNvPr id="16" name="Lactato e sua tendência; SvcO₂; gap veno"/>
          <p:cNvSpPr txBox="1"/>
          <p:nvPr/>
        </p:nvSpPr>
        <p:spPr>
          <a:xfrm>
            <a:off x="8227417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e sua tendência; SvcO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gap venoarterial de 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17" name="Diurese"/>
          <p:cNvSpPr txBox="1"/>
          <p:nvPr/>
        </p:nvSpPr>
        <p:spPr>
          <a:xfrm>
            <a:off x="8227417" y="2928972"/>
            <a:ext cx="2935784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Diurese</a:t>
            </a:r>
            <a:endParaRPr lang="en-US" sz="1350" dirty="0"/>
          </a:p>
        </p:txBody>
      </p:sp>
      <p:sp>
        <p:nvSpPr>
          <p:cNvPr id="18" name="Enchimento capilar e temperatura das ext"/>
          <p:cNvSpPr txBox="1"/>
          <p:nvPr/>
        </p:nvSpPr>
        <p:spPr>
          <a:xfrm>
            <a:off x="8227417" y="3232483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e temperatura das extremidades</a:t>
            </a:r>
            <a:endParaRPr lang="en-US" sz="1350" dirty="0"/>
          </a:p>
        </p:txBody>
      </p:sp>
      <p:sp>
        <p:nvSpPr>
          <p:cNvPr id="19" name="Cartão"/>
          <p:cNvSpPr/>
          <p:nvPr/>
        </p:nvSpPr>
        <p:spPr>
          <a:xfrm>
            <a:off x="812800" y="4644132"/>
            <a:ext cx="10566400" cy="886420"/>
          </a:xfrm>
          <a:prstGeom prst="roundRect">
            <a:avLst>
              <a:gd name="adj" fmla="val 859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0" name="Atenção"/>
          <p:cNvSpPr txBox="1"/>
          <p:nvPr/>
        </p:nvSpPr>
        <p:spPr>
          <a:xfrm>
            <a:off x="1073150" y="4774028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21" name="PAM normal não exclui débito baixo: comb"/>
          <p:cNvSpPr txBox="1"/>
          <p:nvPr/>
        </p:nvSpPr>
        <p:spPr>
          <a:xfrm>
            <a:off x="2937470" y="4805688"/>
            <a:ext cx="820043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baixo: combinar eco, débito e marcadores de perfusão antes de decidir por inotrópico.</a:t>
            </a:r>
            <a:endParaRPr lang="en-US" sz="1500" dirty="0"/>
          </a:p>
        </p:txBody>
      </p:sp>
      <p:sp>
        <p:nvSpPr>
          <p:cNvPr id="22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Miller’s Anesthesia, 10ª ed. (2025), cap. 13, 33</a:t>
            </a:r>
            <a:endParaRPr lang="en-US" sz="1200" dirty="0"/>
          </a:p>
        </p:txBody>
      </p:sp>
      <p:pic>
        <p:nvPicPr>
          <p:cNvPr id="2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das aminas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698180"/>
                <a:gridCol w="5811639"/>
              </a:tblGrid>
              <a:tr h="3530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561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6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Pré-sináptico; tronco encefálico (locus coeruleus e centros vasomotores); músculo liso vascular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↓liberação de NA; sedação e simpatólise central (dexmedetomidina); vasoconstrição pós-sináptica (hipertensão transitória do bolus de dexmedetomidina)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164582"/>
          <a:ext cx="10566400" cy="914400"/>
        </p:xfrm>
        <a:graphic>
          <a:graphicData uri="http://schemas.openxmlformats.org/drawingml/2006/table">
            <a:tbl>
              <a:tblPr/>
              <a:tblGrid>
                <a:gridCol w="1320701"/>
                <a:gridCol w="3962301"/>
                <a:gridCol w="5283398"/>
              </a:tblGrid>
              <a:tr h="3561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↑inotropismo, cronotropismo e dromotropismo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883323"/>
          <a:ext cx="10566400" cy="914400"/>
        </p:xfrm>
        <a:graphic>
          <a:graphicData uri="http://schemas.openxmlformats.org/drawingml/2006/table">
            <a:tbl>
              <a:tblPr/>
              <a:tblGrid>
                <a:gridCol w="1320701"/>
                <a:gridCol w="3962301"/>
                <a:gridCol w="5283398"/>
              </a:tblGrid>
              <a:tr h="3561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242693"/>
          <a:ext cx="10566400" cy="914400"/>
        </p:xfrm>
        <a:graphic>
          <a:graphicData uri="http://schemas.openxmlformats.org/drawingml/2006/table">
            <a:tbl>
              <a:tblPr/>
              <a:tblGrid>
                <a:gridCol w="1320701"/>
                <a:gridCol w="3962301"/>
                <a:gridCol w="5283398"/>
              </a:tblGrid>
              <a:tr h="3561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Catecolaminas: meia-vida de minutos, em "/>
          <p:cNvSpPr txBox="1"/>
          <p:nvPr/>
        </p:nvSpPr>
        <p:spPr>
          <a:xfrm>
            <a:off x="812800" y="5253273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Catecolaminas: meia-vida de minutos, em geral infusão; fenilefrina e efedrina duram mais (as drogas habituais de bolus). Uso prolongado: dessensibilização.</a:t>
            </a:r>
            <a:endParaRPr lang="en-US" sz="1300" dirty="0"/>
          </a:p>
        </p:txBody>
      </p:sp>
      <p:sp>
        <p:nvSpPr>
          <p:cNvPr id="9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16</a:t>
            </a:r>
            <a:endParaRPr lang="en-US" sz="1200" dirty="0"/>
          </a:p>
        </p:txBody>
      </p:sp>
      <p:pic>
        <p:nvPicPr>
          <p:cNvPr id="1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DC ↔ (↑/↓)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 (↑/↓)</a:t>
            </a:r>
            <a:endParaRPr lang="en-US" sz="1400" dirty="0"/>
          </a:p>
        </p:txBody>
      </p:sp>
      <p:sp>
        <p:nvSpPr>
          <p:cNvPr id="19" name="FC ↔/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RVS ↑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Cartão"/>
          <p:cNvSpPr/>
          <p:nvPr/>
        </p:nvSpPr>
        <p:spPr>
          <a:xfrm>
            <a:off x="4064000" y="1879501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α1 potente, β1 de efeito modesto: sobe a"/>
          <p:cNvSpPr txBox="1"/>
          <p:nvPr/>
        </p:nvSpPr>
        <p:spPr>
          <a:xfrm>
            <a:off x="4324350" y="2484480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potente, β1 de efeito modesto: sobe a PAM pela RVS e pelo retorno venoso; DC em geral mantido: pode subir pelo retorno venoso ou cair pela pós-carga; FC estável ou menor. 1ª linha no choque séptico.</a:t>
            </a:r>
            <a:endParaRPr lang="en-US" sz="1350" dirty="0"/>
          </a:p>
        </p:txBody>
      </p:sp>
      <p:sp>
        <p:nvSpPr>
          <p:cNvPr id="24" name="Cartão"/>
          <p:cNvSpPr/>
          <p:nvPr/>
        </p:nvSpPr>
        <p:spPr>
          <a:xfrm>
            <a:off x="4064000" y="3608090"/>
            <a:ext cx="7315200" cy="1466255"/>
          </a:xfrm>
          <a:prstGeom prst="roundRect">
            <a:avLst>
              <a:gd name="adj" fmla="val 519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Dose e cuidados"/>
          <p:cNvSpPr txBox="1"/>
          <p:nvPr/>
        </p:nvSpPr>
        <p:spPr>
          <a:xfrm>
            <a:off x="4324350" y="3864446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0,01–0,5 mcg/kg/min, sem teto fixo; bolu"/>
          <p:cNvSpPr txBox="1"/>
          <p:nvPr/>
        </p:nvSpPr>
        <p:spPr>
          <a:xfrm>
            <a:off x="4324350" y="4213069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fixo; bolus de 5–10 mcg no centro cirúrgico. Pode começar em veia periférica calibrosa. Riscos: isquemia digital e esplâncnica, extravasamento.</a:t>
            </a:r>
            <a:endParaRPr lang="en-US" sz="1350" dirty="0"/>
          </a:p>
        </p:txBody>
      </p:sp>
      <p:sp>
        <p:nvSpPr>
          <p:cNvPr id="27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7315200" cy="1466255"/>
          </a:xfrm>
          <a:prstGeom prst="roundRect">
            <a:avLst>
              <a:gd name="adj" fmla="val 519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Dose baixa: predomina β (↑DC; a RVS pode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baixa: predomina β (↑DC; a RVS pode cair); dose alta: α1. Droga da anafilaxia; no choque séptico, 3ª droga, se a PAM seguir inadequada com NA e vasopressina.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4064000" y="3447355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Dose e cuidados"/>
          <p:cNvSpPr txBox="1"/>
          <p:nvPr/>
        </p:nvSpPr>
        <p:spPr>
          <a:xfrm>
            <a:off x="4324350" y="3703711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0,01–0,1 mcg/kg/min (em geral, predomíni"/>
          <p:cNvSpPr txBox="1"/>
          <p:nvPr/>
        </p:nvSpPr>
        <p:spPr>
          <a:xfrm>
            <a:off x="4324350" y="405233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 (em geral, predomínio β); no choque, dose maior, titulada pela PAM. Anafilaxia: bolus endovenosos pequenos e titulados, repetidos a cada 1–2 min; infusão após mais de três bolus. Riscos: taquiarritmia, hiperglicemia; lactato ↑ por β2.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 e 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butamina"/>
          <p:cNvSpPr txBox="1"/>
          <p:nvPr/>
        </p:nvSpPr>
        <p:spPr>
          <a:xfrm>
            <a:off x="10668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6" name="PAM ↔/↓ · DC ↑↑ · FC ↑ · RVS ↓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↔/↓ · DC ↑↑ · FC ↑ · RVS 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Inotrópico β1 com vasodilatação β2: ↑DC,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↑DC, ↓RVS, pode baixar a PAM. Indicação: baixo débito com hipoperfusão, 2,5–20 mcg/kg/min; associar vasopressor se a PAM cair; taquicardia e arritmia limitam a dose.</a:t>
            </a:r>
            <a:endParaRPr lang="en-US" sz="1350" dirty="0"/>
          </a:p>
        </p:txBody>
      </p:sp>
      <p:sp>
        <p:nvSpPr>
          <p:cNvPr id="20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1" name="Dopamina"/>
          <p:cNvSpPr txBox="1"/>
          <p:nvPr/>
        </p:nvSpPr>
        <p:spPr>
          <a:xfrm>
            <a:off x="64516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22" name="PAM ↑ · DC ↑ · FC ↑↑ · RVS ↔/↑"/>
          <p:cNvSpPr txBox="1"/>
          <p:nvPr/>
        </p:nvSpPr>
        <p:spPr>
          <a:xfrm>
            <a:off x="86293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 · RVS ↔/↑</a:t>
            </a:r>
            <a:endParaRPr lang="en-US" sz="1300" dirty="0"/>
          </a:p>
        </p:txBody>
      </p:sp>
      <p:sp>
        <p:nvSpPr>
          <p:cNvPr id="23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4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5" name="Cartão"/>
          <p:cNvSpPr/>
          <p:nvPr/>
        </p:nvSpPr>
        <p:spPr>
          <a:xfrm>
            <a:off x="6858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6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7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8" name="Cartão"/>
          <p:cNvSpPr/>
          <p:nvPr/>
        </p:nvSpPr>
        <p:spPr>
          <a:xfrm>
            <a:off x="93218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9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0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1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2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3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4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5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Efeito pouco previsível; risco de taquic"/>
          <p:cNvSpPr txBox="1"/>
          <p:nvPr/>
        </p:nvSpPr>
        <p:spPr>
          <a:xfrm>
            <a:off x="6457950" y="3355621"/>
            <a:ext cx="46799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pouco previsível; risco de taquicardia e arritmias; a chamada dose “renal” não protege o rim. Uso restrito.</a:t>
            </a:r>
            <a:endParaRPr lang="en-US" sz="1350" dirty="0"/>
          </a:p>
        </p:txBody>
      </p:sp>
      <p:sp>
        <p:nvSpPr>
          <p:cNvPr id="37" name="Bellomo, Lancet 2000 (ANZICS) · Miller’s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23036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4064000" y="1879501"/>
            <a:ext cx="7315200" cy="1501775"/>
          </a:xfrm>
          <a:prstGeom prst="roundRect">
            <a:avLst>
              <a:gd name="adj" fmla="val 5074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Disfunção ventricular com baixo débito q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inotrópico, sobretudo com hipertensão pulmonar ou falência de VD; saída de CEC com RVP alta ou betabloqueio.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4064000" y="3482876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ose e cuidados"/>
          <p:cNvSpPr txBox="1"/>
          <p:nvPr/>
        </p:nvSpPr>
        <p:spPr>
          <a:xfrm>
            <a:off x="4324350" y="3739232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Ataque de 50 mcg/kg em 10 min (muitas ve"/>
          <p:cNvSpPr txBox="1"/>
          <p:nvPr/>
        </p:nvSpPr>
        <p:spPr>
          <a:xfrm>
            <a:off x="4324350" y="408785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 (muitas vezes omitido); manutenção de 0,375–0,75 mcg/kg/min. Eliminação renal: reduzir na insuficiência renal. Riscos: hipotensão (associar NA) e arritmias.</a:t>
            </a:r>
            <a:endParaRPr lang="en-US" sz="1350" dirty="0"/>
          </a:p>
        </p:txBody>
      </p:sp>
      <p:sp>
        <p:nvSpPr>
          <p:cNvPr id="21" name="bula da milrinona · Miller’s Anesthesia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 da milrinona · Miller’s Anesthesia, 10ª ed. (2025), cap. 16, 50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após o receptor β: efeito em grande parte preservado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rtão"/>
          <p:cNvSpPr/>
          <p:nvPr/>
        </p:nvSpPr>
        <p:spPr>
          <a:xfrm>
            <a:off x="812800" y="4287143"/>
            <a:ext cx="5181600" cy="1521222"/>
          </a:xfrm>
          <a:prstGeom prst="roundRect">
            <a:avLst>
              <a:gd name="adj" fmla="val 5009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Considere milrinona"/>
          <p:cNvSpPr txBox="1"/>
          <p:nvPr/>
        </p:nvSpPr>
        <p:spPr>
          <a:xfrm>
            <a:off x="10223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VD com hipertensão pulmonar, inclusive n"/>
          <p:cNvSpPr txBox="1"/>
          <p:nvPr/>
        </p:nvSpPr>
        <p:spPr>
          <a:xfrm>
            <a:off x="1022350" y="471233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 com hipertensão pulmonar, inclusive na saída de CEC com RVP alta; betabloqueio ou taquicardia limitando a dobutamina; PAM sustentada (em geral com NA).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6197600" y="4287143"/>
            <a:ext cx="5181600" cy="1521222"/>
          </a:xfrm>
          <a:prstGeom prst="roundRect">
            <a:avLst>
              <a:gd name="adj" fmla="val 5009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Considere dobutamina"/>
          <p:cNvSpPr txBox="1"/>
          <p:nvPr/>
        </p:nvSpPr>
        <p:spPr>
          <a:xfrm>
            <a:off x="64071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Hipotensão ou vasoplegia associada; insu"/>
          <p:cNvSpPr txBox="1"/>
          <p:nvPr/>
        </p:nvSpPr>
        <p:spPr>
          <a:xfrm>
            <a:off x="6407150" y="4712333"/>
            <a:ext cx="4781550" cy="92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 ou vasoplegia associada; insuficiência renal; necessidade de titulação rápida (meia-vida de minutos). No choque séptico, a SSC 2026 sugere dobutamina com noradrenalina, ou adrenalina; faltam dados comparando com milrinona.</a:t>
            </a:r>
            <a:endParaRPr lang="en-US" sz="1300" dirty="0"/>
          </a:p>
        </p:txBody>
      </p:sp>
      <p:sp>
        <p:nvSpPr>
          <p:cNvPr id="12" name="bula da milrinona · Miller’s Anesthesia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 da milrinona · Miller’s Anesthesia, 10ª ed. (2025), cap. 16, 50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ÃO CATECOLAMINAS DE BOLU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NÃO CATECOLAMINAS DE BOLUS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PAM ↑ · DC ↔/↓ · FC ↓ · RVS ↑↑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↔/↓ · FC ↓ · RVS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Agonista α1 direto: sobe a RVS e a PAM; "/>
          <p:cNvSpPr txBox="1"/>
          <p:nvPr/>
        </p:nvSpPr>
        <p:spPr>
          <a:xfrm>
            <a:off x="10731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direto: sobe a RVS e a PAM; bradicardia reflexa, que pode reduzir o DC. Escolha na hipotensão vasodilatadora com FC normal ou alta.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PAM ↑ · DC ↑ · FC ↑ · RVS ↔/↑"/>
          <p:cNvSpPr txBox="1"/>
          <p:nvPr/>
        </p:nvSpPr>
        <p:spPr>
          <a:xfrm>
            <a:off x="8778875" y="2069740"/>
            <a:ext cx="2365375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 · RVS ↔/↑</a:t>
            </a:r>
            <a:endParaRPr lang="en-US" sz="1300" dirty="0"/>
          </a:p>
        </p:txBody>
      </p:sp>
      <p:sp>
        <p:nvSpPr>
          <p:cNvPr id="21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Ação direta em α e β e indireta, liberan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direta em α e β e indireta, liberando noradrenalina: sobe pressão, frequência e débito. Escolha na hipotensão com bradicardia. Taquifilaxia;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(2025), cap. 16, 58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Além das aminas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517305"/>
          </a:xfrm>
          <a:prstGeom prst="roundRect">
            <a:avLst>
              <a:gd name="adj" fmla="val 2166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Choque séptico: dose em geral fixa, até "/>
          <p:cNvSpPr txBox="1"/>
          <p:nvPr/>
        </p:nvSpPr>
        <p:spPr>
          <a:xfrm>
            <a:off x="1066800" y="3036831"/>
            <a:ext cx="35750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séptico: dose em geral fixa, até 0,04 U/min. Vasoplegia pós-CEC: titulada (0,01–0,06 U/min no VANCS). Costuma manter efeito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oradrena"/>
          <p:cNvSpPr txBox="1"/>
          <p:nvPr/>
        </p:nvSpPr>
        <p:spPr>
          <a:xfrm>
            <a:off x="1066800" y="4132603"/>
            <a:ext cx="35750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choque séptico com noradrenalina em escalada, vasoplegia pós-CEC e hipotensão refratária em uso de IECA/BRA. Risco: isquemia digital e mesentérica.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5080000" y="1879501"/>
            <a:ext cx="6299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Hidrocortisona"/>
          <p:cNvSpPr txBox="1"/>
          <p:nvPr/>
        </p:nvSpPr>
        <p:spPr>
          <a:xfrm>
            <a:off x="5289550" y="203472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Restaura a resposta vascular às catecola"/>
          <p:cNvSpPr txBox="1"/>
          <p:nvPr/>
        </p:nvSpPr>
        <p:spPr>
          <a:xfrm>
            <a:off x="5289550" y="2304690"/>
            <a:ext cx="5899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vascular às catecolaminas; 200 mg/dia no choque séptico.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5080000" y="2809081"/>
            <a:ext cx="62992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Azul de metileno"/>
          <p:cNvSpPr txBox="1"/>
          <p:nvPr/>
        </p:nvSpPr>
        <p:spPr>
          <a:xfrm>
            <a:off x="5289550" y="296430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4" name="Inibe a via óxido nítrico–GMPc: resgate "/>
          <p:cNvSpPr txBox="1"/>
          <p:nvPr/>
        </p:nvSpPr>
        <p:spPr>
          <a:xfrm>
            <a:off x="5289550" y="3234271"/>
            <a:ext cx="58991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via óxido nítrico–GMPc: resgate na vasoplegia refratária (pós-CEC; reperfusão do enxerto hepático, com base em relatos e séries). Também: metemoglobinemia; choque séptico refratário, em estudo.</a:t>
            </a:r>
            <a:endParaRPr lang="en-US" sz="1300" dirty="0"/>
          </a:p>
        </p:txBody>
      </p:sp>
      <p:sp>
        <p:nvSpPr>
          <p:cNvPr id="15" name="SSC 2026 · Hajjar, Anesthesiology 2017 ("/>
          <p:cNvSpPr txBox="1"/>
          <p:nvPr/>
        </p:nvSpPr>
        <p:spPr>
          <a:xfrm>
            <a:off x="812800" y="6245073"/>
            <a:ext cx="10433050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Koelzow, Anesth Analg 2002 · Fukazawa, J Hepatobiliary Pancreat Sci 2011 · Miller’s Anesthesia, 10ª ed. (2025), cap. 79</a:t>
            </a:r>
            <a:endParaRPr lang="en-US" sz="1100" dirty="0"/>
          </a:p>
        </p:txBody>
      </p:sp>
      <p:pic>
        <p:nvPicPr>
          <p:cNvPr id="1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séptico: a sequência da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, iniciada cedo, mesmo em veia p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linha, iniciada cedo, mesmo em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Quando a dose de NA está subindo."/>
          <p:cNvSpPr txBox="1"/>
          <p:nvPr/>
        </p:nvSpPr>
        <p:spPr>
          <a:xfrm>
            <a:off x="4730155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dose de NA está subindo.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Se a PAM continuar inadequada."/>
          <p:cNvSpPr txBox="1"/>
          <p:nvPr/>
        </p:nvSpPr>
        <p:spPr>
          <a:xfrm>
            <a:off x="8444309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PAM continuar inadequada.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10566400" cy="1219200"/>
          </a:xfrm>
          <a:prstGeom prst="roundRect">
            <a:avLst>
              <a:gd name="adj" fmla="val 6250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Em comum"/>
          <p:cNvSpPr txBox="1"/>
          <p:nvPr/>
        </p:nvSpPr>
        <p:spPr>
          <a:xfrm>
            <a:off x="1073150" y="3875835"/>
            <a:ext cx="1834555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comum</a:t>
            </a:r>
            <a:endParaRPr lang="en-US" sz="2800" dirty="0"/>
          </a:p>
        </p:txBody>
      </p:sp>
      <p:sp>
        <p:nvSpPr>
          <p:cNvPr id="20" name="Vasopressor cedo, pelo mecanismo: tônus "/>
          <p:cNvSpPr txBox="1"/>
          <p:nvPr/>
        </p:nvSpPr>
        <p:spPr>
          <a:xfrm>
            <a:off x="3295055" y="3735018"/>
            <a:ext cx="784284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Vasopressor cedo, pelo mecanismo: tônus com noradrenalina, outra via com vasopressina, e adrenalina quando as duas não bastam. Inotrópico reservado à disfunção cardíaca com hipoperfusão.</a:t>
            </a:r>
            <a:endParaRPr lang="en-US" sz="1500" dirty="0"/>
          </a:p>
        </p:txBody>
      </p:sp>
      <p:sp>
        <p:nvSpPr>
          <p:cNvPr id="21" name="Prescott, Crit Care Med 2026 (Surviving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(Surviving Sepsis Campaign)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 no intraoperatório</a:t>
            </a:r>
            <a:endParaRPr lang="en-US" sz="3200" dirty="0"/>
          </a:p>
        </p:txBody>
      </p:sp>
      <p:sp>
        <p:nvSpPr>
          <p:cNvPr id="4" name="Hipotensão"/>
          <p:cNvSpPr/>
          <p:nvPr/>
        </p:nvSpPr>
        <p:spPr>
          <a:xfrm>
            <a:off x="812800" y="1835051"/>
            <a:ext cx="1005979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200" dirty="0"/>
          </a:p>
        </p:txBody>
      </p:sp>
      <p:sp>
        <p:nvSpPr>
          <p:cNvPr id="5" name="→"/>
          <p:cNvSpPr txBox="1"/>
          <p:nvPr/>
        </p:nvSpPr>
        <p:spPr>
          <a:xfrm>
            <a:off x="1920379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274987" y="1828701"/>
            <a:ext cx="5829399" cy="403820"/>
          </a:xfrm>
          <a:prstGeom prst="roundRect">
            <a:avLst>
              <a:gd name="adj" fmla="val 18870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46050" tIns="95250" rIns="146050" bIns="952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205986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Qual mecanismo?"/>
          <p:cNvSpPr/>
          <p:nvPr/>
        </p:nvSpPr>
        <p:spPr>
          <a:xfrm>
            <a:off x="8560594" y="1835051"/>
            <a:ext cx="1409105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200" dirty="0"/>
          </a:p>
        </p:txBody>
      </p:sp>
      <p:sp>
        <p:nvSpPr>
          <p:cNvPr id="9" name="Cartão"/>
          <p:cNvSpPr/>
          <p:nvPr/>
        </p:nvSpPr>
        <p:spPr>
          <a:xfrm>
            <a:off x="81280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Tônus baixo, FC normal ou alta"/>
          <p:cNvSpPr/>
          <p:nvPr/>
        </p:nvSpPr>
        <p:spPr>
          <a:xfrm>
            <a:off x="81915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200" dirty="0"/>
          </a:p>
        </p:txBody>
      </p:sp>
      <p:sp>
        <p:nvSpPr>
          <p:cNvPr id="11" name="Fenilefrina 50–100 mcg ou NA 5–10 mcg; i"/>
          <p:cNvSpPr txBox="1"/>
          <p:nvPr/>
        </p:nvSpPr>
        <p:spPr>
          <a:xfrm>
            <a:off x="946150" y="3170165"/>
            <a:ext cx="1764010" cy="694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mcg; infusão se persistir</a:t>
            </a:r>
            <a:endParaRPr lang="en-US" sz="1350" dirty="0"/>
          </a:p>
        </p:txBody>
      </p:sp>
      <p:sp>
        <p:nvSpPr>
          <p:cNvPr id="12" name="Cartão"/>
          <p:cNvSpPr/>
          <p:nvPr/>
        </p:nvSpPr>
        <p:spPr>
          <a:xfrm>
            <a:off x="295146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Tônus baixo com bradicardia"/>
          <p:cNvSpPr/>
          <p:nvPr/>
        </p:nvSpPr>
        <p:spPr>
          <a:xfrm>
            <a:off x="295781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200" dirty="0"/>
          </a:p>
        </p:txBody>
      </p:sp>
      <p:sp>
        <p:nvSpPr>
          <p:cNvPr id="14" name="Efedrina 5–10 mg; adrenalina se grave"/>
          <p:cNvSpPr txBox="1"/>
          <p:nvPr/>
        </p:nvSpPr>
        <p:spPr>
          <a:xfrm>
            <a:off x="3084810" y="3170165"/>
            <a:ext cx="1764010" cy="462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mg; adrenalina se grave</a:t>
            </a:r>
            <a:endParaRPr lang="en-US" sz="1350" dirty="0"/>
          </a:p>
        </p:txBody>
      </p:sp>
      <p:sp>
        <p:nvSpPr>
          <p:cNvPr id="15" name="Cartão"/>
          <p:cNvSpPr/>
          <p:nvPr/>
        </p:nvSpPr>
        <p:spPr>
          <a:xfrm>
            <a:off x="509012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Baixo débito com hipoperfusão"/>
          <p:cNvSpPr/>
          <p:nvPr/>
        </p:nvSpPr>
        <p:spPr>
          <a:xfrm>
            <a:off x="509647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200" dirty="0"/>
          </a:p>
        </p:txBody>
      </p:sp>
      <p:sp>
        <p:nvSpPr>
          <p:cNvPr id="17" name="Dobutamina; milrinona no VD com hiperten"/>
          <p:cNvSpPr txBox="1"/>
          <p:nvPr/>
        </p:nvSpPr>
        <p:spPr>
          <a:xfrm>
            <a:off x="5223470" y="3170165"/>
            <a:ext cx="1764010" cy="925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Dobutamina; milrinona no VD com hipertensão pulmonar; NA se a PAM cair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722878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Vasoplegia refratária"/>
          <p:cNvSpPr/>
          <p:nvPr/>
        </p:nvSpPr>
        <p:spPr>
          <a:xfrm>
            <a:off x="7235130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refratária</a:t>
            </a:r>
            <a:endParaRPr lang="en-US" sz="1200" dirty="0"/>
          </a:p>
        </p:txBody>
      </p:sp>
      <p:sp>
        <p:nvSpPr>
          <p:cNvPr id="20" name="Vasopressina; azul de metileno como resg"/>
          <p:cNvSpPr txBox="1"/>
          <p:nvPr/>
        </p:nvSpPr>
        <p:spPr>
          <a:xfrm>
            <a:off x="7362130" y="3167784"/>
            <a:ext cx="1764010" cy="925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Vasopressina; azul de metileno como resgate (pós-CEC, IECA/BRA, reperfusão hepática)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9367441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Pré-carga baixa"/>
          <p:cNvSpPr/>
          <p:nvPr/>
        </p:nvSpPr>
        <p:spPr>
          <a:xfrm>
            <a:off x="9373791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200" dirty="0"/>
          </a:p>
        </p:txBody>
      </p:sp>
      <p:sp>
        <p:nvSpPr>
          <p:cNvPr id="23" name="Volume, se o débito responde"/>
          <p:cNvSpPr txBox="1"/>
          <p:nvPr/>
        </p:nvSpPr>
        <p:spPr>
          <a:xfrm>
            <a:off x="9500791" y="3167784"/>
            <a:ext cx="1764010" cy="462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350" dirty="0"/>
          </a:p>
        </p:txBody>
      </p:sp>
      <p:sp>
        <p:nvSpPr>
          <p:cNvPr id="24" name="Transplante hepático (UFRJ): em 19 pacie"/>
          <p:cNvSpPr txBox="1"/>
          <p:nvPr/>
        </p:nvSpPr>
        <p:spPr>
          <a:xfrm>
            <a:off x="812800" y="4468254"/>
            <a:ext cx="105854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Transplante hepático (UFRJ):</a:t>
            </a: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19 pacientes selecionados, a função sistólica do VD ao ETE manteve-se preservada nos momentos avaliados, inclusive 30 min após a reperfusão. O estudo não mediu os primeiros minutos da reperfusão nem a causa da instabilidade aguda; a lição é usar o eco para separar disfunção de VD de vasoplegia antes de escolher entre inotrópico e vasopressor (Gouvêa et al., PLoS One 2022).</a:t>
            </a:r>
            <a:endParaRPr lang="en-US" sz="1300" dirty="0"/>
          </a:p>
        </p:txBody>
      </p:sp>
      <p:sp>
        <p:nvSpPr>
          <p:cNvPr id="25" name="Gouvêa, PLoS One 2022 · Hajjar, Anesthes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Gouvêa, PLoS One 2022 · Hajjar, Anesthesiology 2017 (VANCS) · Miller’s Anesthesia, 10ª ed. (2025), cap. 33, 56</a:t>
            </a:r>
            <a:endParaRPr lang="en-US" sz="1200" dirty="0"/>
          </a:p>
        </p:txBody>
      </p:sp>
      <p:pic>
        <p:nvPicPr>
          <p:cNvPr id="2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MENSAGENS FINAI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MENSAGENS FINAIS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hemodinâmico e droga de escolha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1781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9731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72147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6609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hipoperfusão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(ou adrenalina, no choque séptico); milrinona sobretudo no VD com hipertensão pulmonar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38564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da anestesia com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80980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6609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da anestesia com FC normal ou alta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47397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(2025), cap. 16, 79</a:t>
            </a:r>
            <a:endParaRPr lang="en-US" sz="1200" dirty="0"/>
          </a:p>
        </p:txBody>
      </p:sp>
      <p:pic>
        <p:nvPicPr>
          <p:cNvPr id="1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2251802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Obrigado</a:t>
            </a:r>
            <a:endParaRPr lang="en-US" sz="5600" dirty="0"/>
          </a:p>
        </p:txBody>
      </p:sp>
      <p:sp>
        <p:nvSpPr>
          <p:cNvPr id="4" name="As referências completas da aula estão n"/>
          <p:cNvSpPr txBox="1"/>
          <p:nvPr/>
        </p:nvSpPr>
        <p:spPr>
          <a:xfrm>
            <a:off x="812800" y="3751375"/>
            <a:ext cx="5734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referências completas da aula estão no QR code.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4329343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sp>
        <p:nvSpPr>
          <p:cNvPr id="6" name="Cartão"/>
          <p:cNvSpPr/>
          <p:nvPr/>
        </p:nvSpPr>
        <p:spPr>
          <a:xfrm>
            <a:off x="8280400" y="1687810"/>
            <a:ext cx="3098800" cy="3098800"/>
          </a:xfrm>
          <a:prstGeom prst="roundRect">
            <a:avLst>
              <a:gd name="adj" fmla="val 3279"/>
            </a:avLst>
          </a:prstGeom>
          <a:solidFill>
            <a:srgbClr val="F5F3EE"/>
          </a:solidFill>
          <a:ln/>
        </p:spPr>
      </p:sp>
      <p:pic>
        <p:nvPicPr>
          <p:cNvPr id="7" name="QR code com o link da lista de referências" descr="QR code com o link da lista de referênci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2800" y="1840210"/>
            <a:ext cx="2794000" cy="2794000"/>
          </a:xfrm>
          <a:prstGeom prst="rect">
            <a:avLst/>
          </a:prstGeom>
        </p:spPr>
      </p:pic>
      <p:sp>
        <p:nvSpPr>
          <p:cNvPr id="8" name="REFERÊNCIAS"/>
          <p:cNvSpPr txBox="1"/>
          <p:nvPr/>
        </p:nvSpPr>
        <p:spPr>
          <a:xfrm>
            <a:off x="9299178" y="4926050"/>
            <a:ext cx="1080294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</p:txBody>
      </p:sp>
      <p:pic>
        <p:nvPicPr>
          <p:cNvPr id="9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Georgia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2026-10-20T16:31:31Z</dcterms:created>
  <dcterms:modified xsi:type="dcterms:W3CDTF">2026-10-20T16:31:31Z</dcterms:modified>
</cp:coreProperties>
</file>