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7e6c6789-84ad-87c5-b20e-3c8757bcb599}">
          <p14:sldIdLst>
            <p14:sldId id="256"/>
            <p14:sldId id="257"/>
          </p14:sldIdLst>
        </p14:section>
        <p14:section name="Fisiologia: pressão, débito e perfusão; farmacologia dos receptores" id="{88a37597-3b56-60a5-49e4-716e0336a78b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 e escolha frente à dobutamina), fenilefrina, efedrina e vasopressina" id="{05c27ddd-af99-1c7a-8f72-f385fb66e62b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hoque séptico: a sequência da SSC 2026" id="{9c6f7031-87d6-745c-d6eb-4308415c805a}">
          <p14:sldIdLst>
            <p14:sldId id="270"/>
          </p14:sldIdLst>
        </p14:section>
        <p14:section name="Perioperatório: escolha da droga e alvo de pressão" id="{9075ee04-dbe7-8e93-0b43-1bdd10fd34a2}">
          <p14:sldIdLst>
            <p14:sldId id="271"/>
            <p14:sldId id="272"/>
          </p14:sldIdLst>
        </p14:section>
        <p14:section name="Mensagens finais" id="{d03912ed-b629-3249-522b-64e55511635d}">
          <p14:sldIdLst>
            <p14:sldId id="273"/>
          </p14:sldIdLst>
        </p14:section>
        <p14:section name="Slides de reserva para perguntas" id="{751d0db9-bf27-d5f0-4175-0f7af4c0b933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30 s (0:00 → 0:30). Total previsto: 16 min 50 s nos 18 slides principais; ensaiar em cerca de 17 minutos, sem passar de 20.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  <a:p>
            <a:r>
              <a:rPr lang="en-US" dirty="0"/>
              <a:t>FALA: Bom dia. Sou Bruno Dubois; meus orientadores são Marcelo Bandeira e Glauber Gouvêa. O tema é aminas vasoativas. A aula nasceu de uma discussão em sala sobre o uso de milrinona: quando ela tem indicação, e quando a dobutamina ou um vasopressor seriam a escolha. Vou partir da fisiologia, passar pelas drogas e terminar no choque séptico e no centro cirúrgico.</a:t>
            </a:r>
            <a:endParaRPr lang="en-US" dirty="0"/>
          </a:p>
          <a:p>
            <a:r>
              <a:rPr lang="en-US" dirty="0"/>
              <a:t>TRANSIÇÃO: Para responder, o objetivo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30 s (0:30 → 1:00)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  <a:p>
            <a:r>
              <a:rPr lang="en-US" dirty="0"/>
              <a:t>FALA: O objetivo é fixar um raciocínio: diante da hipotensão, perguntar qual componente da PAM está falhando. Tônus vascular baixo pede vasopressor, bomba fraca pede inotrópico e pré-carga baixa pede volume. Depois vêm a fisiologia, os receptores, as drogas uma a uma e, no fim, a aplicação no choque séptico e no centro cirúrgico.</a:t>
            </a:r>
            <a:endParaRPr lang="en-US" dirty="0"/>
          </a:p>
          <a:p>
            <a:r>
              <a:rPr lang="en-US" dirty="0"/>
              <a:t>TRANSIÇÃO: Primeiro, de que depende a 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(1:00 → 2:00)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  <a:p>
            <a:r>
              <a:rPr lang="en-US" dirty="0"/>
              <a:t>FALA: A PAM depende do débito cardíaco e da resistência vascular; a relação completa é PAM − PVC = DC × RVS, e a PVC pesa quando está alta. Na vasoplegia o problema é o tônus: sepse, anestesia geral, neuroeixo, anafilaxia, saída de CEC. Na falência de bomba o débito é baixo, em geral com resistência alta; na sepse, a disfunção miocárdica pode coexistir com vasoplegia. Hipovolemia se trata com volume. O α1 também contrai veias, recruta volume não estressado e aumenta o retorno venoso, e por isso a noradrenalina pode aumentar o débito no choque séptico (Persichini, Crit Care Med 2012). Para diferenciar, a ESICM 2025 recomenda eco como primeira imagem, parâmetros dinâmicos antes de mais volume e perfusão seriada pelo tempo de enchimento capilar, com temperatura e livedo da pele.</a:t>
            </a:r>
            <a:endParaRPr lang="en-US" dirty="0"/>
          </a:p>
          <a:p>
            <a:r>
              <a:rPr lang="en-US" dirty="0"/>
              <a:t>TRANSIÇÃO: Mas PAM normal não basta: pressão não é 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(2:00 → 3:00)</a:t>
            </a:r>
            <a:endParaRPr lang="en-US" dirty="0"/>
          </a:p>
          <a:p>
            <a:r>
              <a:rPr lang="en-US" dirty="0"/>
              <a:t>PONTO-CHAVE: Inotrópico se decide por hipoperfusão e débito, não só pela pressão.</a:t>
            </a:r>
            <a:endParaRPr lang="en-US" dirty="0"/>
          </a:p>
          <a:p>
            <a:r>
              <a:rPr lang="en-US" dirty="0"/>
              <a:t>FALA: Pressão não é fluxo: como a PAM depende do débito e da resistência, uma resistência alta pode manter a PAM com o débito baixo. Por isso, a decisão de usar inotrópico depende de sinais de hipoperfusão e de uma estimativa do débito, e não apenas da pressão. Na clínica, enchimento capilar, livedo e temperatura das extremidades; no laboratório, lactato, saturação venosa central e gap de CO₂; e ainda diurese e consciência. Antes da droga, vale perguntar se o débito responde a volume, com parâmetros dinâmicos ou um teste de volume medindo o débito; o eco mostra o VTI e a função dos ventrículos. O inverso também vale: aumentar o débito com uma droga não é o mesmo que melhorar o desfecho. No OPTIME-CHF, a milrinona usada sem indicação clara não trouxe benefício e aumentou hipotensão e arritmia.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SE PERGUNTAREM: em 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45 s (3:00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FALA: α1 contrai artérias e veias; β1 aumenta contratilidade e frequência; β2 dilata vasos e brônquios e eleva glicemia e lactato; D1 dilata os leitos renal e mesentérico. α2 está na tabela apenas para lembrar que clonidina e dexmedetomidina são simpatolíticos, e não vasopressores. V1 e PDE3 entram porque vasopressina e milrinona não dependem do adrenoceptor: a vasopressina age no receptor V1, e a milrinona inibe a enzima que degrada o AMPc, depois do receptor β. A dessensibilização com o uso prolongado ajuda a explicar a taquifilaxia e a lógica de associar uma droga de outra via.</a:t>
            </a:r>
            <a:endParaRPr lang="en-US" dirty="0"/>
          </a:p>
          <a:p>
            <a:r>
              <a:rPr lang="en-US" dirty="0"/>
              <a:t>TRANSIÇÃO: Antes das drogas, uma classificação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30 s (3:45 → 4:15)</a:t>
            </a:r>
            <a:endParaRPr lang="en-US" dirty="0"/>
          </a:p>
          <a:p>
            <a:r>
              <a:rPr lang="en-US" dirty="0"/>
              <a:t>PONTO-CHAVE: Catecolamina: infusão titulável. Não catecolamina: bolus.</a:t>
            </a:r>
            <a:endParaRPr lang="en-US" dirty="0"/>
          </a:p>
          <a:p>
            <a:r>
              <a:rPr lang="en-US" dirty="0"/>
              <a:t>FALA: A via de síntese explica dois pontos práticos: parte do efeito da dopamina vem da conversão e da liberação de noradrenalina, e a síntese de adrenalina na medula adrenal depende de cortisol. As catecolaminas têm meia-vida de minutos e são usadas em infusão; sem o anel catecol, fenilefrina e efedrina duram mais e servem para bolus.</a:t>
            </a:r>
            <a:endParaRPr lang="en-US" dirty="0"/>
          </a:p>
          <a:p>
            <a:r>
              <a:rPr lang="en-US" dirty="0"/>
              <a:t>TRANSIÇÃO: Começo pela droga de primeira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(4:15 → 5:15)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FALA: É a droga de primeira linha no choque séptico. É um α1 potente, com efeito β1 modesto: eleva a PAM pela resistência e pela venoconstrição, com débito mantido ou maior e frequência estável ou menor, por reflexo. A dose usual vai de 0,01 a 0,5 mcg/kg/min, sem teto fixo no choque refratário; no centro cirúrgico, bolus de 5 a 10 mcg. Pode ser iniciada em veia periférica calibrosa.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50 s (5:15 → 6:05)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FALA: O efeito depende da dose: em dose baixa predominam β1 e β2, com débito alto e resistência que pode cair; em dose alta prevalece o α1. É a droga da anafilaxia e, no choque séptico, entra como terceira droga quando a PAM segue inadequada com noradrenalina e vasopressina.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</a:t>
            </a:r>
            <a:endParaRPr lang="en-US" dirty="0"/>
          </a:p>
          <a:p>
            <a:r>
              <a:rPr lang="en-US" dirty="0"/>
              <a:t>TRANSIÇÃO: Agora os dois inotrópicos clássicos.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(6:05 → 7:05)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  <a:p>
            <a:r>
              <a:rPr lang="en-US" dirty="0"/>
              <a:t>FALA: Dopamina: o efeito muda com a dose, primeiro D1, depois β1 e, em doses altas, α1, mas a resposta varia muito entre pacientes. A dose “renal” não protege o rim: no ANZICS (n = 328), não houve diferença em creatinina, diálise ou mortalidade. No SOAP II, a mortalidade foi semelhante à da noradrenalina, com o dobro de arritmias, e a SSC 2026 recomenda não usar a dopamina como primeira linha. Uso residual: bradicardia sintomática sem alternativa. Dobutamina: inotropismo β1 com queda discreta da resistência, indicada no baixo débito com hipoperfusão. Se a PAM cair, associar vasopressor para sustentar a pressão de perfusão.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30 s (7:05 → 8:35)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FALA: Este é o mecanismo que separa as duas drogas. A dobutamina estimula o receptor β1; pela proteína Gs, a adenilato ciclase produz AMPc, que ativa a PKA. A PKA fosforila três alvos: o canal de cálcio tipo L e o RyR2, o que aumenta o cálcio na sístole, ou seja, inotropismo; e o fosfolambam, que deixa de inibir a SERCA2a e acelera a recaptação do cálcio na diástole: lusitropismo. A milrinona entra em outro ponto: inibe a PDE3, a enzima que degrada o AMPc em 5′-AMP. Ela não depende da ativação do receptor β, mas depende de alguma produção de AMPc para ter o que preservar. Por isso mantém efeito com betabloqueio ou com receptores dessensibilizados. Mas isso é fundamento farmacológico, não benefício demonstrado: na subanálise do DOREMI com betabloqueados, não houve vantagem clínica. No músculo liso vascular, a mesma via AMPc–PKA inibe a quinase da cadeia leve da miosina, a MLCK, e o vaso relaxa: por isso a milrinona é inodilatadora e pode baixar a PAM. E, como as duas aumentam AMPc e cálcio, as duas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50 s (8:35 → 9:25)</a:t>
            </a:r>
            <a:endParaRPr lang="en-US" dirty="0"/>
          </a:p>
          <a:p>
            <a:r>
              <a:rPr lang="en-US" dirty="0"/>
              <a:t>PONTO-CHAVE: Inodilatador de meia-vida longa e eliminação renal.</a:t>
            </a:r>
            <a:endParaRPr lang="en-US" dirty="0"/>
          </a:p>
          <a:p>
            <a:r>
              <a:rPr lang="en-US" dirty="0"/>
              <a:t>FALA: Como vimos, a milrinona inibe a PDE3 e age depois do receptor β. É um inodilatador: aumenta a contratilidade e o relaxamento e reduz as resistências sistêmica e pulmonar. Por ser vasodilatadora, muitas vezes exige associação com noradrenalina. Tem eliminação renal e meia-vida bem mais longa que a da dobutamina: é menos titulável e acumula na insuficiência renal; a dose máxima diária em bula é 1,13 mg/kg. A indicação é a disfunção ventricular com baixo débito que exige suporte inotrópico, o que no centro cirúrgico inclui a dificuldade de saída de CEC; a comparação com a dobutamina vem no próximo slide.</a:t>
            </a:r>
            <a:endParaRPr lang="en-US" dirty="0"/>
          </a:p>
          <a:p>
            <a:r>
              <a:rPr lang="en-US" dirty="0"/>
              <a:t>TRANSIÇÃO: E a pergunta central: quando escolher cada uma.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20 s (9:25 → 10:45)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FALA: Esta é a pergunta prática da aula. Primeiro, a indicação: inotrópico se justifica quando há disfunção ventricular com baixo débito ou hipoperfusão, depois de otimizar volume e PAM. Se a hipotensão é por vasoplegia, a droga é o vasopressor, e um inodilatador baixa ainda mais a pressão. Entre as duas, nenhuma é superior em desfecho; a escolha é farmacológica, e as diferenças da tabela são perfis esperados, não diferenças demonstradas em ensaio. A milrinona faz sentido quando o problema é o VD com hipertensão pulmonar, como na saída de CEC, porque reduz a resistência pulmonar, e quando a taquicardia ou o betabloqueio limitam a dobutamina, ainda que, no betabloqueado, o benefício seja teórico. A dobutamina é preferível quando há hipotensão ou vasoplegia, insuficiência renal, porque a milrinona acumula, ou quando é preciso titular rapidamente. Na prática, três perguntas antes de escolher: havia baixo débito com hipoperfusão? Havia disfunção de VD ou hipertensão pulmonar? A hipotensão era vasoplegia?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55 s (10:45 → 11:40)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  <a:p>
            <a:r>
              <a:rPr lang="en-US" dirty="0"/>
              <a:t>FALA: Fenilefrina: agonista α1 puro, sem ação β; a PAM sobe pela resistência e a frequência cai por reflexo. Isso é útil quando a taquicardia é indesejável,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basal. Efedrina: por ter ação indireta, perde efeito com doses repetidas e com estoques de noradrenalina depletados; atravessa a placenta e se associa a mais acidose fetal.</a:t>
            </a:r>
            <a:endParaRPr lang="en-US" dirty="0"/>
          </a:p>
          <a:p>
            <a:r>
              <a:rPr lang="en-US" dirty="0"/>
              <a:t>TRANSIÇÃO: E quando as catecolaminas não bastam?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(11:40 → 12:40)</a:t>
            </a:r>
            <a:endParaRPr lang="en-US" dirty="0"/>
          </a:p>
          <a:p>
            <a:r>
              <a:rPr lang="en-US" dirty="0"/>
              <a:t>PONTO-CHAVE: Vasopressina age por outra via (V1) e poupa catecolamina.</a:t>
            </a:r>
            <a:endParaRPr lang="en-US" dirty="0"/>
          </a:p>
          <a:p>
            <a:r>
              <a:rPr lang="en-US" dirty="0"/>
              <a:t>FALA: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pacientes em uso de IECA ou BRA. Riscos: isquemia digital e mesentérica, hiponatremia. Antes de associar drogas, corrigir causas tratáveis (volume, foco, acidose, cálcio, disfunção ventricular). Adjuvantes: a hidrocortisona restaura a resposta às catecolaminas; a angiotensina II poupa catecolamina, mas é pouco disponível;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(12:40 → 13:40)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FALA: A SSC 2026 organiza os vasopressores em sequência. Noradrenalina primeiro, iniciada cedo e, se preciso, por veia periférica (recomendação forte em relação à dopamina; a preferência em relação à vasopressina e à angiotensina II passou a ser condicional). Vasopressina quando a dose de noradrenalina está subindo (condicional, certeza moderada); a diretriz não define um limiar, e na enquete dos painelistas a mediana de noradrenalina para associá-la foi 0,3 mcg/kg/min. Adrenalina se a PAM continuar inadequada (condicional, certeza muito baixa). Alvo inicial de 65 mmHg (forte, certeza moderada), ou 60 a 65 mmHg a partir dos 65 anos (condicional, certeza baixa). Na disfunção cardíaca com hipoperfusão apesar de volume e PAM adequados, dobutamina com noradrenalina, ou adrenalina. A diretriz também sugere hidrocortisona e se posiciona contra levosimendana e terlipressina.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 25 s (13:40 → 15:05)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FALA: Antes da droga, afastar causas tratáveis: plano anestésico profundo, hipovolemia, compressão aortocava, pneumotórax, anafilaxia. Se persistir, avaliar a resposta a volume e fazer eco. A escolha segue o mecanismo: tônus baixo com frequência preservada pede α1; bradicardia associada pede ação β1, com efedrina ou, se grave, adrenalina; baixo débito pede inotrópico, e a milrinona tem a vantagem de reduzir a resistência pulmonar. A vasoplegia que não responde às catecolaminas, como após CEC, com uso crônico de IECA ou BRA ou na reperfusão do enxerto hepático, pode responder à vasopressina, que age por outra via; o azul de metileno fica como resgate, com evidência limitada. Na cesárea, a noradrenalina em bolus causou menos bradicardia materna que a fenilefrina (Sharkey, Anesth Analg 2019). Na anafilaxia, adrenalina. Um dado do nosso serviço: Gouvêa, Diaz e colaboradores avaliaram o VD por ETE em 19 transplantes hepáticos, e a função foi normal em todas as fases, inclusive após a reperfusão (PLoS One 2022). Na hipotensão da reperfusão, o eco ajuda a separar vasoplegia de disfunção ventricular antes de escolher entre vasopressor e inotrópico.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adultos, TAPSE e variação fracional de área do VD em cinco fases (basal, hepatectomia, anepática, pós-reperfusão e fechamento); função do VD normal ao longo do procedimento. Gouvêa G, Feiner J, Joshi S, Diaz R et al., PLoS One 2022;17(10):e0275301: estudo observacional, 19 adultos, TAPSE e variação fracional de área do VD em cinco fases (basal, hepatectomia, anepática, pós-reperfusão e fechamento); função do VD normal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55 s (15:05 → 16:00)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FALA: É a mensagem do editorial “The hidden cost of hypotension” (Braz J Anesthesiol 2025), que tem Rodrigo Diaz, da UFRJ, entre os autores: a hipotensão intraoperatória, mesmo por períodos curtos, se associa a lesão renal aguda, lesão miocárdica, delirium, AVC, reinternação e mortalidade, e o risco cresce com a profundidade e a duração. O editorial defende monitorização contínua, manejo proativo e metas individualizadas. O POQI 2024 trata PAM ≥60 mmHg em pacientes de risco como limite mínimo, e não como garantia de perfusão; com pressão venosa central, intracraniana ou abdominal alta, o alvo tende a ser maior. No HISTAP, PAM ≥80 beneficiou hipertensos de alto risco, mas os ensaios divergem.</a:t>
            </a:r>
            <a:endParaRPr lang="en-US" dirty="0"/>
          </a:p>
          <a:p>
            <a:r>
              <a:rPr lang="en-US" dirty="0"/>
              <a:t>TRANSIÇÃO: Para fechar.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50 s (16:00 → 16:50)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  <a:p>
            <a:r>
              <a:rPr lang="en-US" dirty="0"/>
              <a:t>FALA: Voltando à pergunta do início: qual componente da PAM está falhando? Vasoplegia pede noradrenalina e, quando a dose sobe, vasopressina; baixo débito com hipoperfusão pede inotrópico, com a milrinona reservada sobretudo para o VD com hipertensão pulmonar; bradicardia pede efedrina; anafilaxia, adrenalina. A droga certa é a que corrige esse componente, na menor dose eficaz e pelo menor tempo. Para discutir com o grupo: no nosso serviço, como documentamos o baixo débito antes do inotrópico, e quando associamos vasopressina?</a:t>
            </a:r>
            <a:endParaRPr lang="en-US" dirty="0"/>
          </a:p>
          <a:p>
            <a:r>
              <a:rPr lang="en-US" dirty="0"/>
              <a:t>TRANSIÇÃO: Obrigado. Fico à disposição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fim da apresentação principal; mostrar só se houver perguntas.</a:t>
            </a:r>
            <a:endParaRPr lang="en-US" dirty="0"/>
          </a:p>
          <a:p>
            <a:r>
              <a:rPr lang="en-US" dirty="0"/>
              <a:t>PONTO-CHAVE: daqui em diante é material de apoio, para responder perguntas.</a:t>
            </a:r>
            <a:endParaRPr lang="en-US" dirty="0"/>
          </a:p>
          <a:p>
            <a:r>
              <a:rPr lang="en-US" dirty="0"/>
              <a:t>FALA: Depois das mensagens finais deixei material de apoio: a síntese das drogas, um slide para cada droga de bolus e para a vasopressina, os adjuvantes do choque refratário, a sequência da SSC 2026, os alvos de pressão no choque e no intraoperatório, a conduta na falência de VD, o roteiro e as referências. Posso abrir o que for útil para a discussão.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aparece apenas aqui: uso restrito à bradicardia refratária e à ponte para marca-passo. A tabela é adaptada de Overgaard e Džavík (Circulation 2008), com escala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renal não protege o rim; mais arritmia que a noradrenalina.</a:t>
            </a:r>
            <a:endParaRPr lang="en-US" dirty="0"/>
          </a:p>
          <a:p>
            <a:r>
              <a:rPr lang="en-US" dirty="0"/>
              <a:t>FALA: A dopamina tem efeito dose-dependente, D1 em dose baixa, β1 na faixa intermediária e α1 em dose alta, mas os limiares variam muito entre pacientes. A dose renal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FALA: A dobutamina é uma mistura racêmica: o isômero positivo é agonista β1 e β2 e antagonista α1; o negativo é agonista α1. Os efeitos α1 se anulam e sobra inotropismo com queda discreta da resistência. A faixa é de 2,5 a 20 microgramas por quilo por minuto. Os limites são taquicardia, arritmia, maior consumo de oxigênio pelo miocárdio e tolerância com uso prolongado; no paciente hipovolêmico ou vasoplégico ela baixa a pressão, e aí se associa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puro: a PAM sobe pela resistência e a FC cai por reflexo.</a:t>
            </a:r>
            <a:endParaRPr lang="en-US" dirty="0"/>
          </a:p>
          <a:p>
            <a:r>
              <a:rPr lang="en-US" dirty="0"/>
              <a:t>FALA: A fenilefrina é agonista α1 direto, sem ação β: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FALA: A efedrina tem ação direta em α e β e ação indireta, liberando noradrenalina das terminações nervosas. Sem o anel catecol, resiste à MAO e à COMT e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FALA: A vasopressina age no receptor V1 do músculo liso vascular, mantém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neste mês, antecipar a vasopressina como política hospitalar também não mudou a mortalidade.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 0,1 vs. 0,4 mcg/kg/min; vasopressina usada em 52,4% vs. 32,9%; mortalidade 31,8% vs. 33,0%; sem ganho em dias livres de terapia renal substitutiva; sinal de mais choque cardiogênico no grupo precoce (7,4% vs. 6,3%). Equivalência em escores: 0,03 U/min ≈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 o choque resolveu mais rápido, sem redução de mortalidade; no APROCCHSS, hidrocortisona com fludrocortisona reduziu a mortalidade; a SSC 2026 sugere usar. A angiotensina II, agonista AT1, elevou a PAM no ATHOS-3 sem mudar a mortalidade e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interfere na oximetria e pode causar síndrome serotoninérgica.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FALA: Este slide repete a sequência da SSC 2026 com a força de cada recomendação. Noradrenalina em primeiro, recomendação forte,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 sugestão contra a levosimendana também é de 2021; a terlipressina recebeu sugestão contra em 2026.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FALA: A SSC 2026 mantém 65 mmHg como alvo inicial no choque séptico, com recomendação forte, e sugere 60 a 65 a partir dos 65 anos. A base é o 65 trial: em idosos, a hipotensão permissiva não aumentou a mortalidade e reduziu a dose e a duração do vasopressor. O OPTPRESS testou o contrário, alvo de 80 a 85 em idosos, e foi interrompido por dano, com mortalidade maior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FALA: No CENSER, noradrenalina em dose baixa e fixa desde a admissão aumentou o controle do choque em 6 horas, com menos edema pulmonar e arritmia, sem diferença de mortalidade. A via periférica é segura com protocolo: na metanálise de Tran,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então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só se mostrou útil em hipertensos de alto risco.</a:t>
            </a:r>
            <a:endParaRPr lang="en-US" dirty="0"/>
          </a:p>
          <a:p>
            <a:r>
              <a:rPr lang="en-US" dirty="0"/>
              <a:t>FALA: Três ensaios recentes testaram alvos mais altos no intraoperatório. O POISE-3 comparou evitar hipotensão, com PAM de 80 e anti-hipertensivos suspensos, a evitar hipertensão, e não reduziu eventos vasculares. O IMPROVE-multi individualizou o alvo pela pressão basal noturna e não foi melhor que 65. O HISTAP, em idosos hipertensos de alto risco em cirurgia abdominal maior, encontrou menos morte ou disfunção orgânica com PAM de 80, sobretudo por menos lesão renal aguda. A leitura prática é a do POQI: PAM de 60 é o piso em pacientes de risco, maior se a pressão venosa ou compartimental estiver alta; acima do piso, o benefício apareceu apenas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pergunta sobre milrinona na falência de VD ou na hipertensão pulmonar.</a:t>
            </a:r>
            <a:endParaRPr lang="en-US" dirty="0"/>
          </a:p>
          <a:p>
            <a:r>
              <a:rPr lang="en-US" dirty="0"/>
              <a:t>PONTO-CHAVE: na falência de VD, pressão de perfusão, resistência pulmonar, contratilidade e volume e ritmo andam juntos; a milrinona entra na contratilidade, com noradrenalina.</a:t>
            </a:r>
            <a:endParaRPr lang="en-US" dirty="0"/>
          </a:p>
          <a:p>
            <a:r>
              <a:rPr lang="en-US" dirty="0"/>
              <a:t>FALA: Na falência de VD, quatro frentes andam juntas. Primeiro, a pressão de perfusão: o VD fica isquêmico quando a PAM cai, então noradrenalina ou vasopressina. Segundo, a resistência pulmonar: corrigir hipóxia, hipercapnia e acidose, ajustar a ventilação e, se preciso, vasodilatador pulmonar inalado, como óxido nítrico ou prostaciclina. Terceiro, a contratilidade: aqui a milrinona faz sentido, porque é inotrópica e reduz a resistência pulmonar; a dobutamina é alternativa, e a adrenalina entra se o choque for grave. Quarto, volume e ritmo: o VD dilatado tolera mal mais volume, e a perda do ritmo sinusal pesa; se nada funcionar, assistência mecânica. A milrinona, sozinha, não trata toda hipertensão pulmonar e pode baixar a PAM; com débito preservado, a hipotensão é vasoplegia, e a droga é o vasopressor.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só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  <a:p>
            <a:r>
              <a:rPr lang="en-US" dirty="0"/>
              <a:t>FALA: A aula vai do raciocínio fisiológico para a farmacologia dos receptores, depois para cada droga, com a milrinona e a escolha frente à dobutamina no centro, e termina na aplicação no choque séptico e no centro cirúrgico.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USO: se pedirem a referência exata de um estudo citado.</a:t>
            </a:r>
            <a:endParaRPr lang="en-US" dirty="0"/>
          </a:p>
          <a:p>
            <a:r>
              <a:rPr lang="en-US" dirty="0"/>
              <a:t>PONTO-CHAVE: as citações completas estão abaixo; as diretrizes de base são SSC 2026, ESICM 2025, POQI 2024 e Miller, 10ª ed.</a:t>
            </a:r>
            <a:endParaRPr lang="en-US" dirty="0"/>
          </a:p>
          <a:p>
            <a:r>
              <a:rPr lang="en-US" dirty="0"/>
              <a:t>FALA: As referências completas estão neste slide, agrupadas pelos estudos citados ao longo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2600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cardiografia inicial para o tipo de c"/>
          <p:cNvSpPr txBox="1"/>
          <p:nvPr/>
        </p:nvSpPr>
        <p:spPr>
          <a:xfrm>
            <a:off x="4584898" y="4769275"/>
            <a:ext cx="65530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PAM normal não exclui débito baixo. E dé"/>
          <p:cNvSpPr txBox="1"/>
          <p:nvPr/>
        </p:nvSpPr>
        <p:spPr>
          <a:xfrm>
            <a:off x="27342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exige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preservado ou maior;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2,5–20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, o RyR2 e o fosfolambam (inotropismo e lusitropismo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, o RyR2 e o fosfolambam (inotropismo e lusitropismo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; insuficiência "/>
          <p:cNvSpPr txBox="1"/>
          <p:nvPr/>
        </p:nvSpPr>
        <p:spPr>
          <a:xfrm>
            <a:off x="6407150" y="492565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vasoplegia; insuficiência renal; necessidade de titulação rápida;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 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Vasopressina; azul de metileno como resg"/>
          <p:cNvSpPr txBox="1"/>
          <p:nvPr/>
        </p:nvSpPr>
        <p:spPr>
          <a:xfrm>
            <a:off x="7362130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Pós-CEC, IECA/BRA, reperfusão hepática"/>
          <p:cNvSpPr txBox="1"/>
          <p:nvPr/>
        </p:nvSpPr>
        <p:spPr>
          <a:xfrm>
            <a:off x="7362130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Volume, se o débito responde"/>
          <p:cNvSpPr txBox="1"/>
          <p:nvPr/>
        </p:nvSpPr>
        <p:spPr>
          <a:xfrm>
            <a:off x="9500791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Hipovolemia não se corrige com amina"/>
          <p:cNvSpPr txBox="1"/>
          <p:nvPr/>
        </p:nvSpPr>
        <p:spPr>
          <a:xfrm>
            <a:off x="9500791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Transplante hepático (UFRJ): ao ETE, a f"/>
          <p:cNvSpPr txBox="1"/>
          <p:nvPr/>
        </p:nvSpPr>
        <p:spPr>
          <a:xfrm>
            <a:off x="812800" y="5325604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ao ETE, a função do VD foi normal em todas as fases, inclusive após a reperfusão (Gouvêa et al., PLoS One 2022).</a:t>
            </a:r>
            <a:endParaRPr lang="en-US" sz="1300" dirty="0"/>
          </a:p>
        </p:txBody>
      </p:sp>
      <p:sp>
        <p:nvSpPr>
          <p:cNvPr id="31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Gouvêa, PLoS One 2022 · Miller’s Anesthesia, 10ª ed. (2025)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1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como do"/>
          <p:cNvSpPr txBox="1"/>
          <p:nvPr/>
        </p:nvSpPr>
        <p:spPr>
          <a:xfrm>
            <a:off x="812800" y="513311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discutir: no nosso serviço, como documentamos o baixo débito antes do inotrópico,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: detalhes, tabelas e r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detalhes, tabelas e referências.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Falência de VD"/>
          <p:cNvSpPr/>
          <p:nvPr/>
        </p:nvSpPr>
        <p:spPr>
          <a:xfrm>
            <a:off x="6953250" y="4391521"/>
            <a:ext cx="144194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</a:t>
            </a:r>
            <a:endParaRPr lang="en-US" sz="1400" dirty="0"/>
          </a:p>
        </p:txBody>
      </p:sp>
      <p:sp>
        <p:nvSpPr>
          <p:cNvPr id="17" name="Roteiro"/>
          <p:cNvSpPr/>
          <p:nvPr/>
        </p:nvSpPr>
        <p:spPr>
          <a:xfrm>
            <a:off x="8496796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18" name="Referências"/>
          <p:cNvSpPr/>
          <p:nvPr/>
        </p:nvSpPr>
        <p:spPr>
          <a:xfrm>
            <a:off x="9503370" y="4391521"/>
            <a:ext cx="12159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21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 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 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Milrinona, 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levosimendana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31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houve benefício apenas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 ou vasopressina, para mant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ou vasopressina, para manter a PAM e a perfusão coronariana do VD.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Inotrópica, com redução da RVP; associar"/>
          <p:cNvSpPr txBox="1"/>
          <p:nvPr/>
        </p:nvSpPr>
        <p:spPr>
          <a:xfrm>
            <a:off x="2846586" y="4430943"/>
            <a:ext cx="82976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Inotrópica, com redução da RVP; associar noradrenalina, porque pode baixar a PAM. Com débito preservado, a hipotensão é vasoplegia e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15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15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2025</a:t>
            </a:r>
            <a:endParaRPr lang="en-US" sz="115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15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150" dirty="0"/>
          </a:p>
        </p:txBody>
      </p:sp>
      <p:sp>
        <p:nvSpPr>
          <p:cNvPr id="9" name="Gordon · VANISH · JAMA 2016"/>
          <p:cNvSpPr txBox="1"/>
          <p:nvPr/>
        </p:nvSpPr>
        <p:spPr>
          <a:xfrm>
            <a:off x="8128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150" dirty="0"/>
          </a:p>
        </p:txBody>
      </p:sp>
      <p:sp>
        <p:nvSpPr>
          <p:cNvPr id="10" name="Peltan · VASSPR · JAMA 2026"/>
          <p:cNvSpPr txBox="1"/>
          <p:nvPr/>
        </p:nvSpPr>
        <p:spPr>
          <a:xfrm>
            <a:off x="8128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150" dirty="0"/>
          </a:p>
        </p:txBody>
      </p:sp>
      <p:sp>
        <p:nvSpPr>
          <p:cNvPr id="11" name="Lamontagne · 65 trial · JAMA 2020"/>
          <p:cNvSpPr txBox="1"/>
          <p:nvPr/>
        </p:nvSpPr>
        <p:spPr>
          <a:xfrm>
            <a:off x="8128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150" dirty="0"/>
          </a:p>
        </p:txBody>
      </p:sp>
      <p:sp>
        <p:nvSpPr>
          <p:cNvPr id="12" name="Endo · OPTPRESS · Intensive Care Med 202"/>
          <p:cNvSpPr txBox="1"/>
          <p:nvPr/>
        </p:nvSpPr>
        <p:spPr>
          <a:xfrm>
            <a:off x="8128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150" dirty="0"/>
          </a:p>
        </p:txBody>
      </p:sp>
      <p:sp>
        <p:nvSpPr>
          <p:cNvPr id="13" name="Permpikul · CENSER · Am J Respir Crit Ca"/>
          <p:cNvSpPr txBox="1"/>
          <p:nvPr/>
        </p:nvSpPr>
        <p:spPr>
          <a:xfrm>
            <a:off x="8128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150" dirty="0"/>
          </a:p>
        </p:txBody>
      </p:sp>
      <p:sp>
        <p:nvSpPr>
          <p:cNvPr id="14" name="Annane · CATS · Lancet 2007"/>
          <p:cNvSpPr txBox="1"/>
          <p:nvPr/>
        </p:nvSpPr>
        <p:spPr>
          <a:xfrm>
            <a:off x="8128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150" dirty="0"/>
          </a:p>
        </p:txBody>
      </p:sp>
      <p:sp>
        <p:nvSpPr>
          <p:cNvPr id="15" name="Myburgh · CAT · Intensive Care Med 2008"/>
          <p:cNvSpPr txBox="1"/>
          <p:nvPr/>
        </p:nvSpPr>
        <p:spPr>
          <a:xfrm>
            <a:off x="8128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150" dirty="0"/>
          </a:p>
        </p:txBody>
      </p:sp>
      <p:sp>
        <p:nvSpPr>
          <p:cNvPr id="16" name="Levy · OptimaCC · J Am Coll Cardiol 2018"/>
          <p:cNvSpPr txBox="1"/>
          <p:nvPr/>
        </p:nvSpPr>
        <p:spPr>
          <a:xfrm>
            <a:off x="8128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150" dirty="0"/>
          </a:p>
        </p:txBody>
      </p:sp>
      <p:sp>
        <p:nvSpPr>
          <p:cNvPr id="17" name="Mathew · DOREMI · N Engl J Med 2021"/>
          <p:cNvSpPr txBox="1"/>
          <p:nvPr/>
        </p:nvSpPr>
        <p:spPr>
          <a:xfrm>
            <a:off x="8128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150" dirty="0"/>
          </a:p>
        </p:txBody>
      </p:sp>
      <p:sp>
        <p:nvSpPr>
          <p:cNvPr id="18" name="Di Santo · DOREMI, betabloqueador · Crit"/>
          <p:cNvSpPr txBox="1"/>
          <p:nvPr/>
        </p:nvSpPr>
        <p:spPr>
          <a:xfrm>
            <a:off x="8128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Santo · DOREMI, betabloqueador · Crit Care 2021</a:t>
            </a:r>
            <a:endParaRPr lang="en-US" sz="1150" dirty="0"/>
          </a:p>
        </p:txBody>
      </p:sp>
      <p:sp>
        <p:nvSpPr>
          <p:cNvPr id="19" name="Cuffe · OPTIME-CHF · JAMA 2002"/>
          <p:cNvSpPr txBox="1"/>
          <p:nvPr/>
        </p:nvSpPr>
        <p:spPr>
          <a:xfrm>
            <a:off x="8128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150" dirty="0"/>
          </a:p>
        </p:txBody>
      </p:sp>
      <p:sp>
        <p:nvSpPr>
          <p:cNvPr id="20" name="Hajjar · VANCS · Anesthesiology 2017"/>
          <p:cNvSpPr txBox="1"/>
          <p:nvPr/>
        </p:nvSpPr>
        <p:spPr>
          <a:xfrm>
            <a:off x="8128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150" dirty="0"/>
          </a:p>
        </p:txBody>
      </p:sp>
      <p:sp>
        <p:nvSpPr>
          <p:cNvPr id="21" name="Khanna · ATHOS-3 · N Engl J Med 2017"/>
          <p:cNvSpPr txBox="1"/>
          <p:nvPr/>
        </p:nvSpPr>
        <p:spPr>
          <a:xfrm>
            <a:off x="8128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150" dirty="0"/>
          </a:p>
        </p:txBody>
      </p:sp>
      <p:sp>
        <p:nvSpPr>
          <p:cNvPr id="22" name="Tongyoo · milrinona no choque séptico · "/>
          <p:cNvSpPr txBox="1"/>
          <p:nvPr/>
        </p:nvSpPr>
        <p:spPr>
          <a:xfrm>
            <a:off x="8128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Tongyoo · milrinona no choque séptico · Ann Med 2025</a:t>
            </a:r>
            <a:endParaRPr lang="en-US" sz="1150" dirty="0"/>
          </a:p>
        </p:txBody>
      </p:sp>
      <p:sp>
        <p:nvSpPr>
          <p:cNvPr id="23" name="Gouvêa · VD no transplante hepático (UFR"/>
          <p:cNvSpPr txBox="1"/>
          <p:nvPr/>
        </p:nvSpPr>
        <p:spPr>
          <a:xfrm>
            <a:off x="8128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 · VD no transplante hepático (UFRJ) · PLoS One 2022</a:t>
            </a:r>
            <a:endParaRPr lang="en-US" sz="1150" dirty="0"/>
          </a:p>
        </p:txBody>
      </p:sp>
      <p:sp>
        <p:nvSpPr>
          <p:cNvPr id="24" name="Bellomo · dopamina em dose baixa (ANZICS"/>
          <p:cNvSpPr txBox="1"/>
          <p:nvPr/>
        </p:nvSpPr>
        <p:spPr>
          <a:xfrm>
            <a:off x="62484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150" dirty="0"/>
          </a:p>
        </p:txBody>
      </p:sp>
      <p:sp>
        <p:nvSpPr>
          <p:cNvPr id="25" name="Venkatesh · ADRENAL · N Engl J Med 2018"/>
          <p:cNvSpPr txBox="1"/>
          <p:nvPr/>
        </p:nvSpPr>
        <p:spPr>
          <a:xfrm>
            <a:off x="62484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150" dirty="0"/>
          </a:p>
        </p:txBody>
      </p:sp>
      <p:sp>
        <p:nvSpPr>
          <p:cNvPr id="26" name="Annane · APROCCHSS · N Engl J Med 2018"/>
          <p:cNvSpPr txBox="1"/>
          <p:nvPr/>
        </p:nvSpPr>
        <p:spPr>
          <a:xfrm>
            <a:off x="62484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150" dirty="0"/>
          </a:p>
        </p:txBody>
      </p:sp>
      <p:sp>
        <p:nvSpPr>
          <p:cNvPr id="27" name="Kinsella · consenso cesárea · Anaesthesi"/>
          <p:cNvSpPr txBox="1"/>
          <p:nvPr/>
        </p:nvSpPr>
        <p:spPr>
          <a:xfrm>
            <a:off x="62484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150" dirty="0"/>
          </a:p>
        </p:txBody>
      </p:sp>
      <p:sp>
        <p:nvSpPr>
          <p:cNvPr id="28" name="Sharkey · NA vs. fenilefrina na cesárea "/>
          <p:cNvSpPr txBox="1"/>
          <p:nvPr/>
        </p:nvSpPr>
        <p:spPr>
          <a:xfrm>
            <a:off x="62484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150" dirty="0"/>
          </a:p>
        </p:txBody>
      </p:sp>
      <p:sp>
        <p:nvSpPr>
          <p:cNvPr id="29" name="Park, Choi · vasopressores na cesárea · "/>
          <p:cNvSpPr txBox="1"/>
          <p:nvPr/>
        </p:nvSpPr>
        <p:spPr>
          <a:xfrm>
            <a:off x="62484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150" dirty="0"/>
          </a:p>
        </p:txBody>
      </p:sp>
      <p:sp>
        <p:nvSpPr>
          <p:cNvPr id="30" name="Marcucci · POISE-3 · Ann Intern Med 2023"/>
          <p:cNvSpPr txBox="1"/>
          <p:nvPr/>
        </p:nvSpPr>
        <p:spPr>
          <a:xfrm>
            <a:off x="62484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150" dirty="0"/>
          </a:p>
        </p:txBody>
      </p:sp>
      <p:sp>
        <p:nvSpPr>
          <p:cNvPr id="31" name="Saugel · POQI · Br J Anaesth 2024"/>
          <p:cNvSpPr txBox="1"/>
          <p:nvPr/>
        </p:nvSpPr>
        <p:spPr>
          <a:xfrm>
            <a:off x="62484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150" dirty="0"/>
          </a:p>
        </p:txBody>
      </p:sp>
      <p:sp>
        <p:nvSpPr>
          <p:cNvPr id="32" name="Lineburger · custo da hipotensão · Braz "/>
          <p:cNvSpPr txBox="1"/>
          <p:nvPr/>
        </p:nvSpPr>
        <p:spPr>
          <a:xfrm>
            <a:off x="62484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150" dirty="0"/>
          </a:p>
        </p:txBody>
      </p:sp>
      <p:sp>
        <p:nvSpPr>
          <p:cNvPr id="33" name="Salmasi · hipotensão e lesão orgânica · "/>
          <p:cNvSpPr txBox="1"/>
          <p:nvPr/>
        </p:nvSpPr>
        <p:spPr>
          <a:xfrm>
            <a:off x="62484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150" dirty="0"/>
          </a:p>
        </p:txBody>
      </p:sp>
      <p:sp>
        <p:nvSpPr>
          <p:cNvPr id="34" name="Saugel · IMPROVE-multi · JAMA 2025"/>
          <p:cNvSpPr txBox="1"/>
          <p:nvPr/>
        </p:nvSpPr>
        <p:spPr>
          <a:xfrm>
            <a:off x="62484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150" dirty="0"/>
          </a:p>
        </p:txBody>
      </p:sp>
      <p:sp>
        <p:nvSpPr>
          <p:cNvPr id="35" name="Cecconi · HISTAP · Intensive Care Med 20"/>
          <p:cNvSpPr txBox="1"/>
          <p:nvPr/>
        </p:nvSpPr>
        <p:spPr>
          <a:xfrm>
            <a:off x="62484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HISTAP · Intensive Care Med 2026</a:t>
            </a:r>
            <a:endParaRPr lang="en-US" sz="1150" dirty="0"/>
          </a:p>
        </p:txBody>
      </p:sp>
      <p:sp>
        <p:nvSpPr>
          <p:cNvPr id="36" name="Tran · NA periférica · Am J Emerg Med 20"/>
          <p:cNvSpPr txBox="1"/>
          <p:nvPr/>
        </p:nvSpPr>
        <p:spPr>
          <a:xfrm>
            <a:off x="62484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150" dirty="0"/>
          </a:p>
        </p:txBody>
      </p:sp>
      <p:sp>
        <p:nvSpPr>
          <p:cNvPr id="37" name="Kattan · NA base vs. sal · Intensive Car"/>
          <p:cNvSpPr txBox="1"/>
          <p:nvPr/>
        </p:nvSpPr>
        <p:spPr>
          <a:xfrm>
            <a:off x="62484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Kattan · NA base vs. sal · Intensive Care Med 2024</a:t>
            </a:r>
            <a:endParaRPr lang="en-US" sz="1150" dirty="0"/>
          </a:p>
        </p:txBody>
      </p:sp>
      <p:sp>
        <p:nvSpPr>
          <p:cNvPr id="38" name="ANZCA/ANZAAG · anafilaxia perioperatória"/>
          <p:cNvSpPr txBox="1"/>
          <p:nvPr/>
        </p:nvSpPr>
        <p:spPr>
          <a:xfrm>
            <a:off x="62484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150" dirty="0"/>
          </a:p>
        </p:txBody>
      </p:sp>
      <p:sp>
        <p:nvSpPr>
          <p:cNvPr id="39" name="Overgaard, Džavík · revisão · Circulatio"/>
          <p:cNvSpPr txBox="1"/>
          <p:nvPr/>
        </p:nvSpPr>
        <p:spPr>
          <a:xfrm>
            <a:off x="62484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150" dirty="0"/>
          </a:p>
        </p:txBody>
      </p:sp>
      <p:sp>
        <p:nvSpPr>
          <p:cNvPr id="40" name="Persichini · NA e retorno venoso · Crit "/>
          <p:cNvSpPr txBox="1"/>
          <p:nvPr/>
        </p:nvSpPr>
        <p:spPr>
          <a:xfrm>
            <a:off x="62484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150" dirty="0"/>
          </a:p>
        </p:txBody>
      </p:sp>
      <p:sp>
        <p:nvSpPr>
          <p:cNvPr id="41" name="Cecconi · consenso de choque (ESICM) · I"/>
          <p:cNvSpPr txBox="1"/>
          <p:nvPr/>
        </p:nvSpPr>
        <p:spPr>
          <a:xfrm>
            <a:off x="62484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consenso de choque (ESICM) · Intensive Care Med 2014</a:t>
            </a:r>
            <a:endParaRPr lang="en-US" sz="1150" dirty="0"/>
          </a:p>
        </p:txBody>
      </p:sp>
      <p:sp>
        <p:nvSpPr>
          <p:cNvPr id="42" name="Konstam · falência de VD (AHA) · Circula"/>
          <p:cNvSpPr txBox="1"/>
          <p:nvPr/>
        </p:nvSpPr>
        <p:spPr>
          <a:xfrm>
            <a:off x="62484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 · falência de VD (AHA) · Circulation 2018</a:t>
            </a:r>
            <a:endParaRPr lang="en-US" sz="1150" dirty="0"/>
          </a:p>
        </p:txBody>
      </p:sp>
      <p:sp>
        <p:nvSpPr>
          <p:cNvPr id="43" name="Zaccolo, Kovanich · AMPc em nanodomínios"/>
          <p:cNvSpPr txBox="1"/>
          <p:nvPr/>
        </p:nvSpPr>
        <p:spPr>
          <a:xfrm>
            <a:off x="62484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Zaccolo, Kovanich · AMPc em nanodomínios · Physiol Rev 2025</a:t>
            </a:r>
            <a:endParaRPr lang="en-US" sz="1150" dirty="0"/>
          </a:p>
        </p:txBody>
      </p:sp>
      <p:pic>
        <p:nvPicPr>
          <p:cNvPr id="4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2026-10-18T21:00:44Z</dcterms:created>
  <dcterms:modified xsi:type="dcterms:W3CDTF">2026-10-18T21:00:44Z</dcterms:modified>
</cp:coreProperties>
</file>