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roteiro" id="{e1b2a64c-7e60-5387-44b7-be2cd275187f}">
          <p14:sldIdLst>
            <p14:sldId id="256"/>
            <p14:sldId id="257"/>
          </p14:sldIdLst>
        </p14:section>
        <p14:section name="Fisiologia da pressão arterial e farmacologia dos receptores" id="{03e225b2-38ee-47dd-2b2e-1e58ec70fa46}">
          <p14:sldIdLst>
            <p14:sldId id="258"/>
            <p14:sldId id="259"/>
            <p14:sldId id="260"/>
          </p14:sldIdLst>
        </p14:section>
        <p14:section name="Drogas individuais e síntese comparativa" id="{afc0e402-b9a6-8b38-4bb3-d9f83f212c58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Além das aminas: vasopressina e adjuvantes do choque refratário" id="{06a0f500-d39f-1757-9227-3521e5a86d1b}">
          <p14:sldIdLst>
            <p14:sldId id="269"/>
            <p14:sldId id="270"/>
          </p14:sldIdLst>
        </p14:section>
        <p14:section name="Choque séptico: sequência, alvo de PAM e timing" id="{282a41b7-bc78-1350-bec1-e0ce561b49ea}">
          <p14:sldIdLst>
            <p14:sldId id="271"/>
            <p14:sldId id="272"/>
            <p14:sldId id="273"/>
          </p14:sldIdLst>
        </p14:section>
        <p14:section name="Perioperatório: escolha da droga e alvo de PA" id="{01c62c60-8023-ff2e-4df8-1287455a4ec8}">
          <p14:sldIdLst>
            <p14:sldId id="274"/>
            <p14:sldId id="275"/>
          </p14:sldIdLst>
        </p14:section>
        <p14:section name="Síntese e referências" id="{6d129c41-769d-c7ab-0bf8-da3038a0f546}">
          <p14:sldIdLst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Duração-alvo: cerca de 18 minutos. Distribuição sugerida: fisiologia e receptores (3 min), drogas individuais (7 min), além das aminas (2 min), choque séptico (3 min), perioperatório (2 min), síntese (1 min). Fontes principais: Surviving Sepsis Campaign 2026, ESICM 2025 e ensaios clínicos-chave. Farmacologia básica a conferir no Miller’s Anesthesia 10ª ed. (inserir capítulo e página nos rodapés marcados).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Estrutura: do raciocínio fisiológico para a farmacologia, depois cada droga, e por fim a aplicação no choque séptico e no centro cirúrgico. O bloco 03 é o núcleo da apresentação (cerca de 1 minuto por droga).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com a pergunta clínica: qual componente da PAM está falhando? Vasoplegia pede vasopressor, falência de bomba pede inotrópico, hipovolemia pede volume. Ponto menos lembrado: a noradrenalina aumenta a pressão média de enchimento sistêmico e o retorno venoso no choque séptico (Persichini, CCM 2012), por isso o DC pode subir mesmo com aumento da pós-carga.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V1 entra na tabela porque a vasopressina é a principal alternativa não adrenérgica. α2 aparece para lembrar que agonistas α2 (clonidina, dexmedetomidina) são simpatolíticos, não vasopressores de uso clínico. A dessensibilização ajuda a explicar a taquifilaxia e a lógica de associar um vasopressor de outra via.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via de síntese explica duas coisas práticas: a dopamina age em parte por conversão e liberação de noradrenalina, e a adrenalina depende de cortisol para ser sintetizada na medula adrenal. A distinção direta versus indireta explica a taquifilaxia da efedrina, que depende dos estoques de noradrenalina.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Transição para o núcleo da aula. Em cada slide de droga, o painel escuro mostra a afinidade relativa por receptor (barras) e o efeito hemodinâmico líquido; os cartões trazem dose e evidência. Cerca de 1 minuto por droga.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Agonista α1 potente com β1 modesto: sobe a PAM pela RVS e pela venoconstrição, com DC preservado ou maior e FC estável ou menor por reflexo. SOAP II (n = 1.679): mortalidade em 28 dias 48,5% vs. 52,5% com dopamina (NS), arritmias 12,4% vs. 24,1%. SSC 2026: recomendação forte da noradrenalina sobre dopamina (certeza alta) e sobre adrenalina (certeza baixa). Prescrição no Brasil: ampolas de hemitartarato 2 mg/mL equivalem a 1 mg/mL de base (ver slide de timing). Extravasamento: o antídoto clássico é a fentolamina infiltrada localmente.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Efeito dose-dependente: em dose baixa, β1 e β2 dominam (DC alto, RVS pode cair); em dose alta, α1 prevalece. SSC 2026: adicionar adrenalina quando a PAM segue inadequada com NA + vasopressina (condicional, certeza muito baixa); na disfunção cardíaca, NA ou adrenalina como primeira linha, com adrenalina preferível na bradiarritmia. No estudo CAT, 12,9% dos pacientes em adrenalina foram retirados por efeitos metabólicos transitórios. Anafilaxia (ANZCA 2022): iniciar infusão após três bolus; IM 0,5 mg se não houver acesso.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barras mostram o perfil em toda a faixa de dose; na prática, a resposta a cada faixa é imprevisível. ANZICS (n = 328): dopamina 2 mcg/kg/min versus placebo sem diferença em pico de creatinina, necessidade de diálise ou mortalidade. SOAP II: no subgrupo de choque cardiogênico, mortalidade maior com dopamina (p = 0,03). Uso residual: bradicardia sintomática, quando não houver alternativa.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Isômero (+): agonista β1 e β2 e antagonista α1; isômero (−): agonista α1. O resultado clínico é inotropismo com queda discreta da RVS. Por isso, no paciente vasoplégico, a dobutamina entra junto com o vasopressor, nunca no lugar dele. DOREMI (n = 192): mortalidade hospitalar 43% vs. 37% com milrinona, sem diferença significativa. A SSC 2026 não encontrou dados suficientes para comparar dobutamina e milrinona e sugere contra levosimendan.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Agonista α1 direto, sem ação β: a PAM sobe pela RVS e a FC cai por reflexo. Isso é vantagem quando a taquicardia é o problema (estenose aórtica, cardiomiopatia hipertrófica obstrutiva, FA com resposta rápida) e desvantagem quando o DC depende da FC. Consenso internacional obstétrico (Kinsella 2018): fenilefrina como agente de escolha, em infusão profilática; noradrenalina é alternativa crescente, com melhor preservação do DC materno e desfechos neonatais comparáveis.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ação indireta explica as limitações: menor resposta quando os estoques de noradrenalina estão depletados (choque prolongado, uso crônico de simpatolíticos) e pouca eficácia no coração transplantado, que é desnervado. Na cesárea, a efedrina foi substituída pela fenilefrina como primeira escolha; continua útil como resgate quando há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consolidação: ler por coluna. Quem tem α1 alto sobe RVS (noradrenalina, fenilefrina); quem tem β1 alto sobe DC e FC (adrenalina, dobutamina, isoproterenol); β2 explica vasodilatação e lactato. A afinidade da dopamina varia com a dose. As faixas de dose são as usuais em adultos e devem ser tituladas pela resposta. Isoproterenol aparece só aqui: uso restrito a bradicardia refratária e ponte para marca-passo.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é amina, mas é o principal parceiro da noradrenalina. VASST: no subgrupo de choque menos grave (NA 5–14 mcg/min), mortalidade 26,5% vs. 35,7%, achado apenas gerador de hipótese. VANISH (vasopressina precoce): sem diferença em dias livres de falência renal. VASSPR, publicado em 14/10/2026, é a novidade: estratégia de início precoce sem ganho de mortalidade nem de dias livres de diálise, com sinal de mais choque cardiogênico no grupo precoce (7,4% vs. 6,3%). Equivalência usada em escores: vasopressina 0,03 U/min corresponde a cerca de 0,075 mcg/kg/min de NA (fator 2,5).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no choque que não responde à noradrenalina, a estratégia é somar mecanismos diferentes, não subir indefinidamente a mesma droga. ATHOS-3 (n = 344): mortalidade em 28 dias 46% vs. 53,8% (NS). Azul de metileno: em pesquisa com os painelistas da SSC 2026, 69% nunca ou quase nunca o usam como resgate. Disponibilidade local de angiotensina II deve ser checada antes de citar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Mudanças em relação a 2021: a preferência da NA sobre vasopressina e angiotensina II virou sugestão (condicional); passou a haver sugestão explícita de iniciar vasopressor por via periférica em vez de esperar acesso central; terlipressina e levosimendan receberam sugestão contra; azul de metileno ficou sem recomendação por evidência insuficiente. A SSC não define limiar numérico para associar vasopressina.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65 trial (n = 2.463 na análise primária): menos exposição a vasopressor no grupo permissivo (duração média 46,0 vs. 55,9 h; dose total média de noradrenalina-equivalente 31,5 vs. 44,3 mg), sem sinal de dano; a OR ajustada favoreceu a hipotensão permissiva (0,82). OPTPRESS (29 hospitais japoneses) foi interrompido precocemente por dano: diferença absoluta de 10,7 pontos percentuais (IC 95% 2,6–18,9), com menos dias livres de terapia renal substitutiva no alvo alto. O protocolo associava vasopressina cedo, com NA ≥ 0,1 mcg/kg/min. A ESICM 2025 também sugere alvo menor no trauma com sangramento ativo sem TCE e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CENSER (n = 310): dose fixa, não titulada, por 24 h; mortalidade em 28 dias 15,5% vs. 21,9% (NS). Na metanálise de Tran (Am J Emerg Med 2020), houve 122 complicações em 1.835 pacientes (7%), 96% delas leves. Na prática: veia calibrosa e proximal, inspeção frequente do sítio, plano para acesso central se a dose subir ou a infusão se prolongar; em extravasamento, fentolamina local. Dose em sal versus base: Ibarra-Estrada, Kattan e Jung (ICM 2024) defendem padronizar logo o relato da dose; a mesma infusão expressa em sal dá o dobro do número em base (0,1 mcg/kg/min de sal ≈ 0,05 de base).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escolher a droga, excluir causas tratáveis: profundidade anestésica excessiva, hipovolemia, compressão de cava, pneumotórax, anafilaxia. A tabela resume a lógica da aula aplicada ao centro cirúrgico: tônus baixo com FC preservada pede α1; bradicardia associada pede ação β1; vasoplegia que persiste pede infusão titulável em vez de bolus seriados. Na anafilaxia grau 3 sem resposta, escalar até 200 mcg e iniciar infusão após três bolus (ANZCA 2022).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POISE-3: o braço de evitar hipotensão suspendia anti-hipertensivos e mirava PAM ≥80, sem redução de eventos vasculares. IMPROVE-multi: alvo individualizado não foi melhor que PAM ≥65. HISTAP (n = 630, 18 centros italianos): em idosos hipertensos de alto risco, com monitorização contínua e fluidoterapia protocolada, PAM ≥80 reduziu o desfecho composto, sobretudo por menos lesão renal aguda leve a moderada (23,5% vs. 33,7%). Atenção: a PAM média alcançada foi 77 mmHg no controle e 88 mmHg no grupo de alvo alto, ou seja, o controle não ficou em 65; o alvo alto exigiu mais noradrenalina, efedrina e transfusão. Leitura prática: o piso de 65 é consenso; subir o alvo é decisão individual em paciente selecionado.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voltando à pergunta do início: qual componente da PAM está falhando? A droga certa é a que corrige esse componente, na menor dose eficaz, pelo menor tempo. A pergunta final serve para abrir a discussão com o grupo sobre os protocolos do serviço.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Completar a entrada do Miller com os capítulos de farmacologia do sistema nervoso autônomo e de farmacologia cardiovascular, e preencher os rodapés marcados com [cap./pág.]. SSC 2026: Crit Care Med 2026;54(4):725–812. VASSPR: JAMA, publicado online em 14/10/2026. HISTAP: Intensive Care Med 2026;52(8):1619–1634. IMPROVE-multi: JAMA 2025;334(21):1893–1904. POISE-3 (braço de pressão): Ann Intern Med 2023;176:605–614.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362869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521250"/>
            <a:ext cx="10718800" cy="497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 E TERAPI"/>
          <p:cNvSpPr txBox="1"/>
          <p:nvPr/>
        </p:nvSpPr>
        <p:spPr>
          <a:xfrm>
            <a:off x="812800" y="3088609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SESSÃO CLÍNICA · ANESTESIOLOGIA E TERAPIA INTENSIVA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362869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armacologia, drogas individuais e uso n"/>
          <p:cNvSpPr txBox="1"/>
          <p:nvPr/>
        </p:nvSpPr>
        <p:spPr>
          <a:xfrm>
            <a:off x="812800" y="4588436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Farmacologia, drogas individuais e uso no choque e no perioperatório</a:t>
            </a:r>
            <a:endParaRPr lang="en-US" sz="1800" dirty="0"/>
          </a:p>
        </p:txBody>
      </p:sp>
      <p:sp>
        <p:nvSpPr>
          <p:cNvPr id="5" name="Bruno Dubois"/>
          <p:cNvSpPr txBox="1"/>
          <p:nvPr/>
        </p:nvSpPr>
        <p:spPr>
          <a:xfrm>
            <a:off x="812800" y="5165217"/>
            <a:ext cx="105854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Dubois</a:t>
            </a:r>
            <a:endParaRPr lang="en-US" sz="1500" dirty="0"/>
          </a:p>
        </p:txBody>
      </p:sp>
      <p:sp>
        <p:nvSpPr>
          <p:cNvPr id="6" name="Orientadores: Marcelo Bandeira e Glauber"/>
          <p:cNvSpPr txBox="1"/>
          <p:nvPr/>
        </p:nvSpPr>
        <p:spPr>
          <a:xfrm>
            <a:off x="812800" y="5483650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Orientadores: Marcelo Bandeira e Glauber Gouvea</a:t>
            </a:r>
            <a:endParaRPr lang="en-US" sz="1400" dirty="0"/>
          </a:p>
        </p:txBody>
      </p:sp>
      <p:sp>
        <p:nvSpPr>
          <p:cNvPr id="7" name="[Serviço] · [Data]"/>
          <p:cNvSpPr txBox="1"/>
          <p:nvPr/>
        </p:nvSpPr>
        <p:spPr>
          <a:xfrm>
            <a:off x="812800" y="578329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[Serviço] · [Data]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EIR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ROTEIRO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vamos discutir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374253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Fisiologia: PAM, débito cardíaco e resis"/>
          <p:cNvSpPr txBox="1"/>
          <p:nvPr/>
        </p:nvSpPr>
        <p:spPr>
          <a:xfrm>
            <a:off x="1320403" y="1959009"/>
            <a:ext cx="4591447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Fisiologia: PAM, débito cardíaco e resistência vascular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6299200" y="1857860"/>
            <a:ext cx="386755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ceptores adrenérgicos e classificação "/>
          <p:cNvSpPr txBox="1"/>
          <p:nvPr/>
        </p:nvSpPr>
        <p:spPr>
          <a:xfrm>
            <a:off x="6819305" y="1959009"/>
            <a:ext cx="4578945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 adrenérgicos e classificação das aminas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2660341"/>
            <a:ext cx="374352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rogas individuais: noradrenalina, adren"/>
          <p:cNvSpPr txBox="1"/>
          <p:nvPr/>
        </p:nvSpPr>
        <p:spPr>
          <a:xfrm>
            <a:off x="1320502" y="2761490"/>
            <a:ext cx="4591348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Drogas individuais: noradrenalina, adrenalina, dopamina, dobutamina, fenilefrina e efedrina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6299200" y="2660341"/>
            <a:ext cx="378321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lém das aminas: vasopressina e adjuvant"/>
          <p:cNvSpPr txBox="1"/>
          <p:nvPr/>
        </p:nvSpPr>
        <p:spPr>
          <a:xfrm>
            <a:off x="6810871" y="2761490"/>
            <a:ext cx="4587379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Além das aminas: vasopressina e adjuvantes do choque refratário</a:t>
            </a:r>
            <a:endParaRPr lang="en-US" sz="1700" dirty="0"/>
          </a:p>
        </p:txBody>
      </p:sp>
      <p:sp>
        <p:nvSpPr>
          <p:cNvPr id="12" name="05"/>
          <p:cNvSpPr txBox="1"/>
          <p:nvPr/>
        </p:nvSpPr>
        <p:spPr>
          <a:xfrm>
            <a:off x="812800" y="3462822"/>
            <a:ext cx="406301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Choque séptico: sequência, alvo de PAM e"/>
          <p:cNvSpPr txBox="1"/>
          <p:nvPr/>
        </p:nvSpPr>
        <p:spPr>
          <a:xfrm>
            <a:off x="1352451" y="3563972"/>
            <a:ext cx="4559399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Choque séptico: sequência, alvo de PAM e timing</a:t>
            </a:r>
            <a:endParaRPr lang="en-US" sz="1700" dirty="0"/>
          </a:p>
        </p:txBody>
      </p:sp>
      <p:sp>
        <p:nvSpPr>
          <p:cNvPr id="14" name="06"/>
          <p:cNvSpPr txBox="1"/>
          <p:nvPr/>
        </p:nvSpPr>
        <p:spPr>
          <a:xfrm>
            <a:off x="6299200" y="3462822"/>
            <a:ext cx="378619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Perioperatório: hipotensão intraoperatór"/>
          <p:cNvSpPr txBox="1"/>
          <p:nvPr/>
        </p:nvSpPr>
        <p:spPr>
          <a:xfrm>
            <a:off x="6811169" y="3563972"/>
            <a:ext cx="4587081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Perioperatório: hipotensão intraoperatória e obstetrícia</a:t>
            </a:r>
            <a:endParaRPr lang="en-US" sz="1700" dirty="0"/>
          </a:p>
        </p:txBody>
      </p:sp>
      <p:sp>
        <p:nvSpPr>
          <p:cNvPr id="16" name="07"/>
          <p:cNvSpPr txBox="1"/>
          <p:nvPr/>
        </p:nvSpPr>
        <p:spPr>
          <a:xfrm>
            <a:off x="812800" y="4265304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Consenso, controvérsias e mensagens fina"/>
          <p:cNvSpPr txBox="1"/>
          <p:nvPr/>
        </p:nvSpPr>
        <p:spPr>
          <a:xfrm>
            <a:off x="1371600" y="4366453"/>
            <a:ext cx="4315420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Consenso, controvérsias e mensagens finais</a:t>
            </a:r>
            <a:endParaRPr lang="en-US" sz="1700" dirty="0"/>
          </a:p>
        </p:txBody>
      </p:sp>
      <p:sp>
        <p:nvSpPr>
          <p:cNvPr id="18" name="Surviving Sepsis Campaign 2026 · ESICM 2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Surviving Sepsis Campaign 2026 · ESICM 2025 · Miller’s Anesthesia, 10ª ed. (2024)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PAM = DC × RVS: qual componente está falhando?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155825"/>
          </a:xfrm>
          <a:prstGeom prst="roundRect">
            <a:avLst>
              <a:gd name="adj" fmla="val 353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Borda de destaque"/>
          <p:cNvSpPr/>
          <p:nvPr/>
        </p:nvSpPr>
        <p:spPr>
          <a:xfrm>
            <a:off x="823379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6" name="Vasoplegia"/>
          <p:cNvSpPr txBox="1"/>
          <p:nvPr/>
        </p:nvSpPr>
        <p:spPr>
          <a:xfrm>
            <a:off x="1073150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7" name="RVS baixa com DC preservado ou alto: sep"/>
          <p:cNvSpPr txBox="1"/>
          <p:nvPr/>
        </p:nvSpPr>
        <p:spPr>
          <a:xfrm>
            <a:off x="1073150" y="2517088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 baixa com DC preservado ou alto: sepse, anestesia geral, neuroeixo, anafilaxia, pós-CEC. Alvo: tônus arterial, com vasopressor α1 ou V1.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402634" y="1879501"/>
            <a:ext cx="3386634" cy="2155825"/>
          </a:xfrm>
          <a:prstGeom prst="roundRect">
            <a:avLst>
              <a:gd name="adj" fmla="val 353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Borda de destaque"/>
          <p:cNvSpPr/>
          <p:nvPr/>
        </p:nvSpPr>
        <p:spPr>
          <a:xfrm>
            <a:off x="4413212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10" name="Falência de bomba"/>
          <p:cNvSpPr txBox="1"/>
          <p:nvPr/>
        </p:nvSpPr>
        <p:spPr>
          <a:xfrm>
            <a:off x="4662984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11" name="DC baixo com RVS alta: choque cardiogêni"/>
          <p:cNvSpPr txBox="1"/>
          <p:nvPr/>
        </p:nvSpPr>
        <p:spPr>
          <a:xfrm>
            <a:off x="4662984" y="2517088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 baixo com RVS alta: choque cardiogênico, depressão miocárdica da sepse. Alvo: contratilidade, com inotrópico β1, associado a vasopressor se a PAM cair.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7992467" y="1879501"/>
            <a:ext cx="3386634" cy="2155825"/>
          </a:xfrm>
          <a:prstGeom prst="roundRect">
            <a:avLst>
              <a:gd name="adj" fmla="val 353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Borda de destaque"/>
          <p:cNvSpPr/>
          <p:nvPr/>
        </p:nvSpPr>
        <p:spPr>
          <a:xfrm>
            <a:off x="8003046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56606B"/>
          </a:solidFill>
          <a:ln/>
        </p:spPr>
      </p:sp>
      <p:sp>
        <p:nvSpPr>
          <p:cNvPr id="14" name="Pré-carga"/>
          <p:cNvSpPr txBox="1"/>
          <p:nvPr/>
        </p:nvSpPr>
        <p:spPr>
          <a:xfrm>
            <a:off x="8252817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Pré-carga</a:t>
            </a:r>
            <a:endParaRPr lang="en-US" sz="1700" dirty="0"/>
          </a:p>
        </p:txBody>
      </p:sp>
      <p:sp>
        <p:nvSpPr>
          <p:cNvPr id="15" name="Hipovolemia não se corrige com amina. Ma"/>
          <p:cNvSpPr txBox="1"/>
          <p:nvPr/>
        </p:nvSpPr>
        <p:spPr>
          <a:xfrm>
            <a:off x="8252817" y="2517088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Hipovolemia não se corrige com amina. Mas o α1 também contrai veias: recruta volume não estressado e aumenta o retorno venoso.</a:t>
            </a:r>
            <a:endParaRPr lang="en-US" sz="1350" dirty="0"/>
          </a:p>
        </p:txBody>
      </p:sp>
      <p:sp>
        <p:nvSpPr>
          <p:cNvPr id="16" name="Cartão"/>
          <p:cNvSpPr/>
          <p:nvPr/>
        </p:nvSpPr>
        <p:spPr>
          <a:xfrm>
            <a:off x="812800" y="4340126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FC × VS"/>
          <p:cNvSpPr txBox="1"/>
          <p:nvPr/>
        </p:nvSpPr>
        <p:spPr>
          <a:xfrm>
            <a:off x="1073150" y="4520821"/>
            <a:ext cx="147974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FC × VS</a:t>
            </a:r>
            <a:endParaRPr lang="en-US" sz="3200" dirty="0"/>
          </a:p>
        </p:txBody>
      </p:sp>
      <p:sp>
        <p:nvSpPr>
          <p:cNvPr id="18" name="compõem o DC. Agonistas β1 elevam os doi"/>
          <p:cNvSpPr txBox="1"/>
          <p:nvPr/>
        </p:nvSpPr>
        <p:spPr>
          <a:xfrm>
            <a:off x="2737048" y="4553434"/>
            <a:ext cx="840085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compõem o DC. Agonistas β1 elevam os dois, mas cobram em consumo de O</a:t>
            </a:r>
            <a:pPr algn="l" indent="0" marL="0">
              <a:lnSpc>
                <a:spcPts val="2100"/>
              </a:lnSpc>
              <a:buNone/>
            </a:pPr>
            <a:r>
              <a:rPr lang="pt-BR" altLang="en-US" sz="1500" baseline="-400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miocárdico e arritmia.</a:t>
            </a:r>
            <a:endParaRPr lang="en-US" sz="1500" dirty="0"/>
          </a:p>
        </p:txBody>
      </p:sp>
      <p:sp>
        <p:nvSpPr>
          <p:cNvPr id="19" name="Miller’s Anesthesia, 10ª ed. (2024) · [c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Miller’s Anesthesia, 10ª ed. (2024) · [cap./pág.] · Persichini et al., Crit Care Med 2012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Receptores: cada amina é um perfil de afinidade</a:t>
            </a:r>
            <a:endParaRPr lang="en-US" sz="3200" dirty="0"/>
          </a:p>
        </p:txBody>
      </p:sp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Onde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Terminal pré-sináptico, SNC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↓ liberação de noradrenalina; sedação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↑ 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Vasodilatação, broncodilatação, ↑glicemia e 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Vasoconstrição sem receptor adrenérgico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xposição prolongada dessensibiliza adre"/>
          <p:cNvSpPr txBox="1"/>
          <p:nvPr/>
        </p:nvSpPr>
        <p:spPr>
          <a:xfrm>
            <a:off x="812800" y="4947175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Exposição prolongada dessensibiliza adrenoceptores: parte da perda de resposta no choque.</a:t>
            </a:r>
            <a:endParaRPr lang="en-US" sz="1400" dirty="0"/>
          </a:p>
        </p:txBody>
      </p:sp>
      <p:sp>
        <p:nvSpPr>
          <p:cNvPr id="6" name="Miller’s Anesthesia, 10ª ed. (2024) · [c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Miller’s Anesthesia, 10ª ed. (2024) · [cap./pág.]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CLASSIFICAÇÃ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CLASSIFICAÇÃO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Estrutura: o anel catecol define a duração</a:t>
            </a:r>
            <a:endParaRPr lang="en-US" sz="3200" dirty="0"/>
          </a:p>
        </p:txBody>
      </p:sp>
      <p:sp>
        <p:nvSpPr>
          <p:cNvPr id="4" name="Tirosina"/>
          <p:cNvSpPr/>
          <p:nvPr/>
        </p:nvSpPr>
        <p:spPr>
          <a:xfrm>
            <a:off x="812800" y="1879501"/>
            <a:ext cx="1045865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Tirosina</a:t>
            </a:r>
            <a:endParaRPr lang="en-US" sz="1500" dirty="0"/>
          </a:p>
        </p:txBody>
      </p:sp>
      <p:sp>
        <p:nvSpPr>
          <p:cNvPr id="5" name="→"/>
          <p:cNvSpPr txBox="1"/>
          <p:nvPr/>
        </p:nvSpPr>
        <p:spPr>
          <a:xfrm>
            <a:off x="1960265" y="1931836"/>
            <a:ext cx="2222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DOPA"/>
          <p:cNvSpPr/>
          <p:nvPr/>
        </p:nvSpPr>
        <p:spPr>
          <a:xfrm>
            <a:off x="2265065" y="1879501"/>
            <a:ext cx="855266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DOPA</a:t>
            </a:r>
            <a:endParaRPr lang="en-US" sz="1500" dirty="0"/>
          </a:p>
        </p:txBody>
      </p:sp>
      <p:sp>
        <p:nvSpPr>
          <p:cNvPr id="7" name="→"/>
          <p:cNvSpPr txBox="1"/>
          <p:nvPr/>
        </p:nvSpPr>
        <p:spPr>
          <a:xfrm>
            <a:off x="3221930" y="1931836"/>
            <a:ext cx="2222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Dopamina"/>
          <p:cNvSpPr/>
          <p:nvPr/>
        </p:nvSpPr>
        <p:spPr>
          <a:xfrm>
            <a:off x="3526730" y="1879501"/>
            <a:ext cx="1225748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Dopamina</a:t>
            </a:r>
            <a:endParaRPr lang="en-US" sz="1500" dirty="0"/>
          </a:p>
        </p:txBody>
      </p:sp>
      <p:sp>
        <p:nvSpPr>
          <p:cNvPr id="9" name="→"/>
          <p:cNvSpPr txBox="1"/>
          <p:nvPr/>
        </p:nvSpPr>
        <p:spPr>
          <a:xfrm>
            <a:off x="4854079" y="1931836"/>
            <a:ext cx="2222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Noradrenalina"/>
          <p:cNvSpPr/>
          <p:nvPr/>
        </p:nvSpPr>
        <p:spPr>
          <a:xfrm>
            <a:off x="5158879" y="1879501"/>
            <a:ext cx="1585813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Noradrenalina</a:t>
            </a:r>
            <a:endParaRPr lang="en-US" sz="1500" dirty="0"/>
          </a:p>
        </p:txBody>
      </p:sp>
      <p:sp>
        <p:nvSpPr>
          <p:cNvPr id="11" name="→"/>
          <p:cNvSpPr txBox="1"/>
          <p:nvPr/>
        </p:nvSpPr>
        <p:spPr>
          <a:xfrm>
            <a:off x="6846292" y="1931836"/>
            <a:ext cx="2222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Adrenalina"/>
          <p:cNvSpPr/>
          <p:nvPr/>
        </p:nvSpPr>
        <p:spPr>
          <a:xfrm>
            <a:off x="7151092" y="1879501"/>
            <a:ext cx="1289348" cy="41910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FF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Adrenalina</a:t>
            </a:r>
            <a:endParaRPr lang="en-US" sz="1500" dirty="0"/>
          </a:p>
        </p:txBody>
      </p:sp>
      <p:sp>
        <p:nvSpPr>
          <p:cNvPr id="13" name="Tirosina hidroxilase (etapa limitante) ·"/>
          <p:cNvSpPr txBox="1"/>
          <p:nvPr/>
        </p:nvSpPr>
        <p:spPr>
          <a:xfrm>
            <a:off x="812800" y="23889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Tirosina hidroxilase (etapa limitante) · DOPA descarboxilase · dopamina β-hidroxilase · PNMT na medula adrenal, induzida por cortisol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812800" y="2918321"/>
            <a:ext cx="5181600" cy="2155825"/>
          </a:xfrm>
          <a:prstGeom prst="roundRect">
            <a:avLst>
              <a:gd name="adj" fmla="val 353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Borda de destaque"/>
          <p:cNvSpPr/>
          <p:nvPr/>
        </p:nvSpPr>
        <p:spPr>
          <a:xfrm>
            <a:off x="823379" y="2918321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16" name="Catecolaminas"/>
          <p:cNvSpPr txBox="1"/>
          <p:nvPr/>
        </p:nvSpPr>
        <p:spPr>
          <a:xfrm>
            <a:off x="1073150" y="3207506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17" name="Núcleo 3,4-di-hidroxifenil. Endógenas: d"/>
          <p:cNvSpPr txBox="1"/>
          <p:nvPr/>
        </p:nvSpPr>
        <p:spPr>
          <a:xfrm>
            <a:off x="1073150" y="3555908"/>
            <a:ext cx="46799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Núcleo 3,4-di-hidroxifenil. Endógenas: dopamina, noradrenalina, adrenalina. Sintéticas: dobutamina, isoproterenol. Recaptação neuronal, MAO e COMT encurtam a meia-vida para minutos: uso em infusão contínua e titulável.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2918321"/>
            <a:ext cx="5181600" cy="2155825"/>
          </a:xfrm>
          <a:prstGeom prst="roundRect">
            <a:avLst>
              <a:gd name="adj" fmla="val 353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Borda de destaque"/>
          <p:cNvSpPr/>
          <p:nvPr/>
        </p:nvSpPr>
        <p:spPr>
          <a:xfrm>
            <a:off x="6208179" y="2918321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0" name="Não catecolaminas"/>
          <p:cNvSpPr txBox="1"/>
          <p:nvPr/>
        </p:nvSpPr>
        <p:spPr>
          <a:xfrm>
            <a:off x="6457950" y="3207506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21" name="Sem o anel catecol, escapam da COMT: dur"/>
          <p:cNvSpPr txBox="1"/>
          <p:nvPr/>
        </p:nvSpPr>
        <p:spPr>
          <a:xfrm>
            <a:off x="6457950" y="3555908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o anel catecol, escapam da COMT: duram mais e servem para bolus. Fenilefrina: agonista direto α1. Efedrina e metaraminol: ação mista, direta e por liberação de noradrenalina das terminações.</a:t>
            </a:r>
            <a:endParaRPr lang="en-US" sz="1350" dirty="0"/>
          </a:p>
        </p:txBody>
      </p:sp>
      <p:sp>
        <p:nvSpPr>
          <p:cNvPr id="22" name="Miller’s Anesthesia, 10ª ed. (2024) · [c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Miller’s Anesthesia, 10ª ed. (2024) · [cap./pág.]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521250"/>
            <a:ext cx="107188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DROGAS INDIVIDUAIS</a:t>
            </a:r>
            <a:endParaRPr lang="en-US" sz="1400" dirty="0"/>
          </a:p>
        </p:txBody>
      </p:sp>
      <p:sp>
        <p:nvSpPr>
          <p:cNvPr id="3" name="Cada amina é um perfil de receptores que"/>
          <p:cNvSpPr txBox="1"/>
          <p:nvPr/>
        </p:nvSpPr>
        <p:spPr>
          <a:xfrm>
            <a:off x="812800" y="2082651"/>
            <a:ext cx="10179050" cy="173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pt-BR" altLang="en-US" sz="38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Cada amina é um perfil de receptores que muda com a dose. A escolha certa corrige o componente da PAM que está falhando.</a:t>
            </a:r>
            <a:endParaRPr lang="en-US" sz="3800" dirty="0"/>
          </a:p>
        </p:txBody>
      </p:sp>
      <p:sp>
        <p:nvSpPr>
          <p:cNvPr id="4" name="Para cada droga: receptores, efeito hemo"/>
          <p:cNvSpPr txBox="1"/>
          <p:nvPr/>
        </p:nvSpPr>
        <p:spPr>
          <a:xfrm>
            <a:off x="812800" y="4114946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cada droga: receptores, efeito hemodinâmico, dose e o que a evidência mostra.</a:t>
            </a:r>
            <a:endParaRPr lang="en-US" sz="1600" dirty="0"/>
          </a:p>
        </p:txBody>
      </p:sp>
      <p:sp>
        <p:nvSpPr>
          <p:cNvPr id="5" name="Noradrenalina"/>
          <p:cNvSpPr/>
          <p:nvPr/>
        </p:nvSpPr>
        <p:spPr>
          <a:xfrm>
            <a:off x="812800" y="4719141"/>
            <a:ext cx="155118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Noradrenalina</a:t>
            </a:r>
            <a:endParaRPr lang="en-US" sz="1400" dirty="0"/>
          </a:p>
        </p:txBody>
      </p:sp>
      <p:sp>
        <p:nvSpPr>
          <p:cNvPr id="6" name="Adrenalina"/>
          <p:cNvSpPr/>
          <p:nvPr/>
        </p:nvSpPr>
        <p:spPr>
          <a:xfrm>
            <a:off x="2465586" y="4719141"/>
            <a:ext cx="1274465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Adrenalina</a:t>
            </a:r>
            <a:endParaRPr lang="en-US" sz="1400" dirty="0"/>
          </a:p>
        </p:txBody>
      </p:sp>
      <p:sp>
        <p:nvSpPr>
          <p:cNvPr id="7" name="Dopamina"/>
          <p:cNvSpPr/>
          <p:nvPr/>
        </p:nvSpPr>
        <p:spPr>
          <a:xfrm>
            <a:off x="3841651" y="4719141"/>
            <a:ext cx="121513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Dopamina</a:t>
            </a:r>
            <a:endParaRPr lang="en-US" sz="1400" dirty="0"/>
          </a:p>
        </p:txBody>
      </p:sp>
      <p:sp>
        <p:nvSpPr>
          <p:cNvPr id="8" name="Dobutamina"/>
          <p:cNvSpPr/>
          <p:nvPr/>
        </p:nvSpPr>
        <p:spPr>
          <a:xfrm>
            <a:off x="5158383" y="4719141"/>
            <a:ext cx="1382911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Dobutamina</a:t>
            </a:r>
            <a:endParaRPr lang="en-US" sz="1400" dirty="0"/>
          </a:p>
        </p:txBody>
      </p:sp>
      <p:sp>
        <p:nvSpPr>
          <p:cNvPr id="9" name="Fenilefrina"/>
          <p:cNvSpPr/>
          <p:nvPr/>
        </p:nvSpPr>
        <p:spPr>
          <a:xfrm>
            <a:off x="6642894" y="4719141"/>
            <a:ext cx="125472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Fenilefrina</a:t>
            </a:r>
            <a:endParaRPr lang="en-US" sz="1400" dirty="0"/>
          </a:p>
        </p:txBody>
      </p:sp>
      <p:sp>
        <p:nvSpPr>
          <p:cNvPr id="10" name="Efedrina"/>
          <p:cNvSpPr/>
          <p:nvPr/>
        </p:nvSpPr>
        <p:spPr>
          <a:xfrm>
            <a:off x="7999214" y="4719141"/>
            <a:ext cx="1066998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Efedrina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Noradrenalina: o vasopressor de primeira linha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229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1686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976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84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928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942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RVS ↑↑"/>
          <p:cNvSpPr txBox="1"/>
          <p:nvPr/>
        </p:nvSpPr>
        <p:spPr>
          <a:xfrm>
            <a:off x="24130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↔/↑"/>
          <p:cNvSpPr txBox="1"/>
          <p:nvPr/>
        </p:nvSpPr>
        <p:spPr>
          <a:xfrm>
            <a:off x="10668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0" name="FC ↔/↓"/>
          <p:cNvSpPr txBox="1"/>
          <p:nvPr/>
        </p:nvSpPr>
        <p:spPr>
          <a:xfrm>
            <a:off x="24130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Borda de destaque"/>
          <p:cNvSpPr/>
          <p:nvPr/>
        </p:nvSpPr>
        <p:spPr>
          <a:xfrm>
            <a:off x="40745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3" name="Dose e uso"/>
          <p:cNvSpPr txBox="1"/>
          <p:nvPr/>
        </p:nvSpPr>
        <p:spPr>
          <a:xfrm>
            <a:off x="43243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Infusão de 0,01 a 0,5 mcg/kg/min na maio"/>
          <p:cNvSpPr txBox="1"/>
          <p:nvPr/>
        </p:nvSpPr>
        <p:spPr>
          <a:xfrm>
            <a:off x="43243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Infusão de 0,01 a 0,5 mcg/kg/min na maioria dos casos; doses maiores no choque refratário, sem teto fixo. No centro cirúrgico, bolus diluído de 5–10 mcg. Pode começar em veia periférica calibrosa enquanto se obtém o acesso central.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Borda de destaque"/>
          <p:cNvSpPr/>
          <p:nvPr/>
        </p:nvSpPr>
        <p:spPr>
          <a:xfrm>
            <a:off x="78337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7" name="Evidência e cuidados"/>
          <p:cNvSpPr txBox="1"/>
          <p:nvPr/>
        </p:nvSpPr>
        <p:spPr>
          <a:xfrm>
            <a:off x="80835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8" name="SOAP II: mesma mortalidade da dopamina, "/>
          <p:cNvSpPr txBox="1"/>
          <p:nvPr/>
        </p:nvSpPr>
        <p:spPr>
          <a:xfrm>
            <a:off x="80835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SOAP II: mesma mortalidade da dopamina, com metade das arritmias (12,4% vs. 24,1%). CENSER: 0,05 mcg/kg/min precoce elevou o controle do choque em 6 h (76% vs. 48%). Riscos: isquemia digital e esplâncnica, extravasamento.</a:t>
            </a:r>
            <a:endParaRPr lang="en-US" sz="1350" dirty="0"/>
          </a:p>
        </p:txBody>
      </p:sp>
      <p:sp>
        <p:nvSpPr>
          <p:cNvPr id="29" name="De Backer, N Engl J Med 2010 (SOAP II) ·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Backer, N Engl J Med 2010 (SOAP II) · Permpikul, AJRCCM 2019 (CENSER) · SSC 2026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Adrenalina: β e α1, com custo metabólico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229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1686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976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84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928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942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 ou ↑"/>
          <p:cNvSpPr txBox="1"/>
          <p:nvPr/>
        </p:nvSpPr>
        <p:spPr>
          <a:xfrm>
            <a:off x="24130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↓ ou 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Borda de destaque"/>
          <p:cNvSpPr/>
          <p:nvPr/>
        </p:nvSpPr>
        <p:spPr>
          <a:xfrm>
            <a:off x="40745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4" name="Dose e uso"/>
          <p:cNvSpPr txBox="1"/>
          <p:nvPr/>
        </p:nvSpPr>
        <p:spPr>
          <a:xfrm>
            <a:off x="43243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Infusão de 0,01 a 0,1 mcg/kg/min, mais n"/>
          <p:cNvSpPr txBox="1"/>
          <p:nvPr/>
        </p:nvSpPr>
        <p:spPr>
          <a:xfrm>
            <a:off x="43243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Infusão de 0,01 a 0,1 mcg/kg/min, mais no choque refratário. Dose baixa: predomínio β (↑DC, RVS estável ou menor); dose alta: α1. Anafilaxia perioperatória: 10–20 mcg EV no grau 2, 50–100 mcg no grau 3, 1 mg na PCR.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Borda de destaque"/>
          <p:cNvSpPr/>
          <p:nvPr/>
        </p:nvSpPr>
        <p:spPr>
          <a:xfrm>
            <a:off x="78337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8" name="Evidência e cuidados"/>
          <p:cNvSpPr txBox="1"/>
          <p:nvPr/>
        </p:nvSpPr>
        <p:spPr>
          <a:xfrm>
            <a:off x="80835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9" name="Lactato sobe por estímulo β2 da glicólis"/>
          <p:cNvSpPr txBox="1"/>
          <p:nvPr/>
        </p:nvSpPr>
        <p:spPr>
          <a:xfrm>
            <a:off x="8083550" y="2517088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Lactato sobe por estímulo β2 da glicólise aeróbica, sem significar hipoperfusão. CATS: mortalidade semelhante a NA + dobutamina (40% vs. 34%, NS), com mais acidose. OptimaCC, choque cardiogênico pós-IAM: mais choque refratário (37% vs. 7%).</a:t>
            </a:r>
            <a:endParaRPr lang="en-US" sz="1350" dirty="0"/>
          </a:p>
        </p:txBody>
      </p:sp>
      <p:sp>
        <p:nvSpPr>
          <p:cNvPr id="30" name="Annane, Lancet 2007 (CATS) · Levy, JACC 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Annane, Lancet 2007 (CATS) · Levy, JACC 2018 (OptimaCC) · ANZCA/ANZAAG 2022 · SSC 2026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PAM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DROGAS ·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Dopamina: efeito dose-dependente e mais arritmia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229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1686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976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84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928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8" name="EFEITO HEMODINÂMICO"/>
          <p:cNvSpPr txBox="1"/>
          <p:nvPr/>
        </p:nvSpPr>
        <p:spPr>
          <a:xfrm>
            <a:off x="1066800" y="3894942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9" name="PAM ↑"/>
          <p:cNvSpPr txBox="1"/>
          <p:nvPr/>
        </p:nvSpPr>
        <p:spPr>
          <a:xfrm>
            <a:off x="10668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24130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FC ↑↑"/>
          <p:cNvSpPr txBox="1"/>
          <p:nvPr/>
        </p:nvSpPr>
        <p:spPr>
          <a:xfrm>
            <a:off x="10668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22" name="RVS ↔/↑"/>
          <p:cNvSpPr txBox="1"/>
          <p:nvPr/>
        </p:nvSpPr>
        <p:spPr>
          <a:xfrm>
            <a:off x="24130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3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Borda de destaque"/>
          <p:cNvSpPr/>
          <p:nvPr/>
        </p:nvSpPr>
        <p:spPr>
          <a:xfrm>
            <a:off x="40745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5" name="Dose e uso"/>
          <p:cNvSpPr txBox="1"/>
          <p:nvPr/>
        </p:nvSpPr>
        <p:spPr>
          <a:xfrm>
            <a:off x="43243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6" name="Faixa de 2 a 20 mcg/kg/min. Até ~3: D1 ("/>
          <p:cNvSpPr txBox="1"/>
          <p:nvPr/>
        </p:nvSpPr>
        <p:spPr>
          <a:xfrm>
            <a:off x="4324350" y="2517088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 de 2 a 20 mcg/kg/min. Até ~3: D1 (vasodilatação renal e mesentérica). De 3 a 10: β1, em parte por liberação de noradrenalina. Acima de 10: α1. Os limiares variam muito entre pacientes.</a:t>
            </a:r>
            <a:endParaRPr lang="en-US" sz="1350" dirty="0"/>
          </a:p>
        </p:txBody>
      </p:sp>
      <p:sp>
        <p:nvSpPr>
          <p:cNvPr id="27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8" name="Borda de destaque"/>
          <p:cNvSpPr/>
          <p:nvPr/>
        </p:nvSpPr>
        <p:spPr>
          <a:xfrm>
            <a:off x="78337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9" name="Evidência e cuidados"/>
          <p:cNvSpPr txBox="1"/>
          <p:nvPr/>
        </p:nvSpPr>
        <p:spPr>
          <a:xfrm>
            <a:off x="80835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30" name="Dose renal não protege o rim (ANZICS, La"/>
          <p:cNvSpPr txBox="1"/>
          <p:nvPr/>
        </p:nvSpPr>
        <p:spPr>
          <a:xfrm>
            <a:off x="8083550" y="2517088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renal não protege o rim (ANZICS, Lancet 2000). SOAP II: arritmias 24,1% vs. 12,4% e maior mortalidade no subgrupo cardiogênico. SSC 2026: recomendação forte contra como primeira linha (certeza alta).</a:t>
            </a:r>
            <a:endParaRPr lang="en-US" sz="1350" dirty="0"/>
          </a:p>
        </p:txBody>
      </p:sp>
      <p:sp>
        <p:nvSpPr>
          <p:cNvPr id="31" name="Bellomo, Lancet 2000 · De Backer, N Engl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Bellomo, Lancet 2000 · De Backer, N Engl J Med 2010 (SOAP II) · SSC 2026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DROGAS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Dobutamina: inotrópico que pode baixar a PAM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229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1686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976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84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928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942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DC ↑↑"/>
          <p:cNvSpPr txBox="1"/>
          <p:nvPr/>
        </p:nvSpPr>
        <p:spPr>
          <a:xfrm>
            <a:off x="10668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RVS ↓"/>
          <p:cNvSpPr txBox="1"/>
          <p:nvPr/>
        </p:nvSpPr>
        <p:spPr>
          <a:xfrm>
            <a:off x="10668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↓</a:t>
            </a:r>
            <a:endParaRPr lang="en-US" sz="1400" dirty="0"/>
          </a:p>
        </p:txBody>
      </p:sp>
      <p:sp>
        <p:nvSpPr>
          <p:cNvPr id="21" name="PAM ↔/↓"/>
          <p:cNvSpPr txBox="1"/>
          <p:nvPr/>
        </p:nvSpPr>
        <p:spPr>
          <a:xfrm>
            <a:off x="24130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Borda de destaque"/>
          <p:cNvSpPr/>
          <p:nvPr/>
        </p:nvSpPr>
        <p:spPr>
          <a:xfrm>
            <a:off x="40745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4" name="Dose e uso"/>
          <p:cNvSpPr txBox="1"/>
          <p:nvPr/>
        </p:nvSpPr>
        <p:spPr>
          <a:xfrm>
            <a:off x="43243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Infusão de 2,5 a 20 mcg/kg/min. Mistura "/>
          <p:cNvSpPr txBox="1"/>
          <p:nvPr/>
        </p:nvSpPr>
        <p:spPr>
          <a:xfrm>
            <a:off x="43243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Infusão de 2,5 a 20 mcg/kg/min. Mistura racêmica cujos efeitos α1 se anulam: efeito líquido β1, com vasodilatação β2. SSC 2026: com disfunção cardíaca e hipoperfusão persistente, associar à NA ou usar adrenalina isolada.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Borda de destaque"/>
          <p:cNvSpPr/>
          <p:nvPr/>
        </p:nvSpPr>
        <p:spPr>
          <a:xfrm>
            <a:off x="78337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8" name="Evidência e cuidados"/>
          <p:cNvSpPr txBox="1"/>
          <p:nvPr/>
        </p:nvSpPr>
        <p:spPr>
          <a:xfrm>
            <a:off x="80835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9" name="Taquicardia, arritmia e maior consumo de"/>
          <p:cNvSpPr txBox="1"/>
          <p:nvPr/>
        </p:nvSpPr>
        <p:spPr>
          <a:xfrm>
            <a:off x="80835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Taquicardia, arritmia e maior consumo de O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baseline="-400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miocárdico; tolerância após uso prolongado. Hipotensão se hipovolêmico ou vasoplégico. DOREMI (choque cardiogênico): desfecho composto semelhante à milrinona (54% vs. 49%, NS).</a:t>
            </a:r>
            <a:endParaRPr lang="en-US" sz="1350" dirty="0"/>
          </a:p>
        </p:txBody>
      </p:sp>
      <p:sp>
        <p:nvSpPr>
          <p:cNvPr id="30" name="Mathew, N Engl J Med 2021 (DOREMI) · SSC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Mathew, N Engl J Med 2021 (DOREMI) · SSC 2026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DROGAS · FENILEFRINA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Fenilefrina: α1 puro e bradicardia reflexa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229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1686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976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β2"/>
          <p:cNvSpPr txBox="1"/>
          <p:nvPr/>
        </p:nvSpPr>
        <p:spPr>
          <a:xfrm>
            <a:off x="1066800" y="317784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066800" y="3535928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EFEITO HEMODINÂMICO"/>
          <p:cNvSpPr txBox="1"/>
          <p:nvPr/>
        </p:nvSpPr>
        <p:spPr>
          <a:xfrm>
            <a:off x="1066800" y="3894942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6" name="PAM ↑"/>
          <p:cNvSpPr txBox="1"/>
          <p:nvPr/>
        </p:nvSpPr>
        <p:spPr>
          <a:xfrm>
            <a:off x="10668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17" name="RVS ↑↑"/>
          <p:cNvSpPr txBox="1"/>
          <p:nvPr/>
        </p:nvSpPr>
        <p:spPr>
          <a:xfrm>
            <a:off x="24130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FC ↓"/>
          <p:cNvSpPr txBox="1"/>
          <p:nvPr/>
        </p:nvSpPr>
        <p:spPr>
          <a:xfrm>
            <a:off x="10668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↓</a:t>
            </a:r>
            <a:endParaRPr lang="en-US" sz="1400" dirty="0"/>
          </a:p>
        </p:txBody>
      </p:sp>
      <p:sp>
        <p:nvSpPr>
          <p:cNvPr id="19" name="DC ↔/↓"/>
          <p:cNvSpPr txBox="1"/>
          <p:nvPr/>
        </p:nvSpPr>
        <p:spPr>
          <a:xfrm>
            <a:off x="24130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1" name="Borda de destaque"/>
          <p:cNvSpPr/>
          <p:nvPr/>
        </p:nvSpPr>
        <p:spPr>
          <a:xfrm>
            <a:off x="40745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2" name="Dose e uso"/>
          <p:cNvSpPr txBox="1"/>
          <p:nvPr/>
        </p:nvSpPr>
        <p:spPr>
          <a:xfrm>
            <a:off x="43243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3" name="Bolus de 50–100 mcg, início imediato e e"/>
          <p:cNvSpPr txBox="1"/>
          <p:nvPr/>
        </p:nvSpPr>
        <p:spPr>
          <a:xfrm>
            <a:off x="43243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Bolus de 50–100 mcg, início imediato e efeito curto. Na cesárea sob raqui, infusão profilática de 25–50 mcg/min, mantendo a PAS ≥90% da basal. Útil na vasodilatação com FC normal ou alta, estenose aórtica e obstrução dinâmica da via de saída do VE.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Borda de destaque"/>
          <p:cNvSpPr/>
          <p:nvPr/>
        </p:nvSpPr>
        <p:spPr>
          <a:xfrm>
            <a:off x="78337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6" name="Evidência e cuidados"/>
          <p:cNvSpPr txBox="1"/>
          <p:nvPr/>
        </p:nvSpPr>
        <p:spPr>
          <a:xfrm>
            <a:off x="80835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O barorreflexo reduz a FC e pode reduzir"/>
          <p:cNvSpPr txBox="1"/>
          <p:nvPr/>
        </p:nvSpPr>
        <p:spPr>
          <a:xfrm>
            <a:off x="80835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barorreflexo reduz a FC e pode reduzir o DC, sobretudo com disfunção de VE. Na cesárea, NA 6 mcg em bolus causou menos bradicardia que fenilefrina 100 mcg (10,7% vs. 37,5%). No choque séptico, sem evidência para uso como primeira linha.</a:t>
            </a:r>
            <a:endParaRPr lang="en-US" sz="1350" dirty="0"/>
          </a:p>
        </p:txBody>
      </p:sp>
      <p:sp>
        <p:nvSpPr>
          <p:cNvPr id="28" name="Kinsella, Anaesthesia 2018 · Park &amp; Choi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Kinsella, Anaesthesia 2018 · Park &amp; Choi, Anesth Pain Med 2024 (Sharkey et al.)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EFEDR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DROGAS ·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Efedrina: ação mista e taquifilaxia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229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1686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976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84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928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942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"/>
          <p:cNvSpPr txBox="1"/>
          <p:nvPr/>
        </p:nvSpPr>
        <p:spPr>
          <a:xfrm>
            <a:off x="10668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10668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RVS ↔/↑"/>
          <p:cNvSpPr txBox="1"/>
          <p:nvPr/>
        </p:nvSpPr>
        <p:spPr>
          <a:xfrm>
            <a:off x="24130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Borda de destaque"/>
          <p:cNvSpPr/>
          <p:nvPr/>
        </p:nvSpPr>
        <p:spPr>
          <a:xfrm>
            <a:off x="40745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4" name="Dose e uso"/>
          <p:cNvSpPr txBox="1"/>
          <p:nvPr/>
        </p:nvSpPr>
        <p:spPr>
          <a:xfrm>
            <a:off x="43243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Bolus de 5–10 mg EV, repetível. Agonista"/>
          <p:cNvSpPr txBox="1"/>
          <p:nvPr/>
        </p:nvSpPr>
        <p:spPr>
          <a:xfrm>
            <a:off x="4324350" y="2517088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Bolus de 5–10 mg EV, repetível. Agonista direto α e β e indireto, liberando noradrenalina das terminações. Sem catecol, resiste a MAO e COMT e dura mais que as catecolaminas. Boa opção na hipotensão com bradicardia após indução ou raqui.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Borda de destaque"/>
          <p:cNvSpPr/>
          <p:nvPr/>
        </p:nvSpPr>
        <p:spPr>
          <a:xfrm>
            <a:off x="78337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8" name="Evidência e cuidados"/>
          <p:cNvSpPr txBox="1"/>
          <p:nvPr/>
        </p:nvSpPr>
        <p:spPr>
          <a:xfrm>
            <a:off x="80835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9" name="Taquifilaxia por depleção dos estoques d"/>
          <p:cNvSpPr txBox="1"/>
          <p:nvPr/>
        </p:nvSpPr>
        <p:spPr>
          <a:xfrm>
            <a:off x="80835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Taquifilaxia por depleção dos estoques de noradrenalina: doses repetidas perdem efeito. Interação grave com IMAO. Na cesárea, atravessa a placenta e se associa a mais acidose fetal que a fenilefrina; fica como resgate.</a:t>
            </a:r>
            <a:endParaRPr lang="en-US" sz="1350" dirty="0"/>
          </a:p>
        </p:txBody>
      </p:sp>
      <p:sp>
        <p:nvSpPr>
          <p:cNvPr id="30" name="Kinsella, Anaesthesia 2018 · Park &amp; Choi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Kinsella, Anaesthesia 2018 · Park &amp; Choi, Anesth Pain Med 2024 · Miller’s Anesthesia, 10ª ed. · [cap./pág.]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SÍNTESE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SÍNTESE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Síntese: as drogas lado a lado</a:t>
            </a:r>
            <a:endParaRPr lang="en-US" sz="3200" dirty="0"/>
          </a:p>
        </p:txBody>
      </p:sp>
      <p:graphicFrame>
        <p:nvGraphicFramePr>
          <p:cNvPr id="1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845245"/>
                <a:gridCol w="845245"/>
                <a:gridCol w="845245"/>
                <a:gridCol w="845245"/>
                <a:gridCol w="2324596"/>
                <a:gridCol w="3064570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Papel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1ª linha no choque vasoplégico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0,01–0,1 mcg/kg/min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Refratário; anafilaxia; PCR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Afinidade relativa (0 a ++++) · faixas u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Afinidade relativa (0 a ++++) · faixas usuais, titular pelo efeito · Overgaard &amp; Džavík, Circulation 2008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Vasopressina: adjuvante que poupa catecolamina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52911"/>
          </a:xfrm>
          <a:prstGeom prst="roundRect">
            <a:avLst>
              <a:gd name="adj" fmla="val 287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Borda de destaque"/>
          <p:cNvSpPr/>
          <p:nvPr/>
        </p:nvSpPr>
        <p:spPr>
          <a:xfrm>
            <a:off x="823379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6" name="Mecanismo"/>
          <p:cNvSpPr txBox="1"/>
          <p:nvPr/>
        </p:nvSpPr>
        <p:spPr>
          <a:xfrm>
            <a:off x="1073150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7" name="Hormônio não adrenérgico: receptor V1 no"/>
          <p:cNvSpPr txBox="1"/>
          <p:nvPr/>
        </p:nvSpPr>
        <p:spPr>
          <a:xfrm>
            <a:off x="1073150" y="2517088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Hormônio não adrenérgico: receptor V1 no músculo liso vascular. Mantém efeito em acidose e com adrenoceptores dessensibilizados. No choque séptico há deficiência relativa de vasopressina endógena.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402634" y="1879501"/>
            <a:ext cx="3386634" cy="2652911"/>
          </a:xfrm>
          <a:prstGeom prst="roundRect">
            <a:avLst>
              <a:gd name="adj" fmla="val 287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Borda de destaque"/>
          <p:cNvSpPr/>
          <p:nvPr/>
        </p:nvSpPr>
        <p:spPr>
          <a:xfrm>
            <a:off x="4413212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10" name="Uso"/>
          <p:cNvSpPr txBox="1"/>
          <p:nvPr/>
        </p:nvSpPr>
        <p:spPr>
          <a:xfrm>
            <a:off x="4662984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</a:t>
            </a:r>
            <a:endParaRPr lang="en-US" sz="1700" dirty="0"/>
          </a:p>
        </p:txBody>
      </p:sp>
      <p:sp>
        <p:nvSpPr>
          <p:cNvPr id="11" name="Dose fixa de 0,03 U/min (até 0,04), sem "/>
          <p:cNvSpPr txBox="1"/>
          <p:nvPr/>
        </p:nvSpPr>
        <p:spPr>
          <a:xfrm>
            <a:off x="4662984" y="2517088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fixa de 0,03 U/min (até 0,04), sem titulação como a NA. SSC 2026: associar quando a NA está em escalada (condicional, certeza moderada); entre os painelistas, o início típico foi com NA ~0,3 mcg/kg/min.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7992467" y="1879501"/>
            <a:ext cx="3386634" cy="2652911"/>
          </a:xfrm>
          <a:prstGeom prst="roundRect">
            <a:avLst>
              <a:gd name="adj" fmla="val 287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Borda de destaque"/>
          <p:cNvSpPr/>
          <p:nvPr/>
        </p:nvSpPr>
        <p:spPr>
          <a:xfrm>
            <a:off x="8003046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56606B"/>
          </a:solidFill>
          <a:ln/>
        </p:spPr>
      </p:sp>
      <p:sp>
        <p:nvSpPr>
          <p:cNvPr id="14" name="Evidência"/>
          <p:cNvSpPr txBox="1"/>
          <p:nvPr/>
        </p:nvSpPr>
        <p:spPr>
          <a:xfrm>
            <a:off x="8252817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5" name="VASST: sem redução de mortalidade em 28 "/>
          <p:cNvSpPr txBox="1"/>
          <p:nvPr/>
        </p:nvSpPr>
        <p:spPr>
          <a:xfrm>
            <a:off x="8252817" y="2517088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VASST: sem redução de mortalidade em 28 dias (35,4% vs. 39,3%). VASSPR (JAMA, out/2026; n = 3.959): iniciar com NA-equivalente de 0,1 vs. 0,4 mcg/kg/min não mudou a mortalidade (31,8% vs. 33,0%).</a:t>
            </a:r>
            <a:endParaRPr lang="en-US" sz="1350" dirty="0"/>
          </a:p>
        </p:txBody>
      </p:sp>
      <p:sp>
        <p:nvSpPr>
          <p:cNvPr id="16" name="Russell, N Engl J Med 2008 (VASST) · Pel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adjuvantes além das aminas</a:t>
            </a:r>
            <a:endParaRPr lang="en-US" sz="3200" dirty="0"/>
          </a:p>
        </p:txBody>
      </p:sp>
      <p:graphicFrame>
        <p:nvGraphicFramePr>
          <p:cNvPr id="1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2747169"/>
                <a:gridCol w="3592513"/>
                <a:gridCol w="23247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Evidência-chave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076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ADRENAL: choque resolve mais rápido. APROCCHSS: ↓ mortalidade com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Sugere usar (condicional,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ATHOS-3: resposta da PAM em 3 h 69,9% vs. 23,4%;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preferida como 1ª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Inibe a via NO–GMPc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ECRs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Milrinona, levosimendan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Inodilatadores não adrenérgicos (PDE3; sensibilização ao 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2+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DOREMI: milrinona semelhante à dobutamina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 levosimendan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nkatesh, NEJM 2018 · Annane, NEJM 2018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Venkatesh, NEJM 2018 · Annane, NEJM 2018 · Khanna, NEJM 2017 · Mathew, NEJM 2021 · SSC 2026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SSC 2026: a sequência de vasopressores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1499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3735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 (forte); iniciar cedo, até por "/>
          <p:cNvSpPr txBox="1"/>
          <p:nvPr/>
        </p:nvSpPr>
        <p:spPr>
          <a:xfrm>
            <a:off x="1016000" y="2659727"/>
            <a:ext cx="2694484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1ª linha (forte); iniciar cedo, até por veia periférica.</a:t>
            </a:r>
            <a:endParaRPr lang="en-US" sz="1300" dirty="0"/>
          </a:p>
        </p:txBody>
      </p:sp>
      <p:sp>
        <p:nvSpPr>
          <p:cNvPr id="8" name="Seta"/>
          <p:cNvSpPr/>
          <p:nvPr/>
        </p:nvSpPr>
        <p:spPr>
          <a:xfrm>
            <a:off x="4021634" y="2494062"/>
            <a:ext cx="406400" cy="228600"/>
          </a:xfrm>
          <a:prstGeom prst="rightArrow">
            <a:avLst/>
          </a:prstGeom>
          <a:solidFill>
            <a:srgbClr val="B9581A"/>
          </a:solidFill>
          <a:ln/>
        </p:spPr>
      </p:sp>
      <p:sp>
        <p:nvSpPr>
          <p:cNvPr id="9" name="Cartão"/>
          <p:cNvSpPr/>
          <p:nvPr/>
        </p:nvSpPr>
        <p:spPr>
          <a:xfrm>
            <a:off x="4555034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58234" y="2071499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58234" y="2343735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NA em escalada (condicional, certeza mod"/>
          <p:cNvSpPr txBox="1"/>
          <p:nvPr/>
        </p:nvSpPr>
        <p:spPr>
          <a:xfrm>
            <a:off x="4758234" y="2659727"/>
            <a:ext cx="2694484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em escalada (condicional, certeza moderada).</a:t>
            </a:r>
            <a:endParaRPr lang="en-US" sz="1300" dirty="0"/>
          </a:p>
        </p:txBody>
      </p:sp>
      <p:sp>
        <p:nvSpPr>
          <p:cNvPr id="13" name="Seta"/>
          <p:cNvSpPr/>
          <p:nvPr/>
        </p:nvSpPr>
        <p:spPr>
          <a:xfrm>
            <a:off x="7763867" y="2494062"/>
            <a:ext cx="406400" cy="228600"/>
          </a:xfrm>
          <a:prstGeom prst="rightArrow">
            <a:avLst/>
          </a:prstGeom>
          <a:solidFill>
            <a:srgbClr val="B9581A"/>
          </a:solidFill>
          <a:ln/>
        </p:spPr>
      </p:sp>
      <p:sp>
        <p:nvSpPr>
          <p:cNvPr id="14" name="Cartão"/>
          <p:cNvSpPr/>
          <p:nvPr/>
        </p:nvSpPr>
        <p:spPr>
          <a:xfrm>
            <a:off x="8297267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500467" y="2071499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500467" y="2343735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PAM ainda inadequada (condicional, muito"/>
          <p:cNvSpPr txBox="1"/>
          <p:nvPr/>
        </p:nvSpPr>
        <p:spPr>
          <a:xfrm>
            <a:off x="8500467" y="2659727"/>
            <a:ext cx="2694484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 ainda inadequada (condicional, muito baixa).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907282"/>
          </a:xfrm>
          <a:prstGeom prst="roundRect">
            <a:avLst>
              <a:gd name="adj" fmla="val 39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Borda de destaque"/>
          <p:cNvSpPr/>
          <p:nvPr/>
        </p:nvSpPr>
        <p:spPr>
          <a:xfrm>
            <a:off x="823379" y="3540423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0" name="Disfunção cardíaca"/>
          <p:cNvSpPr txBox="1"/>
          <p:nvPr/>
        </p:nvSpPr>
        <p:spPr>
          <a:xfrm>
            <a:off x="1073150" y="3829608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1" name="Hipoperfusão apesar de volume e PAM adeq"/>
          <p:cNvSpPr txBox="1"/>
          <p:nvPr/>
        </p:nvSpPr>
        <p:spPr>
          <a:xfrm>
            <a:off x="1073150" y="4178009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Hipoperfusão apesar de volume e PAM adequados: dobutamina + NA, ou adrenalina isolada. Na escolha inicial, NA se taquiarritmia, adrenalina se bradiarritmia. Levosimendan: contra.</a:t>
            </a:r>
            <a:endParaRPr lang="en-US" sz="1350" dirty="0"/>
          </a:p>
        </p:txBody>
      </p:sp>
      <p:sp>
        <p:nvSpPr>
          <p:cNvPr id="22" name="Cartão"/>
          <p:cNvSpPr/>
          <p:nvPr/>
        </p:nvSpPr>
        <p:spPr>
          <a:xfrm>
            <a:off x="6197600" y="3540423"/>
            <a:ext cx="5181600" cy="1907282"/>
          </a:xfrm>
          <a:prstGeom prst="roundRect">
            <a:avLst>
              <a:gd name="adj" fmla="val 39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Borda de destaque"/>
          <p:cNvSpPr/>
          <p:nvPr/>
        </p:nvSpPr>
        <p:spPr>
          <a:xfrm>
            <a:off x="6208179" y="3540423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56606B"/>
          </a:solidFill>
          <a:ln/>
        </p:spPr>
      </p:sp>
      <p:sp>
        <p:nvSpPr>
          <p:cNvPr id="24" name="Adjuvantes e o que evitar"/>
          <p:cNvSpPr txBox="1"/>
          <p:nvPr/>
        </p:nvSpPr>
        <p:spPr>
          <a:xfrm>
            <a:off x="6457950" y="3829608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25" name="Hidrocortisona EV sugerida (condicional,"/>
          <p:cNvSpPr txBox="1"/>
          <p:nvPr/>
        </p:nvSpPr>
        <p:spPr>
          <a:xfrm>
            <a:off x="6457950" y="4178009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Hidrocortisona EV sugerida (condicional, baixa). Dopamina como primeira linha: contra (forte). Terlipressina: contra. Azul de metileno: evidência insuficiente.</a:t>
            </a:r>
            <a:endParaRPr lang="en-US" sz="1350" dirty="0"/>
          </a:p>
        </p:txBody>
      </p:sp>
      <p:sp>
        <p:nvSpPr>
          <p:cNvPr id="26" name="Prescott, Antonelli et al., Crit Care Me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Prescott, Antonelli et al., Crit Care Med 2026;54(4):725–812 (Surviving Sepsis Campaign 2026)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PAM: começar em 65 mmHg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468092"/>
          </a:xfrm>
          <a:prstGeom prst="roundRect">
            <a:avLst>
              <a:gd name="adj" fmla="val 2197"/>
            </a:avLst>
          </a:prstGeom>
          <a:solidFill>
            <a:srgbClr val="1B2A3A"/>
          </a:solidFill>
          <a:ln/>
        </p:spPr>
      </p:sp>
      <p:sp>
        <p:nvSpPr>
          <p:cNvPr id="5" name="SSC 2026"/>
          <p:cNvSpPr txBox="1"/>
          <p:nvPr/>
        </p:nvSpPr>
        <p:spPr>
          <a:xfrm>
            <a:off x="1117600" y="2171232"/>
            <a:ext cx="296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SSC 2026</a:t>
            </a:r>
            <a:endParaRPr lang="en-US" sz="1400" dirty="0"/>
          </a:p>
        </p:txBody>
      </p:sp>
      <p:sp>
        <p:nvSpPr>
          <p:cNvPr id="6" name="65"/>
          <p:cNvSpPr txBox="1"/>
          <p:nvPr/>
        </p:nvSpPr>
        <p:spPr>
          <a:xfrm>
            <a:off x="1117600" y="2635325"/>
            <a:ext cx="296545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pt-BR" altLang="en-US" sz="80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</a:t>
            </a:r>
            <a:endParaRPr lang="en-US" sz="8000" dirty="0"/>
          </a:p>
        </p:txBody>
      </p:sp>
      <p:sp>
        <p:nvSpPr>
          <p:cNvPr id="7" name="mmHg como alvo inicial no choque séptico"/>
          <p:cNvSpPr txBox="1"/>
          <p:nvPr/>
        </p:nvSpPr>
        <p:spPr>
          <a:xfrm>
            <a:off x="1117600" y="3738206"/>
            <a:ext cx="2965450" cy="1288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pt-BR" altLang="en-US" sz="1400" dirty="0">
                <a:solidFill>
                  <a:srgbClr val="DFE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mmHg como alvo inicial no choque séptico (forte, certeza moderada), titulando dentro de ~5 mmHg. Em ≥65 anos: 60–65 mmHg (condicional, baixa).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Borda de destaque"/>
          <p:cNvSpPr/>
          <p:nvPr/>
        </p:nvSpPr>
        <p:spPr>
          <a:xfrm>
            <a:off x="4572000" y="1890079"/>
            <a:ext cx="38100" cy="1037904"/>
          </a:xfrm>
          <a:custGeom>
            <a:avLst/>
            <a:gdLst/>
            <a:ahLst/>
            <a:cxnLst/>
            <a:rect l="l" t="t" r="r" b="b"/>
            <a:pathLst>
              <a:path w="38100" h="1037904">
                <a:moveTo>
                  <a:pt x="38100" y="1037904"/>
                </a:moveTo>
                <a:lnTo>
                  <a:pt x="33866" y="1035640"/>
                </a:lnTo>
                <a:lnTo>
                  <a:pt x="22318" y="1026164"/>
                </a:lnTo>
                <a:lnTo>
                  <a:pt x="12842" y="1014617"/>
                </a:lnTo>
                <a:lnTo>
                  <a:pt x="5800" y="1001443"/>
                </a:lnTo>
                <a:lnTo>
                  <a:pt x="1464" y="987148"/>
                </a:lnTo>
                <a:lnTo>
                  <a:pt x="0" y="972282"/>
                </a:lnTo>
                <a:lnTo>
                  <a:pt x="0" y="65621"/>
                </a:lnTo>
                <a:lnTo>
                  <a:pt x="1464" y="50755"/>
                </a:lnTo>
                <a:lnTo>
                  <a:pt x="5800" y="36461"/>
                </a:lnTo>
                <a:lnTo>
                  <a:pt x="12842" y="23287"/>
                </a:lnTo>
                <a:lnTo>
                  <a:pt x="22318" y="11740"/>
                </a:lnTo>
                <a:lnTo>
                  <a:pt x="33866" y="2263"/>
                </a:lnTo>
                <a:lnTo>
                  <a:pt x="38100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10" name="65 trial · JAMA 2020"/>
          <p:cNvSpPr txBox="1"/>
          <p:nvPr/>
        </p:nvSpPr>
        <p:spPr>
          <a:xfrm>
            <a:off x="4813300" y="2035679"/>
            <a:ext cx="6375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trial · JAMA 2020</a:t>
            </a:r>
            <a:endParaRPr lang="en-US" sz="1500" dirty="0"/>
          </a:p>
        </p:txBody>
      </p:sp>
      <p:sp>
        <p:nvSpPr>
          <p:cNvPr id="11" name="≥65 anos, PAM 60–65 vs. cuidado usual: m"/>
          <p:cNvSpPr txBox="1"/>
          <p:nvPr/>
        </p:nvSpPr>
        <p:spPr>
          <a:xfrm>
            <a:off x="4813300" y="2305516"/>
            <a:ext cx="637540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≥65 anos, PAM 60–65 vs. cuidado usual: mortalidade em 90 dias 41,0% vs. 43,8% (NS), com menos noradrenalina e menor duração.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Borda de destaque"/>
          <p:cNvSpPr/>
          <p:nvPr/>
        </p:nvSpPr>
        <p:spPr>
          <a:xfrm>
            <a:off x="4572000" y="3050740"/>
            <a:ext cx="38100" cy="1037904"/>
          </a:xfrm>
          <a:custGeom>
            <a:avLst/>
            <a:gdLst/>
            <a:ahLst/>
            <a:cxnLst/>
            <a:rect l="l" t="t" r="r" b="b"/>
            <a:pathLst>
              <a:path w="38100" h="1037904">
                <a:moveTo>
                  <a:pt x="38100" y="1037904"/>
                </a:moveTo>
                <a:lnTo>
                  <a:pt x="33866" y="1035640"/>
                </a:lnTo>
                <a:lnTo>
                  <a:pt x="22318" y="1026164"/>
                </a:lnTo>
                <a:lnTo>
                  <a:pt x="12842" y="1014617"/>
                </a:lnTo>
                <a:lnTo>
                  <a:pt x="5800" y="1001443"/>
                </a:lnTo>
                <a:lnTo>
                  <a:pt x="1464" y="987148"/>
                </a:lnTo>
                <a:lnTo>
                  <a:pt x="0" y="972282"/>
                </a:lnTo>
                <a:lnTo>
                  <a:pt x="0" y="65621"/>
                </a:lnTo>
                <a:lnTo>
                  <a:pt x="1464" y="50755"/>
                </a:lnTo>
                <a:lnTo>
                  <a:pt x="5800" y="36461"/>
                </a:lnTo>
                <a:lnTo>
                  <a:pt x="12842" y="23287"/>
                </a:lnTo>
                <a:lnTo>
                  <a:pt x="22318" y="11740"/>
                </a:lnTo>
                <a:lnTo>
                  <a:pt x="33866" y="2263"/>
                </a:lnTo>
                <a:lnTo>
                  <a:pt x="38100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14" name="OPTPRESS · 2025"/>
          <p:cNvSpPr txBox="1"/>
          <p:nvPr/>
        </p:nvSpPr>
        <p:spPr>
          <a:xfrm>
            <a:off x="4813300" y="3196340"/>
            <a:ext cx="6375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OPTPRESS · 2025</a:t>
            </a:r>
            <a:endParaRPr lang="en-US" sz="1500" dirty="0"/>
          </a:p>
        </p:txBody>
      </p:sp>
      <p:sp>
        <p:nvSpPr>
          <p:cNvPr id="15" name="≥65 anos com choque séptico, alvo 80–85 "/>
          <p:cNvSpPr txBox="1"/>
          <p:nvPr/>
        </p:nvSpPr>
        <p:spPr>
          <a:xfrm>
            <a:off x="4813300" y="3466177"/>
            <a:ext cx="637540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≥65 anos com choque séptico, alvo 80–85 vs. 65–70 mmHg: interrompido por dano (mortalidade em 90 dias 39,3% vs. 28,6%; n = 518).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Borda de destaque"/>
          <p:cNvSpPr/>
          <p:nvPr/>
        </p:nvSpPr>
        <p:spPr>
          <a:xfrm>
            <a:off x="4572000" y="4211401"/>
            <a:ext cx="38100" cy="1037904"/>
          </a:xfrm>
          <a:custGeom>
            <a:avLst/>
            <a:gdLst/>
            <a:ahLst/>
            <a:cxnLst/>
            <a:rect l="l" t="t" r="r" b="b"/>
            <a:pathLst>
              <a:path w="38100" h="1037904">
                <a:moveTo>
                  <a:pt x="38100" y="1037904"/>
                </a:moveTo>
                <a:lnTo>
                  <a:pt x="33866" y="1035640"/>
                </a:lnTo>
                <a:lnTo>
                  <a:pt x="22318" y="1026164"/>
                </a:lnTo>
                <a:lnTo>
                  <a:pt x="12842" y="1014617"/>
                </a:lnTo>
                <a:lnTo>
                  <a:pt x="5800" y="1001443"/>
                </a:lnTo>
                <a:lnTo>
                  <a:pt x="1464" y="987148"/>
                </a:lnTo>
                <a:lnTo>
                  <a:pt x="0" y="972282"/>
                </a:lnTo>
                <a:lnTo>
                  <a:pt x="0" y="65621"/>
                </a:lnTo>
                <a:lnTo>
                  <a:pt x="1464" y="50755"/>
                </a:lnTo>
                <a:lnTo>
                  <a:pt x="5800" y="36461"/>
                </a:lnTo>
                <a:lnTo>
                  <a:pt x="12842" y="23287"/>
                </a:lnTo>
                <a:lnTo>
                  <a:pt x="22318" y="11740"/>
                </a:lnTo>
                <a:lnTo>
                  <a:pt x="33866" y="2263"/>
                </a:lnTo>
                <a:lnTo>
                  <a:pt x="38100" y="0"/>
                </a:lnTo>
                <a:close/>
              </a:path>
            </a:pathLst>
          </a:custGeom>
          <a:solidFill>
            <a:srgbClr val="56606B"/>
          </a:solidFill>
          <a:ln/>
        </p:spPr>
      </p:sp>
      <p:sp>
        <p:nvSpPr>
          <p:cNvPr id="18" name="ESICM 2025"/>
          <p:cNvSpPr txBox="1"/>
          <p:nvPr/>
        </p:nvSpPr>
        <p:spPr>
          <a:xfrm>
            <a:off x="4813300" y="4357001"/>
            <a:ext cx="6375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ESICM 2025</a:t>
            </a:r>
            <a:endParaRPr lang="en-US" sz="1500" dirty="0"/>
          </a:p>
        </p:txBody>
      </p:sp>
      <p:sp>
        <p:nvSpPr>
          <p:cNvPr id="19" name="Individualizar: considerar alvo maior em"/>
          <p:cNvSpPr txBox="1"/>
          <p:nvPr/>
        </p:nvSpPr>
        <p:spPr>
          <a:xfrm>
            <a:off x="4813300" y="4626838"/>
            <a:ext cx="637540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Individualizar: considerar alvo maior em hipertensão crônica ou PVC alta, se houver melhora clínica com PA mais alta.</a:t>
            </a:r>
            <a:endParaRPr lang="en-US" sz="1300" dirty="0"/>
          </a:p>
        </p:txBody>
      </p:sp>
      <p:sp>
        <p:nvSpPr>
          <p:cNvPr id="20" name="Lamontagne, JAMA 2020 · Endo, Intensive 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Lamontagne, JAMA 2020 · Endo, Intensive Care Med 2025 (OPTPRESS) · Monnet, Intensive Care Med 2025 (ESICM) · SSC 2026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Timing e via: começar cedo, mesmo periférico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52911"/>
          </a:xfrm>
          <a:prstGeom prst="roundRect">
            <a:avLst>
              <a:gd name="adj" fmla="val 287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Borda de destaque"/>
          <p:cNvSpPr/>
          <p:nvPr/>
        </p:nvSpPr>
        <p:spPr>
          <a:xfrm>
            <a:off x="823379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6" name="Precoce"/>
          <p:cNvSpPr txBox="1"/>
          <p:nvPr/>
        </p:nvSpPr>
        <p:spPr>
          <a:xfrm>
            <a:off x="1073150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Precoce</a:t>
            </a:r>
            <a:endParaRPr lang="en-US" sz="1700" dirty="0"/>
          </a:p>
        </p:txBody>
      </p:sp>
      <p:sp>
        <p:nvSpPr>
          <p:cNvPr id="7" name="CENSER: NA 0,05 mcg/kg/min desde a admis"/>
          <p:cNvSpPr txBox="1"/>
          <p:nvPr/>
        </p:nvSpPr>
        <p:spPr>
          <a:xfrm>
            <a:off x="1073150" y="2517088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CENSER: NA 0,05 mcg/kg/min desde a admissão elevou o controle do choque em 6 h (76,1% vs. 48,4%), com menos edema pulmonar (14,4% vs. 27,7%) e arritmia. Mortalidade sem diferença.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402634" y="1879501"/>
            <a:ext cx="3386634" cy="2652911"/>
          </a:xfrm>
          <a:prstGeom prst="roundRect">
            <a:avLst>
              <a:gd name="adj" fmla="val 287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Borda de destaque"/>
          <p:cNvSpPr/>
          <p:nvPr/>
        </p:nvSpPr>
        <p:spPr>
          <a:xfrm>
            <a:off x="4413212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10" name="Periférico"/>
          <p:cNvSpPr txBox="1"/>
          <p:nvPr/>
        </p:nvSpPr>
        <p:spPr>
          <a:xfrm>
            <a:off x="4662984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Periférico</a:t>
            </a:r>
            <a:endParaRPr lang="en-US" sz="1700" dirty="0"/>
          </a:p>
        </p:txBody>
      </p:sp>
      <p:sp>
        <p:nvSpPr>
          <p:cNvPr id="11" name="Metanálise de Tran (n = 1.835): 7% de co"/>
          <p:cNvSpPr txBox="1"/>
          <p:nvPr/>
        </p:nvSpPr>
        <p:spPr>
          <a:xfrm>
            <a:off x="4662984" y="2517088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Metanálise de Tran (n = 1.835): 7% de complicações, 96% delas leves. SSC 2026: iniciar o vasopressor em veia periférica em vez de esperar o acesso central (condicional, certeza muito baixa).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7992467" y="1879501"/>
            <a:ext cx="3386634" cy="2652911"/>
          </a:xfrm>
          <a:prstGeom prst="roundRect">
            <a:avLst>
              <a:gd name="adj" fmla="val 287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Borda de destaque"/>
          <p:cNvSpPr/>
          <p:nvPr/>
        </p:nvSpPr>
        <p:spPr>
          <a:xfrm>
            <a:off x="8003046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56606B"/>
          </a:solidFill>
          <a:ln/>
        </p:spPr>
      </p:sp>
      <p:sp>
        <p:nvSpPr>
          <p:cNvPr id="14" name="Prescrição"/>
          <p:cNvSpPr txBox="1"/>
          <p:nvPr/>
        </p:nvSpPr>
        <p:spPr>
          <a:xfrm>
            <a:off x="8252817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5" name="No Brasil, a ampola de hemitartarato 2 m"/>
          <p:cNvSpPr txBox="1"/>
          <p:nvPr/>
        </p:nvSpPr>
        <p:spPr>
          <a:xfrm>
            <a:off x="8252817" y="2517088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Brasil, a ampola de hemitartarato 2 mg/mL equivale a 1 mg/mL de noradrenalina base. A mesma infusão expressa em sal tem o dobro do valor em base: especificar a forma na prescrição e ao comparar com estudos.</a:t>
            </a:r>
            <a:endParaRPr lang="en-US" sz="1350" dirty="0"/>
          </a:p>
        </p:txBody>
      </p:sp>
      <p:sp>
        <p:nvSpPr>
          <p:cNvPr id="16" name="Permpikul, AJRCCM 2019 · Tran, Am J Emer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Permpikul, AJRCCM 2019 · Tran, Am J Emerg Med 2020 · Ibarra-Estrada, ICM 2024 · InCor/HC-FMUSP 2020 · SSC 2026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Intraoperatório: a droga segue o mecanismo</a:t>
            </a:r>
            <a:endParaRPr lang="en-US" sz="3200" dirty="0"/>
          </a:p>
        </p:txBody>
      </p:sp>
      <p:graphicFrame>
        <p:nvGraphicFramePr>
          <p:cNvPr id="20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381177"/>
                <a:gridCol w="4015184"/>
                <a:gridCol w="317003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Cenário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Primeira escolha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Racional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076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Vasodilatação após indução, FC normal ou alta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Fenilefrina 50–100 mcg ou NA 5–10 mcg em bolus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Corrige o tônus sem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Efedrina 5–10 mg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Soma efeito β1 e cronotrópico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Vasoplegia persistente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em infusão, inclusive periférica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Titulável; evita bolus repetidos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Raquianestesia na cesárea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Fenilefrina profilática 25–50 mcg/min; NA como alternativa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Manter PAS ≥90% da basal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Adrenalina EV: 10–20 mcg (grau 2), 50–100 mcg (grau 3)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α1, β1 e β2; estabiliza mastócitos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Kinsella, Anaesthesia 2018 · ANZCA/ANZAA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Kinsella, Anaesthesia 2018 · ANZCA/ANZAAG 2022 · Miller’s Anesthesia, 10ª ed. · [cap./pág.]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intraoperatório: PAM ≥65 como piso</a:t>
            </a:r>
            <a:endParaRPr lang="en-US" sz="3200" dirty="0"/>
          </a:p>
        </p:txBody>
      </p:sp>
      <p:graphicFrame>
        <p:nvGraphicFramePr>
          <p:cNvPr id="21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2113260"/>
                <a:gridCol w="2747169"/>
                <a:gridCol w="2535932"/>
                <a:gridCol w="317003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076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PAM ≥80 vs. ≥60, com manejo de anti-hipertensivos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Eventos vasculares em 30 dias: 13,9% vs. 14,0%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Morte ou disfunção orgânica: 38,1% vs. 48,9% (RR 0,78), sobretudo LRA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AM abaixo de 65 é o que se deve evitar."/>
          <p:cNvSpPr txBox="1"/>
          <p:nvPr/>
        </p:nvSpPr>
        <p:spPr>
          <a:xfrm>
            <a:off x="812800" y="4394725"/>
            <a:ext cx="1058545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 abaixo de 65 é o que se deve evitar. Alvo mais alto pode beneficiar hipertensos de alto risco com monitorização contínua, mas os ECRs divergem.</a:t>
            </a:r>
            <a:endParaRPr lang="en-US" sz="1400" dirty="0"/>
          </a:p>
        </p:txBody>
      </p:sp>
      <p:sp>
        <p:nvSpPr>
          <p:cNvPr id="6" name="Marcucci, Ann Intern Med 2023 · Saugel, 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Marcucci, Ann Intern Med 2023 · Saugel, JAMA 2025 · HISTAP (SIAARTI), Intensive Care Med 2026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SÍNTESE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SÍNTESE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Consenso e controvérsias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30800" cy="2294235"/>
          </a:xfrm>
          <a:prstGeom prst="roundRect">
            <a:avLst>
              <a:gd name="adj" fmla="val 3321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Borda de destaque"/>
          <p:cNvSpPr/>
          <p:nvPr/>
        </p:nvSpPr>
        <p:spPr>
          <a:xfrm>
            <a:off x="823379" y="1879501"/>
            <a:ext cx="5109643" cy="38100"/>
          </a:xfrm>
          <a:custGeom>
            <a:avLst/>
            <a:gdLst/>
            <a:ahLst/>
            <a:cxnLst/>
            <a:rect l="l" t="t" r="r" b="b"/>
            <a:pathLst>
              <a:path w="5109643" h="38100">
                <a:moveTo>
                  <a:pt x="5044021" y="0"/>
                </a:moveTo>
                <a:lnTo>
                  <a:pt x="5058887" y="1464"/>
                </a:lnTo>
                <a:lnTo>
                  <a:pt x="5073182" y="5800"/>
                </a:lnTo>
                <a:lnTo>
                  <a:pt x="5086356" y="12842"/>
                </a:lnTo>
                <a:lnTo>
                  <a:pt x="5097903" y="22318"/>
                </a:lnTo>
                <a:lnTo>
                  <a:pt x="5107379" y="33866"/>
                </a:lnTo>
                <a:lnTo>
                  <a:pt x="51096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6" name="Consenso"/>
          <p:cNvSpPr txBox="1"/>
          <p:nvPr/>
        </p:nvSpPr>
        <p:spPr>
          <a:xfrm>
            <a:off x="1073150" y="2168686"/>
            <a:ext cx="46291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Consenso</a:t>
            </a:r>
            <a:endParaRPr lang="en-US" sz="1700" dirty="0"/>
          </a:p>
        </p:txBody>
      </p:sp>
      <p:sp>
        <p:nvSpPr>
          <p:cNvPr id="7" name="Escolher pela fisiologia: tônus, contrat"/>
          <p:cNvSpPr txBox="1"/>
          <p:nvPr/>
        </p:nvSpPr>
        <p:spPr>
          <a:xfrm>
            <a:off x="1073150" y="2515402"/>
            <a:ext cx="4629150" cy="1381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pt-BR" altLang="en-US" sz="15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Escolher pela fisiologia: tônus, contratilidade ou FC · NA como primeira linha no choque · iniciar cedo, inclusive por veia periférica · PAM 65 como alvo inicial · dopamina fora da primeira linha · vasopressina como poupadora de catecolamina</a:t>
            </a:r>
            <a:endParaRPr lang="en-US" sz="1500" dirty="0"/>
          </a:p>
        </p:txBody>
      </p:sp>
      <p:sp>
        <p:nvSpPr>
          <p:cNvPr id="8" name="Cartão"/>
          <p:cNvSpPr/>
          <p:nvPr/>
        </p:nvSpPr>
        <p:spPr>
          <a:xfrm>
            <a:off x="6248400" y="1879501"/>
            <a:ext cx="5130800" cy="2294235"/>
          </a:xfrm>
          <a:prstGeom prst="roundRect">
            <a:avLst>
              <a:gd name="adj" fmla="val 3321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Borda de destaque"/>
          <p:cNvSpPr/>
          <p:nvPr/>
        </p:nvSpPr>
        <p:spPr>
          <a:xfrm>
            <a:off x="6258979" y="1879501"/>
            <a:ext cx="5109643" cy="38100"/>
          </a:xfrm>
          <a:custGeom>
            <a:avLst/>
            <a:gdLst/>
            <a:ahLst/>
            <a:cxnLst/>
            <a:rect l="l" t="t" r="r" b="b"/>
            <a:pathLst>
              <a:path w="5109643" h="38100">
                <a:moveTo>
                  <a:pt x="5044021" y="0"/>
                </a:moveTo>
                <a:lnTo>
                  <a:pt x="5058887" y="1464"/>
                </a:lnTo>
                <a:lnTo>
                  <a:pt x="5073182" y="5800"/>
                </a:lnTo>
                <a:lnTo>
                  <a:pt x="5086356" y="12842"/>
                </a:lnTo>
                <a:lnTo>
                  <a:pt x="5097903" y="22318"/>
                </a:lnTo>
                <a:lnTo>
                  <a:pt x="5107379" y="33866"/>
                </a:lnTo>
                <a:lnTo>
                  <a:pt x="51096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10" name="Em aberto"/>
          <p:cNvSpPr txBox="1"/>
          <p:nvPr/>
        </p:nvSpPr>
        <p:spPr>
          <a:xfrm>
            <a:off x="6508750" y="2168686"/>
            <a:ext cx="46291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aberto</a:t>
            </a:r>
            <a:endParaRPr lang="en-US" sz="1700" dirty="0"/>
          </a:p>
        </p:txBody>
      </p:sp>
      <p:sp>
        <p:nvSpPr>
          <p:cNvPr id="11" name="Momento ideal da vasopressina após o VAS"/>
          <p:cNvSpPr txBox="1"/>
          <p:nvPr/>
        </p:nvSpPr>
        <p:spPr>
          <a:xfrm>
            <a:off x="6508750" y="2515402"/>
            <a:ext cx="4629150" cy="1381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pt-BR" altLang="en-US" sz="15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ideal da vasopressina após o VASSPR · alvo de PA individualizado no intraoperatório · adrenalina no choque cardiogênico · azul de metileno e angiotensina II · padronização da dose de NA em base</a:t>
            </a:r>
            <a:endParaRPr lang="en-US" sz="1500" dirty="0"/>
          </a:p>
        </p:txBody>
      </p:sp>
      <p:sp>
        <p:nvSpPr>
          <p:cNvPr id="12" name="Para discutir: nosso protocolo especific"/>
          <p:cNvSpPr txBox="1"/>
          <p:nvPr/>
        </p:nvSpPr>
        <p:spPr>
          <a:xfrm>
            <a:off x="812800" y="4465468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discutir: nosso protocolo especifica a forma da noradrenalina e o limiar para associar vasopressina?</a:t>
            </a:r>
            <a:endParaRPr lang="en-US" sz="1400" dirty="0"/>
          </a:p>
        </p:txBody>
      </p:sp>
      <p:sp>
        <p:nvSpPr>
          <p:cNvPr id="13" name="Surviving Sepsis Campaign 2026 · ESICM 2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Surviving Sepsis Campaign 2026 · ESICM 2025 · Peltan, JAMA 2026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FERÊNCIAS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Leitura base</a:t>
            </a:r>
            <a:endParaRPr lang="en-US" sz="3200" dirty="0"/>
          </a:p>
        </p:txBody>
      </p:sp>
      <p:sp>
        <p:nvSpPr>
          <p:cNvPr id="4" name="Prescott, Antonelli · SSC 2026 · Crit Ca"/>
          <p:cNvSpPr txBox="1"/>
          <p:nvPr/>
        </p:nvSpPr>
        <p:spPr>
          <a:xfrm>
            <a:off x="812800" y="1868299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Prescott, Antonelli · SSC 2026 · Crit Care Med 2026</a:t>
            </a:r>
            <a:endParaRPr lang="en-US" sz="1200" dirty="0"/>
          </a:p>
        </p:txBody>
      </p:sp>
      <p:sp>
        <p:nvSpPr>
          <p:cNvPr id="5" name="Monnet, Messina · ESICM 2025 · Intensive"/>
          <p:cNvSpPr txBox="1"/>
          <p:nvPr/>
        </p:nvSpPr>
        <p:spPr>
          <a:xfrm>
            <a:off x="812800" y="214512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Monnet, Messina · ESICM 2025 · Intensive Care Med 2025</a:t>
            </a:r>
            <a:endParaRPr lang="en-US" sz="1200" dirty="0"/>
          </a:p>
        </p:txBody>
      </p:sp>
      <p:sp>
        <p:nvSpPr>
          <p:cNvPr id="6" name="Miller’s Anesthesia, 10ª ed. · Elsevier "/>
          <p:cNvSpPr txBox="1"/>
          <p:nvPr/>
        </p:nvSpPr>
        <p:spPr>
          <a:xfrm>
            <a:off x="812800" y="242194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Miller’s Anesthesia, 10ª ed. · Elsevier 2024 · [caps.]</a:t>
            </a:r>
            <a:endParaRPr lang="en-US" sz="1200" dirty="0"/>
          </a:p>
        </p:txBody>
      </p:sp>
      <p:sp>
        <p:nvSpPr>
          <p:cNvPr id="7" name="De Backer · SOAP II · N Engl J Med 2010"/>
          <p:cNvSpPr txBox="1"/>
          <p:nvPr/>
        </p:nvSpPr>
        <p:spPr>
          <a:xfrm>
            <a:off x="812800" y="269876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Backer · SOAP II · N Engl J Med 2010</a:t>
            </a:r>
            <a:endParaRPr lang="en-US" sz="1200" dirty="0"/>
          </a:p>
        </p:txBody>
      </p:sp>
      <p:sp>
        <p:nvSpPr>
          <p:cNvPr id="8" name="Russell · VASST · N Engl J Med 2008"/>
          <p:cNvSpPr txBox="1"/>
          <p:nvPr/>
        </p:nvSpPr>
        <p:spPr>
          <a:xfrm>
            <a:off x="812800" y="297558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Russell · VASST · N Engl J Med 2008</a:t>
            </a:r>
            <a:endParaRPr lang="en-US" sz="1200" dirty="0"/>
          </a:p>
        </p:txBody>
      </p:sp>
      <p:sp>
        <p:nvSpPr>
          <p:cNvPr id="9" name="Peltan · VASSPR · JAMA 2026"/>
          <p:cNvSpPr txBox="1"/>
          <p:nvPr/>
        </p:nvSpPr>
        <p:spPr>
          <a:xfrm>
            <a:off x="812800" y="325240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Peltan · VASSPR · JAMA 2026</a:t>
            </a:r>
            <a:endParaRPr lang="en-US" sz="1200" dirty="0"/>
          </a:p>
        </p:txBody>
      </p:sp>
      <p:sp>
        <p:nvSpPr>
          <p:cNvPr id="10" name="Lamontagne · 65 trial · JAMA 2020"/>
          <p:cNvSpPr txBox="1"/>
          <p:nvPr/>
        </p:nvSpPr>
        <p:spPr>
          <a:xfrm>
            <a:off x="812800" y="352922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Lamontagne · 65 trial · JAMA 2020</a:t>
            </a:r>
            <a:endParaRPr lang="en-US" sz="1200" dirty="0"/>
          </a:p>
        </p:txBody>
      </p:sp>
      <p:sp>
        <p:nvSpPr>
          <p:cNvPr id="11" name="Endo · OPTPRESS · Intensive Care Med 202"/>
          <p:cNvSpPr txBox="1"/>
          <p:nvPr/>
        </p:nvSpPr>
        <p:spPr>
          <a:xfrm>
            <a:off x="812800" y="380604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Endo · OPTPRESS · Intensive Care Med 2025</a:t>
            </a:r>
            <a:endParaRPr lang="en-US" sz="1200" dirty="0"/>
          </a:p>
        </p:txBody>
      </p:sp>
      <p:sp>
        <p:nvSpPr>
          <p:cNvPr id="12" name="Permpikul · CENSER · Am J Respir Crit Ca"/>
          <p:cNvSpPr txBox="1"/>
          <p:nvPr/>
        </p:nvSpPr>
        <p:spPr>
          <a:xfrm>
            <a:off x="812800" y="408286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Permpikul · CENSER · Am J Respir Crit Care Med 2019</a:t>
            </a:r>
            <a:endParaRPr lang="en-US" sz="1200" dirty="0"/>
          </a:p>
        </p:txBody>
      </p:sp>
      <p:sp>
        <p:nvSpPr>
          <p:cNvPr id="13" name="Annane · CATS · Lancet 2007"/>
          <p:cNvSpPr txBox="1"/>
          <p:nvPr/>
        </p:nvSpPr>
        <p:spPr>
          <a:xfrm>
            <a:off x="812800" y="435968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Annane · CATS · Lancet 2007</a:t>
            </a:r>
            <a:endParaRPr lang="en-US" sz="1200" dirty="0"/>
          </a:p>
        </p:txBody>
      </p:sp>
      <p:sp>
        <p:nvSpPr>
          <p:cNvPr id="14" name="Levy · OptimaCC · J Am Coll Cardiol 2018"/>
          <p:cNvSpPr txBox="1"/>
          <p:nvPr/>
        </p:nvSpPr>
        <p:spPr>
          <a:xfrm>
            <a:off x="812800" y="463650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Levy · OptimaCC · J Am Coll Cardiol 2018</a:t>
            </a:r>
            <a:endParaRPr lang="en-US" sz="1200" dirty="0"/>
          </a:p>
        </p:txBody>
      </p:sp>
      <p:sp>
        <p:nvSpPr>
          <p:cNvPr id="15" name="Mathew · DOREMI · N Engl J Med 2021"/>
          <p:cNvSpPr txBox="1"/>
          <p:nvPr/>
        </p:nvSpPr>
        <p:spPr>
          <a:xfrm>
            <a:off x="812800" y="491332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Mathew · DOREMI · N Engl J Med 2021</a:t>
            </a:r>
            <a:endParaRPr lang="en-US" sz="1200" dirty="0"/>
          </a:p>
        </p:txBody>
      </p:sp>
      <p:sp>
        <p:nvSpPr>
          <p:cNvPr id="16" name="Khanna · ATHOS-3 · N Engl J Med 2017"/>
          <p:cNvSpPr txBox="1"/>
          <p:nvPr/>
        </p:nvSpPr>
        <p:spPr>
          <a:xfrm>
            <a:off x="812800" y="519014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Khanna · ATHOS-3 · N Engl J Med 2017</a:t>
            </a:r>
            <a:endParaRPr lang="en-US" sz="1200" dirty="0"/>
          </a:p>
        </p:txBody>
      </p:sp>
      <p:sp>
        <p:nvSpPr>
          <p:cNvPr id="17" name="Bellomo · dopamina em dose baixa (ANZICS"/>
          <p:cNvSpPr txBox="1"/>
          <p:nvPr/>
        </p:nvSpPr>
        <p:spPr>
          <a:xfrm>
            <a:off x="6248400" y="1868299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Bellomo · dopamina em dose baixa (ANZICS) · Lancet 2000</a:t>
            </a:r>
            <a:endParaRPr lang="en-US" sz="1200" dirty="0"/>
          </a:p>
        </p:txBody>
      </p:sp>
      <p:sp>
        <p:nvSpPr>
          <p:cNvPr id="18" name="Venkatesh · ADRENAL · N Engl J Med 2018"/>
          <p:cNvSpPr txBox="1"/>
          <p:nvPr/>
        </p:nvSpPr>
        <p:spPr>
          <a:xfrm>
            <a:off x="6248400" y="214512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Venkatesh · ADRENAL · N Engl J Med 2018</a:t>
            </a:r>
            <a:endParaRPr lang="en-US" sz="1200" dirty="0"/>
          </a:p>
        </p:txBody>
      </p:sp>
      <p:sp>
        <p:nvSpPr>
          <p:cNvPr id="19" name="Annane · APROCCHSS · N Engl J Med 2018"/>
          <p:cNvSpPr txBox="1"/>
          <p:nvPr/>
        </p:nvSpPr>
        <p:spPr>
          <a:xfrm>
            <a:off x="6248400" y="242194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Annane · APROCCHSS · N Engl J Med 2018</a:t>
            </a:r>
            <a:endParaRPr lang="en-US" sz="1200" dirty="0"/>
          </a:p>
        </p:txBody>
      </p:sp>
      <p:sp>
        <p:nvSpPr>
          <p:cNvPr id="20" name="Kinsella · consenso cesárea · Anaesthesi"/>
          <p:cNvSpPr txBox="1"/>
          <p:nvPr/>
        </p:nvSpPr>
        <p:spPr>
          <a:xfrm>
            <a:off x="6248400" y="269876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Kinsella · consenso cesárea · Anaesthesia 2018</a:t>
            </a:r>
            <a:endParaRPr lang="en-US" sz="1200" dirty="0"/>
          </a:p>
        </p:txBody>
      </p:sp>
      <p:sp>
        <p:nvSpPr>
          <p:cNvPr id="21" name="Park, Choi · vasopressores na cesárea · "/>
          <p:cNvSpPr txBox="1"/>
          <p:nvPr/>
        </p:nvSpPr>
        <p:spPr>
          <a:xfrm>
            <a:off x="6248400" y="297558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Park, Choi · vasopressores na cesárea · Anesth Pain Med 2024</a:t>
            </a:r>
            <a:endParaRPr lang="en-US" sz="1200" dirty="0"/>
          </a:p>
        </p:txBody>
      </p:sp>
      <p:sp>
        <p:nvSpPr>
          <p:cNvPr id="22" name="Marcucci · POISE-3 · Ann Intern Med 2023"/>
          <p:cNvSpPr txBox="1"/>
          <p:nvPr/>
        </p:nvSpPr>
        <p:spPr>
          <a:xfrm>
            <a:off x="6248400" y="325240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Marcucci · POISE-3 · Ann Intern Med 2023</a:t>
            </a:r>
            <a:endParaRPr lang="en-US" sz="1200" dirty="0"/>
          </a:p>
        </p:txBody>
      </p:sp>
      <p:sp>
        <p:nvSpPr>
          <p:cNvPr id="23" name="Saugel · IMPROVE-multi · JAMA 2025"/>
          <p:cNvSpPr txBox="1"/>
          <p:nvPr/>
        </p:nvSpPr>
        <p:spPr>
          <a:xfrm>
            <a:off x="6248400" y="352922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Saugel · IMPROVE-multi · JAMA 2025</a:t>
            </a:r>
            <a:endParaRPr lang="en-US" sz="1200" dirty="0"/>
          </a:p>
        </p:txBody>
      </p:sp>
      <p:sp>
        <p:nvSpPr>
          <p:cNvPr id="24" name="SIAARTI · HISTAP · Intensive Care Med 20"/>
          <p:cNvSpPr txBox="1"/>
          <p:nvPr/>
        </p:nvSpPr>
        <p:spPr>
          <a:xfrm>
            <a:off x="6248400" y="380604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SIAARTI · HISTAP · Intensive Care Med 2026</a:t>
            </a:r>
            <a:endParaRPr lang="en-US" sz="1200" dirty="0"/>
          </a:p>
        </p:txBody>
      </p:sp>
      <p:sp>
        <p:nvSpPr>
          <p:cNvPr id="25" name="Tran · NA periférica · Am J Emerg Med 20"/>
          <p:cNvSpPr txBox="1"/>
          <p:nvPr/>
        </p:nvSpPr>
        <p:spPr>
          <a:xfrm>
            <a:off x="6248400" y="408286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 · NA periférica · Am J Emerg Med 2020</a:t>
            </a:r>
            <a:endParaRPr lang="en-US" sz="1200" dirty="0"/>
          </a:p>
        </p:txBody>
      </p:sp>
      <p:sp>
        <p:nvSpPr>
          <p:cNvPr id="26" name="Ibarra-Estrada · NA base vs. sal · Inten"/>
          <p:cNvSpPr txBox="1"/>
          <p:nvPr/>
        </p:nvSpPr>
        <p:spPr>
          <a:xfrm>
            <a:off x="6248400" y="435968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Ibarra-Estrada · NA base vs. sal · Intensive Care Med 2024</a:t>
            </a:r>
            <a:endParaRPr lang="en-US" sz="1200" dirty="0"/>
          </a:p>
        </p:txBody>
      </p:sp>
      <p:sp>
        <p:nvSpPr>
          <p:cNvPr id="27" name="ANZCA/ANZAAG · anafilaxia perioperatória"/>
          <p:cNvSpPr txBox="1"/>
          <p:nvPr/>
        </p:nvSpPr>
        <p:spPr>
          <a:xfrm>
            <a:off x="6248400" y="463650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ANZCA/ANZAAG · anafilaxia perioperatória · 2022</a:t>
            </a:r>
            <a:endParaRPr lang="en-US" sz="1200" dirty="0"/>
          </a:p>
        </p:txBody>
      </p:sp>
      <p:sp>
        <p:nvSpPr>
          <p:cNvPr id="28" name="Overgaard, Džavík · revisão · Circulatio"/>
          <p:cNvSpPr txBox="1"/>
          <p:nvPr/>
        </p:nvSpPr>
        <p:spPr>
          <a:xfrm>
            <a:off x="6248400" y="491332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Overgaard, Džavík · revisão · Circulation 2008</a:t>
            </a:r>
            <a:endParaRPr lang="en-US" sz="1200" dirty="0"/>
          </a:p>
        </p:txBody>
      </p:sp>
      <p:sp>
        <p:nvSpPr>
          <p:cNvPr id="29" name="Persichini · NA e retorno venoso · Crit "/>
          <p:cNvSpPr txBox="1"/>
          <p:nvPr/>
        </p:nvSpPr>
        <p:spPr>
          <a:xfrm>
            <a:off x="6248400" y="519014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Persichini · NA e retorno venoso · Crit Care Med 2012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2026-10-18T17:34:25Z</dcterms:created>
  <dcterms:modified xsi:type="dcterms:W3CDTF">2026-10-18T17:34:25Z</dcterms:modified>
</cp:coreProperties>
</file>