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9b400b43-d4b9-c4a5-f777-28bf39ea164c}">
          <p14:sldIdLst>
            <p14:sldId id="256"/>
            <p14:sldId id="257"/>
          </p14:sldIdLst>
        </p14:section>
        <p14:section name="Fisiologia da PAM, receptores e classificação" id="{056b1427-31b5-09d7-a833-00b91b20366d}">
          <p14:sldIdLst>
            <p14:sldId id="258"/>
            <p14:sldId id="259"/>
            <p14:sldId id="260"/>
          </p14:sldIdLst>
        </p14:section>
        <p14:section name="Drogas: noradrenalina, adrenalina, dopamina, dobutamina, milrinona, fenilefrina, efedrina e vasopressina" id="{9c1dc513-1c31-109e-a654-dd46143c266e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hoque séptico: a sequência da SSC 2026" id="{e4d70f38-f7ee-5afc-1062-9e577cd5948c}">
          <p14:sldIdLst>
            <p14:sldId id="267"/>
          </p14:sldIdLst>
        </p14:section>
        <p14:section name="Perioperatório: escolha da droga e alvo de pressão" id="{61b0b4f5-b4b0-911c-ca4f-0fe7555341e5}">
          <p14:sldIdLst>
            <p14:sldId id="268"/>
            <p14:sldId id="269"/>
          </p14:sldIdLst>
        </p14:section>
        <p14:section name="Mensagens finais" id="{84085277-522e-3fe3-9a2f-5477d6ffcbcf}">
          <p14:sldIdLst>
            <p14:sldId id="270"/>
          </p14:sldIdLst>
        </p14:section>
        <p14:section name="Slides de reserva para perguntas" id="{c1a23bbb-04db-224c-c21f-869c18cd6863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13 minutos e meio nos 15 slides principais; ensaiar para 13 a 14 minutos. Tempos: capa, 20 s; objetivos, 30 s; fisiologia, 1 min; receptores, 1 min; catecolaminas, 45 s; noradrenalina, 1 min 15 s; adrenalina, 1 min; dopamina e dobutamina, 1 min 15 s; milrinona, 1 min; fenilefrina e efedrina, 1 min; vasopressina e adjuvantes, 1 min; choque séptico, 1 min; intraoperatório, 1 min 15 s; hipotensão intraoperatória, 45 s; mensagens finais, 30 s. Depois das mensagens finais ficam os slides de reserva, para perguntas. Fontes principais: Surviving Sepsis Campaign 2026, ESICM 2025, POQI 2024 e Miller’s Anesthesia, 10ª ed. (completar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ideia é sair da aula com um raciocínio, e não com uma lista de doses: diante da hipotensão, perguntar qual componente da PAM está falhando. Tônus vascular baixo pede vasopressor, bomba fraca pede inotrópico e pré-carga baixa pede volume. Depois vêm os receptores, as drogas uma a uma e, no fim, a aplicação no choque séptico e no centro cirúrgico.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Um ponto menos lembrado: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β, e por isso funciona mesmo com betabloqueador.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 A ação indireta da efedrina explica a taquifilaxia.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sobe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sobre 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 (SSC 2026: condicional, certeza muito baixa). Na anafilaxia em ambiente monitorizado, bolus EV diluídos e titulados (ANZCA/ANZAAG 2022); se forem precisos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contra a dopamina como primeira linha. Uso residual: bradicardia sintomática sem alternativa. Dobutamina: é uma mistura racêmica; o isômero (+) é agonista β1 e β2 e antagonista α1, e o (−) é agonista α1; o efeito final é inotropismo com queda discreta da resistência. No paciente hipotenso, entra junto com o vasopressor, nunca no lugar dele. A comparação com a milrinona vem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milrinona inibe a fosfodiesterase 3 e aumenta o AMPc sem passar pelo receptor β; por isso funciona com betabloqueador ou com receptores dessensibilizados. É um inodilatador: aumenta a contratilidade e o relaxamento e reduz as resistências sistêmica e pulmonar, o que ajuda o VD com hipertensão pulmonar e o desmame da CEC. Como dilata, muitas vezes precisa de noradrenalina junto. Tem eliminação renal e meia-vida bem mais longa que a da dobutamina: é menos titulável e acumula na insuficiência renal; a dose máxima diária em bula é 1,13 mg/kg.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ajuda quando a taquicardia atrapalha,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basal; metanálises recentes mostram menos bradicardia materna com noradrenalina e pH umbilical semelhante.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mantém efeito em acidose; no choque séptico há deficiência relativa de vasopressina. Usa-se em dose fixa, sem titulação; no desmame, reduzir primeiro a noradrenalina. Indicações: choque séptico com noradrenalina em escalada, vasoplegia após CEC e hipotensão refratária em quem usa IECA ou BRA. Riscos: isquemia digital e mesentérica, hiponatremia. Antes de somar drogas, corrigir causas tratáveis (volume, foco, acidose, cálcio, disfunção ventricular). Se perguntarem: no VANCS (Hajjar, Anesthesiology 2017, InCor), na vasoplegia pós-CEC, a vasopressina teve menos morte ou complicação grave que a noradrenalina (32% vs. 49%). Hidrocortisona: 200 mg/dia (50 mg de 6/6 h ou em infusão). Angiotensina II: no ATHOS-3, a PAM respondeu em 3 h em 69,9% vs. 23,4% dos pacientes, sem diferença de mortalidade; verificar disponibilidade.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(forte sobre a dopamina; a preferência sobre vasopressina e angiotensina II passou a ser condicional). Vasopressina quando a dose de noradrenalina está subindo (condicional, certeza moderada); a diretriz não define um número, e na enquete dos painelistas a mediana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Se perguntarem: o VASSPR (JAMA 2026, n = 3.959) comparou políticas hospitalares de iniciar a vasopressina com noradrenalina de 0,1 vs. 0,4 mcg/kg/min; a vasopressina foi usada em 52,4% vs. 32,9%, e a mortalidade foi 31,8% vs. 33,0%. Antecipar como regra não trouxe ganho, mas isso não prova que o momento seja irrelevante para todos.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β1; baixo débito pede inotrópico, e a milrinona tem a vantagem de reduzir a resistência pulmonar. A vasoplegia que não responde às catecolaminas, como após CEC, com uso crônico de IECA ou BRA ou na reperfusão do enxerto hepático, responde melhor à vasopressina; o azul de metileno fica como resgate. Bolus para o transitório, infusão para o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quem tem α1 alto eleva a RVS (noradrenalina, fenilefrina); quem tem β1 alto eleva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a bradicardia refratária e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 dobutamina entra junto com o vasopressor, nunca no lugar dele. DOREMI (n = 192): mortalidade hospitalar de 43% vs. 37% com milrinona, sem diferença significativa. A SSC 2026 não encontrou dados suficientes para comparar dobutamina e milrinona e sugere contra a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crescente, com melhor preservação do DC materno e desfechos neonatais comparáveis. Os números da comparação em bolus são do ensaio de Sharkey (Anesth Analg 2019), citado na revisão de Park e Choi; conferir no artigo original antes de 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a principal parceira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diálise,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e não subir indefinidamente a mesma droga. ATHOS-3 (n = 344): mortalidade em 28 dias de 46% vs. 53,8% (NS). Azul de metileno: na enquete com os painelistas da SSC 2026, 69% nunca ou quase nunca o usam como resgate. Verificar a disponibilidade local de angiotensina II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da noradrenalina sobre vasopressina e angiotensina II passou a ser sugestão (condicional); continua a sugestão de iniciar o vasopressor por via periférica em vez de esperar o acesso central, que já existia em 2021;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OR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dá o dobro do número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o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Leitura prática: evitar PAM abaixo de 60–65 é consenso; subir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(na versão de 15 minutos, 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OPTIME-CHF: JAMA 2002;287(12):1541–1547. VANCS: Anesthesiology 2017;126(1):85–93. CAT: Intensive Care Med 2008;34:2226–2234. VANISH: JAMA 2016;316(5):509–518. Salmasi: Anesthesiology 2017;126(1):47–65. Sharkey: Anesth Analg 2019;129(5):1312–1318.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356592"/>
            <a:ext cx="10718800" cy="1168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</a:t>
            </a:r>
            <a:endParaRPr lang="en-US" sz="3200" dirty="0"/>
          </a:p>
        </p:txBody>
      </p:sp>
      <p:sp>
        <p:nvSpPr>
          <p:cNvPr id="3" name="Reconhecer qual componente da PAM está c"/>
          <p:cNvSpPr txBox="1"/>
          <p:nvPr/>
        </p:nvSpPr>
        <p:spPr>
          <a:xfrm>
            <a:off x="812800" y="1587821"/>
            <a:ext cx="105854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qual componente da PAM está comprometido: tônus vascular, função de bomba ou pré-carga</a:t>
            </a:r>
            <a:endParaRPr lang="en-US" sz="2000" dirty="0"/>
          </a:p>
        </p:txBody>
      </p:sp>
      <p:sp>
        <p:nvSpPr>
          <p:cNvPr id="4" name="Relacionar o perfil de receptores de cad"/>
          <p:cNvSpPr txBox="1"/>
          <p:nvPr/>
        </p:nvSpPr>
        <p:spPr>
          <a:xfrm>
            <a:off x="812800" y="24387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efeito hemodinâmico</a:t>
            </a:r>
            <a:endParaRPr lang="en-US" sz="2000" dirty="0"/>
          </a:p>
        </p:txBody>
      </p:sp>
      <p:sp>
        <p:nvSpPr>
          <p:cNvPr id="5" name="Revisar ação, dose, indicações e cuidado"/>
          <p:cNvSpPr txBox="1"/>
          <p:nvPr/>
        </p:nvSpPr>
        <p:spPr>
          <a:xfrm>
            <a:off x="812800" y="29086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ação, dose, indicações e cuidados das principais drogas vasoativas</a:t>
            </a:r>
            <a:endParaRPr lang="en-US" sz="2000" dirty="0"/>
          </a:p>
        </p:txBody>
      </p:sp>
      <p:sp>
        <p:nvSpPr>
          <p:cNvPr id="6" name="Aplicar esse raciocínio no choque séptic"/>
          <p:cNvSpPr txBox="1"/>
          <p:nvPr/>
        </p:nvSpPr>
        <p:spPr>
          <a:xfrm>
            <a:off x="812800" y="33785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2000" dirty="0"/>
          </a:p>
        </p:txBody>
      </p:sp>
      <p:sp>
        <p:nvSpPr>
          <p:cNvPr id="7" name="Pergunta que guia a aula: qual component"/>
          <p:cNvSpPr txBox="1"/>
          <p:nvPr/>
        </p:nvSpPr>
        <p:spPr>
          <a:xfrm>
            <a:off x="812800" y="4121306"/>
            <a:ext cx="10585450" cy="331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0"/>
              </a:lnSpc>
              <a:buNone/>
            </a:pPr>
            <a:r>
              <a:rPr lang="pt-BR" altLang="en-US" sz="18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que guia a aula:</a:t>
            </a:r>
            <a:pPr algn="l" indent="0" marL="0">
              <a:lnSpc>
                <a:spcPts val="2610"/>
              </a:lnSpc>
              <a:buNone/>
            </a:pPr>
            <a:r>
              <a:rPr lang="pt-BR" altLang="en-US" sz="18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qual componente da PAM está falhando?</a:t>
            </a:r>
            <a:endParaRPr lang="en-US" sz="1800" dirty="0"/>
          </a:p>
        </p:txBody>
      </p:sp>
      <p:pic>
        <p:nvPicPr>
          <p:cNvPr id="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</a:t>
            </a:r>
            <a:endParaRPr lang="en-US" sz="3200" dirty="0"/>
          </a:p>
        </p:txBody>
      </p:sp>
      <p:sp>
        <p:nvSpPr>
          <p:cNvPr id="3" name="PAM ≈ DC × RVS · DC = FC × volume sistól"/>
          <p:cNvSpPr txBox="1"/>
          <p:nvPr/>
        </p:nvSpPr>
        <p:spPr>
          <a:xfrm>
            <a:off x="812800" y="1529808"/>
            <a:ext cx="10585450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pt-BR" altLang="en-US" sz="18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· DC = FC × volume sistólico</a:t>
            </a:r>
            <a:endParaRPr lang="en-US" sz="1800" dirty="0"/>
          </a:p>
        </p:txBody>
      </p:sp>
      <p:sp>
        <p:nvSpPr>
          <p:cNvPr id="4" name="Vasoplegia"/>
          <p:cNvSpPr txBox="1"/>
          <p:nvPr/>
        </p:nvSpPr>
        <p:spPr>
          <a:xfrm>
            <a:off x="812800" y="211174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5" name="RVS baixa, DC normal ou alto"/>
          <p:cNvSpPr txBox="1"/>
          <p:nvPr/>
        </p:nvSpPr>
        <p:spPr>
          <a:xfrm>
            <a:off x="812800" y="2460450"/>
            <a:ext cx="3270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normal ou alto</a:t>
            </a:r>
            <a:endParaRPr lang="en-US" sz="1600" dirty="0"/>
          </a:p>
        </p:txBody>
      </p:sp>
      <p:sp>
        <p:nvSpPr>
          <p:cNvPr id="6" name="Sepse, anestesia geral, neuroeixo, anafi"/>
          <p:cNvSpPr txBox="1"/>
          <p:nvPr/>
        </p:nvSpPr>
        <p:spPr>
          <a:xfrm>
            <a:off x="812800" y="283381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Sepse, anestesia geral, neuroeixo, anafilaxia, pós-CEC</a:t>
            </a:r>
            <a:endParaRPr lang="en-US" sz="1600" dirty="0"/>
          </a:p>
        </p:txBody>
      </p:sp>
      <p:sp>
        <p:nvSpPr>
          <p:cNvPr id="7" name="Tratar com vasopressor (α1 ou V1)"/>
          <p:cNvSpPr txBox="1"/>
          <p:nvPr/>
        </p:nvSpPr>
        <p:spPr>
          <a:xfrm>
            <a:off x="812800" y="3491630"/>
            <a:ext cx="3270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com vasopressor (α1 ou V1)</a:t>
            </a:r>
            <a:endParaRPr lang="en-US" sz="1600" dirty="0"/>
          </a:p>
        </p:txBody>
      </p:sp>
      <p:sp>
        <p:nvSpPr>
          <p:cNvPr id="8" name="Falência de bomba"/>
          <p:cNvSpPr txBox="1"/>
          <p:nvPr/>
        </p:nvSpPr>
        <p:spPr>
          <a:xfrm>
            <a:off x="4470400" y="211174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"/>
          <p:cNvSpPr txBox="1"/>
          <p:nvPr/>
        </p:nvSpPr>
        <p:spPr>
          <a:xfrm>
            <a:off x="4470400" y="2460450"/>
            <a:ext cx="3270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</a:t>
            </a:r>
            <a:endParaRPr lang="en-US" sz="1600" dirty="0"/>
          </a:p>
        </p:txBody>
      </p:sp>
      <p:sp>
        <p:nvSpPr>
          <p:cNvPr id="10" name="Choque cardiogênico; na sepse, pode coex"/>
          <p:cNvSpPr txBox="1"/>
          <p:nvPr/>
        </p:nvSpPr>
        <p:spPr>
          <a:xfrm>
            <a:off x="4470400" y="283381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cardiogênico; na sepse, pode coexistir com vasoplegia</a:t>
            </a:r>
            <a:endParaRPr lang="en-US" sz="1600" dirty="0"/>
          </a:p>
        </p:txBody>
      </p:sp>
      <p:sp>
        <p:nvSpPr>
          <p:cNvPr id="11" name="Tratar com inotrópico e, se a PAM cair, "/>
          <p:cNvSpPr txBox="1"/>
          <p:nvPr/>
        </p:nvSpPr>
        <p:spPr>
          <a:xfrm>
            <a:off x="4470400" y="349163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com inotrópico e, se a PAM cair, vasopressor</a:t>
            </a:r>
            <a:endParaRPr lang="en-US" sz="1600" dirty="0"/>
          </a:p>
        </p:txBody>
      </p:sp>
      <p:sp>
        <p:nvSpPr>
          <p:cNvPr id="12" name="Pré-carga baixa"/>
          <p:cNvSpPr txBox="1"/>
          <p:nvPr/>
        </p:nvSpPr>
        <p:spPr>
          <a:xfrm>
            <a:off x="8128000" y="211174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3" name="Hipovolemia: tratar com volume, não com "/>
          <p:cNvSpPr txBox="1"/>
          <p:nvPr/>
        </p:nvSpPr>
        <p:spPr>
          <a:xfrm>
            <a:off x="8128000" y="246045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Hipovolemia: tratar com volume, não com amina</a:t>
            </a:r>
            <a:endParaRPr lang="en-US" sz="1600" dirty="0"/>
          </a:p>
        </p:txBody>
      </p:sp>
      <p:sp>
        <p:nvSpPr>
          <p:cNvPr id="14" name="O α1 também contrai veias e aumenta o re"/>
          <p:cNvSpPr txBox="1"/>
          <p:nvPr/>
        </p:nvSpPr>
        <p:spPr>
          <a:xfrm>
            <a:off x="8128000" y="311827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α1 também contrai veias e aumenta o retorno venoso</a:t>
            </a:r>
            <a:endParaRPr lang="en-US" sz="1600" dirty="0"/>
          </a:p>
        </p:txBody>
      </p:sp>
      <p:sp>
        <p:nvSpPr>
          <p:cNvPr id="15" name="Como diferenciar: eco como primeira imag"/>
          <p:cNvSpPr txBox="1"/>
          <p:nvPr/>
        </p:nvSpPr>
        <p:spPr>
          <a:xfrm>
            <a:off x="812800" y="4338090"/>
            <a:ext cx="1058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diferenciar:</a:t>
            </a:r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eco como primeira imagem, parâmetros dinâmicos de resposta a volume e perfusão seriada (tempo de enchimento capilar).</a:t>
            </a:r>
            <a:endParaRPr lang="en-US" sz="1500" dirty="0"/>
          </a:p>
        </p:txBody>
      </p:sp>
      <p:sp>
        <p:nvSpPr>
          <p:cNvPr id="16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1162248"/>
                <a:gridCol w="3169841"/>
                <a:gridCol w="4120852"/>
                <a:gridCol w="2113459"/>
              </a:tblGrid>
              <a:tr h="40888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1205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23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23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31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 esquelético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↑glicemia,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23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 e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23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23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20"/>
                        </a:lnSpc>
                        <a:buNone/>
                      </a:pPr>
                      <a:r>
                        <a:rPr lang="pt-BR" altLang="en-US" sz="13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m o uso prolongado, os adrenoceptores "/>
          <p:cNvSpPr txBox="1"/>
          <p:nvPr/>
        </p:nvSpPr>
        <p:spPr>
          <a:xfrm>
            <a:off x="812800" y="5398143"/>
            <a:ext cx="10585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dessensibilizam. Vasopressina (V1) e milrinona (PDE3) não dependem deles.</a:t>
            </a:r>
            <a:endParaRPr lang="en-US" sz="1500" dirty="0"/>
          </a:p>
        </p:txBody>
      </p:sp>
      <p:sp>
        <p:nvSpPr>
          <p:cNvPr id="5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3" name="Síntese: tirosina → DOPA → dopamina → no"/>
          <p:cNvSpPr txBox="1"/>
          <p:nvPr/>
        </p:nvSpPr>
        <p:spPr>
          <a:xfrm>
            <a:off x="812800" y="1546769"/>
            <a:ext cx="10585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Síntese:</a:t>
            </a:r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tirosina → DOPA → dopamina → noradrenalina → adrenalina. A última etapa, na medula adrenal, é induzida pelo cortisol.</a:t>
            </a:r>
            <a:endParaRPr lang="en-US" sz="1500" dirty="0"/>
          </a:p>
        </p:txBody>
      </p:sp>
      <p:sp>
        <p:nvSpPr>
          <p:cNvPr id="4" name="Catecolaminas"/>
          <p:cNvSpPr txBox="1"/>
          <p:nvPr/>
        </p:nvSpPr>
        <p:spPr>
          <a:xfrm>
            <a:off x="812800" y="2141611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5" name="Anel catecol (3,4-di-hidroxifenil)"/>
          <p:cNvSpPr txBox="1"/>
          <p:nvPr/>
        </p:nvSpPr>
        <p:spPr>
          <a:xfrm>
            <a:off x="812800" y="2490314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Anel catecol (3,4-di-hidroxifenil)</a:t>
            </a:r>
            <a:endParaRPr lang="en-US" sz="1600" dirty="0"/>
          </a:p>
        </p:txBody>
      </p:sp>
      <p:sp>
        <p:nvSpPr>
          <p:cNvPr id="6" name="Endógenas: dopamina, noradrenalina, adre"/>
          <p:cNvSpPr txBox="1"/>
          <p:nvPr/>
        </p:nvSpPr>
        <p:spPr>
          <a:xfrm>
            <a:off x="812800" y="286367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Endógenas: dopamina, noradrenalina, adrenalina</a:t>
            </a:r>
            <a:endParaRPr lang="en-US" sz="1600" dirty="0"/>
          </a:p>
        </p:txBody>
      </p:sp>
      <p:sp>
        <p:nvSpPr>
          <p:cNvPr id="7" name="Sintéticas: dobutamina, isoproterenol"/>
          <p:cNvSpPr txBox="1"/>
          <p:nvPr/>
        </p:nvSpPr>
        <p:spPr>
          <a:xfrm>
            <a:off x="812800" y="323703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Sintéticas: dobutamina, isoproterenol</a:t>
            </a:r>
            <a:endParaRPr lang="en-US" sz="1600" dirty="0"/>
          </a:p>
        </p:txBody>
      </p:sp>
      <p:sp>
        <p:nvSpPr>
          <p:cNvPr id="8" name="Recaptação, MAO e COMT: meia-vida de min"/>
          <p:cNvSpPr txBox="1"/>
          <p:nvPr/>
        </p:nvSpPr>
        <p:spPr>
          <a:xfrm>
            <a:off x="812800" y="361039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Recaptação, MAO e COMT: meia-vida de minutos</a:t>
            </a:r>
            <a:endParaRPr lang="en-US" sz="1600" dirty="0"/>
          </a:p>
        </p:txBody>
      </p:sp>
      <p:sp>
        <p:nvSpPr>
          <p:cNvPr id="9" name="Uso em infusão contínua, titulável"/>
          <p:cNvSpPr txBox="1"/>
          <p:nvPr/>
        </p:nvSpPr>
        <p:spPr>
          <a:xfrm>
            <a:off x="812800" y="398375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em infusão contínua, titulável</a:t>
            </a:r>
            <a:endParaRPr lang="en-US" sz="1600" dirty="0"/>
          </a:p>
        </p:txBody>
      </p:sp>
      <p:sp>
        <p:nvSpPr>
          <p:cNvPr id="10" name="Não catecolaminas"/>
          <p:cNvSpPr txBox="1"/>
          <p:nvPr/>
        </p:nvSpPr>
        <p:spPr>
          <a:xfrm>
            <a:off x="6324600" y="2141611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1" name="Sem o anel catecol, escapam da COMT e du"/>
          <p:cNvSpPr txBox="1"/>
          <p:nvPr/>
        </p:nvSpPr>
        <p:spPr>
          <a:xfrm>
            <a:off x="6324600" y="2490314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 e duram mais</a:t>
            </a:r>
            <a:endParaRPr lang="en-US" sz="1600" dirty="0"/>
          </a:p>
        </p:txBody>
      </p:sp>
      <p:sp>
        <p:nvSpPr>
          <p:cNvPr id="12" name="Uso em bolus"/>
          <p:cNvSpPr txBox="1"/>
          <p:nvPr/>
        </p:nvSpPr>
        <p:spPr>
          <a:xfrm>
            <a:off x="6324600" y="286367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em bolus</a:t>
            </a:r>
            <a:endParaRPr lang="en-US" sz="1600" dirty="0"/>
          </a:p>
        </p:txBody>
      </p:sp>
      <p:sp>
        <p:nvSpPr>
          <p:cNvPr id="13" name="Fenilefrina: agonista α1 direto"/>
          <p:cNvSpPr txBox="1"/>
          <p:nvPr/>
        </p:nvSpPr>
        <p:spPr>
          <a:xfrm>
            <a:off x="6324600" y="323703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Fenilefrina: agonista α1 direto</a:t>
            </a:r>
            <a:endParaRPr lang="en-US" sz="1600" dirty="0"/>
          </a:p>
        </p:txBody>
      </p:sp>
      <p:sp>
        <p:nvSpPr>
          <p:cNvPr id="14" name="Efedrina e metaraminol: ação mista, dire"/>
          <p:cNvSpPr txBox="1"/>
          <p:nvPr/>
        </p:nvSpPr>
        <p:spPr>
          <a:xfrm>
            <a:off x="6324600" y="3610395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e metaraminol: ação mista, direta e por liberação de noradrenalina</a:t>
            </a:r>
            <a:endParaRPr lang="en-US" sz="1600" dirty="0"/>
          </a:p>
        </p:txBody>
      </p:sp>
      <p:sp>
        <p:nvSpPr>
          <p:cNvPr id="15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 (NA)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+++ · β1 ++ · β2 0 · D1 "/>
          <p:cNvSpPr txBox="1"/>
          <p:nvPr/>
        </p:nvSpPr>
        <p:spPr>
          <a:xfrm>
            <a:off x="1016000" y="1676626"/>
            <a:ext cx="315505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++++ · β1 ++ · β2 0 · D1 0</a:t>
            </a:r>
            <a:endParaRPr lang="en-US" sz="1500" dirty="0"/>
          </a:p>
        </p:txBody>
      </p:sp>
      <p:sp>
        <p:nvSpPr>
          <p:cNvPr id="5" name="Efeito: PAM ↑↑ · RVS ↑↑ · DC ↔/↑ · FC ↔/"/>
          <p:cNvSpPr txBox="1"/>
          <p:nvPr/>
        </p:nvSpPr>
        <p:spPr>
          <a:xfrm>
            <a:off x="4507607" y="1676626"/>
            <a:ext cx="390515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↑↑ · RVS ↑↑ · DC ↔/↑ · FC ↔/↓</a:t>
            </a:r>
            <a:endParaRPr lang="en-US" sz="1500" dirty="0"/>
          </a:p>
        </p:txBody>
      </p:sp>
      <p:sp>
        <p:nvSpPr>
          <p:cNvPr id="6" name="Ação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7" name="Agonista α1 potente, com β1 modesto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potente, com β1 modesto</a:t>
            </a:r>
            <a:endParaRPr lang="en-US" sz="1600" dirty="0"/>
          </a:p>
        </p:txBody>
      </p:sp>
      <p:sp>
        <p:nvSpPr>
          <p:cNvPr id="8" name="Eleva a PAM pela RVS e pela venoconstriç"/>
          <p:cNvSpPr txBox="1"/>
          <p:nvPr/>
        </p:nvSpPr>
        <p:spPr>
          <a:xfrm>
            <a:off x="812800" y="310815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 a PAM pela RVS e pela venoconstrição, que aumenta o retorno venoso</a:t>
            </a:r>
            <a:endParaRPr lang="en-US" sz="1600" dirty="0"/>
          </a:p>
        </p:txBody>
      </p:sp>
      <p:sp>
        <p:nvSpPr>
          <p:cNvPr id="9" name="DC mantido ou maior; FC estável ou menor"/>
          <p:cNvSpPr txBox="1"/>
          <p:nvPr/>
        </p:nvSpPr>
        <p:spPr>
          <a:xfrm>
            <a:off x="812800" y="37659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mantido ou maior; FC estável ou menor, por reflexo</a:t>
            </a:r>
            <a:endParaRPr lang="en-US" sz="1600" dirty="0"/>
          </a:p>
        </p:txBody>
      </p:sp>
      <p:sp>
        <p:nvSpPr>
          <p:cNvPr id="10" name="Primeira linha no choque séptico e na va"/>
          <p:cNvSpPr txBox="1"/>
          <p:nvPr/>
        </p:nvSpPr>
        <p:spPr>
          <a:xfrm>
            <a:off x="812800" y="41393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linha no choque séptico e na vasoplegia que exige infusão</a:t>
            </a:r>
            <a:endParaRPr lang="en-US" sz="1600" dirty="0"/>
          </a:p>
        </p:txBody>
      </p:sp>
      <p:sp>
        <p:nvSpPr>
          <p:cNvPr id="11" name="Dose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12" name="Infusão: 0,01–0,5 mcg/kg/min, sem teto f"/>
          <p:cNvSpPr txBox="1"/>
          <p:nvPr/>
        </p:nvSpPr>
        <p:spPr>
          <a:xfrm>
            <a:off x="6324600" y="2734789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Infusão: 0,01–0,5 mcg/kg/min, sem teto fixo no choque refratário</a:t>
            </a:r>
            <a:endParaRPr lang="en-US" sz="1600" dirty="0"/>
          </a:p>
        </p:txBody>
      </p:sp>
      <p:sp>
        <p:nvSpPr>
          <p:cNvPr id="13" name="Bolus no centro cirúrgico: 5–10 mcg"/>
          <p:cNvSpPr txBox="1"/>
          <p:nvPr/>
        </p:nvSpPr>
        <p:spPr>
          <a:xfrm>
            <a:off x="6324600" y="33926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no centro cirúrgico: 5–10 mcg</a:t>
            </a:r>
            <a:endParaRPr lang="en-US" sz="1600" dirty="0"/>
          </a:p>
        </p:txBody>
      </p:sp>
      <p:sp>
        <p:nvSpPr>
          <p:cNvPr id="14" name="Pode começar em veia periférica calibros"/>
          <p:cNvSpPr txBox="1"/>
          <p:nvPr/>
        </p:nvSpPr>
        <p:spPr>
          <a:xfrm>
            <a:off x="6324600" y="37659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começar em veia periférica calibrosa</a:t>
            </a:r>
            <a:endParaRPr lang="en-US" sz="1600" dirty="0"/>
          </a:p>
        </p:txBody>
      </p:sp>
      <p:sp>
        <p:nvSpPr>
          <p:cNvPr id="15" name="Menos arritmia que a dopamina (SOAP II)"/>
          <p:cNvSpPr txBox="1"/>
          <p:nvPr/>
        </p:nvSpPr>
        <p:spPr>
          <a:xfrm>
            <a:off x="6324600" y="413933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arritmia que a dopamina (SOAP II)</a:t>
            </a:r>
            <a:endParaRPr lang="en-US" sz="1600" dirty="0"/>
          </a:p>
        </p:txBody>
      </p:sp>
      <p:sp>
        <p:nvSpPr>
          <p:cNvPr id="16" name="Riscos: isquemia digital e esplâncnica, "/>
          <p:cNvSpPr txBox="1"/>
          <p:nvPr/>
        </p:nvSpPr>
        <p:spPr>
          <a:xfrm>
            <a:off x="6324600" y="451269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Riscos: isquemia digital e esplâncnica, extravasamento</a:t>
            </a:r>
            <a:endParaRPr lang="en-US" sz="1600" dirty="0"/>
          </a:p>
        </p:txBody>
      </p:sp>
      <p:sp>
        <p:nvSpPr>
          <p:cNvPr id="1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++ · β1 ++++ · β2 +++ · "/>
          <p:cNvSpPr txBox="1"/>
          <p:nvPr/>
        </p:nvSpPr>
        <p:spPr>
          <a:xfrm>
            <a:off x="1016000" y="1676626"/>
            <a:ext cx="343802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 · β1 ++++ · β2 +++ · D1 0</a:t>
            </a:r>
            <a:endParaRPr lang="en-US" sz="1500" dirty="0"/>
          </a:p>
        </p:txBody>
      </p:sp>
      <p:sp>
        <p:nvSpPr>
          <p:cNvPr id="5" name="Efeito: PAM ↑↑ · DC ↑↑ · FC ↑↑ · RVS ↓/↑"/>
          <p:cNvSpPr txBox="1"/>
          <p:nvPr/>
        </p:nvSpPr>
        <p:spPr>
          <a:xfrm>
            <a:off x="4790579" y="1676626"/>
            <a:ext cx="368567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↑↑ · DC ↑↑ · FC ↑↑ · RVS ↓/↑</a:t>
            </a:r>
            <a:endParaRPr lang="en-US" sz="1500" dirty="0"/>
          </a:p>
        </p:txBody>
      </p:sp>
      <p:sp>
        <p:nvSpPr>
          <p:cNvPr id="6" name="Ação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7" name="Dose baixa: predomínio β (↑DC; a RVS pod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predomínio β (↑DC; a RVS pode cair)</a:t>
            </a:r>
            <a:endParaRPr lang="en-US" sz="1600" dirty="0"/>
          </a:p>
        </p:txBody>
      </p:sp>
      <p:sp>
        <p:nvSpPr>
          <p:cNvPr id="8" name="Dose alta: predomínio α1"/>
          <p:cNvSpPr txBox="1"/>
          <p:nvPr/>
        </p:nvSpPr>
        <p:spPr>
          <a:xfrm>
            <a:off x="812800" y="31081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alta: predomínio α1</a:t>
            </a:r>
            <a:endParaRPr lang="en-US" sz="1600" dirty="0"/>
          </a:p>
        </p:txBody>
      </p:sp>
      <p:sp>
        <p:nvSpPr>
          <p:cNvPr id="9" name="Droga de escolha na anafilaxia"/>
          <p:cNvSpPr txBox="1"/>
          <p:nvPr/>
        </p:nvSpPr>
        <p:spPr>
          <a:xfrm>
            <a:off x="812800" y="34815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 de escolha na anafilaxia</a:t>
            </a:r>
            <a:endParaRPr lang="en-US" sz="1600" dirty="0"/>
          </a:p>
        </p:txBody>
      </p:sp>
      <p:sp>
        <p:nvSpPr>
          <p:cNvPr id="10" name="Choque séptico: terceira droga, se a PAM"/>
          <p:cNvSpPr txBox="1"/>
          <p:nvPr/>
        </p:nvSpPr>
        <p:spPr>
          <a:xfrm>
            <a:off x="812800" y="385487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terceira droga, se a PAM seguir baixa com NA + vasopressina</a:t>
            </a:r>
            <a:endParaRPr lang="en-US" sz="1600" dirty="0"/>
          </a:p>
        </p:txBody>
      </p:sp>
      <p:sp>
        <p:nvSpPr>
          <p:cNvPr id="11" name="Dose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12" name="Infusão: 0,01–0,1 mcg/kg/min, mais no re"/>
          <p:cNvSpPr txBox="1"/>
          <p:nvPr/>
        </p:nvSpPr>
        <p:spPr>
          <a:xfrm>
            <a:off x="63246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Infusão: 0,01–0,1 mcg/kg/min, mais no refratário</a:t>
            </a:r>
            <a:endParaRPr lang="en-US" sz="1600" dirty="0"/>
          </a:p>
        </p:txBody>
      </p:sp>
      <p:sp>
        <p:nvSpPr>
          <p:cNvPr id="13" name="Anafilaxia na anestesia: 10–20 mcg EV (g"/>
          <p:cNvSpPr txBox="1"/>
          <p:nvPr/>
        </p:nvSpPr>
        <p:spPr>
          <a:xfrm>
            <a:off x="6324600" y="310815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 na anestesia: 10–20 mcg EV (grau 2) ou 50–100 mcg (grau 3), titulados</a:t>
            </a:r>
            <a:endParaRPr lang="en-US" sz="1600" dirty="0"/>
          </a:p>
        </p:txBody>
      </p:sp>
      <p:sp>
        <p:nvSpPr>
          <p:cNvPr id="14" name="Taquicardia, arritmia e hiperglicemia"/>
          <p:cNvSpPr txBox="1"/>
          <p:nvPr/>
        </p:nvSpPr>
        <p:spPr>
          <a:xfrm>
            <a:off x="6324600" y="37659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hiperglicemia</a:t>
            </a:r>
            <a:endParaRPr lang="en-US" sz="1600" dirty="0"/>
          </a:p>
        </p:txBody>
      </p:sp>
      <p:sp>
        <p:nvSpPr>
          <p:cNvPr id="15" name="O lactato pode subir por efeito β2; aind"/>
          <p:cNvSpPr txBox="1"/>
          <p:nvPr/>
        </p:nvSpPr>
        <p:spPr>
          <a:xfrm>
            <a:off x="6324600" y="41393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lactato pode subir por efeito β2; ainda assim, excluir hipoperfusão</a:t>
            </a:r>
            <a:endParaRPr lang="en-US" sz="1600" dirty="0"/>
          </a:p>
        </p:txBody>
      </p:sp>
      <p:sp>
        <p:nvSpPr>
          <p:cNvPr id="16" name="ANZCA/ANZAAG 2022 · SSC 2026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3" name="Dopamina"/>
          <p:cNvSpPr txBox="1"/>
          <p:nvPr/>
        </p:nvSpPr>
        <p:spPr>
          <a:xfrm>
            <a:off x="812800" y="1535186"/>
            <a:ext cx="50990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4" name="Cartão"/>
          <p:cNvSpPr/>
          <p:nvPr/>
        </p:nvSpPr>
        <p:spPr>
          <a:xfrm>
            <a:off x="812800" y="1925241"/>
            <a:ext cx="5080000" cy="789781"/>
          </a:xfrm>
          <a:prstGeom prst="roundRect">
            <a:avLst>
              <a:gd name="adj" fmla="val 6432"/>
            </a:avLst>
          </a:prstGeom>
          <a:solidFill>
            <a:srgbClr val="EBE6DC"/>
          </a:solidFill>
          <a:ln/>
        </p:spPr>
      </p:sp>
      <p:sp>
        <p:nvSpPr>
          <p:cNvPr id="5" name="Receptores: α1 +++ · β1 +++ · β2 + · D1 "/>
          <p:cNvSpPr txBox="1"/>
          <p:nvPr/>
        </p:nvSpPr>
        <p:spPr>
          <a:xfrm>
            <a:off x="1016000" y="2038283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 · β1 +++ · β2 + · D1 ++++</a:t>
            </a:r>
            <a:endParaRPr lang="en-US" sz="1400" dirty="0"/>
          </a:p>
        </p:txBody>
      </p:sp>
      <p:sp>
        <p:nvSpPr>
          <p:cNvPr id="6" name="Efeito: PAM ↑ · DC ↑ · FC ↑↑"/>
          <p:cNvSpPr txBox="1"/>
          <p:nvPr/>
        </p:nvSpPr>
        <p:spPr>
          <a:xfrm>
            <a:off x="1016000" y="2325224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 · DC ↑ · FC ↑↑</a:t>
            </a:r>
            <a:endParaRPr lang="en-US" sz="1400" dirty="0"/>
          </a:p>
        </p:txBody>
      </p:sp>
      <p:sp>
        <p:nvSpPr>
          <p:cNvPr id="7" name="Efeito dose-dependente e imprevisível: D"/>
          <p:cNvSpPr txBox="1"/>
          <p:nvPr/>
        </p:nvSpPr>
        <p:spPr>
          <a:xfrm>
            <a:off x="812800" y="2826071"/>
            <a:ext cx="50990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e, em dose alta, α1</a:t>
            </a:r>
            <a:endParaRPr lang="en-US" sz="1600" dirty="0"/>
          </a:p>
        </p:txBody>
      </p:sp>
      <p:sp>
        <p:nvSpPr>
          <p:cNvPr id="8" name="Parte do efeito β1 vem da liberação de n"/>
          <p:cNvSpPr txBox="1"/>
          <p:nvPr/>
        </p:nvSpPr>
        <p:spPr>
          <a:xfrm>
            <a:off x="812800" y="348389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do efeito β1 vem da liberação de noradrenalina</a:t>
            </a:r>
            <a:endParaRPr lang="en-US" sz="1600" dirty="0"/>
          </a:p>
        </p:txBody>
      </p:sp>
      <p:sp>
        <p:nvSpPr>
          <p:cNvPr id="9" name="Dose “renal” não protege o rim"/>
          <p:cNvSpPr txBox="1"/>
          <p:nvPr/>
        </p:nvSpPr>
        <p:spPr>
          <a:xfrm>
            <a:off x="812800" y="385725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</a:t>
            </a:r>
            <a:endParaRPr lang="en-US" sz="1600" dirty="0"/>
          </a:p>
        </p:txBody>
      </p:sp>
      <p:sp>
        <p:nvSpPr>
          <p:cNvPr id="10" name="Mais arritmia que a NA: fora da primeira"/>
          <p:cNvSpPr txBox="1"/>
          <p:nvPr/>
        </p:nvSpPr>
        <p:spPr>
          <a:xfrm>
            <a:off x="812800" y="423061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arritmia que a NA: fora da primeira linha no choque</a:t>
            </a:r>
            <a:endParaRPr lang="en-US" sz="1600" dirty="0"/>
          </a:p>
        </p:txBody>
      </p:sp>
      <p:sp>
        <p:nvSpPr>
          <p:cNvPr id="11" name="Dobutamina"/>
          <p:cNvSpPr txBox="1"/>
          <p:nvPr/>
        </p:nvSpPr>
        <p:spPr>
          <a:xfrm>
            <a:off x="6299200" y="1535186"/>
            <a:ext cx="50990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6299200" y="1925241"/>
            <a:ext cx="5080000" cy="789781"/>
          </a:xfrm>
          <a:prstGeom prst="roundRect">
            <a:avLst>
              <a:gd name="adj" fmla="val 6432"/>
            </a:avLst>
          </a:prstGeom>
          <a:solidFill>
            <a:srgbClr val="EBE6DC"/>
          </a:solidFill>
          <a:ln/>
        </p:spPr>
      </p:sp>
      <p:sp>
        <p:nvSpPr>
          <p:cNvPr id="13" name="Receptores: α1 + · β1 ++++ · β2 ++ · D1 "/>
          <p:cNvSpPr txBox="1"/>
          <p:nvPr/>
        </p:nvSpPr>
        <p:spPr>
          <a:xfrm>
            <a:off x="6502400" y="2038283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 · β1 ++++ · β2 ++ · D1 0</a:t>
            </a:r>
            <a:endParaRPr lang="en-US" sz="1400" dirty="0"/>
          </a:p>
        </p:txBody>
      </p:sp>
      <p:sp>
        <p:nvSpPr>
          <p:cNvPr id="14" name="Efeito: DC ↑↑ · FC ↑ · RVS ↓"/>
          <p:cNvSpPr txBox="1"/>
          <p:nvPr/>
        </p:nvSpPr>
        <p:spPr>
          <a:xfrm>
            <a:off x="6502400" y="2325224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DC ↑↑ · FC ↑ · RVS ↓</a:t>
            </a:r>
            <a:endParaRPr lang="en-US" sz="1400" dirty="0"/>
          </a:p>
        </p:txBody>
      </p:sp>
      <p:sp>
        <p:nvSpPr>
          <p:cNvPr id="15" name="Inotrópico β1, com vasodilatação β2"/>
          <p:cNvSpPr txBox="1"/>
          <p:nvPr/>
        </p:nvSpPr>
        <p:spPr>
          <a:xfrm>
            <a:off x="6299200" y="282607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β1, com vasodilatação β2</a:t>
            </a:r>
            <a:endParaRPr lang="en-US" sz="1600" dirty="0"/>
          </a:p>
        </p:txBody>
      </p:sp>
      <p:sp>
        <p:nvSpPr>
          <p:cNvPr id="16" name="Indicada no baixo débito com hipoperfusã"/>
          <p:cNvSpPr txBox="1"/>
          <p:nvPr/>
        </p:nvSpPr>
        <p:spPr>
          <a:xfrm>
            <a:off x="6299200" y="319943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Indicada no baixo débito com hipoperfusão</a:t>
            </a:r>
            <a:endParaRPr lang="en-US" sz="1600" dirty="0"/>
          </a:p>
        </p:txBody>
      </p:sp>
      <p:sp>
        <p:nvSpPr>
          <p:cNvPr id="17" name="Pode baixar a PAM: no paciente hipotenso"/>
          <p:cNvSpPr txBox="1"/>
          <p:nvPr/>
        </p:nvSpPr>
        <p:spPr>
          <a:xfrm>
            <a:off x="6299200" y="3572791"/>
            <a:ext cx="50990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baixar a PAM: no paciente hipotenso, associar vasopressor</a:t>
            </a:r>
            <a:endParaRPr lang="en-US" sz="1600" dirty="0"/>
          </a:p>
        </p:txBody>
      </p:sp>
      <p:sp>
        <p:nvSpPr>
          <p:cNvPr id="18" name="Taquicardia e arritmia limitam a dose"/>
          <p:cNvSpPr txBox="1"/>
          <p:nvPr/>
        </p:nvSpPr>
        <p:spPr>
          <a:xfrm>
            <a:off x="6299200" y="423061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 e arritmia limitam a dose</a:t>
            </a:r>
            <a:endParaRPr lang="en-US" sz="1600" dirty="0"/>
          </a:p>
        </p:txBody>
      </p:sp>
      <p:sp>
        <p:nvSpPr>
          <p:cNvPr id="1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</a:t>
            </a:r>
            <a:endParaRPr lang="en-US" sz="1200" dirty="0"/>
          </a:p>
        </p:txBody>
      </p:sp>
      <p:pic>
        <p:nvPicPr>
          <p:cNvPr id="2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39180"/>
            <a:ext cx="10566400" cy="1130300"/>
          </a:xfrm>
          <a:prstGeom prst="roundRect">
            <a:avLst>
              <a:gd name="adj" fmla="val 4494"/>
            </a:avLst>
          </a:prstGeom>
          <a:solidFill>
            <a:srgbClr val="EBE6DC"/>
          </a:solidFill>
          <a:ln/>
        </p:spPr>
      </p:sp>
      <p:sp>
        <p:nvSpPr>
          <p:cNvPr id="4" name="Mecanismo: inibe a fosfodiesterase 3 (PD"/>
          <p:cNvSpPr txBox="1"/>
          <p:nvPr/>
        </p:nvSpPr>
        <p:spPr>
          <a:xfrm>
            <a:off x="1016000" y="1651226"/>
            <a:ext cx="10179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inibe a fosfodiesterase 3 (PDE3) e aumenta o AMPc sem passar pelo receptor β</a:t>
            </a:r>
            <a:endParaRPr lang="en-US" sz="1500" dirty="0"/>
          </a:p>
        </p:txBody>
      </p:sp>
      <p:sp>
        <p:nvSpPr>
          <p:cNvPr id="5" name="Ação: inotropismo e lusitropismo, com va"/>
          <p:cNvSpPr txBox="1"/>
          <p:nvPr/>
        </p:nvSpPr>
        <p:spPr>
          <a:xfrm>
            <a:off x="1016000" y="1956026"/>
            <a:ext cx="10179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inotropismo e lusitropismo, com vasodilatação sistêmica e pulmonar</a:t>
            </a:r>
            <a:endParaRPr lang="en-US" sz="1500" dirty="0"/>
          </a:p>
        </p:txBody>
      </p:sp>
      <p:sp>
        <p:nvSpPr>
          <p:cNvPr id="6" name="Efeito: DC ↑↑ · RVS ↓ · RVP ↓ · POAP ↓ ·"/>
          <p:cNvSpPr txBox="1"/>
          <p:nvPr/>
        </p:nvSpPr>
        <p:spPr>
          <a:xfrm>
            <a:off x="1016000" y="2260826"/>
            <a:ext cx="10179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DC ↑↑ · RVS ↓ · RVP ↓ · POAP ↓ · PAM ↔/↓ · FC ↔/↑</a:t>
            </a:r>
            <a:endParaRPr lang="en-US" sz="1500" dirty="0"/>
          </a:p>
        </p:txBody>
      </p:sp>
      <p:sp>
        <p:nvSpPr>
          <p:cNvPr id="7" name="Indicações"/>
          <p:cNvSpPr txBox="1"/>
          <p:nvPr/>
        </p:nvSpPr>
        <p:spPr>
          <a:xfrm>
            <a:off x="812800" y="29448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8" name="IC descompensada com baixo débito"/>
          <p:cNvSpPr txBox="1"/>
          <p:nvPr/>
        </p:nvSpPr>
        <p:spPr>
          <a:xfrm>
            <a:off x="812800" y="32935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descompensada com baixo débito</a:t>
            </a:r>
            <a:endParaRPr lang="en-US" sz="1600" dirty="0"/>
          </a:p>
        </p:txBody>
      </p:sp>
      <p:sp>
        <p:nvSpPr>
          <p:cNvPr id="9" name="Baixo débito após CEC"/>
          <p:cNvSpPr txBox="1"/>
          <p:nvPr/>
        </p:nvSpPr>
        <p:spPr>
          <a:xfrm>
            <a:off x="812800" y="36669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após CEC</a:t>
            </a:r>
            <a:endParaRPr lang="en-US" sz="1600" dirty="0"/>
          </a:p>
        </p:txBody>
      </p:sp>
      <p:sp>
        <p:nvSpPr>
          <p:cNvPr id="10" name="Disfunção de VD e hipertensão pulmonar"/>
          <p:cNvSpPr txBox="1"/>
          <p:nvPr/>
        </p:nvSpPr>
        <p:spPr>
          <a:xfrm>
            <a:off x="812800" y="40403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de VD e hipertensão pulmonar</a:t>
            </a:r>
            <a:endParaRPr lang="en-US" sz="1600" dirty="0"/>
          </a:p>
        </p:txBody>
      </p:sp>
      <p:sp>
        <p:nvSpPr>
          <p:cNvPr id="11" name="Ponte para transplante ou assistência ve"/>
          <p:cNvSpPr txBox="1"/>
          <p:nvPr/>
        </p:nvSpPr>
        <p:spPr>
          <a:xfrm>
            <a:off x="812800" y="44136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para transplante ou assistência ventricular</a:t>
            </a:r>
            <a:endParaRPr lang="en-US" sz="1600" dirty="0"/>
          </a:p>
        </p:txBody>
      </p:sp>
      <p:sp>
        <p:nvSpPr>
          <p:cNvPr id="12" name="Preferível à dobutamina em quem usa beta"/>
          <p:cNvSpPr txBox="1"/>
          <p:nvPr/>
        </p:nvSpPr>
        <p:spPr>
          <a:xfrm>
            <a:off x="812800" y="478703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Preferível à dobutamina em quem usa betabloqueador</a:t>
            </a:r>
            <a:endParaRPr lang="en-US" sz="1600" dirty="0"/>
          </a:p>
        </p:txBody>
      </p:sp>
      <p:sp>
        <p:nvSpPr>
          <p:cNvPr id="13" name="Dose e cuidados"/>
          <p:cNvSpPr txBox="1"/>
          <p:nvPr/>
        </p:nvSpPr>
        <p:spPr>
          <a:xfrm>
            <a:off x="6324600" y="29448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14" name="Ataque: 50 mcg/kg em 10 min (muitas veze"/>
          <p:cNvSpPr txBox="1"/>
          <p:nvPr/>
        </p:nvSpPr>
        <p:spPr>
          <a:xfrm>
            <a:off x="6324600" y="32935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Ataque: 50 mcg/kg em 10 min (muitas vezes omitido)</a:t>
            </a:r>
            <a:endParaRPr lang="en-US" sz="1600" dirty="0"/>
          </a:p>
        </p:txBody>
      </p:sp>
      <p:sp>
        <p:nvSpPr>
          <p:cNvPr id="15" name="Manutenção: 0,375–0,75 mcg/kg/min"/>
          <p:cNvSpPr txBox="1"/>
          <p:nvPr/>
        </p:nvSpPr>
        <p:spPr>
          <a:xfrm>
            <a:off x="6324600" y="36669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Manutenção: 0,375–0,75 mcg/kg/min</a:t>
            </a:r>
            <a:endParaRPr lang="en-US" sz="1600" dirty="0"/>
          </a:p>
        </p:txBody>
      </p:sp>
      <p:sp>
        <p:nvSpPr>
          <p:cNvPr id="16" name="Eliminação renal: reduzir na insuficiênc"/>
          <p:cNvSpPr txBox="1"/>
          <p:nvPr/>
        </p:nvSpPr>
        <p:spPr>
          <a:xfrm>
            <a:off x="6324600" y="40403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 renal: reduzir na insuficiência renal</a:t>
            </a:r>
            <a:endParaRPr lang="en-US" sz="1600" dirty="0"/>
          </a:p>
        </p:txBody>
      </p:sp>
      <p:sp>
        <p:nvSpPr>
          <p:cNvPr id="17" name="Hipotensão (associar NA) e arritmias"/>
          <p:cNvSpPr txBox="1"/>
          <p:nvPr/>
        </p:nvSpPr>
        <p:spPr>
          <a:xfrm>
            <a:off x="6324600" y="44136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(associar NA) e arritmias</a:t>
            </a:r>
            <a:endParaRPr lang="en-US" sz="1600" dirty="0"/>
          </a:p>
        </p:txBody>
      </p:sp>
      <p:sp>
        <p:nvSpPr>
          <p:cNvPr id="18" name="Choque cardiogênico: sem diferença signi"/>
          <p:cNvSpPr txBox="1"/>
          <p:nvPr/>
        </p:nvSpPr>
        <p:spPr>
          <a:xfrm>
            <a:off x="6324600" y="47870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cardiogênico: sem diferença significativa vs. dobutamina (DOREMI)</a:t>
            </a:r>
            <a:endParaRPr lang="en-US" sz="1600" dirty="0"/>
          </a:p>
        </p:txBody>
      </p:sp>
      <p:sp>
        <p:nvSpPr>
          <p:cNvPr id="19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· [cap./pág.]</a:t>
            </a:r>
            <a:endParaRPr lang="en-US" sz="1200" dirty="0"/>
          </a:p>
        </p:txBody>
      </p:sp>
      <p:pic>
        <p:nvPicPr>
          <p:cNvPr id="2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3" name="Fenilefrina"/>
          <p:cNvSpPr txBox="1"/>
          <p:nvPr/>
        </p:nvSpPr>
        <p:spPr>
          <a:xfrm>
            <a:off x="812800" y="1535186"/>
            <a:ext cx="50990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4" name="Cartão"/>
          <p:cNvSpPr/>
          <p:nvPr/>
        </p:nvSpPr>
        <p:spPr>
          <a:xfrm>
            <a:off x="812800" y="1925241"/>
            <a:ext cx="5080000" cy="789781"/>
          </a:xfrm>
          <a:prstGeom prst="roundRect">
            <a:avLst>
              <a:gd name="adj" fmla="val 6432"/>
            </a:avLst>
          </a:prstGeom>
          <a:solidFill>
            <a:srgbClr val="EBE6DC"/>
          </a:solidFill>
          <a:ln/>
        </p:spPr>
      </p:sp>
      <p:sp>
        <p:nvSpPr>
          <p:cNvPr id="5" name="Receptores: α1 ++++ · β1 0 · β2 0"/>
          <p:cNvSpPr txBox="1"/>
          <p:nvPr/>
        </p:nvSpPr>
        <p:spPr>
          <a:xfrm>
            <a:off x="1016000" y="2038283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++++ · β1 0 · β2 0</a:t>
            </a:r>
            <a:endParaRPr lang="en-US" sz="1400" dirty="0"/>
          </a:p>
        </p:txBody>
      </p:sp>
      <p:sp>
        <p:nvSpPr>
          <p:cNvPr id="6" name="Efeito: RVS ↑↑ · PAM ↑ · FC ↓ · DC ↔/↓"/>
          <p:cNvSpPr txBox="1"/>
          <p:nvPr/>
        </p:nvSpPr>
        <p:spPr>
          <a:xfrm>
            <a:off x="1016000" y="2325224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RVS ↑↑ · PAM ↑ · FC ↓ · DC ↔/↓</a:t>
            </a:r>
            <a:endParaRPr lang="en-US" sz="1400" dirty="0"/>
          </a:p>
        </p:txBody>
      </p:sp>
      <p:sp>
        <p:nvSpPr>
          <p:cNvPr id="7" name="Agonista α1 direto, sem ação β"/>
          <p:cNvSpPr txBox="1"/>
          <p:nvPr/>
        </p:nvSpPr>
        <p:spPr>
          <a:xfrm>
            <a:off x="812800" y="282607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sem ação β</a:t>
            </a:r>
            <a:endParaRPr lang="en-US" sz="1600" dirty="0"/>
          </a:p>
        </p:txBody>
      </p:sp>
      <p:sp>
        <p:nvSpPr>
          <p:cNvPr id="8" name="Bolus de 50–100 mcg"/>
          <p:cNvSpPr txBox="1"/>
          <p:nvPr/>
        </p:nvSpPr>
        <p:spPr>
          <a:xfrm>
            <a:off x="812800" y="319943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</a:t>
            </a:r>
            <a:endParaRPr lang="en-US" sz="1600" dirty="0"/>
          </a:p>
        </p:txBody>
      </p:sp>
      <p:sp>
        <p:nvSpPr>
          <p:cNvPr id="9" name="A bradicardia reflexa pode reduzir o DC"/>
          <p:cNvSpPr txBox="1"/>
          <p:nvPr/>
        </p:nvSpPr>
        <p:spPr>
          <a:xfrm>
            <a:off x="812800" y="357279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reflexa pode reduzir o DC</a:t>
            </a:r>
            <a:endParaRPr lang="en-US" sz="1600" dirty="0"/>
          </a:p>
        </p:txBody>
      </p:sp>
      <p:sp>
        <p:nvSpPr>
          <p:cNvPr id="10" name="Útil quando a taquicardia é o problema ("/>
          <p:cNvSpPr txBox="1"/>
          <p:nvPr/>
        </p:nvSpPr>
        <p:spPr>
          <a:xfrm>
            <a:off x="812800" y="3946151"/>
            <a:ext cx="50990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quando a taquicardia é o problema (estenose aórtica, conforme o contexto)</a:t>
            </a:r>
            <a:endParaRPr lang="en-US" sz="1600" dirty="0"/>
          </a:p>
        </p:txBody>
      </p:sp>
      <p:sp>
        <p:nvSpPr>
          <p:cNvPr id="11" name="Cesárea: infusão profilática de 25–50 mc"/>
          <p:cNvSpPr txBox="1"/>
          <p:nvPr/>
        </p:nvSpPr>
        <p:spPr>
          <a:xfrm>
            <a:off x="812800" y="460397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Cesárea: infusão profilática de 25–50 mcg/min</a:t>
            </a:r>
            <a:endParaRPr lang="en-US" sz="1600" dirty="0"/>
          </a:p>
        </p:txBody>
      </p:sp>
      <p:sp>
        <p:nvSpPr>
          <p:cNvPr id="12" name="Efedrina"/>
          <p:cNvSpPr txBox="1"/>
          <p:nvPr/>
        </p:nvSpPr>
        <p:spPr>
          <a:xfrm>
            <a:off x="6299200" y="1535186"/>
            <a:ext cx="50990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13" name="Cartão"/>
          <p:cNvSpPr/>
          <p:nvPr/>
        </p:nvSpPr>
        <p:spPr>
          <a:xfrm>
            <a:off x="6299200" y="1925241"/>
            <a:ext cx="5080000" cy="789781"/>
          </a:xfrm>
          <a:prstGeom prst="roundRect">
            <a:avLst>
              <a:gd name="adj" fmla="val 6432"/>
            </a:avLst>
          </a:prstGeom>
          <a:solidFill>
            <a:srgbClr val="EBE6DC"/>
          </a:solidFill>
          <a:ln/>
        </p:spPr>
      </p:sp>
      <p:sp>
        <p:nvSpPr>
          <p:cNvPr id="14" name="Receptores: α1 ++ · β1 ++ · β2 +"/>
          <p:cNvSpPr txBox="1"/>
          <p:nvPr/>
        </p:nvSpPr>
        <p:spPr>
          <a:xfrm>
            <a:off x="6502400" y="2038283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 · β1 ++ · β2 +</a:t>
            </a:r>
            <a:endParaRPr lang="en-US" sz="1400" dirty="0"/>
          </a:p>
        </p:txBody>
      </p:sp>
      <p:sp>
        <p:nvSpPr>
          <p:cNvPr id="15" name="Efeito: PAM ↑ · FC ↑ · DC ↑"/>
          <p:cNvSpPr txBox="1"/>
          <p:nvPr/>
        </p:nvSpPr>
        <p:spPr>
          <a:xfrm>
            <a:off x="6502400" y="2325224"/>
            <a:ext cx="46926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 · FC ↑ · DC ↑</a:t>
            </a:r>
            <a:endParaRPr lang="en-US" sz="1400" dirty="0"/>
          </a:p>
        </p:txBody>
      </p:sp>
      <p:sp>
        <p:nvSpPr>
          <p:cNvPr id="16" name="Ação mista: direta e por liberação de no"/>
          <p:cNvSpPr txBox="1"/>
          <p:nvPr/>
        </p:nvSpPr>
        <p:spPr>
          <a:xfrm>
            <a:off x="6299200" y="282607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 por liberação de noradrenalina</a:t>
            </a:r>
            <a:endParaRPr lang="en-US" sz="1600" dirty="0"/>
          </a:p>
        </p:txBody>
      </p:sp>
      <p:sp>
        <p:nvSpPr>
          <p:cNvPr id="17" name="Bolus de 5–10 mg"/>
          <p:cNvSpPr txBox="1"/>
          <p:nvPr/>
        </p:nvSpPr>
        <p:spPr>
          <a:xfrm>
            <a:off x="6299200" y="319943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</a:t>
            </a:r>
            <a:endParaRPr lang="en-US" sz="1600" dirty="0"/>
          </a:p>
        </p:txBody>
      </p:sp>
      <p:sp>
        <p:nvSpPr>
          <p:cNvPr id="18" name="Boa opção na hipotensão com bradicardia"/>
          <p:cNvSpPr txBox="1"/>
          <p:nvPr/>
        </p:nvSpPr>
        <p:spPr>
          <a:xfrm>
            <a:off x="6299200" y="357279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opção na hipotensão com bradicardia</a:t>
            </a:r>
            <a:endParaRPr lang="en-US" sz="1600" dirty="0"/>
          </a:p>
        </p:txBody>
      </p:sp>
      <p:sp>
        <p:nvSpPr>
          <p:cNvPr id="19" name="Taquifilaxia com doses repetidas"/>
          <p:cNvSpPr txBox="1"/>
          <p:nvPr/>
        </p:nvSpPr>
        <p:spPr>
          <a:xfrm>
            <a:off x="6299200" y="394615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com doses repetidas</a:t>
            </a:r>
            <a:endParaRPr lang="en-US" sz="1600" dirty="0"/>
          </a:p>
        </p:txBody>
      </p:sp>
      <p:sp>
        <p:nvSpPr>
          <p:cNvPr id="20" name="Na cesárea, mais acidose fetal que a fen"/>
          <p:cNvSpPr txBox="1"/>
          <p:nvPr/>
        </p:nvSpPr>
        <p:spPr>
          <a:xfrm>
            <a:off x="6299200" y="4319511"/>
            <a:ext cx="5099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cesárea, mais acidose fetal que a fenilefrina</a:t>
            </a:r>
            <a:endParaRPr lang="en-US" sz="1600" dirty="0"/>
          </a:p>
        </p:txBody>
      </p:sp>
      <p:sp>
        <p:nvSpPr>
          <p:cNvPr id="21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· [cap./pág.]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3" name="Vasopressina"/>
          <p:cNvSpPr txBox="1"/>
          <p:nvPr/>
        </p:nvSpPr>
        <p:spPr>
          <a:xfrm>
            <a:off x="812800" y="15605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700" dirty="0"/>
          </a:p>
        </p:txBody>
      </p:sp>
      <p:sp>
        <p:nvSpPr>
          <p:cNvPr id="4" name="Age no receptor V1, fora da via adrenérg"/>
          <p:cNvSpPr txBox="1"/>
          <p:nvPr/>
        </p:nvSpPr>
        <p:spPr>
          <a:xfrm>
            <a:off x="812800" y="19092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no receptor V1, fora da via adrenérgica</a:t>
            </a:r>
            <a:endParaRPr lang="en-US" sz="1600" dirty="0"/>
          </a:p>
        </p:txBody>
      </p:sp>
      <p:sp>
        <p:nvSpPr>
          <p:cNvPr id="5" name="Dose fixa de 0,03 U/min (até 0,04 U/min)"/>
          <p:cNvSpPr txBox="1"/>
          <p:nvPr/>
        </p:nvSpPr>
        <p:spPr>
          <a:xfrm>
            <a:off x="812800" y="22826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fixa de 0,03 U/min (até 0,04 U/min), sem titulação</a:t>
            </a:r>
            <a:endParaRPr lang="en-US" sz="1600" dirty="0"/>
          </a:p>
        </p:txBody>
      </p:sp>
      <p:sp>
        <p:nvSpPr>
          <p:cNvPr id="6" name="Mantém efeito com acidose e com adrenoce"/>
          <p:cNvSpPr txBox="1"/>
          <p:nvPr/>
        </p:nvSpPr>
        <p:spPr>
          <a:xfrm>
            <a:off x="812800" y="265601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Mantém efeito com acidose e com adrenoceptores dessensibilizados</a:t>
            </a:r>
            <a:endParaRPr lang="en-US" sz="1600" dirty="0"/>
          </a:p>
        </p:txBody>
      </p:sp>
      <p:sp>
        <p:nvSpPr>
          <p:cNvPr id="7" name="Indicações: choque séptico com NA em esc"/>
          <p:cNvSpPr txBox="1"/>
          <p:nvPr/>
        </p:nvSpPr>
        <p:spPr>
          <a:xfrm>
            <a:off x="812800" y="33138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pós-CEC, hipotensão refratária com IECA/BRA</a:t>
            </a:r>
            <a:endParaRPr lang="en-US" sz="1600" dirty="0"/>
          </a:p>
        </p:txBody>
      </p:sp>
      <p:sp>
        <p:nvSpPr>
          <p:cNvPr id="8" name="Adjuvantes"/>
          <p:cNvSpPr txBox="1"/>
          <p:nvPr/>
        </p:nvSpPr>
        <p:spPr>
          <a:xfrm>
            <a:off x="6324600" y="15605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</a:t>
            </a:r>
            <a:endParaRPr lang="en-US" sz="1700" dirty="0"/>
          </a:p>
        </p:txBody>
      </p:sp>
      <p:sp>
        <p:nvSpPr>
          <p:cNvPr id="9" name="Hidrocortisona: restaura a resposta às c"/>
          <p:cNvSpPr txBox="1"/>
          <p:nvPr/>
        </p:nvSpPr>
        <p:spPr>
          <a:xfrm>
            <a:off x="6324600" y="1909289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Hidrocortisona:</a:t>
            </a:r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restaura a resposta às catecolaminas; 200 mg/dia no choque séptico</a:t>
            </a:r>
            <a:endParaRPr lang="en-US" sz="1600" dirty="0"/>
          </a:p>
        </p:txBody>
      </p:sp>
      <p:sp>
        <p:nvSpPr>
          <p:cNvPr id="10" name="Angiotensina II: agonista AT1; eleva a P"/>
          <p:cNvSpPr txBox="1"/>
          <p:nvPr/>
        </p:nvSpPr>
        <p:spPr>
          <a:xfrm>
            <a:off x="6324600" y="256711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II:</a:t>
            </a:r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agonista AT1; eleva a PAM e poupa catecolamina; pouco disponível</a:t>
            </a:r>
            <a:endParaRPr lang="en-US" sz="1600" dirty="0"/>
          </a:p>
        </p:txBody>
      </p:sp>
      <p:sp>
        <p:nvSpPr>
          <p:cNvPr id="11" name="Azul de metileno: bloqueia a via do óxid"/>
          <p:cNvSpPr txBox="1"/>
          <p:nvPr/>
        </p:nvSpPr>
        <p:spPr>
          <a:xfrm>
            <a:off x="6324600" y="3224930"/>
            <a:ext cx="50736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metileno:</a:t>
            </a:r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bloqueia a via do óxido nítrico; resgate na vasoplegia refratária (pós-CEC, reperfusão hepática); evitar com ISRS e na deficiência de G6PD</a:t>
            </a:r>
            <a:endParaRPr lang="en-US" sz="1600" dirty="0"/>
          </a:p>
        </p:txBody>
      </p:sp>
      <p:sp>
        <p:nvSpPr>
          <p:cNvPr id="12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Vasopressores no choque séptico (SSC 2026)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4" name="1. Noradrenalina"/>
          <p:cNvSpPr txBox="1"/>
          <p:nvPr/>
        </p:nvSpPr>
        <p:spPr>
          <a:xfrm>
            <a:off x="996950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Noradrenalina</a:t>
            </a:r>
            <a:endParaRPr lang="en-US" sz="1500" dirty="0"/>
          </a:p>
        </p:txBody>
      </p:sp>
      <p:sp>
        <p:nvSpPr>
          <p:cNvPr id="5" name="Primeira linha, iniciada cedo; pode come"/>
          <p:cNvSpPr txBox="1"/>
          <p:nvPr/>
        </p:nvSpPr>
        <p:spPr>
          <a:xfrm>
            <a:off x="996950" y="1986595"/>
            <a:ext cx="2766516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linha, iniciada cedo; pode começar em veia periférica</a:t>
            </a:r>
            <a:endParaRPr lang="en-US" sz="1300" dirty="0"/>
          </a:p>
        </p:txBody>
      </p:sp>
      <p:sp>
        <p:nvSpPr>
          <p:cNvPr id="6" name="Seta"/>
          <p:cNvSpPr/>
          <p:nvPr/>
        </p:nvSpPr>
        <p:spPr>
          <a:xfrm>
            <a:off x="4055566" y="1990923"/>
            <a:ext cx="355600" cy="2032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7" name="Cartão"/>
          <p:cNvSpPr/>
          <p:nvPr/>
        </p:nvSpPr>
        <p:spPr>
          <a:xfrm>
            <a:off x="4538166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8" name="2. + Vasopressina"/>
          <p:cNvSpPr txBox="1"/>
          <p:nvPr/>
        </p:nvSpPr>
        <p:spPr>
          <a:xfrm>
            <a:off x="4722316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+ Vasopressina</a:t>
            </a:r>
            <a:endParaRPr lang="en-US" sz="1500" dirty="0"/>
          </a:p>
        </p:txBody>
      </p:sp>
      <p:sp>
        <p:nvSpPr>
          <p:cNvPr id="9" name="Quando a dose de NA está subindo"/>
          <p:cNvSpPr txBox="1"/>
          <p:nvPr/>
        </p:nvSpPr>
        <p:spPr>
          <a:xfrm>
            <a:off x="4722316" y="1986595"/>
            <a:ext cx="276651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</a:t>
            </a:r>
            <a:endParaRPr lang="en-US" sz="1300" dirty="0"/>
          </a:p>
        </p:txBody>
      </p:sp>
      <p:sp>
        <p:nvSpPr>
          <p:cNvPr id="10" name="Seta"/>
          <p:cNvSpPr/>
          <p:nvPr/>
        </p:nvSpPr>
        <p:spPr>
          <a:xfrm>
            <a:off x="7780933" y="1990923"/>
            <a:ext cx="355600" cy="2032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1" name="Cartão"/>
          <p:cNvSpPr/>
          <p:nvPr/>
        </p:nvSpPr>
        <p:spPr>
          <a:xfrm>
            <a:off x="8263533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12" name="3. + Adrenalina"/>
          <p:cNvSpPr txBox="1"/>
          <p:nvPr/>
        </p:nvSpPr>
        <p:spPr>
          <a:xfrm>
            <a:off x="8447683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+ Adrenalina</a:t>
            </a:r>
            <a:endParaRPr lang="en-US" sz="1500" dirty="0"/>
          </a:p>
        </p:txBody>
      </p:sp>
      <p:sp>
        <p:nvSpPr>
          <p:cNvPr id="13" name="Se a PAM continuar inadequada"/>
          <p:cNvSpPr txBox="1"/>
          <p:nvPr/>
        </p:nvSpPr>
        <p:spPr>
          <a:xfrm>
            <a:off x="8447683" y="1986595"/>
            <a:ext cx="276651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</a:t>
            </a:r>
            <a:endParaRPr lang="en-US" sz="1300" dirty="0"/>
          </a:p>
        </p:txBody>
      </p:sp>
      <p:sp>
        <p:nvSpPr>
          <p:cNvPr id="14" name="Alvo inicial: PAM de 65 mmHg (60–65 mmHg"/>
          <p:cNvSpPr txBox="1"/>
          <p:nvPr/>
        </p:nvSpPr>
        <p:spPr>
          <a:xfrm>
            <a:off x="812800" y="2909315"/>
            <a:ext cx="105854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inicial: PAM de 65 mmHg (60–65 mmHg a partir dos 65 anos)</a:t>
            </a:r>
            <a:endParaRPr lang="en-US" sz="1600" dirty="0"/>
          </a:p>
        </p:txBody>
      </p:sp>
      <p:sp>
        <p:nvSpPr>
          <p:cNvPr id="15" name="Antecipar a vasopressina como regra não "/>
          <p:cNvSpPr txBox="1"/>
          <p:nvPr/>
        </p:nvSpPr>
        <p:spPr>
          <a:xfrm>
            <a:off x="812800" y="3282675"/>
            <a:ext cx="105854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a vasopressina como regra não reduziu a mortalidade (VASSPR)</a:t>
            </a:r>
            <a:endParaRPr lang="en-US" sz="1600" dirty="0"/>
          </a:p>
        </p:txBody>
      </p:sp>
      <p:sp>
        <p:nvSpPr>
          <p:cNvPr id="16" name="Disfunção cardíaca com hipoperfusão: dob"/>
          <p:cNvSpPr txBox="1"/>
          <p:nvPr/>
        </p:nvSpPr>
        <p:spPr>
          <a:xfrm>
            <a:off x="812800" y="3656036"/>
            <a:ext cx="105854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com hipoperfusão: dobutamina + NA, ou adrenalina</a:t>
            </a:r>
            <a:endParaRPr lang="en-US" sz="1600" dirty="0"/>
          </a:p>
        </p:txBody>
      </p:sp>
      <p:sp>
        <p:nvSpPr>
          <p:cNvPr id="17" name="Hidrocortisona EV: sugerida. Levosimenda"/>
          <p:cNvSpPr txBox="1"/>
          <p:nvPr/>
        </p:nvSpPr>
        <p:spPr>
          <a:xfrm>
            <a:off x="812800" y="4029396"/>
            <a:ext cx="105854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EV: sugerida. Levosimendana e terlipressina: contra</a:t>
            </a:r>
            <a:endParaRPr lang="en-US" sz="1600" dirty="0"/>
          </a:p>
        </p:txBody>
      </p:sp>
      <p:sp>
        <p:nvSpPr>
          <p:cNvPr id="18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graphicFrame>
        <p:nvGraphicFramePr>
          <p:cNvPr id="1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400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2547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após indução ou neuroeixo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 50–100 mcg ou NA 5–10 mcg em bolus; NA em infusão se persistir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 e liberação de 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débito, disfunção de VD ou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milrinona, com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Inotropismo; a milrinona também reduz a RVP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 refratária: pós-CEC, IECA/BRA, reperfusão hepática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Vasopressina; azul de metileno como resgate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Outras vias: V1 e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750"/>
                        </a:lnSpc>
                        <a:buNone/>
                      </a:pPr>
                      <a:r>
                        <a:rPr lang="pt-BR" alt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 ≥90% da basal; NA com menos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Antes da droga, afastar plano anestésico"/>
          <p:cNvSpPr txBox="1"/>
          <p:nvPr/>
        </p:nvSpPr>
        <p:spPr>
          <a:xfrm>
            <a:off x="812800" y="5172619"/>
            <a:ext cx="10585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droga, afastar plano anestésico profundo, hipovolemia, compressão aortocava, pneumotórax e anafilaxia.</a:t>
            </a:r>
            <a:endParaRPr lang="en-US" sz="1500" dirty="0"/>
          </a:p>
        </p:txBody>
      </p:sp>
      <p:sp>
        <p:nvSpPr>
          <p:cNvPr id="5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· [cap./pág.]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3" name="PAM abaixo de 65 mmHg, mesmo por pouco t"/>
          <p:cNvSpPr txBox="1"/>
          <p:nvPr/>
        </p:nvSpPr>
        <p:spPr>
          <a:xfrm>
            <a:off x="812800" y="1590577"/>
            <a:ext cx="105854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700"/>
              </a:lnSpc>
              <a:buSzPct val="100000"/>
              <a:buChar char="•"/>
            </a:pPr>
            <a:r>
              <a:rPr lang="pt-BR" altLang="en-US" sz="18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abaixo de 65 mmHg, mesmo por pouco tempo, associa-se a lesão renal aguda, lesão miocárdica e delirium</a:t>
            </a:r>
            <a:endParaRPr lang="en-US" sz="1800" dirty="0"/>
          </a:p>
        </p:txBody>
      </p:sp>
      <p:sp>
        <p:nvSpPr>
          <p:cNvPr id="4" name="Piso de PAM ≥60 mmHg em pacientes de ris"/>
          <p:cNvSpPr txBox="1"/>
          <p:nvPr/>
        </p:nvSpPr>
        <p:spPr>
          <a:xfrm>
            <a:off x="812800" y="2365277"/>
            <a:ext cx="105854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700"/>
              </a:lnSpc>
              <a:buSzPct val="100000"/>
              <a:buChar char="•"/>
            </a:pPr>
            <a:r>
              <a:rPr lang="pt-BR" altLang="en-US" sz="18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de PAM ≥60 mmHg em pacientes de risco (POQI 2024): é limite mínimo, não garantia de perfusão; com pressão venosa alta, o alvo é maior</a:t>
            </a:r>
            <a:endParaRPr lang="en-US" sz="1800" dirty="0"/>
          </a:p>
        </p:txBody>
      </p:sp>
      <p:sp>
        <p:nvSpPr>
          <p:cNvPr id="5" name="Alvo mais alto (PAM ≥80 mmHg) só em paci"/>
          <p:cNvSpPr txBox="1"/>
          <p:nvPr/>
        </p:nvSpPr>
        <p:spPr>
          <a:xfrm>
            <a:off x="812800" y="3139977"/>
            <a:ext cx="105854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700"/>
              </a:lnSpc>
              <a:buSzPct val="100000"/>
              <a:buChar char="•"/>
            </a:pPr>
            <a:r>
              <a:rPr lang="pt-BR" altLang="en-US" sz="18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mais alto (PAM ≥80 mmHg) só em pacientes selecionados, como hipertensos de alto risco (HISTAP)</a:t>
            </a:r>
            <a:endParaRPr lang="en-US" sz="1800" dirty="0"/>
          </a:p>
        </p:txBody>
      </p:sp>
      <p:sp>
        <p:nvSpPr>
          <p:cNvPr id="6" name="Manejo proativo: antecipar a hipotensão "/>
          <p:cNvSpPr txBox="1"/>
          <p:nvPr/>
        </p:nvSpPr>
        <p:spPr>
          <a:xfrm>
            <a:off x="812800" y="3571777"/>
            <a:ext cx="105854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700"/>
              </a:lnSpc>
              <a:buSzPct val="100000"/>
              <a:buChar char="•"/>
            </a:pPr>
            <a:r>
              <a:rPr lang="pt-BR" altLang="en-US" sz="18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proativo: antecipar a hipotensão e usar monitorização funcional (VPP, volume sistólico, eco) para escolher entre volume, vasopressor e inotrópico</a:t>
            </a:r>
            <a:endParaRPr lang="en-US" sz="1800" dirty="0"/>
          </a:p>
        </p:txBody>
      </p:sp>
      <p:sp>
        <p:nvSpPr>
          <p:cNvPr id="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SIAARTI, Intensive Care Med 2026 (HISTAP)</a:t>
            </a:r>
            <a:endParaRPr lang="en-US" sz="1200" dirty="0"/>
          </a:p>
        </p:txBody>
      </p:sp>
      <p:pic>
        <p:nvPicPr>
          <p:cNvPr id="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Mensagens finais</a:t>
            </a:r>
            <a:endParaRPr lang="en-US" sz="3200" dirty="0"/>
          </a:p>
        </p:txBody>
      </p:sp>
      <p:graphicFrame>
        <p:nvGraphicFramePr>
          <p:cNvPr id="1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664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98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29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milrinona (com vasopressor se a PAM cair) ou 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29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29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29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29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960"/>
                        </a:lnSpc>
                        <a:buNone/>
                      </a:pPr>
                      <a:r>
                        <a:rPr lang="pt-BR" alt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cedo, com PAM ≥60–65 mmHg como piso e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ara discussão: no nosso serviço, quando"/>
          <p:cNvSpPr txBox="1"/>
          <p:nvPr/>
        </p:nvSpPr>
        <p:spPr>
          <a:xfrm>
            <a:off x="812800" y="4876153"/>
            <a:ext cx="105854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discussão: no nosso serviço, quando usamos milrinona em vez de dobutamina? E quando associamos vasopressina?</a:t>
            </a:r>
            <a:endParaRPr lang="en-US" sz="1500" dirty="0"/>
          </a:p>
        </p:txBody>
      </p:sp>
      <p:sp>
        <p:nvSpPr>
          <p:cNvPr id="5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356592"/>
            <a:ext cx="107188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pt-BR" altLang="en-US" sz="4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</a:t>
            </a:r>
            <a:endParaRPr lang="en-US" sz="4000" dirty="0"/>
          </a:p>
        </p:txBody>
      </p:sp>
      <p:sp>
        <p:nvSpPr>
          <p:cNvPr id="3" name="Material de apoio para as perguntas; não"/>
          <p:cNvSpPr txBox="1"/>
          <p:nvPr/>
        </p:nvSpPr>
        <p:spPr>
          <a:xfrm>
            <a:off x="812800" y="317680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 para as perguntas; não entra nos 15 minutos.</a:t>
            </a:r>
            <a:endParaRPr lang="en-US" sz="1600" dirty="0"/>
          </a:p>
        </p:txBody>
      </p:sp>
      <p:sp>
        <p:nvSpPr>
          <p:cNvPr id="4" name="Resumo das drogas · Dopamina · Dobutamin"/>
          <p:cNvSpPr txBox="1"/>
          <p:nvPr/>
        </p:nvSpPr>
        <p:spPr>
          <a:xfrm>
            <a:off x="812800" y="3706595"/>
            <a:ext cx="95440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das drogas · Dopamina · Dobutamina · Fenilefrina · Efedrina · Vasopressina · Choque refratário · Sequência da SSC 2026 · Alvo de PAM no choque séptico · Início precoce e via periférica · Estudos de alvo no intraoperatório · Roteiro · Referências</a:t>
            </a:r>
            <a:endParaRPr lang="en-US" sz="1400" dirty="0"/>
          </a:p>
        </p:txBody>
      </p:sp>
      <p:pic>
        <p:nvPicPr>
          <p:cNvPr id="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Resumo das drogas</a:t>
            </a:r>
            <a:endParaRPr lang="en-US" sz="3200" dirty="0"/>
          </a:p>
        </p:txBody>
      </p:sp>
      <p:graphicFrame>
        <p:nvGraphicFramePr>
          <p:cNvPr id="1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739577"/>
                <a:gridCol w="739577"/>
                <a:gridCol w="739577"/>
                <a:gridCol w="739577"/>
                <a:gridCol w="2430264"/>
                <a:gridCol w="3381573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linha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scala qualitativa (0 a ++++), não afin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não afinidade medida · faixas usuais, titular pelo efeito · Overgaard &amp; Džavík, Circulation 2008</a:t>
            </a:r>
            <a:endParaRPr lang="en-US" sz="1200" dirty="0"/>
          </a:p>
        </p:txBody>
      </p:sp>
      <p:pic>
        <p:nvPicPr>
          <p:cNvPr id="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++ · β1 +++ · β2 + · D1 "/>
          <p:cNvSpPr txBox="1"/>
          <p:nvPr/>
        </p:nvSpPr>
        <p:spPr>
          <a:xfrm>
            <a:off x="1016000" y="1676626"/>
            <a:ext cx="34363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 · β1 +++ · β2 + · D1 ++++</a:t>
            </a:r>
            <a:endParaRPr lang="en-US" sz="1500" dirty="0"/>
          </a:p>
        </p:txBody>
      </p:sp>
      <p:sp>
        <p:nvSpPr>
          <p:cNvPr id="5" name="Efeito: PAM ↑ · DC ↑ · FC ↑↑ · RVS ↔/↑"/>
          <p:cNvSpPr txBox="1"/>
          <p:nvPr/>
        </p:nvSpPr>
        <p:spPr>
          <a:xfrm>
            <a:off x="4788892" y="1676626"/>
            <a:ext cx="34137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 · DC ↑ · FC ↑↑ · RVS ↔/↑</a:t>
            </a:r>
            <a:endParaRPr lang="en-US" sz="1500" dirty="0"/>
          </a:p>
        </p:txBody>
      </p:sp>
      <p:sp>
        <p:nvSpPr>
          <p:cNvPr id="6" name="Dose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7" name="2–20 mcg/kg/min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2–20 mcg/kg/min</a:t>
            </a:r>
            <a:endParaRPr lang="en-US" sz="1600" dirty="0"/>
          </a:p>
        </p:txBody>
      </p:sp>
      <p:sp>
        <p:nvSpPr>
          <p:cNvPr id="8" name="Até ~3: D1 (vasodilatação renal e mesent"/>
          <p:cNvSpPr txBox="1"/>
          <p:nvPr/>
        </p:nvSpPr>
        <p:spPr>
          <a:xfrm>
            <a:off x="812800" y="31081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~3: D1 (vasodilatação renal e mesentérica)</a:t>
            </a:r>
            <a:endParaRPr lang="en-US" sz="1600" dirty="0"/>
          </a:p>
        </p:txBody>
      </p:sp>
      <p:sp>
        <p:nvSpPr>
          <p:cNvPr id="9" name="3–10: β1, em parte por liberação de nora"/>
          <p:cNvSpPr txBox="1"/>
          <p:nvPr/>
        </p:nvSpPr>
        <p:spPr>
          <a:xfrm>
            <a:off x="812800" y="34815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3–10: β1, em parte por liberação de noradrenalina</a:t>
            </a:r>
            <a:endParaRPr lang="en-US" sz="1600" dirty="0"/>
          </a:p>
        </p:txBody>
      </p:sp>
      <p:sp>
        <p:nvSpPr>
          <p:cNvPr id="10" name="Acima de 10: α1"/>
          <p:cNvSpPr txBox="1"/>
          <p:nvPr/>
        </p:nvSpPr>
        <p:spPr>
          <a:xfrm>
            <a:off x="812800" y="38548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10: α1</a:t>
            </a:r>
            <a:endParaRPr lang="en-US" sz="1600" dirty="0"/>
          </a:p>
        </p:txBody>
      </p:sp>
      <p:sp>
        <p:nvSpPr>
          <p:cNvPr id="11" name="Os limiares variam muito entre pacientes"/>
          <p:cNvSpPr txBox="1"/>
          <p:nvPr/>
        </p:nvSpPr>
        <p:spPr>
          <a:xfrm>
            <a:off x="812800" y="422823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limiares variam muito entre pacientes</a:t>
            </a:r>
            <a:endParaRPr lang="en-US" sz="1600" dirty="0"/>
          </a:p>
        </p:txBody>
      </p:sp>
      <p:sp>
        <p:nvSpPr>
          <p:cNvPr id="12" name="Evidência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13" name="Dose “renal” não protege o rim (ANZICS)"/>
          <p:cNvSpPr txBox="1"/>
          <p:nvPr/>
        </p:nvSpPr>
        <p:spPr>
          <a:xfrm>
            <a:off x="63246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(ANZICS)</a:t>
            </a:r>
            <a:endParaRPr lang="en-US" sz="1600" dirty="0"/>
          </a:p>
        </p:txBody>
      </p:sp>
      <p:sp>
        <p:nvSpPr>
          <p:cNvPr id="14" name="SOAP II: arritmias 24,1% vs. 12,4% com N"/>
          <p:cNvSpPr txBox="1"/>
          <p:nvPr/>
        </p:nvSpPr>
        <p:spPr>
          <a:xfrm>
            <a:off x="6324600" y="31081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II: arritmias 24,1% vs. 12,4% com NA</a:t>
            </a:r>
            <a:endParaRPr lang="en-US" sz="1600" dirty="0"/>
          </a:p>
        </p:txBody>
      </p:sp>
      <p:sp>
        <p:nvSpPr>
          <p:cNvPr id="15" name="Mortalidade maior no subgrupo cardiogêni"/>
          <p:cNvSpPr txBox="1"/>
          <p:nvPr/>
        </p:nvSpPr>
        <p:spPr>
          <a:xfrm>
            <a:off x="6324600" y="34815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maior no subgrupo cardiogênico (SOAP II)</a:t>
            </a:r>
            <a:endParaRPr lang="en-US" sz="1600" dirty="0"/>
          </a:p>
        </p:txBody>
      </p:sp>
      <p:sp>
        <p:nvSpPr>
          <p:cNvPr id="16" name="SSC 2026: contra como primeira linha (fo"/>
          <p:cNvSpPr txBox="1"/>
          <p:nvPr/>
        </p:nvSpPr>
        <p:spPr>
          <a:xfrm>
            <a:off x="6324600" y="38548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2026: contra como primeira linha (forte, certeza alta)</a:t>
            </a:r>
            <a:endParaRPr lang="en-US" sz="1600" dirty="0"/>
          </a:p>
        </p:txBody>
      </p:sp>
      <p:sp>
        <p:nvSpPr>
          <p:cNvPr id="1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 · β1 ++++ · β2 ++ · D1 "/>
          <p:cNvSpPr txBox="1"/>
          <p:nvPr/>
        </p:nvSpPr>
        <p:spPr>
          <a:xfrm>
            <a:off x="1016000" y="1676626"/>
            <a:ext cx="3153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 · β1 ++++ · β2 ++ · D1 0</a:t>
            </a:r>
            <a:endParaRPr lang="en-US" sz="1500" dirty="0"/>
          </a:p>
        </p:txBody>
      </p:sp>
      <p:sp>
        <p:nvSpPr>
          <p:cNvPr id="5" name="Efeito: DC ↑↑ · FC ↑ · RVS ↓ · PAM ↔/↓"/>
          <p:cNvSpPr txBox="1"/>
          <p:nvPr/>
        </p:nvSpPr>
        <p:spPr>
          <a:xfrm>
            <a:off x="4505920" y="1676626"/>
            <a:ext cx="34137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DC ↑↑ · FC ↑ · RVS ↓ · PAM ↔/↓</a:t>
            </a:r>
            <a:endParaRPr lang="en-US" sz="1500" dirty="0"/>
          </a:p>
        </p:txBody>
      </p:sp>
      <p:sp>
        <p:nvSpPr>
          <p:cNvPr id="6" name="Dose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7" name="2,5–20 mcg/kg/min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endParaRPr lang="en-US" sz="1600" dirty="0"/>
          </a:p>
        </p:txBody>
      </p:sp>
      <p:sp>
        <p:nvSpPr>
          <p:cNvPr id="8" name="Mistura racêmica: os efeitos α1 se anula"/>
          <p:cNvSpPr txBox="1"/>
          <p:nvPr/>
        </p:nvSpPr>
        <p:spPr>
          <a:xfrm>
            <a:off x="812800" y="310815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 racêmica: os efeitos α1 se anulam; efeito final β1, com vasodilatação β2</a:t>
            </a:r>
            <a:endParaRPr lang="en-US" sz="1600" dirty="0"/>
          </a:p>
        </p:txBody>
      </p:sp>
      <p:sp>
        <p:nvSpPr>
          <p:cNvPr id="9" name="SSC 2026: na disfunção cardíaca com hipo"/>
          <p:cNvSpPr txBox="1"/>
          <p:nvPr/>
        </p:nvSpPr>
        <p:spPr>
          <a:xfrm>
            <a:off x="812800" y="376597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2026: na disfunção cardíaca com hipoperfusão, associar à NA ou usar adrenalina</a:t>
            </a:r>
            <a:endParaRPr lang="en-US" sz="1600" dirty="0"/>
          </a:p>
        </p:txBody>
      </p:sp>
      <p:sp>
        <p:nvSpPr>
          <p:cNvPr id="10" name="Evidência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11" name="Taquicardia, arritmia e maior consumo mi"/>
          <p:cNvSpPr txBox="1"/>
          <p:nvPr/>
        </p:nvSpPr>
        <p:spPr>
          <a:xfrm>
            <a:off x="6324600" y="2734789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</a:t>
            </a:r>
            <a:endParaRPr lang="en-US" sz="1600" dirty="0"/>
          </a:p>
        </p:txBody>
      </p:sp>
      <p:sp>
        <p:nvSpPr>
          <p:cNvPr id="12" name="Tolerância após uso prolongado"/>
          <p:cNvSpPr txBox="1"/>
          <p:nvPr/>
        </p:nvSpPr>
        <p:spPr>
          <a:xfrm>
            <a:off x="6324600" y="33926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Tolerância após uso prolongado</a:t>
            </a:r>
            <a:endParaRPr lang="en-US" sz="1600" dirty="0"/>
          </a:p>
        </p:txBody>
      </p:sp>
      <p:sp>
        <p:nvSpPr>
          <p:cNvPr id="13" name="Hipotensão no paciente hipovolêmico ou v"/>
          <p:cNvSpPr txBox="1"/>
          <p:nvPr/>
        </p:nvSpPr>
        <p:spPr>
          <a:xfrm>
            <a:off x="6324600" y="37659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no paciente hipovolêmico ou vasoplégico</a:t>
            </a:r>
            <a:endParaRPr lang="en-US" sz="1600" dirty="0"/>
          </a:p>
        </p:txBody>
      </p:sp>
      <p:sp>
        <p:nvSpPr>
          <p:cNvPr id="14" name="DOREMI: sem diferença estatisticamente s"/>
          <p:cNvSpPr txBox="1"/>
          <p:nvPr/>
        </p:nvSpPr>
        <p:spPr>
          <a:xfrm>
            <a:off x="6324600" y="41393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DOREMI: sem diferença estatisticamente significativa vs. milrinona no desfecho composto (54% vs. 49%)</a:t>
            </a:r>
            <a:endParaRPr lang="en-US" sz="1600" dirty="0"/>
          </a:p>
        </p:txBody>
      </p:sp>
      <p:sp>
        <p:nvSpPr>
          <p:cNvPr id="15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+++ · β1 0 · β2 0 · D1 0"/>
          <p:cNvSpPr txBox="1"/>
          <p:nvPr/>
        </p:nvSpPr>
        <p:spPr>
          <a:xfrm>
            <a:off x="1016000" y="1676626"/>
            <a:ext cx="306189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++++ · β1 0 · β2 0 · D1 0</a:t>
            </a:r>
            <a:endParaRPr lang="en-US" sz="1500" dirty="0"/>
          </a:p>
        </p:txBody>
      </p:sp>
      <p:sp>
        <p:nvSpPr>
          <p:cNvPr id="5" name="Efeito: PAM ↑ · RVS ↑↑ · FC ↓ · DC ↔/↓"/>
          <p:cNvSpPr txBox="1"/>
          <p:nvPr/>
        </p:nvSpPr>
        <p:spPr>
          <a:xfrm>
            <a:off x="4414441" y="1676626"/>
            <a:ext cx="341372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 · RVS ↑↑ · FC ↓ · DC ↔/↓</a:t>
            </a:r>
            <a:endParaRPr lang="en-US" sz="1500" dirty="0"/>
          </a:p>
        </p:txBody>
      </p:sp>
      <p:sp>
        <p:nvSpPr>
          <p:cNvPr id="6" name="Dose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7" name="Bolus de 50–100 mcg; início imediato e e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mcg; início imediato e efeito curto</a:t>
            </a:r>
            <a:endParaRPr lang="en-US" sz="1600" dirty="0"/>
          </a:p>
        </p:txBody>
      </p:sp>
      <p:sp>
        <p:nvSpPr>
          <p:cNvPr id="8" name="Cesárea sob raqui: infusão profilática d"/>
          <p:cNvSpPr txBox="1"/>
          <p:nvPr/>
        </p:nvSpPr>
        <p:spPr>
          <a:xfrm>
            <a:off x="812800" y="310815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Cesárea sob raqui: infusão profilática de 25–50 mcg/min, mantendo a PAS ≥90% da basal</a:t>
            </a:r>
            <a:endParaRPr lang="en-US" sz="1600" dirty="0"/>
          </a:p>
        </p:txBody>
      </p:sp>
      <p:sp>
        <p:nvSpPr>
          <p:cNvPr id="9" name="Útil na vasodilatação com FC normal ou a"/>
          <p:cNvSpPr txBox="1"/>
          <p:nvPr/>
        </p:nvSpPr>
        <p:spPr>
          <a:xfrm>
            <a:off x="812800" y="376597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na vasodilatação com FC normal ou alta</a:t>
            </a:r>
            <a:endParaRPr lang="en-US" sz="1600" dirty="0"/>
          </a:p>
        </p:txBody>
      </p:sp>
      <p:sp>
        <p:nvSpPr>
          <p:cNvPr id="10" name="Conforme o contexto: estenose aórtica, o"/>
          <p:cNvSpPr txBox="1"/>
          <p:nvPr/>
        </p:nvSpPr>
        <p:spPr>
          <a:xfrm>
            <a:off x="812800" y="41393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contexto: estenose aórtica, obstrução dinâmica da via de saída do VE</a:t>
            </a:r>
            <a:endParaRPr lang="en-US" sz="1600" dirty="0"/>
          </a:p>
        </p:txBody>
      </p:sp>
      <p:sp>
        <p:nvSpPr>
          <p:cNvPr id="11" name="Evidência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12" name="O barorreflexo reduz a FC e pode reduzir"/>
          <p:cNvSpPr txBox="1"/>
          <p:nvPr/>
        </p:nvSpPr>
        <p:spPr>
          <a:xfrm>
            <a:off x="6324600" y="2734789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barorreflexo reduz a FC e pode reduzir o DC, sobretudo com disfunção de VE</a:t>
            </a:r>
            <a:endParaRPr lang="en-US" sz="1600" dirty="0"/>
          </a:p>
        </p:txBody>
      </p:sp>
      <p:sp>
        <p:nvSpPr>
          <p:cNvPr id="13" name="Cesárea: NA 6 mcg em bolus causou menos "/>
          <p:cNvSpPr txBox="1"/>
          <p:nvPr/>
        </p:nvSpPr>
        <p:spPr>
          <a:xfrm>
            <a:off x="6324600" y="339261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Cesárea: NA 6 mcg em bolus causou menos bradicardia que fenilefrina 100 mcg (10,7% vs. 37,5%)</a:t>
            </a:r>
            <a:endParaRPr lang="en-US" sz="1600" dirty="0"/>
          </a:p>
        </p:txBody>
      </p:sp>
      <p:sp>
        <p:nvSpPr>
          <p:cNvPr id="14" name="Choque séptico: sem evidência para uso c"/>
          <p:cNvSpPr txBox="1"/>
          <p:nvPr/>
        </p:nvSpPr>
        <p:spPr>
          <a:xfrm>
            <a:off x="6324600" y="405043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sem evidência para uso como primeira linha</a:t>
            </a:r>
            <a:endParaRPr lang="en-US" sz="1600" dirty="0"/>
          </a:p>
        </p:txBody>
      </p:sp>
      <p:sp>
        <p:nvSpPr>
          <p:cNvPr id="15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10566400" cy="520700"/>
          </a:xfrm>
          <a:prstGeom prst="roundRect">
            <a:avLst>
              <a:gd name="adj" fmla="val 9756"/>
            </a:avLst>
          </a:prstGeom>
          <a:solidFill>
            <a:srgbClr val="EBE6DC"/>
          </a:solidFill>
          <a:ln/>
        </p:spPr>
      </p:sp>
      <p:sp>
        <p:nvSpPr>
          <p:cNvPr id="4" name="Receptores: α1 ++ · β1 ++ · β2 + · D1 0"/>
          <p:cNvSpPr txBox="1"/>
          <p:nvPr/>
        </p:nvSpPr>
        <p:spPr>
          <a:xfrm>
            <a:off x="1016000" y="1676626"/>
            <a:ext cx="296366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α1 ++ · β1 ++ · β2 + · D1 0</a:t>
            </a:r>
            <a:endParaRPr lang="en-US" sz="1500" dirty="0"/>
          </a:p>
        </p:txBody>
      </p:sp>
      <p:sp>
        <p:nvSpPr>
          <p:cNvPr id="5" name="Efeito: PAM ↑ · FC ↑ · DC ↑ · RVS ↔/↑"/>
          <p:cNvSpPr txBox="1"/>
          <p:nvPr/>
        </p:nvSpPr>
        <p:spPr>
          <a:xfrm>
            <a:off x="4316214" y="1676626"/>
            <a:ext cx="324127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Efeito:</a:t>
            </a:r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PAM ↑ · FC ↑ · DC ↑ · RVS ↔/↑</a:t>
            </a:r>
            <a:endParaRPr lang="en-US" sz="1500" dirty="0"/>
          </a:p>
        </p:txBody>
      </p:sp>
      <p:sp>
        <p:nvSpPr>
          <p:cNvPr id="6" name="Dose e uso"/>
          <p:cNvSpPr txBox="1"/>
          <p:nvPr/>
        </p:nvSpPr>
        <p:spPr>
          <a:xfrm>
            <a:off x="8128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7" name="Bolus de 5–10 mg EV, repetível"/>
          <p:cNvSpPr txBox="1"/>
          <p:nvPr/>
        </p:nvSpPr>
        <p:spPr>
          <a:xfrm>
            <a:off x="8128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</a:t>
            </a:r>
            <a:endParaRPr lang="en-US" sz="1600" dirty="0"/>
          </a:p>
        </p:txBody>
      </p:sp>
      <p:sp>
        <p:nvSpPr>
          <p:cNvPr id="8" name="Ação direta (α e β) e indireta, liberand"/>
          <p:cNvSpPr txBox="1"/>
          <p:nvPr/>
        </p:nvSpPr>
        <p:spPr>
          <a:xfrm>
            <a:off x="812800" y="31081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(α e β) e indireta, liberando noradrenalina</a:t>
            </a:r>
            <a:endParaRPr lang="en-US" sz="1600" dirty="0"/>
          </a:p>
        </p:txBody>
      </p:sp>
      <p:sp>
        <p:nvSpPr>
          <p:cNvPr id="9" name="Sem catecol: resiste à MAO e à COMT e du"/>
          <p:cNvSpPr txBox="1"/>
          <p:nvPr/>
        </p:nvSpPr>
        <p:spPr>
          <a:xfrm>
            <a:off x="812800" y="348151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catecol: resiste à MAO e à COMT e dura mais</a:t>
            </a:r>
            <a:endParaRPr lang="en-US" sz="1600" dirty="0"/>
          </a:p>
        </p:txBody>
      </p:sp>
      <p:sp>
        <p:nvSpPr>
          <p:cNvPr id="10" name="Boa opção na hipotensão com bradicardia "/>
          <p:cNvSpPr txBox="1"/>
          <p:nvPr/>
        </p:nvSpPr>
        <p:spPr>
          <a:xfrm>
            <a:off x="812800" y="385487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opção na hipotensão com bradicardia após indução ou raqui</a:t>
            </a:r>
            <a:endParaRPr lang="en-US" sz="1600" dirty="0"/>
          </a:p>
        </p:txBody>
      </p:sp>
      <p:sp>
        <p:nvSpPr>
          <p:cNvPr id="11" name="Evidência e cuidados"/>
          <p:cNvSpPr txBox="1"/>
          <p:nvPr/>
        </p:nvSpPr>
        <p:spPr>
          <a:xfrm>
            <a:off x="6324600" y="2386086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12" name="Taquifilaxia por depleção dos estoques d"/>
          <p:cNvSpPr txBox="1"/>
          <p:nvPr/>
        </p:nvSpPr>
        <p:spPr>
          <a:xfrm>
            <a:off x="6324600" y="2734789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</a:t>
            </a:r>
            <a:endParaRPr lang="en-US" sz="1600" dirty="0"/>
          </a:p>
        </p:txBody>
      </p:sp>
      <p:sp>
        <p:nvSpPr>
          <p:cNvPr id="13" name="Interação grave com IMAO"/>
          <p:cNvSpPr txBox="1"/>
          <p:nvPr/>
        </p:nvSpPr>
        <p:spPr>
          <a:xfrm>
            <a:off x="6324600" y="3108150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 grave com IMAO</a:t>
            </a:r>
            <a:endParaRPr lang="en-US" sz="1600" dirty="0"/>
          </a:p>
        </p:txBody>
      </p:sp>
      <p:sp>
        <p:nvSpPr>
          <p:cNvPr id="14" name="Cesárea: atravessa a placenta e se assoc"/>
          <p:cNvSpPr txBox="1"/>
          <p:nvPr/>
        </p:nvSpPr>
        <p:spPr>
          <a:xfrm>
            <a:off x="6324600" y="3481510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Cesárea: atravessa a placenta e se associa a mais acidose fetal que a fenilefrina; fica como resgate</a:t>
            </a:r>
            <a:endParaRPr lang="en-US" sz="1600" dirty="0"/>
          </a:p>
        </p:txBody>
      </p:sp>
      <p:sp>
        <p:nvSpPr>
          <p:cNvPr id="15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· [cap./pág.]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3" name="Mecanismo"/>
          <p:cNvSpPr txBox="1"/>
          <p:nvPr/>
        </p:nvSpPr>
        <p:spPr>
          <a:xfrm>
            <a:off x="8128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4" name="Hormônio não adrenérgico: receptor V1 do"/>
          <p:cNvSpPr txBox="1"/>
          <p:nvPr/>
        </p:nvSpPr>
        <p:spPr>
          <a:xfrm>
            <a:off x="812800" y="1909289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adrenérgico: receptor V1 do músculo liso vascular</a:t>
            </a:r>
            <a:endParaRPr lang="en-US" sz="1600" dirty="0"/>
          </a:p>
        </p:txBody>
      </p:sp>
      <p:sp>
        <p:nvSpPr>
          <p:cNvPr id="5" name="Mantém efeito com acidose e com adrenoce"/>
          <p:cNvSpPr txBox="1"/>
          <p:nvPr/>
        </p:nvSpPr>
        <p:spPr>
          <a:xfrm>
            <a:off x="812800" y="285157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Mantém efeito com acidose e com adrenoceptores dessensibilizados</a:t>
            </a:r>
            <a:endParaRPr lang="en-US" sz="1600" dirty="0"/>
          </a:p>
        </p:txBody>
      </p:sp>
      <p:sp>
        <p:nvSpPr>
          <p:cNvPr id="6" name="Deficiência relativa no choque séptico"/>
          <p:cNvSpPr txBox="1"/>
          <p:nvPr/>
        </p:nvSpPr>
        <p:spPr>
          <a:xfrm>
            <a:off x="812800" y="350939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Deficiência relativa no choque séptico</a:t>
            </a:r>
            <a:endParaRPr lang="en-US" sz="1600" dirty="0"/>
          </a:p>
        </p:txBody>
      </p:sp>
      <p:sp>
        <p:nvSpPr>
          <p:cNvPr id="7" name="Uso"/>
          <p:cNvSpPr txBox="1"/>
          <p:nvPr/>
        </p:nvSpPr>
        <p:spPr>
          <a:xfrm>
            <a:off x="44704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8" name="Dose fixa de 0,03 U/min (até 0,04 U/min)"/>
          <p:cNvSpPr txBox="1"/>
          <p:nvPr/>
        </p:nvSpPr>
        <p:spPr>
          <a:xfrm>
            <a:off x="4470400" y="1909289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fixa de 0,03 U/min (até 0,04 U/min), sem titulação, ao contrário da NA</a:t>
            </a:r>
            <a:endParaRPr lang="en-US" sz="1600" dirty="0"/>
          </a:p>
        </p:txBody>
      </p:sp>
      <p:sp>
        <p:nvSpPr>
          <p:cNvPr id="9" name="SSC 2026: associar quando a NA está em e"/>
          <p:cNvSpPr txBox="1"/>
          <p:nvPr/>
        </p:nvSpPr>
        <p:spPr>
          <a:xfrm>
            <a:off x="4470400" y="2851570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2026: associar quando a NA está em escalada (condicional, certeza moderada)</a:t>
            </a:r>
            <a:endParaRPr lang="en-US" sz="1600" dirty="0"/>
          </a:p>
        </p:txBody>
      </p:sp>
      <p:sp>
        <p:nvSpPr>
          <p:cNvPr id="10" name="Na enquete dos painelistas, mediana de N"/>
          <p:cNvSpPr txBox="1"/>
          <p:nvPr/>
        </p:nvSpPr>
        <p:spPr>
          <a:xfrm>
            <a:off x="4470400" y="3793850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enquete dos painelistas, mediana de NA de 0,3 mcg/kg/min para associar</a:t>
            </a:r>
            <a:endParaRPr lang="en-US" sz="1600" dirty="0"/>
          </a:p>
        </p:txBody>
      </p:sp>
      <p:sp>
        <p:nvSpPr>
          <p:cNvPr id="11" name="Evidência"/>
          <p:cNvSpPr txBox="1"/>
          <p:nvPr/>
        </p:nvSpPr>
        <p:spPr>
          <a:xfrm>
            <a:off x="81280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128000" y="1909289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</a:t>
            </a:r>
            <a:endParaRPr lang="en-US" sz="1600" dirty="0"/>
          </a:p>
        </p:txBody>
      </p:sp>
      <p:sp>
        <p:nvSpPr>
          <p:cNvPr id="13" name="VASSPR: iniciar com NA de 0,1 vs. 0,4 mc"/>
          <p:cNvSpPr txBox="1"/>
          <p:nvPr/>
        </p:nvSpPr>
        <p:spPr>
          <a:xfrm>
            <a:off x="8128000" y="2567110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VASSPR: iniciar com NA de 0,1 vs. 0,4 mcg/kg/min não mudou a mortalidade (31,8% vs. 33,0%)</a:t>
            </a:r>
            <a:endParaRPr lang="en-US" sz="1600" dirty="0"/>
          </a:p>
        </p:txBody>
      </p:sp>
      <p:sp>
        <p:nvSpPr>
          <p:cNvPr id="14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além das aminas</a:t>
            </a:r>
            <a:endParaRPr lang="en-US" sz="3200" dirty="0"/>
          </a:p>
        </p:txBody>
      </p:sp>
      <p:graphicFrame>
        <p:nvGraphicFramePr>
          <p:cNvPr id="2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2641600"/>
                <a:gridCol w="3803848"/>
                <a:gridCol w="23246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choque resolve mais rápido,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em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primeira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Ensaios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a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3" name="Cartão"/>
          <p:cNvSpPr/>
          <p:nvPr/>
        </p:nvSpPr>
        <p:spPr>
          <a:xfrm>
            <a:off x="812800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4" name="1. Noradrenalina"/>
          <p:cNvSpPr txBox="1"/>
          <p:nvPr/>
        </p:nvSpPr>
        <p:spPr>
          <a:xfrm>
            <a:off x="996950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Noradrenalina</a:t>
            </a:r>
            <a:endParaRPr lang="en-US" sz="1500" dirty="0"/>
          </a:p>
        </p:txBody>
      </p:sp>
      <p:sp>
        <p:nvSpPr>
          <p:cNvPr id="5" name="Primeira linha (forte); iniciar cedo, at"/>
          <p:cNvSpPr txBox="1"/>
          <p:nvPr/>
        </p:nvSpPr>
        <p:spPr>
          <a:xfrm>
            <a:off x="996950" y="1986595"/>
            <a:ext cx="2766516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linha (forte); iniciar cedo, até por veia periférica</a:t>
            </a:r>
            <a:endParaRPr lang="en-US" sz="1300" dirty="0"/>
          </a:p>
        </p:txBody>
      </p:sp>
      <p:sp>
        <p:nvSpPr>
          <p:cNvPr id="6" name="Seta"/>
          <p:cNvSpPr/>
          <p:nvPr/>
        </p:nvSpPr>
        <p:spPr>
          <a:xfrm>
            <a:off x="4055566" y="1990923"/>
            <a:ext cx="355600" cy="2032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7" name="Cartão"/>
          <p:cNvSpPr/>
          <p:nvPr/>
        </p:nvSpPr>
        <p:spPr>
          <a:xfrm>
            <a:off x="4538166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8" name="2. + Vasopressina"/>
          <p:cNvSpPr txBox="1"/>
          <p:nvPr/>
        </p:nvSpPr>
        <p:spPr>
          <a:xfrm>
            <a:off x="4722316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+ Vasopressina</a:t>
            </a:r>
            <a:endParaRPr lang="en-US" sz="1500" dirty="0"/>
          </a:p>
        </p:txBody>
      </p:sp>
      <p:sp>
        <p:nvSpPr>
          <p:cNvPr id="9" name="NA em escalada (condicional, certeza mod"/>
          <p:cNvSpPr txBox="1"/>
          <p:nvPr/>
        </p:nvSpPr>
        <p:spPr>
          <a:xfrm>
            <a:off x="4722316" y="1986595"/>
            <a:ext cx="2766516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</a:t>
            </a:r>
            <a:endParaRPr lang="en-US" sz="1300" dirty="0"/>
          </a:p>
        </p:txBody>
      </p:sp>
      <p:sp>
        <p:nvSpPr>
          <p:cNvPr id="10" name="Seta"/>
          <p:cNvSpPr/>
          <p:nvPr/>
        </p:nvSpPr>
        <p:spPr>
          <a:xfrm>
            <a:off x="7780933" y="1990923"/>
            <a:ext cx="355600" cy="2032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1" name="Cartão"/>
          <p:cNvSpPr/>
          <p:nvPr/>
        </p:nvSpPr>
        <p:spPr>
          <a:xfrm>
            <a:off x="8263533" y="1564580"/>
            <a:ext cx="3115766" cy="1055886"/>
          </a:xfrm>
          <a:prstGeom prst="roundRect">
            <a:avLst>
              <a:gd name="adj" fmla="val 4811"/>
            </a:avLst>
          </a:prstGeom>
          <a:solidFill>
            <a:srgbClr val="FFFDF8"/>
          </a:solidFill>
          <a:ln w="6350">
            <a:solidFill>
              <a:srgbClr val="D8D2C6"/>
            </a:solidFill>
            <a:prstDash val="solid"/>
          </a:ln>
        </p:spPr>
      </p:sp>
      <p:sp>
        <p:nvSpPr>
          <p:cNvPr id="12" name="3. + Adrenalina"/>
          <p:cNvSpPr txBox="1"/>
          <p:nvPr/>
        </p:nvSpPr>
        <p:spPr>
          <a:xfrm>
            <a:off x="8447683" y="1716949"/>
            <a:ext cx="276651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75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+ Adrenalina</a:t>
            </a:r>
            <a:endParaRPr lang="en-US" sz="1500" dirty="0"/>
          </a:p>
        </p:txBody>
      </p:sp>
      <p:sp>
        <p:nvSpPr>
          <p:cNvPr id="13" name="PAM ainda inadequada (condicional, certe"/>
          <p:cNvSpPr txBox="1"/>
          <p:nvPr/>
        </p:nvSpPr>
        <p:spPr>
          <a:xfrm>
            <a:off x="8447683" y="1986595"/>
            <a:ext cx="2766516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</a:t>
            </a:r>
            <a:endParaRPr lang="en-US" sz="1300" dirty="0"/>
          </a:p>
        </p:txBody>
      </p:sp>
      <p:sp>
        <p:nvSpPr>
          <p:cNvPr id="14" name="Disfunção cardíaca"/>
          <p:cNvSpPr txBox="1"/>
          <p:nvPr/>
        </p:nvSpPr>
        <p:spPr>
          <a:xfrm>
            <a:off x="812800" y="2921272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15" name="Hipoperfusão apesar de volume e PAM adeq"/>
          <p:cNvSpPr txBox="1"/>
          <p:nvPr/>
        </p:nvSpPr>
        <p:spPr>
          <a:xfrm>
            <a:off x="812800" y="3269975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</a:t>
            </a:r>
            <a:endParaRPr lang="en-US" sz="1600" dirty="0"/>
          </a:p>
        </p:txBody>
      </p:sp>
      <p:sp>
        <p:nvSpPr>
          <p:cNvPr id="16" name="Escolha inicial: NA na taquiarritmia, ad"/>
          <p:cNvSpPr txBox="1"/>
          <p:nvPr/>
        </p:nvSpPr>
        <p:spPr>
          <a:xfrm>
            <a:off x="812800" y="3927796"/>
            <a:ext cx="50736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inicial: NA na taquiarritmia, adrenalina na bradiarritmia</a:t>
            </a:r>
            <a:endParaRPr lang="en-US" sz="1600" dirty="0"/>
          </a:p>
        </p:txBody>
      </p:sp>
      <p:sp>
        <p:nvSpPr>
          <p:cNvPr id="17" name="Levosimendana: contra"/>
          <p:cNvSpPr txBox="1"/>
          <p:nvPr/>
        </p:nvSpPr>
        <p:spPr>
          <a:xfrm>
            <a:off x="812800" y="4585616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Levosimendana: contra</a:t>
            </a:r>
            <a:endParaRPr lang="en-US" sz="1600" dirty="0"/>
          </a:p>
        </p:txBody>
      </p:sp>
      <p:sp>
        <p:nvSpPr>
          <p:cNvPr id="18" name="Adjuvantes e o que evitar"/>
          <p:cNvSpPr txBox="1"/>
          <p:nvPr/>
        </p:nvSpPr>
        <p:spPr>
          <a:xfrm>
            <a:off x="6324600" y="2921272"/>
            <a:ext cx="50736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19" name="Hidrocortisona EV: sugerida (condicional"/>
          <p:cNvSpPr txBox="1"/>
          <p:nvPr/>
        </p:nvSpPr>
        <p:spPr>
          <a:xfrm>
            <a:off x="6324600" y="3269975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EV: sugerida (condicional, certeza baixa)</a:t>
            </a:r>
            <a:endParaRPr lang="en-US" sz="1600" dirty="0"/>
          </a:p>
        </p:txBody>
      </p:sp>
      <p:sp>
        <p:nvSpPr>
          <p:cNvPr id="20" name="Dopamina como primeira linha: contra (fo"/>
          <p:cNvSpPr txBox="1"/>
          <p:nvPr/>
        </p:nvSpPr>
        <p:spPr>
          <a:xfrm>
            <a:off x="6324600" y="3643336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 como primeira linha: contra (forte)</a:t>
            </a:r>
            <a:endParaRPr lang="en-US" sz="1600" dirty="0"/>
          </a:p>
        </p:txBody>
      </p:sp>
      <p:sp>
        <p:nvSpPr>
          <p:cNvPr id="21" name="Terlipressina: contra"/>
          <p:cNvSpPr txBox="1"/>
          <p:nvPr/>
        </p:nvSpPr>
        <p:spPr>
          <a:xfrm>
            <a:off x="6324600" y="4016696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Terlipressina: contra</a:t>
            </a:r>
            <a:endParaRPr lang="en-US" sz="1600" dirty="0"/>
          </a:p>
        </p:txBody>
      </p:sp>
      <p:sp>
        <p:nvSpPr>
          <p:cNvPr id="22" name="Azul de metileno: evidência insuficiente"/>
          <p:cNvSpPr txBox="1"/>
          <p:nvPr/>
        </p:nvSpPr>
        <p:spPr>
          <a:xfrm>
            <a:off x="6324600" y="4390056"/>
            <a:ext cx="50736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metileno: evidência insuficiente</a:t>
            </a:r>
            <a:endParaRPr lang="en-US" sz="1600" dirty="0"/>
          </a:p>
        </p:txBody>
      </p:sp>
      <p:sp>
        <p:nvSpPr>
          <p:cNvPr id="23" name="Prescott, Crit Care Med 2026;54(4):725–8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2026;54(4):725–812 (SSC 2026)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3" name="SSC 2026: alvo inicial de 65 mmHg (forte"/>
          <p:cNvSpPr txBox="1"/>
          <p:nvPr/>
        </p:nvSpPr>
        <p:spPr>
          <a:xfrm>
            <a:off x="812800" y="1593333"/>
            <a:ext cx="105854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40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2026:</a:t>
            </a:r>
            <a:pPr algn="l" indent="0" marL="0">
              <a:lnSpc>
                <a:spcPts val="240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alvo inicial de 65 mmHg (forte, certeza moderada); a partir dos 65 anos, 60–65 mmHg (condicional, certeza baixa)</a:t>
            </a:r>
            <a:endParaRPr lang="en-US" sz="1600" dirty="0"/>
          </a:p>
        </p:txBody>
      </p:sp>
      <p:sp>
        <p:nvSpPr>
          <p:cNvPr id="4" name="65 trial (JAMA 2020): ≥65 anos, PAM 60–6"/>
          <p:cNvSpPr txBox="1"/>
          <p:nvPr/>
        </p:nvSpPr>
        <p:spPr>
          <a:xfrm>
            <a:off x="812800" y="1987033"/>
            <a:ext cx="105854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40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(JAMA 2020):</a:t>
            </a:r>
            <a:pPr algn="l" indent="0" marL="0">
              <a:lnSpc>
                <a:spcPts val="240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≥65 anos, PAM 60–65 vs. cuidado usual; mortalidade em 90 dias de 41,0% vs. 43,8% (NS), com menor dose e duração de vasopressor</a:t>
            </a:r>
            <a:endParaRPr lang="en-US" sz="1600" dirty="0"/>
          </a:p>
        </p:txBody>
      </p:sp>
      <p:sp>
        <p:nvSpPr>
          <p:cNvPr id="5" name="OPTPRESS (Intensive Care Med 2025): ≥65 "/>
          <p:cNvSpPr txBox="1"/>
          <p:nvPr/>
        </p:nvSpPr>
        <p:spPr>
          <a:xfrm>
            <a:off x="812800" y="2685533"/>
            <a:ext cx="105854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40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(Intensive Care Med 2025):</a:t>
            </a:r>
            <a:pPr algn="l" indent="0" marL="0">
              <a:lnSpc>
                <a:spcPts val="240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≥65 anos, alvo de 80–85 vs. 65–70 mmHg; interrompido por dano (mortalidade em 90 dias de 39,3% vs. 28,6%; n = 518)</a:t>
            </a:r>
            <a:endParaRPr lang="en-US" sz="1600" dirty="0"/>
          </a:p>
        </p:txBody>
      </p:sp>
      <p:sp>
        <p:nvSpPr>
          <p:cNvPr id="6" name="ESICM 2025: individualizar; considerar a"/>
          <p:cNvSpPr txBox="1"/>
          <p:nvPr/>
        </p:nvSpPr>
        <p:spPr>
          <a:xfrm>
            <a:off x="812800" y="3384033"/>
            <a:ext cx="105854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400"/>
              </a:lnSpc>
              <a:buSzPct val="100000"/>
              <a:buChar char="•"/>
            </a:pPr>
            <a:r>
              <a:rPr lang="pt-BR" altLang="en-US" sz="16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2025:</a:t>
            </a:r>
            <a:pPr algn="l" indent="0" marL="0">
              <a:lnSpc>
                <a:spcPts val="2400"/>
              </a:lnSpc>
              <a:buNone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individualizar; considerar alvo maior na hipertensão crônica ou com PVC alta, se houver melhora clínica com PA mais alta</a:t>
            </a:r>
            <a:endParaRPr lang="en-US" sz="1600" dirty="0"/>
          </a:p>
        </p:txBody>
      </p:sp>
      <p:sp>
        <p:nvSpPr>
          <p:cNvPr id="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3" name="Início precoce"/>
          <p:cNvSpPr txBox="1"/>
          <p:nvPr/>
        </p:nvSpPr>
        <p:spPr>
          <a:xfrm>
            <a:off x="8128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4" name="CENSER: NA 0,05 mcg/kg/min desde a admis"/>
          <p:cNvSpPr txBox="1"/>
          <p:nvPr/>
        </p:nvSpPr>
        <p:spPr>
          <a:xfrm>
            <a:off x="812800" y="1909289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</a:t>
            </a:r>
            <a:endParaRPr lang="en-US" sz="1600" dirty="0"/>
          </a:p>
        </p:txBody>
      </p:sp>
      <p:sp>
        <p:nvSpPr>
          <p:cNvPr id="5" name="Choque controlado em 6 h em 76,1% vs. 48"/>
          <p:cNvSpPr txBox="1"/>
          <p:nvPr/>
        </p:nvSpPr>
        <p:spPr>
          <a:xfrm>
            <a:off x="812800" y="256711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controlado em 6 h em 76,1% vs. 48,4%</a:t>
            </a:r>
            <a:endParaRPr lang="en-US" sz="1600" dirty="0"/>
          </a:p>
        </p:txBody>
      </p:sp>
      <p:sp>
        <p:nvSpPr>
          <p:cNvPr id="6" name="Menos edema pulmonar (14,4% vs. 27,7%) e"/>
          <p:cNvSpPr txBox="1"/>
          <p:nvPr/>
        </p:nvSpPr>
        <p:spPr>
          <a:xfrm>
            <a:off x="812800" y="322493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edema pulmonar (14,4% vs. 27,7%) e arritmia</a:t>
            </a:r>
            <a:endParaRPr lang="en-US" sz="1600" dirty="0"/>
          </a:p>
        </p:txBody>
      </p:sp>
      <p:sp>
        <p:nvSpPr>
          <p:cNvPr id="7" name="Mortalidade sem diferença"/>
          <p:cNvSpPr txBox="1"/>
          <p:nvPr/>
        </p:nvSpPr>
        <p:spPr>
          <a:xfrm>
            <a:off x="812800" y="3882750"/>
            <a:ext cx="3270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Mortalidade sem diferença</a:t>
            </a:r>
            <a:endParaRPr lang="en-US" sz="1600" dirty="0"/>
          </a:p>
        </p:txBody>
      </p:sp>
      <p:sp>
        <p:nvSpPr>
          <p:cNvPr id="8" name="Via periférica"/>
          <p:cNvSpPr txBox="1"/>
          <p:nvPr/>
        </p:nvSpPr>
        <p:spPr>
          <a:xfrm>
            <a:off x="44704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470400" y="1909289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</a:t>
            </a:r>
            <a:endParaRPr lang="en-US" sz="1600" dirty="0"/>
          </a:p>
        </p:txBody>
      </p:sp>
      <p:sp>
        <p:nvSpPr>
          <p:cNvPr id="10" name="Menos complicações com protocolo de segu"/>
          <p:cNvSpPr txBox="1"/>
          <p:nvPr/>
        </p:nvSpPr>
        <p:spPr>
          <a:xfrm>
            <a:off x="4470400" y="285157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complicações com protocolo de segurança (2,9% vs. 12%)</a:t>
            </a:r>
            <a:endParaRPr lang="en-US" sz="1600" dirty="0"/>
          </a:p>
        </p:txBody>
      </p:sp>
      <p:sp>
        <p:nvSpPr>
          <p:cNvPr id="11" name="SSC 2026: iniciar por via periférica em "/>
          <p:cNvSpPr txBox="1"/>
          <p:nvPr/>
        </p:nvSpPr>
        <p:spPr>
          <a:xfrm>
            <a:off x="4470400" y="3509390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2026: iniciar por via periférica em vez de esperar o acesso central</a:t>
            </a:r>
            <a:endParaRPr lang="en-US" sz="1600" dirty="0"/>
          </a:p>
        </p:txBody>
      </p:sp>
      <p:sp>
        <p:nvSpPr>
          <p:cNvPr id="12" name="Prescrição"/>
          <p:cNvSpPr txBox="1"/>
          <p:nvPr/>
        </p:nvSpPr>
        <p:spPr>
          <a:xfrm>
            <a:off x="8128000" y="1560586"/>
            <a:ext cx="32702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3" name="Ampola de hemitartarato de 2 mg/mL = 1 m"/>
          <p:cNvSpPr txBox="1"/>
          <p:nvPr/>
        </p:nvSpPr>
        <p:spPr>
          <a:xfrm>
            <a:off x="8128000" y="1909289"/>
            <a:ext cx="327025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Ampola de hemitartarato de 2 mg/mL = 1 mg/mL de NA base</a:t>
            </a:r>
            <a:endParaRPr lang="en-US" sz="1600" dirty="0"/>
          </a:p>
        </p:txBody>
      </p:sp>
      <p:sp>
        <p:nvSpPr>
          <p:cNvPr id="14" name="Em sal, o número é o dobro do valor em b"/>
          <p:cNvSpPr txBox="1"/>
          <p:nvPr/>
        </p:nvSpPr>
        <p:spPr>
          <a:xfrm>
            <a:off x="8128000" y="2567110"/>
            <a:ext cx="3270250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ts val="2240"/>
              </a:lnSpc>
              <a:buSzPct val="100000"/>
              <a:buChar char="•"/>
            </a:pPr>
            <a:r>
              <a:rPr lang="pt-BR" altLang="en-US" sz="16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sal, o número é o dobro do valor em base: especificar na prescrição e ao comparar estudos</a:t>
            </a:r>
            <a:endParaRPr lang="en-US" sz="1600" dirty="0"/>
          </a:p>
        </p:txBody>
      </p:sp>
      <p:sp>
        <p:nvSpPr>
          <p:cNvPr id="15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Estudos de alvo pressórico no intraoperatório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564580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747169"/>
                <a:gridCol w="2958802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com suspensão de anti-hipertensivos vs. PAM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411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OQI 2024: PAM ≥60 mmHg em pacientes de "/>
          <p:cNvSpPr txBox="1"/>
          <p:nvPr/>
        </p:nvSpPr>
        <p:spPr>
          <a:xfrm>
            <a:off x="812800" y="4501702"/>
            <a:ext cx="105854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pt-BR" altLang="en-US" sz="15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mmHg em pacientes de risco é limite mínimo, não garantia de perfusão; com pressão venosa alta, o alvo é maior. Acima do piso, o benefício aparece só em hipertensos de alto risco, e os ensaios divergem.</a:t>
            </a:r>
            <a:endParaRPr lang="en-US" sz="1500" dirty="0"/>
          </a:p>
        </p:txBody>
      </p:sp>
      <p:sp>
        <p:nvSpPr>
          <p:cNvPr id="5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SIAARTI, Intensive Care Med 2026 (HISTAP) · POQI 2024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3" name="Fisiologia: PAM, débito cardíaco e resis"/>
          <p:cNvSpPr txBox="1"/>
          <p:nvPr/>
        </p:nvSpPr>
        <p:spPr>
          <a:xfrm>
            <a:off x="812800" y="15878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 cardíaco e resistência vascular</a:t>
            </a:r>
            <a:endParaRPr lang="en-US" sz="2000" dirty="0"/>
          </a:p>
        </p:txBody>
      </p:sp>
      <p:sp>
        <p:nvSpPr>
          <p:cNvPr id="4" name="Receptores e classificação das aminas"/>
          <p:cNvSpPr txBox="1"/>
          <p:nvPr/>
        </p:nvSpPr>
        <p:spPr>
          <a:xfrm>
            <a:off x="812800" y="20577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2000" dirty="0"/>
          </a:p>
        </p:txBody>
      </p:sp>
      <p:sp>
        <p:nvSpPr>
          <p:cNvPr id="5" name="Drogas: noradrenalina, adrenalina, dopam"/>
          <p:cNvSpPr txBox="1"/>
          <p:nvPr/>
        </p:nvSpPr>
        <p:spPr>
          <a:xfrm>
            <a:off x="812800" y="25276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</a:t>
            </a:r>
            <a:endParaRPr lang="en-US" sz="2000" dirty="0"/>
          </a:p>
        </p:txBody>
      </p:sp>
      <p:sp>
        <p:nvSpPr>
          <p:cNvPr id="6" name="Além das aminas: vasopressina e adjuvant"/>
          <p:cNvSpPr txBox="1"/>
          <p:nvPr/>
        </p:nvSpPr>
        <p:spPr>
          <a:xfrm>
            <a:off x="812800" y="29975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</a:t>
            </a:r>
            <a:endParaRPr lang="en-US" sz="2000" dirty="0"/>
          </a:p>
        </p:txBody>
      </p:sp>
      <p:sp>
        <p:nvSpPr>
          <p:cNvPr id="7" name="Choque séptico: a sequência da SSC 2026"/>
          <p:cNvSpPr txBox="1"/>
          <p:nvPr/>
        </p:nvSpPr>
        <p:spPr>
          <a:xfrm>
            <a:off x="812800" y="34674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2000" dirty="0"/>
          </a:p>
        </p:txBody>
      </p:sp>
      <p:sp>
        <p:nvSpPr>
          <p:cNvPr id="8" name="Perioperatório: escolha da droga e alvo "/>
          <p:cNvSpPr txBox="1"/>
          <p:nvPr/>
        </p:nvSpPr>
        <p:spPr>
          <a:xfrm>
            <a:off x="812800" y="39373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2000" dirty="0"/>
          </a:p>
        </p:txBody>
      </p:sp>
      <p:sp>
        <p:nvSpPr>
          <p:cNvPr id="9" name="Mensagens finais"/>
          <p:cNvSpPr txBox="1"/>
          <p:nvPr/>
        </p:nvSpPr>
        <p:spPr>
          <a:xfrm>
            <a:off x="812800" y="4407221"/>
            <a:ext cx="1058545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28600" indent="-228600">
              <a:lnSpc>
                <a:spcPts val="3000"/>
              </a:lnSpc>
              <a:buSzPct val="100000"/>
              <a:buChar char="•"/>
            </a:pPr>
            <a:r>
              <a:rPr lang="pt-BR" altLang="en-US" sz="2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20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2052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3" name="Prescott, Antonelli · SSC 2026 · Crit Ca"/>
          <p:cNvSpPr txBox="1"/>
          <p:nvPr/>
        </p:nvSpPr>
        <p:spPr>
          <a:xfrm>
            <a:off x="812800" y="150181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4" name="Monnet, Messina · ESICM 2025 · Intensive"/>
          <p:cNvSpPr txBox="1"/>
          <p:nvPr/>
        </p:nvSpPr>
        <p:spPr>
          <a:xfrm>
            <a:off x="812800" y="174053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5" name="Miller’s Anesthesia, 10ª ed. · Elsevier "/>
          <p:cNvSpPr txBox="1"/>
          <p:nvPr/>
        </p:nvSpPr>
        <p:spPr>
          <a:xfrm>
            <a:off x="812800" y="197925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6" name="De Backer · SOAP II · N Engl J Med 2010"/>
          <p:cNvSpPr txBox="1"/>
          <p:nvPr/>
        </p:nvSpPr>
        <p:spPr>
          <a:xfrm>
            <a:off x="812800" y="221797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7" name="Russell · VASST · N Engl J Med 2008"/>
          <p:cNvSpPr txBox="1"/>
          <p:nvPr/>
        </p:nvSpPr>
        <p:spPr>
          <a:xfrm>
            <a:off x="812800" y="245669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8" name="Gordon · VANISH · JAMA 2016"/>
          <p:cNvSpPr txBox="1"/>
          <p:nvPr/>
        </p:nvSpPr>
        <p:spPr>
          <a:xfrm>
            <a:off x="812800" y="269541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9" name="Peltan · VASSPR · JAMA 2026"/>
          <p:cNvSpPr txBox="1"/>
          <p:nvPr/>
        </p:nvSpPr>
        <p:spPr>
          <a:xfrm>
            <a:off x="812800" y="293413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0" name="Lamontagne · 65 trial · JAMA 2020"/>
          <p:cNvSpPr txBox="1"/>
          <p:nvPr/>
        </p:nvSpPr>
        <p:spPr>
          <a:xfrm>
            <a:off x="812800" y="317285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1" name="Endo · OPTPRESS · Intensive Care Med 202"/>
          <p:cNvSpPr txBox="1"/>
          <p:nvPr/>
        </p:nvSpPr>
        <p:spPr>
          <a:xfrm>
            <a:off x="812800" y="341158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2" name="Permpikul · CENSER · Am J Respir Crit Ca"/>
          <p:cNvSpPr txBox="1"/>
          <p:nvPr/>
        </p:nvSpPr>
        <p:spPr>
          <a:xfrm>
            <a:off x="812800" y="365030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3" name="Annane · CATS · Lancet 2007"/>
          <p:cNvSpPr txBox="1"/>
          <p:nvPr/>
        </p:nvSpPr>
        <p:spPr>
          <a:xfrm>
            <a:off x="812800" y="38890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4" name="Myburgh · CAT · Intensive Care Med 2008"/>
          <p:cNvSpPr txBox="1"/>
          <p:nvPr/>
        </p:nvSpPr>
        <p:spPr>
          <a:xfrm>
            <a:off x="812800" y="412774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5" name="Levy · OptimaCC · J Am Coll Cardiol 2018"/>
          <p:cNvSpPr txBox="1"/>
          <p:nvPr/>
        </p:nvSpPr>
        <p:spPr>
          <a:xfrm>
            <a:off x="812800" y="436646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6" name="Mathew · DOREMI · N Engl J Med 2021"/>
          <p:cNvSpPr txBox="1"/>
          <p:nvPr/>
        </p:nvSpPr>
        <p:spPr>
          <a:xfrm>
            <a:off x="812800" y="46051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7" name="Cuffe · OPTIME-CHF · JAMA 2002"/>
          <p:cNvSpPr txBox="1"/>
          <p:nvPr/>
        </p:nvSpPr>
        <p:spPr>
          <a:xfrm>
            <a:off x="812800" y="48439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18" name="Hajjar · VANCS · Anesthesiology 2017"/>
          <p:cNvSpPr txBox="1"/>
          <p:nvPr/>
        </p:nvSpPr>
        <p:spPr>
          <a:xfrm>
            <a:off x="812800" y="508262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19" name="Khanna · ATHOS-3 · N Engl J Med 2017"/>
          <p:cNvSpPr txBox="1"/>
          <p:nvPr/>
        </p:nvSpPr>
        <p:spPr>
          <a:xfrm>
            <a:off x="812800" y="53213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0" name="Bellomo · dopamina em dose baixa (ANZICS"/>
          <p:cNvSpPr txBox="1"/>
          <p:nvPr/>
        </p:nvSpPr>
        <p:spPr>
          <a:xfrm>
            <a:off x="6248400" y="150181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1" name="Venkatesh · ADRENAL · N Engl J Med 2018"/>
          <p:cNvSpPr txBox="1"/>
          <p:nvPr/>
        </p:nvSpPr>
        <p:spPr>
          <a:xfrm>
            <a:off x="6248400" y="174053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2" name="Annane · APROCCHSS · N Engl J Med 2018"/>
          <p:cNvSpPr txBox="1"/>
          <p:nvPr/>
        </p:nvSpPr>
        <p:spPr>
          <a:xfrm>
            <a:off x="6248400" y="197925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3" name="Kinsella · consenso cesárea · Anaesthesi"/>
          <p:cNvSpPr txBox="1"/>
          <p:nvPr/>
        </p:nvSpPr>
        <p:spPr>
          <a:xfrm>
            <a:off x="6248400" y="221797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4" name="Sharkey · NA vs. fenilefrina na cesárea "/>
          <p:cNvSpPr txBox="1"/>
          <p:nvPr/>
        </p:nvSpPr>
        <p:spPr>
          <a:xfrm>
            <a:off x="6248400" y="245669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5" name="Park, Choi · vasopressores na cesárea · "/>
          <p:cNvSpPr txBox="1"/>
          <p:nvPr/>
        </p:nvSpPr>
        <p:spPr>
          <a:xfrm>
            <a:off x="6248400" y="269541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6" name="Marcucci · POISE-3 · Ann Intern Med 2023"/>
          <p:cNvSpPr txBox="1"/>
          <p:nvPr/>
        </p:nvSpPr>
        <p:spPr>
          <a:xfrm>
            <a:off x="6248400" y="293413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7" name="Saugel · POQI · Br J Anaesth 2024"/>
          <p:cNvSpPr txBox="1"/>
          <p:nvPr/>
        </p:nvSpPr>
        <p:spPr>
          <a:xfrm>
            <a:off x="6248400" y="317285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28" name="Lineburger · custo da hipotensão · Braz "/>
          <p:cNvSpPr txBox="1"/>
          <p:nvPr/>
        </p:nvSpPr>
        <p:spPr>
          <a:xfrm>
            <a:off x="6248400" y="341158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29" name="Salmasi · hipotensão e lesão orgânica · "/>
          <p:cNvSpPr txBox="1"/>
          <p:nvPr/>
        </p:nvSpPr>
        <p:spPr>
          <a:xfrm>
            <a:off x="6248400" y="365030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0" name="Saugel · IMPROVE-multi · JAMA 2025"/>
          <p:cNvSpPr txBox="1"/>
          <p:nvPr/>
        </p:nvSpPr>
        <p:spPr>
          <a:xfrm>
            <a:off x="6248400" y="38890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1" name="SIAARTI · HISTAP · Intensive Care Med 20"/>
          <p:cNvSpPr txBox="1"/>
          <p:nvPr/>
        </p:nvSpPr>
        <p:spPr>
          <a:xfrm>
            <a:off x="6248400" y="412774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32" name="Tran · NA periférica · Am J Emerg Med 20"/>
          <p:cNvSpPr txBox="1"/>
          <p:nvPr/>
        </p:nvSpPr>
        <p:spPr>
          <a:xfrm>
            <a:off x="6248400" y="436646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3" name="Ibarra-Estrada · NA base vs. sal · Inten"/>
          <p:cNvSpPr txBox="1"/>
          <p:nvPr/>
        </p:nvSpPr>
        <p:spPr>
          <a:xfrm>
            <a:off x="6248400" y="46051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4" name="ANZCA/ANZAAG · anafilaxia perioperatória"/>
          <p:cNvSpPr txBox="1"/>
          <p:nvPr/>
        </p:nvSpPr>
        <p:spPr>
          <a:xfrm>
            <a:off x="6248400" y="48439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5" name="Overgaard, Džavík · revisão · Circulatio"/>
          <p:cNvSpPr txBox="1"/>
          <p:nvPr/>
        </p:nvSpPr>
        <p:spPr>
          <a:xfrm>
            <a:off x="6248400" y="508262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6" name="Persichini · NA e retorno venoso · Crit "/>
          <p:cNvSpPr txBox="1"/>
          <p:nvPr/>
        </p:nvSpPr>
        <p:spPr>
          <a:xfrm>
            <a:off x="6248400" y="53213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pic>
        <p:nvPicPr>
          <p:cNvPr id="3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2026-10-18T19:04:39Z</dcterms:created>
  <dcterms:modified xsi:type="dcterms:W3CDTF">2026-10-18T19:04:39Z</dcterms:modified>
</cp:coreProperties>
</file>