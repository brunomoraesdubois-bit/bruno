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d2e79867-0ef0-773d-aca8-34f48d7ece97}">
          <p14:sldIdLst>
            <p14:sldId id="256"/>
            <p14:sldId id="257"/>
          </p14:sldIdLst>
        </p14:section>
        <p14:section name="01 · Fisiologia: pressão, débito e perfusão" id="{24857775-b24a-5865-c560-6de925fef3b4}">
          <p14:sldIdLst>
            <p14:sldId id="258"/>
            <p14:sldId id="259"/>
          </p14:sldIdLst>
        </p14:section>
        <p14:section name="02 · Receptores" id="{479ccca4-aff8-4d91-e091-b2723be8baa9}">
          <p14:sldIdLst>
            <p14:sldId id="260"/>
          </p14:sldIdLst>
        </p14:section>
        <p14:section name="03 · Drogas: noradrenalina, adrenalina, dobutamina (e dopamina), milrinona (escolha), fenilefrina e efedrina" id="{1a39270c-f27b-086b-c3f5-758a6db91d7b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04 · Além das aminas: vasopressina, hidrocortisona e azul de metileno" id="{bc9558d1-ec8e-40e2-3ae8-bdc5d0a84c19}">
          <p14:sldIdLst>
            <p14:sldId id="267"/>
          </p14:sldIdLst>
        </p14:section>
        <p14:section name="05 · Choque séptico: a sequência da SSC 2026" id="{8a8bbad7-3137-e737-a684-9f67c948ea81}">
          <p14:sldIdLst>
            <p14:sldId id="268"/>
          </p14:sldIdLst>
        </p14:section>
        <p14:section name="06 · Perioperatório: escolha da droga" id="{544fb746-795e-31f9-1bbf-c37017980399}">
          <p14:sldIdLst>
            <p14:sldId id="269"/>
          </p14:sldIdLst>
        </p14:section>
        <p14:section name="07 · Mensagens finais e encerramento" id="{73e91f63-ee7a-715a-66f3-62e919599038}">
          <p14:sldIdLst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Bom dia. Sou Bruno Dubois; meus orientadores são Marcelo Bandeira e Glauber Gouvêa. O tema é aminas vasoativas, e a aula nasceu de uma pergunta prática: quando a milrinona tem indicação, e quando a dobutamina ou um vasopressor seriam a escolha.</a:t>
            </a:r>
            <a:endParaRPr lang="en-US" dirty="0"/>
          </a:p>
          <a:p>
            <a:r>
              <a:rPr lang="en-US" dirty="0"/>
              <a:t>TEMPO: 25 s (0:00 → 0:25). Total previsto: 11 min 30 s nos 16 slides; ensaiar mirando 15 minutos.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Quatro objetivos. Distinguir vasoplegia, falência de bomba e pré-carga baixa. Ligar o perfil de receptores de cada droga ao seu efeito hemodinâmico. Conhecer doses, indicações e cuidados de cada droga. Aplicar isso no choque séptico e no centro cirúrgico. A pergunta que organiza a aula: qual componente da pressão arterial média está falhando?</a:t>
            </a:r>
            <a:endParaRPr lang="en-US" dirty="0"/>
          </a:p>
          <a:p>
            <a:r>
              <a:rPr lang="en-US" dirty="0"/>
              <a:t>TEMPO: 25 s (0:25 → 0:50)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Começo pela fisiologia. Na prática, a PAM é o débito cardíaco multiplicado pela resistência vascular sistêmica, somado à pressão venosa central. Como a PVC costuma ser baixa, a PAM depende sobretudo do débito e da resistência; quando a PVC sobe, o que cai é a perfusão, porque o órgão recebe a diferença entre a PAM e a PVC. Três situações. Na vasoplegia o problema é o tônus arterial, como na sepse, na anestesia geral e no bloqueio de neuroeixo: o alvo é o vasopressor. Na falência de bomba o débito é baixo e a resistência em geral alta: o alvo é a contratilidade. Na pré-carga baixa, a hipovolemia pede volume; o α1 contrai veias e recruta volume não estressado, mas não substitui a reposição.</a:t>
            </a:r>
            <a:endParaRPr lang="en-US" dirty="0"/>
          </a:p>
          <a:p>
            <a:r>
              <a:rPr lang="en-US" dirty="0"/>
              <a:t>TEMPO: 1 min (0:50 → 1:50)</a:t>
            </a:r>
            <a:endParaRPr lang="en-US" dirty="0"/>
          </a:p>
          <a:p>
            <a:r>
              <a:rPr lang="en-US" dirty="0"/>
              <a:t>PONTO-CHAVE: PAM ≈ DC × RVS + PVC: vasoplegia pede vasopressor; bomba fraca, inotrópico; pré-carga baixa, volume.</a:t>
            </a:r>
            <a:endParaRPr lang="en-US" dirty="0"/>
          </a:p>
          <a:p>
            <a:r>
              <a:rPr lang="en-US" dirty="0"/>
              <a:t>SE PERGUNTAREM: A relação PAM = DC × RVS + PVC é a definição da RVS, não uma causa (Magder, Crit Care 2018): a RVS é calculada como (PAM − PVC)/DC. A pressão a jusante efetiva do leito arterial é uma pressão crítica de fechamento, acima da PVC; a PVC importa para a pressão de perfusão dos órgãos (PAM − PVC) e para o gradiente do retorno venoso (pressão sistêmica média − pressão de átrio direito). Persichini (Crit Care Med 2012; 16 pacientes com choque séptico): reduzir a dose de noradrenalina baixou a pressão sistêmica média e o retorno venoso, mais do que a resistência ao retorno venoso, com queda do débito; é a prova de que a venoconstrição α recruta volume não estressado. o esquema cobre os determinantes da PAM; a obstrução (tamponamento, embolia pulmonar, pneumotórax hipertensivo, auto-PEEP) é o quarto tipo de choque da classificação da ESICM 2014: o eco precoce a identifica, e o tratamento é da causa, não com amina. No intraoperatório, pneumotórax e compressão aortocava estão entre as causas a afastar (slide 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Mas pressão não é fluxo: uma resistência alta pode manter a PAM com débito baixo. No intraoperatório a perfusão raramente é medida de forma direta, então o caminho é combinar métodos. O eco, transesofágico ou à beira do leito, é o mais rápido para definir o tipo de choque: função dos ventrículos, volemia, pericárdio e o VTI na via de saída como estimativa do débito. Os monitores de débito, por contorno de pulso, termodiluição ou Doppler esofágico, dão o número e a resposta a volume, junto com VPP e VVS, elevação passiva das pernas ou um minidesafio hídrico. E os marcadores de perfusão tissular dizem se o fluxo está bastando: lactato e sua tendência, saturação venosa central, gap de CO₂, diurese, enchimento capilar e temperatura das extremidades. A decisão de usar inotrópico vem daí, não da pressão.</a:t>
            </a:r>
            <a:endParaRPr lang="en-US" dirty="0"/>
          </a:p>
          <a:p>
            <a:r>
              <a:rPr lang="en-US" dirty="0"/>
              <a:t>TEMPO: 1 min 5 s (1:50 → 2:55)</a:t>
            </a:r>
            <a:endParaRPr lang="en-US" dirty="0"/>
          </a:p>
          <a:p>
            <a:r>
              <a:rPr lang="en-US" dirty="0"/>
              <a:t>PONTO-CHAVE: Pressão não é fluxo: combinar eco, débito e marcadores de perfusão antes de decidir por inotrópico.</a:t>
            </a:r>
            <a:endParaRPr lang="en-US" dirty="0"/>
          </a:p>
          <a:p>
            <a:r>
              <a:rPr lang="en-US" dirty="0"/>
              <a:t>SE PERGUNTAREM: no OPTIME-CHF (Cuffe, JAMA 2002; 951 pacientes com IC descompensada sem indicação clara de inotrópico), milrinona vs. placebo por 48 h: sem benefício, com mais hipotensão sustentada e arritmia atrial. Em um ECR de 2025 (Tongyoo, Ann Med; 64 pacientes em choque séptico), a milrinona aumentou o débito em 6 horas em relação ao placebo, mas a mortalidade em 28 dias foi de 50% nos dois grupos. Na sepse a SvcO₂ pode estar normal ou alta apesar da hipoperfusão (defeito de extração e shunt microcirculatório); nesse caso, a diferença venoarterial de CO₂ acima de 6 mmHg indica fluxo insuficiente para remover o CO₂ produzido (Vallée, Intensive Care Med 2008). Limites de VPP e VVS: ventilação controlada sem esforço espontâneo, volume corrente de pelo menos 8 mL/kg, ritmo regular, tórax fechado, sem disfunção de VD nem hipertensão intra-abdominal; com volume corrente baixo a sensibilidade cai. Fora dessas condições: elevação passiva das pernas ou minidesafio hídrico com medida direta do débito (ESICM 2025).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Uma revisão breve dos receptores, apenas o que importa para as drogas de hoje. α1 contrai artérias e veias: sobe a resistência e o retorno venoso. α2, pré-sináptico, reduz a liberação de noradrenalina; é o alvo da dexmedetomidina. β1 aumenta contratilidade e frequência. β2 dilata vasos e brônquios e eleva glicemia e lactato. D1 dilata os leitos renal e mesentérico. V1 e PDE3 estão na tabela porque vasopressina e milrinona não dependem do adrenoceptor. Dois pontos práticos: as catecolaminas têm meia-vida de minutos, por isso vão em geral em infusão; fenilefrina e efedrina duram mais e permitem bolus. E o uso prolongado dessensibiliza os receptores.</a:t>
            </a:r>
            <a:endParaRPr lang="en-US" dirty="0"/>
          </a:p>
          <a:p>
            <a:r>
              <a:rPr lang="en-US" dirty="0"/>
              <a:t>TEMPO: 50 s (2:55 → 3:45)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  <a:p>
            <a:r>
              <a:rPr lang="en-US" dirty="0"/>
              <a:t>SE PERGUNTAREM: O α2 pós-sináptico vascular explica a hipertensão transitória do bolus de dexmedetomidina ou clonidina.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Começo pela noradrenalina, a droga de primeira linha no choque séptico, com ação α1 potente e β1 modesta: sobe a PAM pela resistência e pela venoconstrição, com débito em geral mantido, podendo cair pela pós-carga, e frequência estável ou menor, por reflexo. Dose de 0,01 a 0,5 microgramas por quilo por minuto, sem teto fixo no choque refratário; no centro cirúrgico, bolus de 5 a 10 microgramas; pode começar em veia periférica calibrosa. Riscos: isquemia digital e esplâncnica, além de extravasamento.</a:t>
            </a:r>
            <a:endParaRPr lang="en-US" dirty="0"/>
          </a:p>
          <a:p>
            <a:r>
              <a:rPr lang="en-US" dirty="0"/>
              <a:t>TEMPO: 40 s (3:45 → 4:25)</a:t>
            </a:r>
            <a:endParaRPr lang="en-US" dirty="0"/>
          </a:p>
          <a:p>
            <a:r>
              <a:rPr lang="en-US" dirty="0"/>
              <a:t>PONTO-CHAVE: α1 potente com β1 modesto: sobe a PAM com débito em geral mantido.</a:t>
            </a:r>
            <a:endParaRPr lang="en-US" dirty="0"/>
          </a:p>
          <a:p>
            <a:r>
              <a:rPr lang="en-US" dirty="0"/>
              <a:t>SE PERGUNTAREM: no SOAP II (n = 1.679), a mortalidade em 28 dias foi semelhante à da dopamina (48,5% vs. 52,5%), com metade das arritmias (12,4% vs. 24,1%); a SSC 2026 recomenda a noradrenalina em vez da dopamina (forte, certeza alta). No Brasil, a ampola de hemitartarato de 2 mg/mL equivale a 1 mg/mL de base: registrar na prescrição se a dose está em base ou em sal. Início precoce (CENSER, Permpikul 2019: controle do choque em 6 h em 76% vs. 48%) e via periférica com protocolo (Tran 2020) estão nas referências. No extravasamento, fentolamina infiltrada no local. Afinidade por β1: a da noradrenalina é da mesma ordem da adrenalina; o que é modesto é o efeito cardíaco líquido, porque o barorreflexo e a pós-carga contêm a taquicardia e o aumento do débito; a ação β2 é pequena, por isso não há vasodilatação e o lactato sobe pouco.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Adrenalina: potente em α1, β1 e β2. O efeito depende da dose: em dose baixa predominam β1 e β2, com débito alto e resistência que pode cair; em dose alta prevalece o α1. É a droga da anafilaxia e, no choque séptico, a terceira droga. Na anafilaxia, bolus endovenosos pequenos e titulados, com infusão se for preciso repetir. O lactato pode subir por efeito β2, e isso não autoriza ignorar hipoperfusão.</a:t>
            </a:r>
            <a:endParaRPr lang="en-US" dirty="0"/>
          </a:p>
          <a:p>
            <a:r>
              <a:rPr lang="en-US" dirty="0"/>
              <a:t>TEMPO: 35 s (4:25 → 5:00)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era o principal desfecho de segurança; o estudo foi interrompido precocemente. Dose no choque séptico: a bula americana de epinefrina prevê infusão de 0,05–2 mcg/kg/min, titulada pela PAM. Cartão ANZAAG/ANZCA 2022 (adulto; 1 mg em 10 mL = 100 mcg/mL): grau 2, 10–20 mcg, e 50 mcg se não houver resposta; grau 3, 50–100 mcg, e 200 mcg se não houver resposta; repetir a cada 1–2 min; após mais de três bolus, infusão de 3 mg em 50 mL, de 3 a 40 mL/h; sem acesso venoso ou sem monitorização, 500 mcg IM na face lateral da coxa, repetível a cada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Dobutamina: inotrópico β1 com vasodilatação β2; sobe o débito, baixa um pouco a resistência e pode baixar a PAM. Indicada no baixo débito com hipoperfusão, de 2,5 a 20 microgramas por quilo por minuto; se a PAM cair, associar vasopressor; taquicardia e arritmia limitam a dose. A dopamina, em uma frase: efeito dose-dependente e pouco previsível, com mais taquicardia e arritmia que as outras aminas, e a dose renal não protege o rim; hoje o uso é residual.</a:t>
            </a:r>
            <a:endParaRPr lang="en-US" dirty="0"/>
          </a:p>
          <a:p>
            <a:r>
              <a:rPr lang="en-US" dirty="0"/>
              <a:t>TEMPO: 35 s (5:00 → 5:35)</a:t>
            </a:r>
            <a:endParaRPr lang="en-US" dirty="0"/>
          </a:p>
          <a:p>
            <a:r>
              <a:rPr lang="en-US" dirty="0"/>
              <a:t>PONTO-CHAVE: Dobutamina para baixo débito com hipoperfusão; dopamina de uso residual.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milrinona chega ao mesmo ponto por outra via: a dobutamina aumenta a produção de AMPc pelo receptor β1; a milrinona inibe a PDE3, a enzima que degrada o AMPc, e por isso age depois do receptor. É um inodilatador: aumenta contratilidade e relaxamento e reduz as resistências sistêmica e pulmonar. A indicação é a disfunção ventricular com baixo débito que exige inotrópico, sobretudo quando há hipertensão pulmonar ou falência de VD. Dose: ataque de 50 microgramas por quilo em 10 minutos, muitas vezes omitido, e manutenção de 0,375 a 0,75 microgramas por quilo por minuto. Costuma exigir noradrenalina; tem eliminação renal e meia-vida bem mais longa que a da dobutamina, acumulando na insuficiência renal.</a:t>
            </a:r>
            <a:endParaRPr lang="en-US" dirty="0"/>
          </a:p>
          <a:p>
            <a:r>
              <a:rPr lang="en-US" dirty="0"/>
              <a:t>TEMPO: 55 s (5:35 → 6:30)</a:t>
            </a:r>
            <a:endParaRPr lang="en-US" dirty="0"/>
          </a:p>
          <a:p>
            <a:r>
              <a:rPr lang="en-US" dirty="0"/>
              <a:t>PONTO-CHAVE: Inodilatador que age depois do receptor β; meia-vida longa e eliminação renal; costuma exigir noradrenalina.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Então, quando escolher? Primeiro, a indicação: inotrópico quando há disfunção ventricular com baixo débito e hipoperfusão, depois de otimizar volume e PAM; se a hipotensão é por vasoplegia, a droga é o vasopressor, e um inodilatador baixa ainda mais a pressão. Depois, o perfil farmacológico, que está na tabela. Milrinona quando a circulação pulmonar e o VD são o problema, como na hipertensão pulmonar e na saída de CEC com resistência pulmonar alta, e quando o betabloqueio ou a taquicardia limitam a dobutamina; ela precisa de uma PAM sustentada, em geral com noradrenalina. Dobutamina quando a pressão está baixa ou há vasoplegia, como no choque séptico, em que a vasodilatação e a meia-vida longa da milrinona pesam contra; na insuficiência renal; e quando se quer titulação rápida, porque a meia-vida é de minutos.</a:t>
            </a:r>
            <a:endParaRPr lang="en-US" dirty="0"/>
          </a:p>
          <a:p>
            <a:r>
              <a:rPr lang="en-US" dirty="0"/>
              <a:t>TEMPO: 1 min (6:30 → 7:30)</a:t>
            </a:r>
            <a:endParaRPr lang="en-US" dirty="0"/>
          </a:p>
          <a:p>
            <a:r>
              <a:rPr lang="en-US" dirty="0"/>
              <a:t>PONTO-CHAVE: Primeiro a indicação; depois o perfil: milrinona para VD e circulação pulmonar com PAM sustentada; dobutamina com pressão baixa ou para titular rápido.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horas na insuficiência cardíaca e aumenta na insuficiência renal, que pede dose de manutenção menor; a da dobutamina é de cerca de 2 minutos. Sem hipoperfusão, não há benefício demonstrado de inotrópico: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Agora duas aminas simpaticomiméticas que não são catecolaminas, as drogas de bolus do centro cirúrgico. Fenilefrina: agonista α1 direto, praticamente sem ação β; a PAM sobe pela resistência e a frequência cai por reflexo, o que pode reduzir o débito quando ele depende da frequência; é a escolha na hipotensão vasodilatadora com frequência normal ou alta. Efedrina: age diretamente em α e β e, sobretudo, libera noradrenalina das terminações; sobe pressão, frequência e débito, por isso é a escolha quando há bradicardia; perde efeito com doses repetidas, porque depleta a noradrenalina, e na cesárea atravessa a placenta e associa-se a mais acidose fetal que a fenilefrina.</a:t>
            </a:r>
            <a:endParaRPr lang="en-US" dirty="0"/>
          </a:p>
          <a:p>
            <a:r>
              <a:rPr lang="en-US" dirty="0"/>
              <a:t>TEMPO: 50 s (7:30 → 8:20)</a:t>
            </a:r>
            <a:endParaRPr lang="en-US" dirty="0"/>
          </a:p>
          <a:p>
            <a:r>
              <a:rPr lang="en-US" dirty="0"/>
              <a:t>PONTO-CHAVE: Fenilefrina: hipotensão vasodilatadora com FC normal ou alta. Efedrina: com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Quando a via adrenérgica não basta, três recursos além das aminas. A vasopressina age no receptor V1, fora da via adrenérgica: poupa catecolamina e costuma manter efeito em acidose; no choque séptico há deficiência relativa do hormônio endógeno. Dose fixa, em geral 0,03 unidades por minuto, no choque séptico com noradrenalina em escalada, na vasoplegia após CEC e na hipotensão refratária com IECA ou BRA; o risco é isquemia digital e mesentérica. A hidrocortisona restaura a resposta vascular às catecolaminas, 200 mg por dia no choque séptico. O azul de metileno inibe a via do óxido nítrico e fica como resgate na vasoplegia refratária, como após CEC ou na reperfusão do enxerto hepático.</a:t>
            </a:r>
            <a:endParaRPr lang="en-US" dirty="0"/>
          </a:p>
          <a:p>
            <a:r>
              <a:rPr lang="en-US" dirty="0"/>
              <a:t>TEMPO: 55 s (8:20 → 9:15)</a:t>
            </a:r>
            <a:endParaRPr lang="en-US" dirty="0"/>
          </a:p>
          <a:p>
            <a:r>
              <a:rPr lang="en-US" dirty="0"/>
              <a:t>PONTO-CHAVE: Fora das aminas: vasopressina (V1), hidrocortisona e azul de metileno, cada uma por um mecanismo diferente.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 solúvel; resgate na vasoplegia pós-CEC e na reperfusão do enxerto hepático, com evidência limitada. Contraindicado na deficiência de G6PD (hemólise); subestima a SpO₂ na oximetria de pulso e reduz o BIS; síndrome serotoninérgica com ISRS e outros serotoninérgicos, por inibir a MAO-A.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centro cirúrgico, antes da droga, afastar causas tratáveis: plano profundo, hipovolemia, compressão aortocava, pneumotórax e anafilaxia. Depois, o mecanismo: tônus baixo com frequência normal ou alta, agonista α1; bradicardia, efedrina ou, se grave, adrenalina; baixo débito, inotrópico; vasoplegia refratária às catecolaminas, como após CEC, com IECA ou BRA ou na reperfusão do enxerto hepático, vasopressina, com azul de metileno como resgate; pré-carga baixa, volume. Um dado do nosso serviço ajuda nessa decisão: Gouvêa, Diaz e colaboradores acompanharam por ecocardiografia transesofágica o ventrículo direito de 19 pacientes selecionados em cinco fases do transplante hepático, e a função sistólica do VD se manteve preservada em todas, inclusive após a reperfusão. Ou seja, nesses pacientes a instabilidade da reperfusão não se explicou por falência de VD, o que favorece tratá-la como vasoplegia, com vasopressor, e usar o eco para confirmar antes de iniciar um inotrópico.</a:t>
            </a:r>
            <a:endParaRPr lang="en-US" dirty="0"/>
          </a:p>
          <a:p>
            <a:r>
              <a:rPr lang="en-US" dirty="0"/>
              <a:t>TEMPO: 1 min 5 s (9:45 → 10:50)</a:t>
            </a:r>
            <a:endParaRPr lang="en-US" dirty="0"/>
          </a:p>
          <a:p>
            <a:r>
              <a:rPr lang="en-US" dirty="0"/>
              <a:t>PONTO-CHAVE: Afastar causas, identificar o mecanismo, escolher a droga; o eco separa vasoplegia de falência de VD.</a:t>
            </a:r>
            <a:endParaRPr lang="en-US" dirty="0"/>
          </a:p>
          <a:p>
            <a:r>
              <a:rPr lang="en-US" dirty="0"/>
              <a:t>SE PERGUNTAREM: Gouvêa G, Feiner J, Joshi S, Diaz R, et al., PLoS One 2022;17(10):e0275301: estudo observacional, 19 adultos de 18 a 65 anos, TAPSE e variação fracional de área do VD em cinco fases (basal, fase de hepatectomia, fase anepática, pós-reperfusão e fechamento); função sistólica do VD preservada nas cinco fases; excluídos hipertensão portopulmonar, síndrome hepatopulmonar, doença cardiopulmonar e insuficiência hepática fulminante. População selecionada: o estudo não permite concluir que toda hipotensão na reperfusão seja vasoplegia. TAPSE e variação fracional de área dependem da carga, e o TAPSE mede apenas a excursão longitudinal do anel lateral; normais sob anestesia, com pós-carga baixa, afastam disfunção sistólica evidente nos momentos avaliados, não medem reserva contrátil.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Voltando à pergunta do início: qual componente da PAM está falhando? Vasoplegia: noradrenalina e, quando a dose sobe, vasopressina. Baixo débito com hipoperfusão: inotrópico, com a milrinona sobretudo no VD com hipertensão pulmonar. Hipotensão vasodilatadora da anestesia com bradicardia: efedrina; com taquicardia: fenilefrina. Anafilaxia: adrenalina. A droga certa corrige o componente que falha, na menor dose eficaz e pelo menor tempo.</a:t>
            </a:r>
            <a:endParaRPr lang="en-US" dirty="0"/>
          </a:p>
          <a:p>
            <a:r>
              <a:rPr lang="en-US" dirty="0"/>
              <a:t>TEMPO: 30 s (10:50 → 11:20)</a:t>
            </a:r>
            <a:endParaRPr lang="en-US" dirty="0"/>
          </a:p>
          <a:p>
            <a:r>
              <a:rPr lang="en-US" dirty="0"/>
              <a:t>PONTO-CHAVE: A droga certa corrige o componente que falha, na menor dose e pelo menor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Obrigado pela atenção. As referências completas da aula estão no QR code. Fico à disposição para perguntas.</a:t>
            </a:r>
            <a:endParaRPr lang="en-US" dirty="0"/>
          </a:p>
          <a:p>
            <a:r>
              <a:rPr lang="en-US" dirty="0"/>
              <a:t>TEMPO: 10 s (11:20 → 11:30)</a:t>
            </a:r>
            <a:endParaRPr lang="en-US" dirty="0"/>
          </a:p>
          <a:p>
            <a:r>
              <a:rPr lang="en-US" dirty="0"/>
              <a:t>PONTO-CHAVE: Referências completas no QR code;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Ligar o perfil de receptores de cada dro"/>
          <p:cNvSpPr txBox="1"/>
          <p:nvPr/>
        </p:nvSpPr>
        <p:spPr>
          <a:xfrm>
            <a:off x="1371600" y="2568720"/>
            <a:ext cx="6213773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Ligar o perfil de receptores de cada droga ao seu efeito hemodinâmico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Doses, indicações e cuidados de cada dro"/>
          <p:cNvSpPr txBox="1"/>
          <p:nvPr/>
        </p:nvSpPr>
        <p:spPr>
          <a:xfrm>
            <a:off x="1371600" y="3173161"/>
            <a:ext cx="3836789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Doses, indicações e cuidados de cada droga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plicar no choque séptico e na hipotensã"/>
          <p:cNvSpPr txBox="1"/>
          <p:nvPr/>
        </p:nvSpPr>
        <p:spPr>
          <a:xfrm>
            <a:off x="1371600" y="3777602"/>
            <a:ext cx="5131891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no choque séptico e na hipotensão intraoperatória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Qual componente da PAM está falhando?"/>
          <p:cNvSpPr txBox="1"/>
          <p:nvPr/>
        </p:nvSpPr>
        <p:spPr>
          <a:xfrm>
            <a:off x="4463256" y="4769969"/>
            <a:ext cx="3245545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RVS baixa, DC em geral preservado ou alt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baixa, DC em geral preservado ou alto: sepse, anestesia geral, bloqueio de neuroeixo, anafilaxia, pós-CEC. Alvo: tônus arterial (α1 ou V1).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DC baixo, RVS em geral alta: choque card"/>
          <p:cNvSpPr txBox="1"/>
          <p:nvPr/>
        </p:nvSpPr>
        <p:spPr>
          <a:xfrm>
            <a:off x="4662984" y="2484480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RVS em geral alta: choque cardiogênico; na sepse pode coexistir com vasoplegia. Alvo: contratilidade (β1 ou PDE3), com vasopressor se a PAM cair.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é-carga baix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700" dirty="0"/>
          </a:p>
        </p:txBody>
      </p:sp>
      <p:sp>
        <p:nvSpPr>
          <p:cNvPr id="12" name="Hipovolemia pede volume. O α1 contrai ve"/>
          <p:cNvSpPr txBox="1"/>
          <p:nvPr/>
        </p:nvSpPr>
        <p:spPr>
          <a:xfrm>
            <a:off x="8252817" y="2484480"/>
            <a:ext cx="2884984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pede volume. O α1 contrai veias e recruta volume não estressado, mas não substitui a reposição.</a:t>
            </a:r>
            <a:endParaRPr lang="en-US" sz="1350" dirty="0"/>
          </a:p>
        </p:txBody>
      </p:sp>
      <p:sp>
        <p:nvSpPr>
          <p:cNvPr id="13" name="Cartão"/>
          <p:cNvSpPr/>
          <p:nvPr/>
        </p:nvSpPr>
        <p:spPr>
          <a:xfrm>
            <a:off x="812800" y="4308376"/>
            <a:ext cx="10566400" cy="1219200"/>
          </a:xfrm>
          <a:prstGeom prst="roundRect">
            <a:avLst>
              <a:gd name="adj" fmla="val 6250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PAM ≈ DC × RVS + PVC"/>
          <p:cNvSpPr txBox="1"/>
          <p:nvPr/>
        </p:nvSpPr>
        <p:spPr>
          <a:xfrm>
            <a:off x="1073150" y="4604661"/>
            <a:ext cx="4379317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PAM ≈ DC × RVS + PVC</a:t>
            </a:r>
            <a:endParaRPr lang="en-US" sz="3200" dirty="0"/>
          </a:p>
        </p:txBody>
      </p:sp>
      <p:sp>
        <p:nvSpPr>
          <p:cNvPr id="15" name="A PVC costuma ser baixa: a PAM depende s"/>
          <p:cNvSpPr txBox="1"/>
          <p:nvPr/>
        </p:nvSpPr>
        <p:spPr>
          <a:xfrm>
            <a:off x="5839817" y="4502972"/>
            <a:ext cx="5298083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PVC costuma ser baixa: a PAM depende sobretudo do débito e da resistência. Quando a PVC sobe, o que cai é a perfusão (PAM − PVC) e o retorno venoso.</a:t>
            </a:r>
            <a:endParaRPr lang="en-US" sz="1500" dirty="0"/>
          </a:p>
        </p:txBody>
      </p:sp>
      <p:sp>
        <p:nvSpPr>
          <p:cNvPr id="16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13, 43 · Persichini, Crit Care Med 2012 · ESICM 2025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avaliar a perfusão no intraoperatório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473821"/>
          </a:xfrm>
          <a:prstGeom prst="roundRect">
            <a:avLst>
              <a:gd name="adj" fmla="val 3080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Ecocardiografia (ETE ou POCUS)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Ecocardiografia (ETE ou POCUS)</a:t>
            </a:r>
            <a:endParaRPr lang="en-US" sz="1700" dirty="0"/>
          </a:p>
        </p:txBody>
      </p:sp>
      <p:sp>
        <p:nvSpPr>
          <p:cNvPr id="6" name="Tipo de choque em minutos: função de VE "/>
          <p:cNvSpPr txBox="1"/>
          <p:nvPr/>
        </p:nvSpPr>
        <p:spPr>
          <a:xfrm>
            <a:off x="1073150" y="2512452"/>
            <a:ext cx="28849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choque em minutos: função de VE e VD, volemia, pericárdio</a:t>
            </a:r>
            <a:endParaRPr lang="en-US" sz="1350" dirty="0"/>
          </a:p>
        </p:txBody>
      </p:sp>
      <p:sp>
        <p:nvSpPr>
          <p:cNvPr id="7" name="VTI na via de saída do VE: estimativa do"/>
          <p:cNvSpPr txBox="1"/>
          <p:nvPr/>
        </p:nvSpPr>
        <p:spPr>
          <a:xfrm>
            <a:off x="1073150" y="3055972"/>
            <a:ext cx="28849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VTI na via de saída do VE: estimativa do débito</a:t>
            </a:r>
            <a:endParaRPr lang="en-US" sz="1350" dirty="0"/>
          </a:p>
        </p:txBody>
      </p:sp>
      <p:sp>
        <p:nvSpPr>
          <p:cNvPr id="8" name="Reavaliar após volume ou droga"/>
          <p:cNvSpPr txBox="1"/>
          <p:nvPr/>
        </p:nvSpPr>
        <p:spPr>
          <a:xfrm>
            <a:off x="1073150" y="3599493"/>
            <a:ext cx="2884984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Reavaliar após volume ou droga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4402634" y="1879501"/>
            <a:ext cx="3386634" cy="2473821"/>
          </a:xfrm>
          <a:prstGeom prst="roundRect">
            <a:avLst>
              <a:gd name="adj" fmla="val 3080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Débito e parâmetros dinâmicos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Débito e parâmetros dinâmicos</a:t>
            </a:r>
            <a:endParaRPr lang="en-US" sz="1700" dirty="0"/>
          </a:p>
        </p:txBody>
      </p:sp>
      <p:sp>
        <p:nvSpPr>
          <p:cNvPr id="11" name="Monitores de débito: contorno de pulso, "/>
          <p:cNvSpPr txBox="1"/>
          <p:nvPr/>
        </p:nvSpPr>
        <p:spPr>
          <a:xfrm>
            <a:off x="4662984" y="2512452"/>
            <a:ext cx="28849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Monitores de débito: contorno de pulso, termodiluição, Doppler</a:t>
            </a:r>
            <a:endParaRPr lang="en-US" sz="1350" dirty="0"/>
          </a:p>
        </p:txBody>
      </p:sp>
      <p:sp>
        <p:nvSpPr>
          <p:cNvPr id="12" name="VPP e VVS em ventilação controlada, dent"/>
          <p:cNvSpPr txBox="1"/>
          <p:nvPr/>
        </p:nvSpPr>
        <p:spPr>
          <a:xfrm>
            <a:off x="4662984" y="3055972"/>
            <a:ext cx="28849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e VVS em ventilação controlada, dentro dos limites do método</a:t>
            </a:r>
            <a:endParaRPr lang="en-US" sz="1350" dirty="0"/>
          </a:p>
        </p:txBody>
      </p:sp>
      <p:sp>
        <p:nvSpPr>
          <p:cNvPr id="13" name="Elevação passiva das pernas ou minidesaf"/>
          <p:cNvSpPr txBox="1"/>
          <p:nvPr/>
        </p:nvSpPr>
        <p:spPr>
          <a:xfrm>
            <a:off x="4662984" y="3599493"/>
            <a:ext cx="28849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Elevação passiva das pernas ou minidesafio hídrico, medindo o débito</a:t>
            </a:r>
            <a:endParaRPr lang="en-US" sz="1350" dirty="0"/>
          </a:p>
        </p:txBody>
      </p:sp>
      <p:sp>
        <p:nvSpPr>
          <p:cNvPr id="14" name="Cartão"/>
          <p:cNvSpPr/>
          <p:nvPr/>
        </p:nvSpPr>
        <p:spPr>
          <a:xfrm>
            <a:off x="7992467" y="1879501"/>
            <a:ext cx="3386634" cy="2473821"/>
          </a:xfrm>
          <a:prstGeom prst="roundRect">
            <a:avLst>
              <a:gd name="adj" fmla="val 3080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Perfusão tissular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Perfusão tissular</a:t>
            </a:r>
            <a:endParaRPr lang="en-US" sz="1700" dirty="0"/>
          </a:p>
        </p:txBody>
      </p:sp>
      <p:sp>
        <p:nvSpPr>
          <p:cNvPr id="16" name="Lactato e sua tendência; SvcO₂; gap veno"/>
          <p:cNvSpPr txBox="1"/>
          <p:nvPr/>
        </p:nvSpPr>
        <p:spPr>
          <a:xfrm>
            <a:off x="8252817" y="2512452"/>
            <a:ext cx="28849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e sua tendência; SvcO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gap venoarterial de 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17" name="Diurese"/>
          <p:cNvSpPr txBox="1"/>
          <p:nvPr/>
        </p:nvSpPr>
        <p:spPr>
          <a:xfrm>
            <a:off x="8252817" y="3055972"/>
            <a:ext cx="2884984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Diurese</a:t>
            </a:r>
            <a:endParaRPr lang="en-US" sz="1350" dirty="0"/>
          </a:p>
        </p:txBody>
      </p:sp>
      <p:sp>
        <p:nvSpPr>
          <p:cNvPr id="18" name="Enchimento capilar e temperatura das ext"/>
          <p:cNvSpPr txBox="1"/>
          <p:nvPr/>
        </p:nvSpPr>
        <p:spPr>
          <a:xfrm>
            <a:off x="8252817" y="3359483"/>
            <a:ext cx="28849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e temperatura das extremidades</a:t>
            </a:r>
            <a:endParaRPr lang="en-US" sz="1350" dirty="0"/>
          </a:p>
        </p:txBody>
      </p:sp>
      <p:sp>
        <p:nvSpPr>
          <p:cNvPr id="19" name="Cartão"/>
          <p:cNvSpPr/>
          <p:nvPr/>
        </p:nvSpPr>
        <p:spPr>
          <a:xfrm>
            <a:off x="812800" y="4658122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Atenção"/>
          <p:cNvSpPr txBox="1"/>
          <p:nvPr/>
        </p:nvSpPr>
        <p:spPr>
          <a:xfrm>
            <a:off x="1073150" y="4838817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21" name="PAM normal não exclui débito baixo: comb"/>
          <p:cNvSpPr txBox="1"/>
          <p:nvPr/>
        </p:nvSpPr>
        <p:spPr>
          <a:xfrm>
            <a:off x="2937470" y="4870478"/>
            <a:ext cx="820043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baixo: combinar eco, débito e marcadores de perfusão antes de decidir por inotrópico.</a:t>
            </a:r>
            <a:endParaRPr lang="en-US" sz="1500" dirty="0"/>
          </a:p>
        </p:txBody>
      </p:sp>
      <p:sp>
        <p:nvSpPr>
          <p:cNvPr id="22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Miller’s Anesthesia, 10ª ed. (2025), cap. 13, 33</a:t>
            </a:r>
            <a:endParaRPr lang="en-US" sz="1200" dirty="0"/>
          </a:p>
        </p:txBody>
      </p:sp>
      <p:pic>
        <p:nvPicPr>
          <p:cNvPr id="2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das aminas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698180"/>
                <a:gridCol w="581163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pré-sináptico, SNC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noradrenalina; sedação (alvo da dexmedetomidina)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065562"/>
          <a:ext cx="10566400" cy="914400"/>
        </p:xfrm>
        <a:graphic>
          <a:graphicData uri="http://schemas.openxmlformats.org/drawingml/2006/table">
            <a:tbl>
              <a:tblPr/>
              <a:tblGrid>
                <a:gridCol w="1320701"/>
                <a:gridCol w="3962301"/>
                <a:gridCol w="5283398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860502"/>
          <a:ext cx="10566400" cy="914400"/>
        </p:xfrm>
        <a:graphic>
          <a:graphicData uri="http://schemas.openxmlformats.org/drawingml/2006/table">
            <a:tbl>
              <a:tblPr/>
              <a:tblGrid>
                <a:gridCol w="1320701"/>
                <a:gridCol w="3962301"/>
                <a:gridCol w="5283398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257973"/>
          <a:ext cx="10566400" cy="914400"/>
        </p:xfrm>
        <a:graphic>
          <a:graphicData uri="http://schemas.openxmlformats.org/drawingml/2006/table">
            <a:tbl>
              <a:tblPr/>
              <a:tblGrid>
                <a:gridCol w="1320701"/>
                <a:gridCol w="3962301"/>
                <a:gridCol w="5283398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Catecolaminas: meia-vida de minutos, em "/>
          <p:cNvSpPr txBox="1"/>
          <p:nvPr/>
        </p:nvSpPr>
        <p:spPr>
          <a:xfrm>
            <a:off x="812800" y="534475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Catecolaminas: meia-vida de minutos, em geral infusão; fenilefrina e efedrina duram mais e permitem bolus. Uso prolongado: dessensibilização.</a:t>
            </a:r>
            <a:endParaRPr lang="en-US" sz="1300" dirty="0"/>
          </a:p>
        </p:txBody>
      </p:sp>
      <p:sp>
        <p:nvSpPr>
          <p:cNvPr id="9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16</a:t>
            </a:r>
            <a:endParaRPr lang="en-US" sz="1200" dirty="0"/>
          </a:p>
        </p:txBody>
      </p:sp>
      <p:pic>
        <p:nvPicPr>
          <p:cNvPr id="1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DC ↔ (↑/↓)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 (↑/↓)</a:t>
            </a:r>
            <a:endParaRPr lang="en-US" sz="1400" dirty="0"/>
          </a:p>
        </p:txBody>
      </p:sp>
      <p:sp>
        <p:nvSpPr>
          <p:cNvPr id="19" name="FC ↔/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RVS ↑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7315200" cy="1546622"/>
          </a:xfrm>
          <a:prstGeom prst="roundRect">
            <a:avLst>
              <a:gd name="adj" fmla="val 492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α1 potente, β1 modesto: sobe a PAM pela 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potente, β1 modesto: sobe a PAM pela RVS e pelo retorno venoso; DC em geral mantido, podendo cair pela pós-carga; FC estável ou menor. 1ª linha no choque séptico.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4064000" y="3527723"/>
            <a:ext cx="7315200" cy="1546622"/>
          </a:xfrm>
          <a:prstGeom prst="roundRect">
            <a:avLst>
              <a:gd name="adj" fmla="val 492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Dose e cuidados"/>
          <p:cNvSpPr txBox="1"/>
          <p:nvPr/>
        </p:nvSpPr>
        <p:spPr>
          <a:xfrm>
            <a:off x="4324350" y="3784079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0,01–0,5 mcg/kg/min, sem teto fixo; bolu"/>
          <p:cNvSpPr txBox="1"/>
          <p:nvPr/>
        </p:nvSpPr>
        <p:spPr>
          <a:xfrm>
            <a:off x="4324350" y="4132702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fixo; bolus de 5–10 mcg no centro cirúrgico. Pode começar em veia periférica calibrosa. Riscos: isquemia digital e esplâncnica, extravasamento.</a:t>
            </a:r>
            <a:endParaRPr lang="en-US" sz="1350" dirty="0"/>
          </a:p>
        </p:txBody>
      </p:sp>
      <p:sp>
        <p:nvSpPr>
          <p:cNvPr id="27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Dose baixa: predomina β (↑DC; a RVS pode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baixa: predomina β (↑DC; a RVS pode cair); dose alta: α1. Droga da anafilaxia; no choque séptico, 3ª droga, se a PAM seguir inadequada com NA e vasopressina.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4064000" y="3447355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Dose e cuidados"/>
          <p:cNvSpPr txBox="1"/>
          <p:nvPr/>
        </p:nvSpPr>
        <p:spPr>
          <a:xfrm>
            <a:off x="4324350" y="3703711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0,01–0,1 mcg/kg/min (em geral, predomíni"/>
          <p:cNvSpPr txBox="1"/>
          <p:nvPr/>
        </p:nvSpPr>
        <p:spPr>
          <a:xfrm>
            <a:off x="4324350" y="405233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 (em geral, predomínio β); no choque, dose maior, titulada pela PAM. Anafilaxia: bolus endovenosos pequenos e titulados; infusão se precisar repetir. Riscos: taquiarritmia, hiperglicemia; lactato ↑ por β2.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 e 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butamina"/>
          <p:cNvSpPr txBox="1"/>
          <p:nvPr/>
        </p:nvSpPr>
        <p:spPr>
          <a:xfrm>
            <a:off x="10668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6" name="PAM ↔/↓ · DC ↑↑ · FC ↑ · RVS ↓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↔/↓ · DC ↑↑ · FC ↑ · RVS 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Inotrópico β1 com vasodilatação β2: ↑DC,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↑DC, ↓RVS, pode baixar a PAM. Indicação: baixo débito com hipoperfusão, 2,5–20 mcg/kg/min; associar vasopressor se a PAM cair; taquicardia e arritmia limitam a dose.</a:t>
            </a:r>
            <a:endParaRPr lang="en-US" sz="1350" dirty="0"/>
          </a:p>
        </p:txBody>
      </p:sp>
      <p:sp>
        <p:nvSpPr>
          <p:cNvPr id="20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1" name="Dopamina"/>
          <p:cNvSpPr txBox="1"/>
          <p:nvPr/>
        </p:nvSpPr>
        <p:spPr>
          <a:xfrm>
            <a:off x="64516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22" name="PAM ↑ · DC ↑ · FC ↑↑ · RVS ↔/↑"/>
          <p:cNvSpPr txBox="1"/>
          <p:nvPr/>
        </p:nvSpPr>
        <p:spPr>
          <a:xfrm>
            <a:off x="86293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 · RVS ↔/↑</a:t>
            </a:r>
            <a:endParaRPr lang="en-US" sz="1300" dirty="0"/>
          </a:p>
        </p:txBody>
      </p:sp>
      <p:sp>
        <p:nvSpPr>
          <p:cNvPr id="23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4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5" name="Cartão"/>
          <p:cNvSpPr/>
          <p:nvPr/>
        </p:nvSpPr>
        <p:spPr>
          <a:xfrm>
            <a:off x="6858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6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7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8" name="Cartão"/>
          <p:cNvSpPr/>
          <p:nvPr/>
        </p:nvSpPr>
        <p:spPr>
          <a:xfrm>
            <a:off x="93218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9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0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1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2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3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4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5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Efeito dose-dependente e pouco previsíve"/>
          <p:cNvSpPr txBox="1"/>
          <p:nvPr/>
        </p:nvSpPr>
        <p:spPr>
          <a:xfrm>
            <a:off x="64579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dose-dependente e pouco previsível; mais taquicardia e arritmia que as outras aminas; a dose “renal” não protege o rim. Uso residual.</a:t>
            </a:r>
            <a:endParaRPr lang="en-US" sz="1350" dirty="0"/>
          </a:p>
        </p:txBody>
      </p:sp>
      <p:sp>
        <p:nvSpPr>
          <p:cNvPr id="37" name="Bellomo, Lancet 2000 (ANZICS) · Miller’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23036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4064000" y="1879501"/>
            <a:ext cx="7315200" cy="1501775"/>
          </a:xfrm>
          <a:prstGeom prst="roundRect">
            <a:avLst>
              <a:gd name="adj" fmla="val 5074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Disfunção ventricular com baixo débito q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inotrópico, sobretudo com hipertensão pulmonar ou falência de VD; saída de CEC com RVP alta ou betabloqueio.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4064000" y="3482876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ose e cuidados"/>
          <p:cNvSpPr txBox="1"/>
          <p:nvPr/>
        </p:nvSpPr>
        <p:spPr>
          <a:xfrm>
            <a:off x="4324350" y="3739232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Ataque de 50 mcg/kg em 10 min (muitas ve"/>
          <p:cNvSpPr txBox="1"/>
          <p:nvPr/>
        </p:nvSpPr>
        <p:spPr>
          <a:xfrm>
            <a:off x="4324350" y="408785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 (muitas vezes omitido); manutenção de 0,375–0,75 mcg/kg/min. Eliminação renal: reduzir na insuficiência renal. Riscos: hipotensão (associar NA) e arritmias.</a:t>
            </a:r>
            <a:endParaRPr lang="en-US" sz="1350" dirty="0"/>
          </a:p>
        </p:txBody>
      </p:sp>
      <p:sp>
        <p:nvSpPr>
          <p:cNvPr id="21" name="bula da milrinona · Miller’s Anesthesia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 da milrinona · Miller’s Anesthesia, 10ª ed. (2025), cap. 16, 50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após o receptor β: mantém efeito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12800" y="4287143"/>
            <a:ext cx="51816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Considere milrinona"/>
          <p:cNvSpPr txBox="1"/>
          <p:nvPr/>
        </p:nvSpPr>
        <p:spPr>
          <a:xfrm>
            <a:off x="10223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VD com hipertensão pulmonar, inclusive n"/>
          <p:cNvSpPr txBox="1"/>
          <p:nvPr/>
        </p:nvSpPr>
        <p:spPr>
          <a:xfrm>
            <a:off x="1022350" y="471233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 com hipertensão pulmonar, inclusive na saída de CEC com RVP alta; betabloqueio ou taquicardia limitando a dobutamina; PAM sustentada (em geral com NA).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7600" y="4287143"/>
            <a:ext cx="51816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Considere dobutamina"/>
          <p:cNvSpPr txBox="1"/>
          <p:nvPr/>
        </p:nvSpPr>
        <p:spPr>
          <a:xfrm>
            <a:off x="64071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Hipotensão ou vasoplegia associada, como"/>
          <p:cNvSpPr txBox="1"/>
          <p:nvPr/>
        </p:nvSpPr>
        <p:spPr>
          <a:xfrm>
            <a:off x="6407150" y="471233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 ou vasoplegia associada, como no choque séptico; insuficiência renal; necessidade de titulação rápida (meia-vida de minutos).</a:t>
            </a:r>
            <a:endParaRPr lang="en-US" sz="1300" dirty="0"/>
          </a:p>
        </p:txBody>
      </p:sp>
      <p:sp>
        <p:nvSpPr>
          <p:cNvPr id="12" name="bula da milrinona · Miller’s Anesthesia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 da milrinona · Miller’s Anesthesia, 10ª ed. (2025), cap. 16, 50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ÃO CATECOLAMINAS DE BOLU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NÃO CATECOLAMINAS DE BOLUS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PAM ↑ · DC ↔/↓ · FC ↓ · RVS ↑↑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↔/↓ · FC ↓ · RVS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Agonista α1 direto: sobe a RVS e a PAM; "/>
          <p:cNvSpPr txBox="1"/>
          <p:nvPr/>
        </p:nvSpPr>
        <p:spPr>
          <a:xfrm>
            <a:off x="10731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direto: sobe a RVS e a PAM; bradicardia reflexa, que pode reduzir o DC. Escolha na hipotensão vasodilatadora com FC normal ou alta.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PAM ↑ · DC ↑ · FC ↑ · RVS ↔/↑"/>
          <p:cNvSpPr txBox="1"/>
          <p:nvPr/>
        </p:nvSpPr>
        <p:spPr>
          <a:xfrm>
            <a:off x="8778875" y="2069740"/>
            <a:ext cx="2365375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 · RVS ↔/↑</a:t>
            </a:r>
            <a:endParaRPr lang="en-US" sz="1300" dirty="0"/>
          </a:p>
        </p:txBody>
      </p:sp>
      <p:sp>
        <p:nvSpPr>
          <p:cNvPr id="21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Ação direta em α e β e indireta, liberan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direta em α e β e indireta, liberando noradrenalina: sobe pressão, frequência e débito. Escolha na hipotensão com bradicardia. Taquifilaxia;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(2025), cap. 16, 58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Além das aminas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268762"/>
          </a:xfrm>
          <a:prstGeom prst="roundRect">
            <a:avLst>
              <a:gd name="adj" fmla="val 2331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Em geral, dose fixa (até 0,04 U/min); co"/>
          <p:cNvSpPr txBox="1"/>
          <p:nvPr/>
        </p:nvSpPr>
        <p:spPr>
          <a:xfrm>
            <a:off x="1066800" y="3036831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(até 0,04 U/min);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oradrena"/>
          <p:cNvSpPr txBox="1"/>
          <p:nvPr/>
        </p:nvSpPr>
        <p:spPr>
          <a:xfrm>
            <a:off x="1066800" y="3884060"/>
            <a:ext cx="35750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noradrenalina em escalada, vasoplegia pós-CEC e hipotensão refratária em uso de IECA/BRA. Risco: isquemia digital e mesentérica.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5080000" y="1879501"/>
            <a:ext cx="6299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Restaura a resposta vascular às catecola"/>
          <p:cNvSpPr txBox="1"/>
          <p:nvPr/>
        </p:nvSpPr>
        <p:spPr>
          <a:xfrm>
            <a:off x="5289550" y="2304690"/>
            <a:ext cx="5899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vascular às catecolaminas; 200 mg/dia no choque séptico.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5080000" y="2809081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Azul de metileno"/>
          <p:cNvSpPr txBox="1"/>
          <p:nvPr/>
        </p:nvSpPr>
        <p:spPr>
          <a:xfrm>
            <a:off x="5289550" y="296430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4" name="Inibe a via óxido nítrico–GMPc: resgate "/>
          <p:cNvSpPr txBox="1"/>
          <p:nvPr/>
        </p:nvSpPr>
        <p:spPr>
          <a:xfrm>
            <a:off x="5289550" y="3234271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via óxido nítrico–GMPc: resgate na vasoplegia refratária (pós-CEC, reperfusão hepática).</a:t>
            </a:r>
            <a:endParaRPr lang="en-US" sz="1300" dirty="0"/>
          </a:p>
        </p:txBody>
      </p:sp>
      <p:sp>
        <p:nvSpPr>
          <p:cNvPr id="15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Miller’s Anesthesia, 10ª ed. (2025), cap. 79</a:t>
            </a:r>
            <a:endParaRPr lang="en-US" sz="1200" dirty="0"/>
          </a:p>
        </p:txBody>
      </p:sp>
      <p:pic>
        <p:nvPicPr>
          <p:cNvPr id="1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a sequência da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, iniciada cedo, mesmo em veia p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Quando a dose de NA está subindo."/>
          <p:cNvSpPr txBox="1"/>
          <p:nvPr/>
        </p:nvSpPr>
        <p:spPr>
          <a:xfrm>
            <a:off x="4730155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Se a PAM continuar inadequada."/>
          <p:cNvSpPr txBox="1"/>
          <p:nvPr/>
        </p:nvSpPr>
        <p:spPr>
          <a:xfrm>
            <a:off x="8444309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10566400" cy="1219200"/>
          </a:xfrm>
          <a:prstGeom prst="roundRect">
            <a:avLst>
              <a:gd name="adj" fmla="val 6250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Em comum"/>
          <p:cNvSpPr txBox="1"/>
          <p:nvPr/>
        </p:nvSpPr>
        <p:spPr>
          <a:xfrm>
            <a:off x="1073150" y="3875835"/>
            <a:ext cx="1834555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comum</a:t>
            </a:r>
            <a:endParaRPr lang="en-US" sz="2800" dirty="0"/>
          </a:p>
        </p:txBody>
      </p:sp>
      <p:sp>
        <p:nvSpPr>
          <p:cNvPr id="20" name="Vasopressor cedo, pelo mecanismo: tônus "/>
          <p:cNvSpPr txBox="1"/>
          <p:nvPr/>
        </p:nvSpPr>
        <p:spPr>
          <a:xfrm>
            <a:off x="3295055" y="3735018"/>
            <a:ext cx="784284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Vasopressor cedo, pelo mecanismo: tônus com noradrenalina, outra via com vasopressina, e adrenalina quando as duas não bastam. Inotrópico apenas se houver disfunção cardíaca com hipoperfusão.</a:t>
            </a:r>
            <a:endParaRPr lang="en-US" sz="1500" dirty="0"/>
          </a:p>
        </p:txBody>
      </p:sp>
      <p:sp>
        <p:nvSpPr>
          <p:cNvPr id="21" name="Prescott, Crit Care Med 2026 (Surviving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(Surviving Sepsis Campaign)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→"/>
          <p:cNvSpPr txBox="1"/>
          <p:nvPr/>
        </p:nvSpPr>
        <p:spPr>
          <a:xfrm>
            <a:off x="1920379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274987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205986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Qual mecanismo?"/>
          <p:cNvSpPr/>
          <p:nvPr/>
        </p:nvSpPr>
        <p:spPr>
          <a:xfrm>
            <a:off x="8560594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Cartão"/>
          <p:cNvSpPr/>
          <p:nvPr/>
        </p:nvSpPr>
        <p:spPr>
          <a:xfrm>
            <a:off x="81280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Fenilefrina 50–100 mcg ou NA 5–10 mcg; i"/>
          <p:cNvSpPr txBox="1"/>
          <p:nvPr/>
        </p:nvSpPr>
        <p:spPr>
          <a:xfrm>
            <a:off x="946150" y="3170165"/>
            <a:ext cx="1764010" cy="694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mcg; infusão se persistir</a:t>
            </a:r>
            <a:endParaRPr lang="en-US" sz="1350" dirty="0"/>
          </a:p>
        </p:txBody>
      </p:sp>
      <p:sp>
        <p:nvSpPr>
          <p:cNvPr id="12" name="Cartão"/>
          <p:cNvSpPr/>
          <p:nvPr/>
        </p:nvSpPr>
        <p:spPr>
          <a:xfrm>
            <a:off x="295146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4" name="Efedrina 5–10 mg"/>
          <p:cNvSpPr txBox="1"/>
          <p:nvPr/>
        </p:nvSpPr>
        <p:spPr>
          <a:xfrm>
            <a:off x="3084810" y="3170165"/>
            <a:ext cx="1764010" cy="231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</a:t>
            </a:r>
            <a:endParaRPr lang="en-US" sz="1350" dirty="0"/>
          </a:p>
        </p:txBody>
      </p:sp>
      <p:sp>
        <p:nvSpPr>
          <p:cNvPr id="15" name="Cartão"/>
          <p:cNvSpPr/>
          <p:nvPr/>
        </p:nvSpPr>
        <p:spPr>
          <a:xfrm>
            <a:off x="509012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7" name="Dobutamina; milrinona no VD com hiperten"/>
          <p:cNvSpPr txBox="1"/>
          <p:nvPr/>
        </p:nvSpPr>
        <p:spPr>
          <a:xfrm>
            <a:off x="5223470" y="3170165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no VD com hipertensão pulmonar; NA se a PAM cair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722878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Vasoplegia refratária"/>
          <p:cNvSpPr/>
          <p:nvPr/>
        </p:nvSpPr>
        <p:spPr>
          <a:xfrm>
            <a:off x="7235130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0" name="Vasopressina; azul de metileno como resg"/>
          <p:cNvSpPr txBox="1"/>
          <p:nvPr/>
        </p:nvSpPr>
        <p:spPr>
          <a:xfrm>
            <a:off x="7362130" y="3167784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 (pós-CEC, IECA/BRA, reperfusão hepática)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9367441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Pré-carga baixa"/>
          <p:cNvSpPr/>
          <p:nvPr/>
        </p:nvSpPr>
        <p:spPr>
          <a:xfrm>
            <a:off x="9373791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3" name="Volume, se o débito responde"/>
          <p:cNvSpPr txBox="1"/>
          <p:nvPr/>
        </p:nvSpPr>
        <p:spPr>
          <a:xfrm>
            <a:off x="9500791" y="3167784"/>
            <a:ext cx="1764010" cy="462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350" dirty="0"/>
          </a:p>
        </p:txBody>
      </p:sp>
      <p:sp>
        <p:nvSpPr>
          <p:cNvPr id="24" name="Transplante hepático (UFRJ): em 19 pacie"/>
          <p:cNvSpPr txBox="1"/>
          <p:nvPr/>
        </p:nvSpPr>
        <p:spPr>
          <a:xfrm>
            <a:off x="812800" y="4468254"/>
            <a:ext cx="105854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19 pacientes selecionados, a função sistólica do VD ao ETE manteve-se preservada nas cinco fases, inclusive após a reperfusão: a instabilidade da reperfusão não se explicou por falência de VD, o que favorece tratá-la como vasoplegia e confirmar pelo eco antes de iniciar inotrópico (Gouvêa et al., PLoS One 2022).</a:t>
            </a:r>
            <a:endParaRPr lang="en-US" sz="1300" dirty="0"/>
          </a:p>
        </p:txBody>
      </p:sp>
      <p:sp>
        <p:nvSpPr>
          <p:cNvPr id="25" name="Gouvêa, PLoS One 2022 · Hajjar, Anesthe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Gouvêa, PLoS One 2022 · Hajjar, Anesthesiology 2017 (VANCS) · Miller’s Anesthesia, 10ª ed. (2025), cap. 33, 56</a:t>
            </a:r>
            <a:endParaRPr lang="en-US" sz="1200" dirty="0"/>
          </a:p>
        </p:txBody>
      </p:sp>
      <p:pic>
        <p:nvPicPr>
          <p:cNvPr id="2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9731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72147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ou adrenalina; milrinona sobretudo no VD com hipertensão pulmonar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14563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vasodilatadora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56979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vasodilatadora com taquicardia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99395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SC 2026 · ESICM 2025 · Miller’s Anesth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ESICM 2025 · Miller’s Anesthesia, 10ª ed. (2025)</a:t>
            </a:r>
            <a:endParaRPr lang="en-US" sz="1200" dirty="0"/>
          </a:p>
        </p:txBody>
      </p:sp>
      <p:pic>
        <p:nvPicPr>
          <p:cNvPr id="1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2251802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</a:t>
            </a:r>
            <a:endParaRPr lang="en-US" sz="5600" dirty="0"/>
          </a:p>
        </p:txBody>
      </p:sp>
      <p:sp>
        <p:nvSpPr>
          <p:cNvPr id="4" name="As referências completas da aula estão n"/>
          <p:cNvSpPr txBox="1"/>
          <p:nvPr/>
        </p:nvSpPr>
        <p:spPr>
          <a:xfrm>
            <a:off x="812800" y="3751375"/>
            <a:ext cx="5734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referências completas da aula estão no QR code.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4329343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sp>
        <p:nvSpPr>
          <p:cNvPr id="6" name="Cartão"/>
          <p:cNvSpPr/>
          <p:nvPr/>
        </p:nvSpPr>
        <p:spPr>
          <a:xfrm>
            <a:off x="8280400" y="1687810"/>
            <a:ext cx="3098800" cy="3098800"/>
          </a:xfrm>
          <a:prstGeom prst="roundRect">
            <a:avLst>
              <a:gd name="adj" fmla="val 3279"/>
            </a:avLst>
          </a:prstGeom>
          <a:solidFill>
            <a:srgbClr val="F5F3EE"/>
          </a:solidFill>
          <a:ln/>
        </p:spPr>
      </p:sp>
      <p:pic>
        <p:nvPicPr>
          <p:cNvPr id="7" name="QR code com o link da lista de referências" descr="QR code com o link da lista de referênci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2800" y="1840210"/>
            <a:ext cx="2794000" cy="2794000"/>
          </a:xfrm>
          <a:prstGeom prst="rect">
            <a:avLst/>
          </a:prstGeom>
        </p:spPr>
      </p:pic>
      <p:sp>
        <p:nvSpPr>
          <p:cNvPr id="8" name="REFERÊNCIAS"/>
          <p:cNvSpPr txBox="1"/>
          <p:nvPr/>
        </p:nvSpPr>
        <p:spPr>
          <a:xfrm>
            <a:off x="9299178" y="4926050"/>
            <a:ext cx="108029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pic>
        <p:nvPicPr>
          <p:cNvPr id="9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Georgia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2026-10-19T23:30:59Z</dcterms:created>
  <dcterms:modified xsi:type="dcterms:W3CDTF">2026-10-19T23:30:59Z</dcterms:modified>
</cp:coreProperties>
</file>