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fdcee899-6b88-411e-5746-329e2a9431f1}">
          <p14:sldIdLst>
            <p14:sldId id="256"/>
            <p14:sldId id="257"/>
          </p14:sldIdLst>
        </p14:section>
        <p14:section name="Fisiologia: pressão, débito e perfusão; farmacologia dos receptores" id="{4f10a1f6-f641-77d7-46c3-347447a286b5}">
          <p14:sldIdLst>
            <p14:sldId id="258"/>
            <p14:sldId id="259"/>
            <p14:sldId id="260"/>
            <p14:sldId id="261"/>
          </p14:sldIdLst>
        </p14:section>
        <p14:section name="Drogas: noradrenalina, adrenalina, dopamina, dobutamina, milrinona (mecanismo, escolha frente à dobutamina e falência de VD), fenilefrina, efedrina e vasopressina" id="{234c8819-a25d-4fbc-900a-c15e02c11425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Choque séptico: a sequência da SSC 2026" id="{60888cb3-b1c8-a546-0571-2e534a77e9f7}">
          <p14:sldIdLst>
            <p14:sldId id="271"/>
          </p14:sldIdLst>
        </p14:section>
        <p14:section name="Perioperatório: escolha da droga e alvo de pressão" id="{f6fd6eec-7bbd-a9f9-961f-30303bd96475}">
          <p14:sldIdLst>
            <p14:sldId id="272"/>
            <p14:sldId id="273"/>
          </p14:sldIdLst>
        </p14:section>
        <p14:section name="Mensagens finais" id="{a2f1887d-2ee3-983b-cef6-7cd10f06ccb2}">
          <p14:sldIdLst>
            <p14:sldId id="274"/>
          </p14:sldIdLst>
        </p14:section>
        <p14:section name="Slides de reserva para perguntas" id="{f0c98356-f0f3-433f-9cb3-c4466124f687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vasoativas. A aula nasceu de uma discussão em sala sobre o uso de milrinona: quando ela tem indicação, e quando a dobutamina ou um vasopressor seriam a escolha. Vou partir da fisiologia, passar pelas drogas e terminar no choque séptico e no centro cirúrgico.</a:t>
            </a:r>
            <a:endParaRPr lang="en-US" dirty="0"/>
          </a:p>
          <a:p>
            <a:r>
              <a:rPr lang="en-US" dirty="0"/>
              <a:t>TRANSIÇÃO: A pergunta que vai orientar a aula é: qual componente da pressão arterial está falhando?</a:t>
            </a:r>
            <a:endParaRPr lang="en-US" dirty="0"/>
          </a:p>
          <a:p>
            <a:r>
              <a:rPr lang="en-US" dirty="0"/>
              <a:t>TEMPO: 30 s (0:00 → 0:30). Total previsto: 17 min 50 s nos 19 slides principais; ensaiar em cerca de 17 minutos e meio, sem passar de 18.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 objetivo é fixar um raciocínio: diante da hipotensão, perguntar qual componente da PAM está falhando. Tônus vascular baixo pede vasopressor, bomba fraca pede inotrópico e pré-carga baixa pede volume. Depois vêm a fisiologia, os receptores, as drogas uma a uma e, no fim, a aplicação no choque séptico e no centro cirúrgico.</a:t>
            </a:r>
            <a:endParaRPr lang="en-US" dirty="0"/>
          </a:p>
          <a:p>
            <a:r>
              <a:rPr lang="en-US" dirty="0"/>
              <a:t>TRANSIÇÃO: Para responder, precisamos entender de que depende a pressão arterial média.</a:t>
            </a:r>
            <a:endParaRPr lang="en-US" dirty="0"/>
          </a:p>
          <a:p>
            <a:r>
              <a:rPr lang="en-US" dirty="0"/>
              <a:t>TEMPO: 25 s (0:30 → 0:55)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PAM depende do débito cardíaco e da resistência vascular, e a PVC pesa quando está alta. Na vasoplegia o problema é o tônus: sepse, anestesia geral, neuroeixo, anafilaxia, saída de CEC. Na falência de bomba o débito é baixo, em geral com resistência alta; na sepse, a disfunção miocárdica pode coexistir com vasoplegia. O α1 também contrai veias, recruta volume não estressado e aumenta o retorno venoso: Persichini e colaboradores mostraram, em pacientes com choque séptico, que reduzir a dose de noradrenalina diminui a pressão sistêmica média, o retorno venoso e o débito cardíaco. Para diferenciar, a ESICM 2025 recomenda eco como primeira imagem, parâmetros dinâmicos antes de mais volume e perfusão seriada pelo tempo de enchimento capilar.</a:t>
            </a:r>
            <a:endParaRPr lang="en-US" dirty="0"/>
          </a:p>
          <a:p>
            <a:r>
              <a:rPr lang="en-US" dirty="0"/>
              <a:t>TRANSIÇÃO: Mas PAM normal não basta: pressão não é perfusão.</a:t>
            </a:r>
            <a:endParaRPr lang="en-US" dirty="0"/>
          </a:p>
          <a:p>
            <a:r>
              <a:rPr lang="en-US" dirty="0"/>
              <a:t>TEMPO: 1 min (0:55 → 1:55)</a:t>
            </a:r>
            <a:endParaRPr lang="en-US" dirty="0"/>
          </a:p>
          <a:p>
            <a:r>
              <a:rPr lang="en-US" dirty="0"/>
              <a:t>PONTO-CHAVE: Vasoplegia pede vasopressor; bomba fraca, inotrópico; pré-carga baixa,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Pressão não é fluxo: uma resistência alta pode manter a PAM com o débito baixo. Por isso, a decisão de usar inotrópico depende de sinais de hipoperfusão e de uma estimativa do débito, e não apenas da pressão. Os sinais estão no slide. Antes da droga, vale perguntar se o débito responde a volume, com parâmetros dinâmicos ou um teste de volume medindo o débito; o eco mostra o VTI e a função dos ventrículos. O inverso também vale: aumentar o débito com uma droga não é o mesmo que melhorar o desfecho. No OPTIME-CHF, 951 pacientes internados por insuficiência cardíaca descompensada, sem indicação clara de inotrópico, receberam milrinona ou placebo por 48 horas: não houve benefício, e a milrinona causou mais hipotensão sustentada, 10,7 contra 3,2%, e mais arritmia atrial.</a:t>
            </a:r>
            <a:endParaRPr lang="en-US" dirty="0"/>
          </a:p>
          <a:p>
            <a:r>
              <a:rPr lang="en-US" dirty="0"/>
              <a:t>TRANSIÇÃO: Definido o problema, as ferramentas: os receptores.</a:t>
            </a:r>
            <a:endParaRPr lang="en-US" dirty="0"/>
          </a:p>
          <a:p>
            <a:r>
              <a:rPr lang="en-US" dirty="0"/>
              <a:t>TEMPO: 1 min 5 s (1:55 → 3:00)</a:t>
            </a:r>
            <a:endParaRPr lang="en-US" dirty="0"/>
          </a:p>
          <a:p>
            <a:r>
              <a:rPr lang="en-US" dirty="0"/>
              <a:t>PONTO-CHAVE: Inotrópico se decide por hipoperfusão e débito, não só pela pressão.</a:t>
            </a:r>
            <a:endParaRPr lang="en-US" dirty="0"/>
          </a:p>
          <a:p>
            <a:r>
              <a:rPr lang="en-US" dirty="0"/>
              <a:t>SE PERGUNTAREM: em um ECR de 2025 (Tongyoo, Ann Med; 64 pacientes em choque séptico com hipoperfusão ou disfunção de VE), a milrinona aumentou o débito em 6 horas em relação ao placebo, mas a mortalidade em 28 dias foi igual, 50% nos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α1 contrai artérias e veias; β1 aumenta contratilidade e frequência; β2 dilata vasos e brônquios e eleva glicemia e lactato; D1 dilata os leitos renal e mesentérico. α2 está na tabela apenas para lembrar que clonidina e dexmedetomidina são simpatolíticos, e não vasopressores. V1 e PDE3 entram porque vasopressina e milrinona não dependem do adrenoceptor: a vasopressina age no receptor V1, e a milrinona inibe a enzima que degrada o AMPc, depois do receptor β. A dessensibilização com o uso prolongado ajuda a explicar a taquifilaxia e a lógica de associar uma droga de outra via.</a:t>
            </a:r>
            <a:endParaRPr lang="en-US" dirty="0"/>
          </a:p>
          <a:p>
            <a:r>
              <a:rPr lang="en-US" dirty="0"/>
              <a:t>TRANSIÇÃO: Antes das drogas, uma classificação rápida.</a:t>
            </a:r>
            <a:endParaRPr lang="en-US" dirty="0"/>
          </a:p>
          <a:p>
            <a:r>
              <a:rPr lang="en-US" dirty="0"/>
              <a:t>TEMPO: 45 s (3:00 → 3:45)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via de síntese explica dois pontos práticos: parte do efeito da dopamina vem da conversão e da liberação de noradrenalina, e a síntese de adrenalina na medula adrenal depende de cortisol. A curta duração das catecolaminas facilita a titulação por infusão contínua; fenilefrina e efedrina, sem o anel catecol, duram mais e costumam ser usadas em bolus na hipotensão transitória, embora a fenilefrina também possa ser infundida.</a:t>
            </a:r>
            <a:endParaRPr lang="en-US" dirty="0"/>
          </a:p>
          <a:p>
            <a:r>
              <a:rPr lang="en-US" dirty="0"/>
              <a:t>TRANSIÇÃO: Começo pela droga de primeira linha.</a:t>
            </a:r>
            <a:endParaRPr lang="en-US" dirty="0"/>
          </a:p>
          <a:p>
            <a:r>
              <a:rPr lang="en-US" dirty="0"/>
              <a:t>TEMPO: 35 s (3:45 → 4:20)</a:t>
            </a:r>
            <a:endParaRPr lang="en-US" dirty="0"/>
          </a:p>
          <a:p>
            <a:r>
              <a:rPr lang="en-US" dirty="0"/>
              <a:t>PONTO-CHAVE: Catecolaminas: meia-vida curta, infusão titulável; fenilefrina e efedrina: bolus na hipotensão transitória.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droga de primeira linha no choque séptico. É um α1 potente, com efeito β1 modesto: eleva a PAM pela resistência e pela venoconstrição, com débito mantido ou maior e frequência estável ou menor, por reflexo. A dose usual vai de 0,01 a 0,5 mcg/kg/min, sem teto fixo no choque refratário; no centro cirúrgico, bolus de 5 a 10 mcg. Pode ser iniciada em veia periférica calibrosa.</a:t>
            </a:r>
            <a:endParaRPr lang="en-US" dirty="0"/>
          </a:p>
          <a:p>
            <a:r>
              <a:rPr lang="en-US" dirty="0"/>
              <a:t>TRANSIÇÃO: A adrenalina é parecida na estrutura, mas tem outro perfil.</a:t>
            </a:r>
            <a:endParaRPr lang="en-US" dirty="0"/>
          </a:p>
          <a:p>
            <a:r>
              <a:rPr lang="en-US" dirty="0"/>
              <a:t>TEMPO: 45 s (4:20 → 5:05)</a:t>
            </a:r>
            <a:endParaRPr lang="en-US" dirty="0"/>
          </a:p>
          <a:p>
            <a:r>
              <a:rPr lang="en-US" dirty="0"/>
              <a:t>PONTO-CHAVE: α1 potente com β1 modesto: sobe a PAM e preserva o débito.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 efeito depende da dose: em dose baixa predominam β1 e β2, com débito alto e resistência que pode cair; em dose alta prevalece o α1. É a droga da anafilaxia e, no choque séptico, entra como terceira droga quando a PAM segue inadequada com noradrenalina e vasopressina. Na anafilaxia em ambiente monitorizado, bolus EV diluídos e titulados (ANZCA/ANZAAG 2022); se forem necessários mais de três bolus, iniciar infusão; sem acesso venoso, ou fora desse ambiente, 0,5 mg IM. O lactato pode subir por efeito β2, mas isso não autoriza ignorar hipoperfusão.</a:t>
            </a:r>
            <a:endParaRPr lang="en-US" dirty="0"/>
          </a:p>
          <a:p>
            <a:r>
              <a:rPr lang="en-US" dirty="0"/>
              <a:t>TRANSIÇÃO: Passando à dopamina e à dobutamina, duas catecolaminas com aplicações muito diferentes.</a:t>
            </a:r>
            <a:endParaRPr lang="en-US" dirty="0"/>
          </a:p>
          <a:p>
            <a:r>
              <a:rPr lang="en-US" dirty="0"/>
              <a:t>TEMPO: 45 s (5:05 → 5:50)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Dopamina: o efeito muda com a dose, primeiro D1, depois β1 e, em doses altas, α1, mas a resposta varia muito entre pacientes. A dose “renal” não protege o rim: no ensaio da ANZICS, 328 pacientes críticos com disfunção renal inicial receberam dopamina em 2 mcg/kg/min ou placebo, sem diferença no pico de creatinina, na diálise ou na mortalidade. No SOAP II, 1.679 pacientes em choque receberam dopamina ou noradrenalina como primeira droga: mortalidade em 28 dias semelhante, 52,5 contra 48,5%, com o dobro de arritmias; por isso a SSC 2026 recomenda não usar a dopamina como primeira linha. Dobutamina: inotropismo β1 com queda discreta da resistência, indicada no baixo débito com hipoperfusão. Se a PAM cair, associar vasopressor para sustentar a pressão de perfusão.</a:t>
            </a:r>
            <a:endParaRPr lang="en-US" dirty="0"/>
          </a:p>
          <a:p>
            <a:r>
              <a:rPr lang="en-US" dirty="0"/>
              <a:t>TRANSIÇÃO: Para entender a diferença entre dobutamina e milrinona, um esquema.</a:t>
            </a:r>
            <a:endParaRPr lang="en-US" dirty="0"/>
          </a:p>
          <a:p>
            <a:r>
              <a:rPr lang="en-US" dirty="0"/>
              <a:t>TEMPO: 1 min 5 s (5:50 → 6:55)</a:t>
            </a:r>
            <a:endParaRPr lang="en-US" dirty="0"/>
          </a:p>
          <a:p>
            <a:r>
              <a:rPr lang="en-US" dirty="0"/>
              <a:t>PONTO-CHAVE: Dopamina fora da primeira linha; dobutamina para baixo débito com hipoperfusão.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é o mecanismo que separa as duas drogas. A dobutamina estimula o receptor β1; pela proteína Gs, a adenilato ciclase produz AMPc, que ativa a PKA. A sinalização pela PKA aumenta a disponibilidade de cálcio na sístole, pela fosforilação do canal de cálcio tipo L, favorecendo a contração; na diástole, a fosforilação do fosfolambam reduz a inibição da SERCA2a e acelera a recaptação de cálcio, melhorando o relaxamento. A milrinona entra em outro ponto: inibe a PDE3, a enzima que degrada o AMPc em 5′-AMP. Ela não depende do receptor β, mas precisa de alguma produção de AMPc. Por isso mantém efeito com betabloqueio ou com receptores dessensibilizados. Mas isso é fundamento farmacológico, não benefício demonstrado, como vamos ver no DOREMI daqui a dois slides. No músculo liso vascular, a mesma via AMPc–PKA inibe a quinase da cadeia leve da miosina, a MLCK, e o vaso relaxa: por isso a milrinona é inodilatadora e pode baixar a PAM. E, como as duas aumentam AMPc e cálcio, as duas podem causar arritmias.</a:t>
            </a:r>
            <a:endParaRPr lang="en-US" dirty="0"/>
          </a:p>
          <a:p>
            <a:r>
              <a:rPr lang="en-US" dirty="0"/>
              <a:t>TRANSIÇÃO: Com esse mecanismo, a milrinona fica fácil de entender.</a:t>
            </a:r>
            <a:endParaRPr lang="en-US" dirty="0"/>
          </a:p>
          <a:p>
            <a:r>
              <a:rPr lang="en-US" dirty="0"/>
              <a:t>TEMPO: 1 min 25 s (6:55 → 8:20)</a:t>
            </a:r>
            <a:endParaRPr lang="en-US" dirty="0"/>
          </a:p>
          <a:p>
            <a:r>
              <a:rPr lang="en-US" dirty="0"/>
              <a:t>PONTO-CHAVE: Dobutamina aumenta a produção de AMPc; milrinona impede a degradação.</a:t>
            </a:r>
            <a:endParaRPr lang="en-US" dirty="0"/>
          </a:p>
          <a:p>
            <a:r>
              <a:rPr lang="en-US" dirty="0"/>
              <a:t>SE PERGUNTAREM: a sinalização do AMPc é compartimentalizada, com PKA e fosfodiesterases ancoradas por AKAPs em nanodomínios (Zaccolo e Kovanich, Physiol Rev 2025); e parte do efeito da PKA sobre o canal tipo L passa pela fosforilação da proteína Rad, que deixa de inibir o canal (Liu, Nature 2020). A contribuição funcional da fosforilação do RyR2 pela PKA ainda é debatida; por isso a figura mostra apenas os dois alvos bem estabelecidos, o canal tipo L e o fosfolambam.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Como vimos, a milrinona inibe a PDE3 e age depois do receptor β. É um inodilatador: aumenta a contratilidade e o relaxamento e reduz as resistências sistêmica e pulmonar. Por ser vasodilatadora, muitas vezes exige associação com noradrenalina. Tem eliminação renal e meia-vida bem mais longa que a da dobutamina: é menos titulável e acumula na insuficiência renal; a dose máxima diária em bula é 1,13 mg/kg. A indicação é a disfunção ventricular com baixo débito que exige suporte inotrópico, o que no centro cirúrgico inclui a dificuldade de saída de CEC; a comparação com a dobutamina vem no próximo slide.</a:t>
            </a:r>
            <a:endParaRPr lang="en-US" dirty="0"/>
          </a:p>
          <a:p>
            <a:r>
              <a:rPr lang="en-US" dirty="0"/>
              <a:t>TRANSIÇÃO: E a pergunta central: quando escolher cada uma.</a:t>
            </a:r>
            <a:endParaRPr lang="en-US" dirty="0"/>
          </a:p>
          <a:p>
            <a:r>
              <a:rPr lang="en-US" dirty="0"/>
              <a:t>TEMPO: 50 s (8:20 → 9:10)</a:t>
            </a:r>
            <a:endParaRPr lang="en-US" dirty="0"/>
          </a:p>
          <a:p>
            <a:r>
              <a:rPr lang="en-US" dirty="0"/>
              <a:t>PONTO-CHAVE: Inodilatador de meia-vida longa e eliminação renal.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é a pergunta prática da aula. Primeiro, a indicação: inotrópico se justifica quando há disfunção ventricular com baixo débito ou hipoperfusão, depois de otimizar volume e PAM. Se a hipotensão é por vasoplegia, a droga é o vasopressor, e um inodilatador baixa ainda mais a pressão. O único ensaio que comparou as duas é o DOREMI: randomizado e duplo-cego, 192 pacientes com choque cardiogênico receberam milrinona ou dobutamina. O desfecho composto, que incluía morte, parada ressuscitada, suporte mecânico ou transplante, infarto, AVC e diálise nova, ocorreu em 49% com milrinona e 54% com dobutamina, sem diferença; arritmia, hipotensão sustentada e necessidade de vasopressor também não diferiram. Na subanálise dos 93 pacientes que usavam betabloqueador antes do choque, a milrinona não teve vantagem. Isso não comprova equivalência; a escolha fica farmacológica, e as diferenças da tabela são perfis esperados. A milrinona faz sentido no VD com hipertensão pulmonar, como na saída de CEC, porque reduz a resistência pulmonar, e quando a taquicardia ou o betabloqueio limitam a dobutamina. Quando há indicação de inotrópico, a dobutamina pode ser mais conveniente se houver hipotensão associada, insuficiência renal, porque a milrinona acumula, ou necessidade de titulação rápida.</a:t>
            </a:r>
            <a:endParaRPr lang="en-US" dirty="0"/>
          </a:p>
          <a:p>
            <a:r>
              <a:rPr lang="en-US" dirty="0"/>
              <a:t>TRANSIÇÃO: Um cenário em que essa diferença farmacológica realmente importa é a falência de ventrículo direito. Como abordá-la?</a:t>
            </a:r>
            <a:endParaRPr lang="en-US" dirty="0"/>
          </a:p>
          <a:p>
            <a:r>
              <a:rPr lang="en-US" dirty="0"/>
              <a:t>TEMPO: 1 min 40 s (9:10 → 10:50)</a:t>
            </a:r>
            <a:endParaRPr lang="en-US" dirty="0"/>
          </a:p>
          <a:p>
            <a:r>
              <a:rPr lang="en-US" dirty="0"/>
              <a:t>PONTO-CHAVE: Primeiro a indicação; depois a escolha é farmacológica, sem superioridade em desfecho.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 na insuficiência cardíaca e aumenta na insuficiência renal, que pede dose de manutenção menor; a da dobutamina é de cerca de 2 minutos. Sem hipoperfusão, inotrópico não traz benefício: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Na falência de VD, quatro frentes andam juntas. Primeiro, a pressão de perfusão: o VD fica isquêmico quando a PAM cai, então noradrenalina para sustentar a PAM e, conforme a vasoplegia associada, vasopressina. Segundo, a resistência pulmonar: corrigir hipóxia, hipercapnia e acidose e, se preciso, vasodilatador pulmonar inalado. Terceiro, a contratilidade: aqui a milrinona faz sentido, porque é inotrópica e reduz a resistência pulmonar; a dobutamina é alternativa. Quarto, volume e ritmo: o VD dilatado tolera mal mais volume. A milrinona pode baixar a PAM e não substitui o diagnóstico: com débito preservado e resistência baixa, considerar vasoplegia, e aí a droga é o vasopressor.</a:t>
            </a:r>
            <a:endParaRPr lang="en-US" dirty="0"/>
          </a:p>
          <a:p>
            <a:r>
              <a:rPr lang="en-US" dirty="0"/>
              <a:t>TRANSIÇÃO: Saindo dos inotrópicos, as drogas de bolus do centro cirúrgico.</a:t>
            </a:r>
            <a:endParaRPr lang="en-US" dirty="0"/>
          </a:p>
          <a:p>
            <a:r>
              <a:rPr lang="en-US" dirty="0"/>
              <a:t>TEMPO: 55 s (10:50 → 11:45)</a:t>
            </a:r>
            <a:endParaRPr lang="en-US" dirty="0"/>
          </a:p>
          <a:p>
            <a:r>
              <a:rPr lang="en-US" dirty="0"/>
              <a:t>PONTO-CHAVE: Na falência de VD, a milrinona entra na contratilidade, com noradrenalina; com débito preservado e RVS baixa, considerar vasoplegia.</a:t>
            </a:r>
            <a:endParaRPr lang="en-US" dirty="0"/>
          </a:p>
          <a:p>
            <a:r>
              <a:rPr lang="en-US" dirty="0"/>
              <a:t>SE PERGUNTAREM: declaração científica da AHA sobre insuficiência cardíaca direita (Konstam, Circulation 2018;137(20):e578–e622). No transplante hepático, o estudo de Gouvêa, Diaz e colaboradores (PLoS One 2022) não encontrou disfunção de VD ao ETE ao longo do procedimento.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Fenilefrina: agonista α1 puro, sem ação β; a PAM sobe pela resistência e a frequência cai por reflexo. Isso é útil quando a taquicardia é indesejável, mas pode reduzir o débito quando ele depende da frequência. Na estenose aórtica, o objetivo é manter a pós-carga e evitar taquicardia; a escolha depende da frequência e da função ventricular, e não de uma regra fixa. Na cesárea, o consenso internacional de 2018 recomenda vasopressor α-agonista em infusão profilática, titulado para manter a PAS perto da basal. Efedrina: por ter ação indireta, perde efeito com doses repetidas e com estoques de noradrenalina depletados; atravessa a placenta e se associa a mais acidose fetal.</a:t>
            </a:r>
            <a:endParaRPr lang="en-US" dirty="0"/>
          </a:p>
          <a:p>
            <a:r>
              <a:rPr lang="en-US" dirty="0"/>
              <a:t>TRANSIÇÃO: E quando as catecolaminas não bastam?</a:t>
            </a:r>
            <a:endParaRPr lang="en-US" dirty="0"/>
          </a:p>
          <a:p>
            <a:r>
              <a:rPr lang="en-US" dirty="0"/>
              <a:t>TEMPO: 50 s (11:45 → 12:35)</a:t>
            </a:r>
            <a:endParaRPr lang="en-US" dirty="0"/>
          </a:p>
          <a:p>
            <a:r>
              <a:rPr lang="en-US" dirty="0"/>
              <a:t>PONTO-CHAVE: Fenilefrina: tônus baixo com FC alta. Efedrina: tônus baixo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V1, fora da via adrenérgica: poupa catecolamina e costuma manter efeito em acidose; no choque séptico há deficiência relativa de vasopressina. Em geral, usa-se dose fixa; a ordem do desmame não tem regra definida e segue o protocolo do serviço, considerando a dose de noradrenalina e a tolerância. Indicações: choque séptico com noradrenalina em escalada, vasoplegia após CEC e hipotensão refratária em pacientes em uso de IECA ou BRA. Riscos: isquemia digital e mesentérica, hiponatremia. Antes de associar drogas, corrigir causas tratáveis (volume, foco, acidose, cálcio, disfunção ventricular). Adjuvantes: a hidrocortisona restaura a resposta às catecolaminas; a angiotensina II poupa catecolamina, mas é pouco disponível; o azul de metileno fica como resgate na vasoplegia refratária.</a:t>
            </a:r>
            <a:endParaRPr lang="en-US" dirty="0"/>
          </a:p>
          <a:p>
            <a:r>
              <a:rPr lang="en-US" dirty="0"/>
              <a:t>TRANSIÇÃO: Juntando tudo no choque séptico.</a:t>
            </a:r>
            <a:endParaRPr lang="en-US" dirty="0"/>
          </a:p>
          <a:p>
            <a:r>
              <a:rPr lang="en-US" dirty="0"/>
              <a:t>TEMPO: 55 s (12:35 → 13:30)</a:t>
            </a:r>
            <a:endParaRPr lang="en-US" dirty="0"/>
          </a:p>
          <a:p>
            <a:r>
              <a:rPr lang="en-US" dirty="0"/>
              <a:t>PONTO-CHAVE: Vasopressina age por outra via (V1) e poupa catecolamina.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ciclase; é resgate na vasoplegia pós-CEC e na reperfusão do enxerto hepático, com evidência limitada; interfere na oximetria e pode causar síndrome serotoninérgica com ISRS e outros serotoninérgicos.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organiza os vasopressores em sequência. Noradrenalina primeiro, iniciada cedo e, se preciso, por veia periférica. Vasopressina quando a dose de noradrenalina está subindo; a diretriz não define um limiar, e na enquete dos painelistas a mediana foi 0,3 mcg/kg/min. Adrenalina se a PAM continuar inadequada. Alvo inicial de 65 mmHg, ou 60 a 65 a partir dos 65 anos. Sobre o momento da vasopressina, o VASSPR, publicado neste mês: 3.959 pacientes com choque séptico em hospitais sorteados para iniciar a vasopressina com noradrenalina em 0,1 ou em 0,4 mcg/kg/min; a mortalidade foi igual, 31,8 contra 33,0%. Antecipar como regra não trouxe ganho. Na disfunção cardíaca com hipoperfusão apesar de volume e PAM adequados, dobutamina com noradrenalina, ou adrenalina; hidrocortisona sugerida; levosimendana e terlipressina, contra.</a:t>
            </a:r>
            <a:endParaRPr lang="en-US" dirty="0"/>
          </a:p>
          <a:p>
            <a:r>
              <a:rPr lang="en-US" dirty="0"/>
              <a:t>TRANSIÇÃO: No centro cirúrgico, o raciocínio é o mesmo, com outras causas.</a:t>
            </a:r>
            <a:endParaRPr lang="en-US" dirty="0"/>
          </a:p>
          <a:p>
            <a:r>
              <a:rPr lang="en-US" dirty="0"/>
              <a:t>TEMPO: 1 min 5 s (13:30 → 14:35)</a:t>
            </a:r>
            <a:endParaRPr lang="en-US" dirty="0"/>
          </a:p>
          <a:p>
            <a:r>
              <a:rPr lang="en-US" dirty="0"/>
              <a:t>PONTO-CHAVE: Noradrenalina, depois vasopressina, depois adrenalina; PAM inicial de 65 mmHg.</a:t>
            </a:r>
            <a:endParaRPr lang="en-US" dirty="0"/>
          </a:p>
          <a:p>
            <a:r>
              <a:rPr lang="en-US" dirty="0"/>
              <a:t>SE PERGUNTAREM: o VASSPR (JAMA 2026, n = 3.959) comparou políticas hospitalares de iniciar a vasopressina com noradrenalina de 0,1 vs. 0,4 mcg/kg/min;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Antes da droga, afastar causas tratáveis: plano anestésico profundo, hipovolemia, compressão aortocava, pneumotórax, anafilaxia. Se persistir, avaliar a resposta a volume e fazer eco. A escolha segue o mecanismo: tônus baixo com frequência preservada pede α1; bradicardia associada pede ação β1, com efedrina ou, se grave, adrenalina; baixo débito pede inotrópico, e a milrinona tem a vantagem de reduzir a resistência pulmonar. A vasoplegia que não responde às catecolaminas, como após CEC, com uso crônico de IECA ou BRA ou na reperfusão do enxerto hepático, pode responder à vasopressina, que age por outra via; o azul de metileno fica como resgate. Na cesárea, fenilefrina profilática, com a noradrenalina como alternativa. Na anafilaxia, adrenalina. Um dado do nosso serviço: Gouvêa, Diaz e colaboradores avaliaram por ETE a função do VD de 19 pacientes selecionados em cinco momentos do transplante hepático, do basal ao fechamento; TAPSE e fração de variação de área permaneceram normais, inclusive após a reperfusão. Mais um motivo para identificar o mecanismo da hipotensão antes de presumir falência de VD.</a:t>
            </a:r>
            <a:endParaRPr lang="en-US" dirty="0"/>
          </a:p>
          <a:p>
            <a:r>
              <a:rPr lang="en-US" dirty="0"/>
              <a:t>TRANSIÇÃO: E quanto de PAM é suficiente no intraoperatório?</a:t>
            </a:r>
            <a:endParaRPr lang="en-US" dirty="0"/>
          </a:p>
          <a:p>
            <a:r>
              <a:rPr lang="en-US" dirty="0"/>
              <a:t>TEMPO: 1 min 25 s (14:35 → 16:00)</a:t>
            </a:r>
            <a:endParaRPr lang="en-US" dirty="0"/>
          </a:p>
          <a:p>
            <a:r>
              <a:rPr lang="en-US" dirty="0"/>
              <a:t>PONTO-CHAVE: Afastar causas, identificar o mecanismo, escolher a droga.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hepatectomia, anepática, pós-reperfusão e fechamento); função sistólica do VD preservada em todas; excluídos hipertensão portopulmonar, síndrome hepatopulmonar, doença cardiopulmonar e insuficiência hepática fulminante. População selecionada: o estudo não permite concluir que toda hipotensão na reperfusão seja vasoplegia.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mensagem do editorial “The hidden cost of hypotension”, de Lineburger e colaboradores, com Rodrigo Diaz entre os autores: a hipotensão intraoperatória, mesmo por períodos curtos, se associa a lesão renal aguda, lesão miocárdica, delirium e mortalidade; o editorial defende monitorização contínua, manejo proativo e metas individualizadas. O POQI 2024 trata PAM de 60 em pacientes de risco como limite mínimo, não como garantia de perfusão; com pressão venosa ou compartimental alta, o alvo tende a ser maior. Acima do piso, o único ensaio positivo é o HISTAP: 630 pacientes com 60 anos ou mais, hipertensos, em cirurgia abdominal maior, randomizados para PAM de pelo menos 80 ou de pelo menos 65; morte ou disfunção orgânica em 38 contra 49%, sobretudo por menos lesão renal aguda. Os outros ensaios com alvos mais altos foram neutros.</a:t>
            </a:r>
            <a:endParaRPr lang="en-US" dirty="0"/>
          </a:p>
          <a:p>
            <a:r>
              <a:rPr lang="en-US" dirty="0"/>
              <a:t>TRANSIÇÃO: Para terminar, voltamos à pergunta do início: qual é o mecanismo do distúrbio hemodinâmico?</a:t>
            </a:r>
            <a:endParaRPr lang="en-US" dirty="0"/>
          </a:p>
          <a:p>
            <a:r>
              <a:rPr lang="en-US" dirty="0"/>
              <a:t>TEMPO: 1 min 10 s (16:00 → 17:10)</a:t>
            </a:r>
            <a:endParaRPr lang="en-US" dirty="0"/>
          </a:p>
          <a:p>
            <a:r>
              <a:rPr lang="en-US" dirty="0"/>
              <a:t>PONTO-CHAVE: PAM de 60–65 mmHg como piso; alvo maior apenas em selecionados.</a:t>
            </a:r>
            <a:endParaRPr lang="en-US" dirty="0"/>
          </a:p>
          <a:p>
            <a:r>
              <a:rPr lang="en-US" dirty="0"/>
              <a:t>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Vasoplegia pede noradrenalina e, quando a dose sobe, vasopressina; baixo débito com hipoperfusão pede inotrópico, com a milrinona reservada sobretudo para o VD com hipertensão pulmonar; na hipotensão anestésica com bradicardia, efedrina; anafilaxia, adrenalina. A droga certa é a que corrige esse componente, na menor dose eficaz e pelo menor tempo. Para discutir com o grupo: no nosso serviço, como documentamos o baixo débito antes do inotrópico, e quando associamos vasopressina?</a:t>
            </a:r>
            <a:endParaRPr lang="en-US" dirty="0"/>
          </a:p>
          <a:p>
            <a:r>
              <a:rPr lang="en-US" dirty="0"/>
              <a:t>TRANSIÇÃO: Obrigado. Fico à disposição para perguntas.</a:t>
            </a:r>
            <a:endParaRPr lang="en-US" dirty="0"/>
          </a:p>
          <a:p>
            <a:r>
              <a:rPr lang="en-US" dirty="0"/>
              <a:t>TEMPO: 40 s (17:10 → 17:50)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Depois das mensagens finais deixei material de apoio: a síntese das drogas, um slide para cada droga de bolus e para a vasopressina, os adjuvantes do choque refratário, a sequência da SSC 2026, os alvos de pressão no choque e no intraoperatório, o roteiro e as referências. Posso abrir o que for útil para a discussão.</a:t>
            </a:r>
            <a:endParaRPr lang="en-US" dirty="0"/>
          </a:p>
          <a:p>
            <a:r>
              <a:rPr lang="en-US" dirty="0"/>
              <a:t>USO: fim da apresentação principal; mostrar só se houver perguntas.</a:t>
            </a:r>
            <a:endParaRPr lang="en-US" dirty="0"/>
          </a:p>
          <a:p>
            <a:r>
              <a:rPr lang="en-US" dirty="0"/>
              <a:t>PONTO-CHAVE: daqui em diante é material de apoio, para responder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tabela resume o perfil de receptores e a dose usual de cada droga. Lendo por coluna: as drogas com α1 alto elevam a resistência, como noradrenalina e fenilefrina; as com β1 alto elevam débito e frequência, como adrenalina, dobutamina e isoproterenol; o β2 explica a vasodilatação e a subida do lactato. Milrinona e vasopressina têm zero em todas as colunas porque agem fora desses receptores: PDE3 e V1. A escala é qualitativa, e as doses são faixas usuais em adultos, tituladas pela resposta.</a:t>
            </a:r>
            <a:endParaRPr lang="en-US" dirty="0"/>
          </a:p>
          <a:p>
            <a:r>
              <a:rPr lang="en-US" dirty="0"/>
              <a:t>USO: pergunta sobre comparação entre drogas, receptores ou doses.</a:t>
            </a:r>
            <a:endParaRPr lang="en-US" dirty="0"/>
          </a:p>
          <a:p>
            <a:r>
              <a:rPr lang="en-US" dirty="0"/>
              <a:t>PONTO-CHAVE: ler por coluna: α1 alto eleva a RVS; β1 alto eleva DC e FC; β2 explica vasodilatação e lactato.</a:t>
            </a:r>
            <a:endParaRPr lang="en-US" dirty="0"/>
          </a:p>
          <a:p>
            <a:r>
              <a:rPr lang="en-US" dirty="0"/>
              <a:t>SE PERGUNTAREM: na dopamina, o receptor predominante muda com a dose. O isoproterenol aparece apenas aqui: uso restrito à bradicardia refratária e à ponte para marca-passo. A tabela é adaptada de Overgaard e Džavík (Circulation 2008), com escala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dopamina tem efeito dose-dependente, D1 em dose baixa, β1 na faixa intermediária e α1 em dose alta, mas os limiares variam muito entre pacientes. A dose renal não protege o rim: no ensaio da ANZICS, dopamina em 2 microgramas por quilo por minuto não mudou creatinina, diálise nem mortalidade. No SOAP II, a dopamina teve o dobro de arritmias da noradrenalina e maior mortalidade no subgrupo de choque cardiogênico. Por isso a SSC 2026 faz recomendação forte contra o uso como primeira linha. Fica um uso residual: bradicardia sintomática quando não há alternativa.</a:t>
            </a:r>
            <a:endParaRPr lang="en-US" dirty="0"/>
          </a:p>
          <a:p>
            <a:r>
              <a:rPr lang="en-US" dirty="0"/>
              <a:t>USO: pergunta sobre dose renal ou sobre dopamina no choque.</a:t>
            </a:r>
            <a:endParaRPr lang="en-US" dirty="0"/>
          </a:p>
          <a:p>
            <a:r>
              <a:rPr lang="en-US" dirty="0"/>
              <a:t>PONTO-CHAVE: a dose renal não protege o rim; mais arritmia que a noradrenalina.</a:t>
            </a:r>
            <a:endParaRPr lang="en-US" dirty="0"/>
          </a:p>
          <a:p>
            <a:r>
              <a:rPr lang="en-US" dirty="0"/>
              <a:t>SE PERGUNTAREM: ANZICS (Bellomo, Lancet 2000; n = 328): sem diferença no pico de creatinina, na necessidade de diálise ou na mortalidade. SOAP II (De Backer, N Engl J Med 2010): arritmias 24,1% vs. 12,4%; no subgrupo cardiogênico, mortalidade maior com dopamina (p = 0,03).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dobutamina é uma mistura racêmica: o isômero positivo é agonista β1 e β2 e antagonista α1; o negativo é agonista α1. Os efeitos α1 se anulam e sobra inotropismo com queda discreta da resistência. A faixa é de 2,5 a 20 microgramas por quilo por minuto. Os limites são taquicardia, arritmia, maior consumo de oxigênio pelo miocárdio e tolerância com uso prolongado; no paciente hipovolêmico ou vasoplégico ela baixa a pressão, e aí se associa vasopressor para sustentar a pressão de perfusão. No choque cardiogênico, o DOREMI não mostrou diferença significativa em relação à milrinona.</a:t>
            </a:r>
            <a:endParaRPr lang="en-US" dirty="0"/>
          </a:p>
          <a:p>
            <a:r>
              <a:rPr lang="en-US" dirty="0"/>
              <a:t>USO: pergunta sobre dose, isômeros ou DOREMI pelo lado da dobutamina.</a:t>
            </a:r>
            <a:endParaRPr lang="en-US" dirty="0"/>
          </a:p>
          <a:p>
            <a:r>
              <a:rPr lang="en-US" dirty="0"/>
              <a:t>PONTO-CHAVE: inotrópico β1 com vasodilatação β2; associar vasopressor quando a PAM cair.</a:t>
            </a:r>
            <a:endParaRPr lang="en-US" dirty="0"/>
          </a:p>
          <a:p>
            <a:r>
              <a:rPr lang="en-US" dirty="0"/>
              <a:t>SE PERGUNTAREM: DOREMI (n = 192): desfecho composto 54% vs. 49% com milrinona; mortalidade hospitalar 43% vs. 37%, sem diferença significativa. SSC 2026: com disfunção cardíaca e hipoperfusão persistente, dobutamina com noradrenalina ou adrenalina isolada; não há dados para comparar dobutamina e milrinona no choque séptico; sugere não usar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fenilefrina é agonista α1 direto, sem ação β: a pressão sobe pela resistência e a frequência cai por barorreflexo. Isso é vantagem quando a taquicardia é o problema, como em casos selecionados de estenose aórtica ou de obstrução dinâmica da via de saída, e desvantagem quando o débito depende da frequência ou há disfunção de VE. Na cesárea sob raquianestesia, o consenso de 2018 recomenda infusão profilática de vasopressor α-agonista, mantendo a pressão sistólica em pelo menos 90% da basal; a noradrenalina é alternativa cada vez mais usada, com menos bradicardia materna. No choque séptico, não há evidência para usá-la como primeira linha.</a:t>
            </a:r>
            <a:endParaRPr lang="en-US" dirty="0"/>
          </a:p>
          <a:p>
            <a:r>
              <a:rPr lang="en-US" dirty="0"/>
              <a:t>USO: pergunta sobre cesárea, estenose aórtica ou fenilefrina no choque.</a:t>
            </a:r>
            <a:endParaRPr lang="en-US" dirty="0"/>
          </a:p>
          <a:p>
            <a:r>
              <a:rPr lang="en-US" dirty="0"/>
              <a:t>PONTO-CHAVE: α1 puro: a PAM sobe pela resistência e a FC cai por reflexo.</a:t>
            </a:r>
            <a:endParaRPr lang="en-US" dirty="0"/>
          </a:p>
          <a:p>
            <a:r>
              <a:rPr lang="en-US" dirty="0"/>
              <a:t>SE PERGUNTAREM: bolus de 50 a 100 mcg; infusão profilática na cesárea de 25 a 50 mcg/min. Sharkey (Anesth Analg 2019): noradrenalina 6 mcg vs. fenilefrina 100 mcg em bolus, bradicardia materna 10,7% vs. 37,5%, citado na revisão de Park e Choi (Anesth Pain Med 2024). Consenso de Kinsella (Anaesthesia 2018).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efedrina tem ação direta em α e β e ação indireta, liberando noradrenalina das terminações nervosas. Sem o anel catecol, resiste à MAO e à COMT e dura mais que as catecolaminas, o que a torna boa opção em bolus de 5 a 10 mg na hipotensão com bradicardia após indução ou raquianestesia. A ação indireta explica os limites: doses repetidas perdem efeito, a resposta cai quando os estoques de noradrenalina estão depletados e há pouca eficácia no coração transplantado. Na cesárea, atravessa a placenta e se associa a mais acidose fetal que a fenilefrina; fica como resgate.</a:t>
            </a:r>
            <a:endParaRPr lang="en-US" dirty="0"/>
          </a:p>
          <a:p>
            <a:r>
              <a:rPr lang="en-US" dirty="0"/>
              <a:t>USO: pergunta sobre efedrina, taquifilaxia ou acidose fetal.</a:t>
            </a:r>
            <a:endParaRPr lang="en-US" dirty="0"/>
          </a:p>
          <a:p>
            <a:r>
              <a:rPr lang="en-US" dirty="0"/>
              <a:t>PONTO-CHAVE: ação mista e indireta: útil na hipotensão com bradicardia, com taquifilaxia.</a:t>
            </a:r>
            <a:endParaRPr lang="en-US" dirty="0"/>
          </a:p>
          <a:p>
            <a:r>
              <a:rPr lang="en-US" dirty="0"/>
              <a:t>SE PERGUNTAREM: interação grave com inibidores da MAO. Na cesárea, a efedrina deixou de ser a primeira escolha; continua útil como resgate quando há bradicardia (Kinsella, Anaesthesia 2018; Park e Choi, Anesth Pain Med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 do músculo liso vascular, mantém efeito em acidose e com adrenoceptores dessensibilizados, e no choque séptico há deficiência relativa do hormônio endógeno. Em geral se usa dose fixa de 0,03 unidades por minuto, até 0,04, ao contrário da noradrenalina, que é titulada. A SSC 2026 sugere associar quando a noradrenalina está em escalada, sem definir um limiar; na enquete dos painelistas, a mediana foi 0,3 microgramas por quilo por minuto. No VASST não houve redução de mortalidade, e no VASSPR, publicado neste mês, antecipar a vasopressina como política hospitalar também não mudou a mortalidade.</a:t>
            </a:r>
            <a:endParaRPr lang="en-US" dirty="0"/>
          </a:p>
          <a:p>
            <a:r>
              <a:rPr lang="en-US" dirty="0"/>
              <a:t>USO: pergunta sobre quando associar vasopressina, dose ou VASST/VASSPR.</a:t>
            </a:r>
            <a:endParaRPr lang="en-US" dirty="0"/>
          </a:p>
          <a:p>
            <a:r>
              <a:rPr lang="en-US" dirty="0"/>
              <a:t>PONTO-CHAVE: age no V1, fora da via adrenérgica; associar quando a noradrenalina está em escalada.</a:t>
            </a:r>
            <a:endParaRPr lang="en-US" dirty="0"/>
          </a:p>
          <a:p>
            <a:r>
              <a:rPr lang="en-US" dirty="0"/>
              <a:t>SE PERGUNTAREM: VASST (Russell, N Engl J Med 2008): mortalidade em 28 dias 35,4% vs. 39,3%; no subgrupo de choque menos grave (NA de 5 a 14 mcg/min), 26,5% vs. 35,7%, achado gerador de hipótese. VANISH (Gordon, JAMA 2016): vasopressina precoce sem diferença em dias livres de falência renal. VASSPR (Peltan, JAMA 2026; n = 3.959; publicado em 14/10/2026): políticas de início com NA 0,1 vs. 0,4 mcg/kg/min; vasopressina usada em 52,4% vs. 32,9%; mortalidade 31,8% vs. 33,0%; sem ganho em dias livres de terapia renal substitutiva; sinal de mais choque cardiogênico no grupo precoce (7,4% vs. 6,3%). Equivalência em escores: 0,03 U/min ≈ 0,075 mcg/kg/min de noradrenalina (fator 2,5).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Quando o choque não responde à noradrenalina, a estratégia é associar drogas de mecanismos diferentes. A hidrocortisona restaura a resposta vascular às catecolaminas: no ADRENAL, 3.800 pacientes com choque séptico em ventilação mecânica receberam hidrocortisona ou placebo, com resolução mais rápida do choque e a mesma mortalidade em 90 dias; no APROCCHSS, 1.241 pacientes com choque séptico receberam hidrocortisona com fludrocortisona ou placebo, e a mortalidade em 90 dias caiu de 49 para 43%; a SSC 2026 sugere usar. A angiotensina II, agonista AT1, foi testada no ATHOS-3 em 344 pacientes com choque vasodilatador refratário: elevou a PAM em 3 horas em 70% contra 23% do placebo, sem mudar a mortalidade; é pouco disponível. O azul de metileno inibe a via do óxido nítrico; os ensaios são pequenos e a SSC considera a evidência insuficiente. Milrinona e levosimendana são inodilatadores não adrenérgicos; a SSC sugere não usar levosimendana.</a:t>
            </a:r>
            <a:endParaRPr lang="en-US" dirty="0"/>
          </a:p>
          <a:p>
            <a:r>
              <a:rPr lang="en-US" dirty="0"/>
              <a:t>USO: pergunta sobre hidrocortisona, angiotensina II, azul de metileno ou levosimendana.</a:t>
            </a:r>
            <a:endParaRPr lang="en-US" dirty="0"/>
          </a:p>
          <a:p>
            <a:r>
              <a:rPr lang="en-US" dirty="0"/>
              <a:t>PONTO-CHAVE: no choque refratário, associar mecanismos diferentes em vez de subir indefinidamente a mesma droga.</a:t>
            </a:r>
            <a:endParaRPr lang="en-US" dirty="0"/>
          </a:p>
          <a:p>
            <a:r>
              <a:rPr lang="en-US" dirty="0"/>
              <a:t>SE PERGUNTAREM: ATHOS-3 (Khanna, N Engl J Med 2017; n = 344): resposta da PAM em 3 h em 69,9% vs. 23,4%; mortalidade em 28 dias 46% vs. 53,8% (NS). Hidrocortisona: 200 mg/dia (condicional, certeza baixa). Azul de metileno: na enquete com os painelistas da SSC 2026, 69% nunca ou quase nunca o usam como resgate; interfere na oximetria e pode causar síndrome serotoninérgica. A angiotensina II é pouco disponível; confirmar no serviço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slide repete a sequência da SSC 2026 com a força de cada recomendação. Noradrenalina em primeiro, recomendação forte, iniciada cedo e, se preciso, por veia periférica. Vasopressina quando a noradrenalina está em escalada, sugestão condicional com certeza moderada. Adrenalina se a pressão continuar inadequada, condicional com certeza muito baixa. Na disfunção cardíaca com hipoperfusão apesar de volume e pressão adequados, dobutamina com noradrenalina ou adrenalina isolada. Hidrocortisona sugerida. Contra: dopamina como primeira linha, levosimendana e terlipressina. Azul de metileno sem recomendação, por evidência insuficiente.</a:t>
            </a:r>
            <a:endParaRPr lang="en-US" dirty="0"/>
          </a:p>
          <a:p>
            <a:r>
              <a:rPr lang="en-US" dirty="0"/>
              <a:t>USO: pergunta sobre o que mudou na SSC 2026 ou sobre a força das recomendações.</a:t>
            </a:r>
            <a:endParaRPr lang="en-US" dirty="0"/>
          </a:p>
          <a:p>
            <a:r>
              <a:rPr lang="en-US" dirty="0"/>
              <a:t>PONTO-CHAVE: noradrenalina, vasopressina e adrenalina em sequência, com a força de cada recomendação.</a:t>
            </a:r>
            <a:endParaRPr lang="en-US" dirty="0"/>
          </a:p>
          <a:p>
            <a:r>
              <a:rPr lang="en-US" dirty="0"/>
              <a:t>SE PERGUNTAREM: a preferência pela noradrenalina em relação à vasopressina e à angiotensina II passou a ser condicional; a sugestão de via periférica já existia em 2021; a sugestão contra a levosimendana também é de 2021; a terlipressina recebeu sugestão contra em 2026. A diretriz não define limiar numérico para associar vasopressina (Prescott, Crit Care Med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mantém 65 mmHg como alvo inicial no choque séptico, com recomendação forte, e sugere 60 a 65 a partir dos 65 anos. A base é o 65 trial: 2.600 pacientes com 65 anos ou mais em choque vasodilatador, randomizados para hipotensão permissiva, com PAM de 60 a 65, ou cuidado usual; a mortalidade em 90 dias foi 41 contra 44%, sem diferença, com menos vasopressor no grupo permissivo. O OPTPRESS testou o contrário: 518 pacientes com 65 anos ou mais em choque séptico, alvo de 80 a 85 ou de 65 a 70; foi interrompido por dano, com mortalidade de 39 contra 29% no alvo alto. A ESICM 2025 recomenda individualizar: alvo maior pode fazer sentido na hipertensão crônica ou com pressão venosa alta, se houver melhora clínica com a pressão mais alta.</a:t>
            </a:r>
            <a:endParaRPr lang="en-US" dirty="0"/>
          </a:p>
          <a:p>
            <a:r>
              <a:rPr lang="en-US" dirty="0"/>
              <a:t>USO: pergunta sobre alvo de PAM no choque séptico ou sobre idosos.</a:t>
            </a:r>
            <a:endParaRPr lang="en-US" dirty="0"/>
          </a:p>
          <a:p>
            <a:r>
              <a:rPr lang="en-US" dirty="0"/>
              <a:t>PONTO-CHAVE: 65 mmHg como alvo inicial; 60 a 65 a partir dos 65 anos; alvo alto fez mal no OPTPRESS.</a:t>
            </a:r>
            <a:endParaRPr lang="en-US" dirty="0"/>
          </a:p>
          <a:p>
            <a:r>
              <a:rPr lang="en-US" dirty="0"/>
              <a:t>SE PERGUNTAREM: 65 trial (Lamontagne, JAMA 2020; n = 2.463 na análise primária): mortalidade em 90 dias 41,0% vs. 43,8% (NS); menor dose e menor duração de vasopressor; OR ajustada 0,82. OPTPRESS (Endo, Intensive Care Med 2025; n = 518; 29 hospitais japoneses): mortalidade em 90 dias 39,3% vs. 28,6%, diferença absoluta de 10,7 pontos (IC 95% 2,6–18,9), menos dias livres de terapia renal substitutiva no alvo alto; o protocolo associava vasopressina cedo. ESICM 2025: alvo menor no trauma com sangramento ativo sem TCE;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CENSER, 310 pacientes com choque séptico receberam, desde a admissão, noradrenalina em dose baixa e fixa ou o cuidado padrão: o controle do choque em 6 horas subiu de 48 para 76%, com menos edema pulmonar e arritmia e sem diferença de mortalidade. A via periférica é segura com protocolo: na metanálise de Tran, com 1.835 pacientes recebendo vasopressor por veia periférica, as complicações ficaram em torno de 7%, 96% delas leves, e caíram com protocolo de segurança; a SSC 2026 sugere iniciar por via periférica em vez de esperar o acesso central. E um detalhe de prescrição: no Brasil, a ampola de hemitartarato de 2 miligramas por mililitro equivale a 1 miligrama por mililitro de noradrenalina base, então a mesma infusão expressa em sal tem o dobro do valor em base; convém especificar a forma na prescrição e ao comparar com estudos.</a:t>
            </a:r>
            <a:endParaRPr lang="en-US" dirty="0"/>
          </a:p>
          <a:p>
            <a:r>
              <a:rPr lang="en-US" dirty="0"/>
              <a:t>USO: pergunta sobre início precoce, via periférica ou prescrição em base e sal.</a:t>
            </a:r>
            <a:endParaRPr lang="en-US" dirty="0"/>
          </a:p>
          <a:p>
            <a:r>
              <a:rPr lang="en-US" dirty="0"/>
              <a:t>PONTO-CHAVE: começar cedo, por veia periférica se preciso, e especificar base ou sal na prescrição.</a:t>
            </a:r>
            <a:endParaRPr lang="en-US" dirty="0"/>
          </a:p>
          <a:p>
            <a:r>
              <a:rPr lang="en-US" dirty="0"/>
              <a:t>SE PERGUNTAREM: CENSER (Permpikul, Am J Respir Crit Care Med 2019; n = 310): NA 0,05 mcg/kg/min por 24 h; controle do choque em 6 h 76,1% vs. 48,4%; edema pulmonar 14,4% vs. 27,7%; mortalidade em 28 dias 15,5% vs. 21,9% (NS). Tran (Am J Emerg Med 2020): 122 complicações em 1.835 pacientes (7%), prevalência combinada 8,6% (IC 95% 3,1–21%), 2,9% vs. 12% com protocolo. Na prática: veia calibrosa e proximal, inspeção frequente, plano para acesso central se a dose subir; no extravasamento, fentolamina local. Kattan, Ibarra-Estrada e Jung (Intensive Care Med 2024): 0,1 mcg/kg/min de sal ≈ 0,05 de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ensaios recentes testaram alvos mais altos no intraoperatório. O POISE-3, com 7.490 pacientes de risco cardiovascular em cirurgia não cardíaca, comparou evitar hipotensão, com PAM de 80 e anti-hipertensivos suspensos, a evitar hipertensão: eventos vasculares em 30 dias iguais, 13,9 contra 14,0%. O IMPROVE-multi, com 1.134 pacientes em cirurgia abdominal maior, individualizou o alvo pela pressão basal noturna e não foi melhor que 65. O HISTAP, com 630 idosos hipertensos em cirurgia abdominal maior, encontrou menos morte ou disfunção orgânica com PAM de 80, 38 contra 49%, sobretudo por menos lesão renal aguda. A leitura prática é a do POQI: PAM de 60 é o piso em pacientes de risco, maior se a pressão venosa ou compartimental estiver alta; acima do piso, o benefício demonstrado até agora foi em hipertensos de alto risco.</a:t>
            </a:r>
            <a:endParaRPr lang="en-US" dirty="0"/>
          </a:p>
          <a:p>
            <a:r>
              <a:rPr lang="en-US" dirty="0"/>
              <a:t>USO: pergunta sobre os ensaios de alvo de PAM no intraoperatório.</a:t>
            </a:r>
            <a:endParaRPr lang="en-US" dirty="0"/>
          </a:p>
          <a:p>
            <a:r>
              <a:rPr lang="en-US" dirty="0"/>
              <a:t>PONTO-CHAVE: evitar PAM abaixo de 60 a 65 é consenso; subir o alvo só se mostrou útil em hipertensos de alto risco.</a:t>
            </a:r>
            <a:endParaRPr lang="en-US" dirty="0"/>
          </a:p>
          <a:p>
            <a:r>
              <a:rPr lang="en-US" dirty="0"/>
              <a:t>SE PERGUNTAREM: POISE-3 (Marcucci, Ann Intern Med 2023; n = 7.490): eventos vasculares em 30 dias 13,9% vs. 14,0%. IMPROVE-multi (Saugel, JAMA 2025; n = 1.134): composto em 7 dias 33,5% vs. 30,5% (RR 1,10; IC 95% 0,93–1,30). HISTAP (Cecconi, Intensive Care Med 2026; n = 630; 18 centros italianos): 38,1% vs. 48,9% (RR 0,78); lesão renal aguda leve a moderada 23,5% vs. 33,7%; PAM média alcançada 88 vs. 77 mmHg, com mais noradrenalina, efedrina e transfusão no alvo alto. POQI (Saugel, Br J Anaesth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aula vai do raciocínio fisiológico para a farmacologia dos receptores, depois para cada droga, com a milrinona e a escolha frente à dobutamina no centro, e termina na aplicação no choque séptico e no centro cirúrgico.</a:t>
            </a:r>
            <a:endParaRPr lang="en-US" dirty="0"/>
          </a:p>
          <a:p>
            <a:r>
              <a:rPr lang="en-US" dirty="0"/>
              <a:t>USO: só se alguém pedir a estrutura da aula; o slide de objetivos faz esse papel na apresentação.</a:t>
            </a:r>
            <a:endParaRPr lang="en-US" dirty="0"/>
          </a:p>
          <a:p>
            <a:r>
              <a:rPr lang="en-US" dirty="0"/>
              <a:t>PONTO-CHAVE: do raciocínio fisiológico para a farmacologia, para cada droga e, por fim, para a aplicação.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As principais referências estão resumidas neste slide; os detalhes dos estudos estão nas notas correspondentes.</a:t>
            </a:r>
            <a:endParaRPr lang="en-US" dirty="0"/>
          </a:p>
          <a:p>
            <a:r>
              <a:rPr lang="en-US" dirty="0"/>
              <a:t>USO: se pedirem a referência exata de um estudo citado.</a:t>
            </a:r>
            <a:endParaRPr lang="en-US" dirty="0"/>
          </a:p>
          <a:p>
            <a:r>
              <a:rPr lang="en-US" dirty="0"/>
              <a:t>PONTO-CHAVE: referências principais resumidas; detalhes dos estudos nas notas correspondentes; diretrizes de base: SSC 2026, ESICM 2025, POQI 2024 e Miller, 10ª 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lacionar o perfil de receptores de cad"/>
          <p:cNvSpPr txBox="1"/>
          <p:nvPr/>
        </p:nvSpPr>
        <p:spPr>
          <a:xfrm>
            <a:off x="1371600" y="2568720"/>
            <a:ext cx="671760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ação, dose, indicações e cuidad"/>
          <p:cNvSpPr txBox="1"/>
          <p:nvPr/>
        </p:nvSpPr>
        <p:spPr>
          <a:xfrm>
            <a:off x="1371600" y="3173161"/>
            <a:ext cx="967422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ação, dose, indicações e cuidados das drogas vasoativas e quando preferir milrinona ou dobutamina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esse raciocínio no choque séptic"/>
          <p:cNvSpPr txBox="1"/>
          <p:nvPr/>
        </p:nvSpPr>
        <p:spPr>
          <a:xfrm>
            <a:off x="1371600" y="3777602"/>
            <a:ext cx="6464300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esse raciocínio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 A "/>
          <p:cNvSpPr txBox="1"/>
          <p:nvPr/>
        </p:nvSpPr>
        <p:spPr>
          <a:xfrm>
            <a:off x="44632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 com DC preservado ou alto (sep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 com DC preservado ou alto (sepse, anestesia geral, neuroeixo, anafilaxia, pós-CEC). Alvo: tônus arterial, com vasopressor α1 ou V1.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em geral com RVS alta, como no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em geral com RVS alta, como no choque cardiogênico; na sepse, a disfunção miocárdica pode coexistir com vasoplegia. Alvo: contratilidade, com inotrópico (β1 ou PDE3), associado a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</a:t>
            </a:r>
            <a:endParaRPr lang="en-US" sz="1700" dirty="0"/>
          </a:p>
        </p:txBody>
      </p:sp>
      <p:sp>
        <p:nvSpPr>
          <p:cNvPr id="12" name="Hipovolemia se corrige com volume. O α1 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se corrige com volume. O α1 também contrai veias, recruta volume não estressado e aumenta o retorno venoso.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556919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Como diferenciar?"/>
          <p:cNvSpPr txBox="1"/>
          <p:nvPr/>
        </p:nvSpPr>
        <p:spPr>
          <a:xfrm>
            <a:off x="1073150" y="4737614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Ecocardiografia inicial para o tipo de c"/>
          <p:cNvSpPr txBox="1"/>
          <p:nvPr/>
        </p:nvSpPr>
        <p:spPr>
          <a:xfrm>
            <a:off x="4788098" y="4769275"/>
            <a:ext cx="63498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inicial para o tipo de choque, parâmetros dinâmicos para a resposta a volume e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 · P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 · Persichini, Crit Care Med 2012 · Monnet, Intensive Care Med 2025 (ESICM)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Lactato alto ou sem queda"/>
          <p:cNvSpPr txBox="1"/>
          <p:nvPr/>
        </p:nvSpPr>
        <p:spPr>
          <a:xfrm>
            <a:off x="1073150" y="281596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</a:t>
            </a:r>
            <a:endParaRPr lang="en-US" sz="1350" dirty="0"/>
          </a:p>
        </p:txBody>
      </p:sp>
      <p:sp>
        <p:nvSpPr>
          <p:cNvPr id="8" name="Saturação venosa central baixa; gap veno"/>
          <p:cNvSpPr txBox="1"/>
          <p:nvPr/>
        </p:nvSpPr>
        <p:spPr>
          <a:xfrm>
            <a:off x="1073150" y="31194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Saturação venosa central baixa; gap venoarterial de CO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baseline="-40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aumentado</a:t>
            </a:r>
            <a:endParaRPr lang="en-US" sz="1350" dirty="0"/>
          </a:p>
        </p:txBody>
      </p:sp>
      <p:sp>
        <p:nvSpPr>
          <p:cNvPr id="9" name="Oligúria e alteração da consciência"/>
          <p:cNvSpPr txBox="1"/>
          <p:nvPr/>
        </p:nvSpPr>
        <p:spPr>
          <a:xfrm>
            <a:off x="1073150" y="36629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61976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2" name="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3" name="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4" name="Eco: VTI na via de saída do VE e função 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 e função de VE e VD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812800" y="44816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tenção"/>
          <p:cNvSpPr txBox="1"/>
          <p:nvPr/>
        </p:nvSpPr>
        <p:spPr>
          <a:xfrm>
            <a:off x="1073150" y="46623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7" name="PAM normal não exclui débito baixo. E dé"/>
          <p:cNvSpPr txBox="1"/>
          <p:nvPr/>
        </p:nvSpPr>
        <p:spPr>
          <a:xfrm>
            <a:off x="2937470" y="48273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8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om o uso prolongado, os adrenoceptores "/>
          <p:cNvSpPr txBox="1"/>
          <p:nvPr/>
        </p:nvSpPr>
        <p:spPr>
          <a:xfrm>
            <a:off x="812800" y="5343756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uso prolongado, os adrenoceptores se dessensibilizam; vasopressina (V1) e milrinona (PDE3) não dependem deles.</a:t>
            </a:r>
            <a:endParaRPr lang="en-US" sz="1400" dirty="0"/>
          </a:p>
        </p:txBody>
      </p:sp>
      <p:sp>
        <p:nvSpPr>
          <p:cNvPr id="6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CLASSIFICAÇ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935137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849537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135088" y="1879501"/>
            <a:ext cx="770632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00732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292872" y="1879501"/>
            <a:ext cx="112166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51614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4801691" y="1879501"/>
            <a:ext cx="1446411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349702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6635254" y="1879501"/>
            <a:ext cx="1172270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8128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Catecolaminas"/>
          <p:cNvSpPr txBox="1"/>
          <p:nvPr/>
        </p:nvSpPr>
        <p:spPr>
          <a:xfrm>
            <a:off x="10731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6" name="Núcleo 3,4-di-hidroxifenil. Endógenas: d"/>
          <p:cNvSpPr txBox="1"/>
          <p:nvPr/>
        </p:nvSpPr>
        <p:spPr>
          <a:xfrm>
            <a:off x="10731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3,4-di-hidroxifenil. Endógenas: dopamina, noradrenalina, adrenalina. Sintéticas: dobutamina, isoproterenol. Recaptação neuronal, MAO e COMT encurtam a meia-vida para minutos, o que favorece a infusão contínua e titulável.</a:t>
            </a:r>
            <a:endParaRPr lang="en-US" sz="1350" dirty="0"/>
          </a:p>
        </p:txBody>
      </p:sp>
      <p:sp>
        <p:nvSpPr>
          <p:cNvPr id="17" name="Cartão"/>
          <p:cNvSpPr/>
          <p:nvPr/>
        </p:nvSpPr>
        <p:spPr>
          <a:xfrm>
            <a:off x="61976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Não catecolaminas"/>
          <p:cNvSpPr txBox="1"/>
          <p:nvPr/>
        </p:nvSpPr>
        <p:spPr>
          <a:xfrm>
            <a:off x="64579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9" name="Sem o anel catecol, escapam da COMT, dur"/>
          <p:cNvSpPr txBox="1"/>
          <p:nvPr/>
        </p:nvSpPr>
        <p:spPr>
          <a:xfrm>
            <a:off x="64579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COMT, duram mais e podem ser usadas em bolus. Fenilefrina: agonista direto α1. Efedrina e metaraminol: ação mista, direta e por liberação de noradrenalina das terminações nervosas.</a:t>
            </a:r>
            <a:endParaRPr lang="en-US" sz="1350" dirty="0"/>
          </a:p>
        </p:txBody>
      </p:sp>
      <p:sp>
        <p:nvSpPr>
          <p:cNvPr id="20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↔/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0" name="F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 com β1 modesto: eleva a PAM 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 com β1 modesto: eleva a PAM ao aumentar a RVS e, por venoconstrição, o retorno venoso. DC em geral mantido ou maior, podendo cair pela pós-carga; FC estável ou menor. Primeira linha no choque séptico e na vasoplegia que exige infusão.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 no ch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 no choque refratário; bolus de 5–10 mcg no centro cirúrgico. Pode ser iniciada em veia periférica calibrosa. Menos arritmia que a dopamina (SOAP II). Riscos: isquemia digital e esplâncnica, extravasamento.</a:t>
            </a:r>
            <a:endParaRPr lang="en-US" sz="1350" dirty="0"/>
          </a:p>
        </p:txBody>
      </p:sp>
      <p:sp>
        <p:nvSpPr>
          <p:cNvPr id="27" name="De Backer, N Engl J Med 2010 (SOAP II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Backer, N Engl J Med 2010 (SOAP II) · Persichini, Crit Care Med 2012 · SSC 2026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-dependente: em dose baixa predomin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Dose-dependente: em dose baixa predomina β (↑DC; a RVS pode cair); em dose alta, α1. Droga de escolha na anafilaxia; no choque séptico, entra se a PAM seguir inadequada com noradrenalina (NA) +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; doses maiores no ch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mcg/kg/min; doses maiores no choque refratário. Na anafilaxia durante a anestesia, bolus titulado: 10–20 mcg EV no grau 2,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50–100 mcg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grau 3. Taquicardia, arritmia e hiperglicemia. O lactato pode subir por efeito β2, mas é preciso excluir hipoperfusão.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PAMINA E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DOPAMINA E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 e 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pamina"/>
          <p:cNvSpPr txBox="1"/>
          <p:nvPr/>
        </p:nvSpPr>
        <p:spPr>
          <a:xfrm>
            <a:off x="10668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6" name="PAM ↑ · DC ↑ · FC ↑↑"/>
          <p:cNvSpPr txBox="1"/>
          <p:nvPr/>
        </p:nvSpPr>
        <p:spPr>
          <a:xfrm>
            <a:off x="4106069" y="2069740"/>
            <a:ext cx="1653381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9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Efeito dose-dependente e imprevisível: D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imprevisível: D1, depois β1 (em parte por liberar NA) e, em doses altas, α1. Dose “renal” não protege o rim. Causa mais arritmia que a NA e não é primeira linha no choque.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2" name="Dobutamina"/>
          <p:cNvSpPr txBox="1"/>
          <p:nvPr/>
        </p:nvSpPr>
        <p:spPr>
          <a:xfrm>
            <a:off x="64516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23" name="DC ↑↑ · FC ↑ · RVS ↓"/>
          <p:cNvSpPr txBox="1"/>
          <p:nvPr/>
        </p:nvSpPr>
        <p:spPr>
          <a:xfrm>
            <a:off x="9554468" y="2069740"/>
            <a:ext cx="1589782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↑↑ · FC ↑ · RVS ↓</a:t>
            </a:r>
            <a:endParaRPr lang="en-US" sz="1300" dirty="0"/>
          </a:p>
        </p:txBody>
      </p:sp>
      <p:sp>
        <p:nvSpPr>
          <p:cNvPr id="24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68580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8580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3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Inotrópico β1 com vasodilatação β2: pode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pode baixar a PAM; associar vasopressor quando necessário para sustentar a pressão de perfusão. Indicada no baixo débito com hipoperfusão, em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2,5–20 mcg/kg/min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taquicardia e arritmia limitam a dose.</a:t>
            </a:r>
            <a:endParaRPr lang="en-US" sz="1350" dirty="0"/>
          </a:p>
        </p:txBody>
      </p:sp>
      <p:sp>
        <p:nvSpPr>
          <p:cNvPr id="37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AMPc: onde agem dobutamina e milrinona</a:t>
            </a:r>
            <a:endParaRPr lang="en-US" sz="3200" dirty="0"/>
          </a:p>
        </p:txBody>
      </p:sp>
      <p:pic>
        <p:nvPicPr>
          <p:cNvPr id="4" name="Esquema do cardiomiócito: a dobutamina estimula o receptor β1, a proteína Gs e a adenilato ciclase, que produz AMPc; o AMPc ativa a PKA, que fosforila o canal de cálcio tipo L (mais cálcio na sístole) e o fosfolambam (recaptação mais rápida na diástole); a PDE3 degrada o AMPc em 5′-AMP e é inibida pela milrinona; o betabloqueador bloqueia o receptor β1; no músculo liso vascular, AMPc e PKA inibem a MLCK e causam vasodilatação" descr="Esquema do cardiomiócito: a dobutamina estimula o receptor β1, a proteína Gs e a adenilato ciclase, que produz AMPc; o AMPc ativa a PKA, que fosforila o canal de cálcio tipo L (mais cálcio na sístole) e o fosfolambam (recaptação mais rápida na diástole); a PDE3 degrada o AMPc em 5′-AMP e é inibida pela milrinona; o betabloqueador bloqueia o receptor β1; no músculo liso vascular, AMPc e PKA inibem a MLCK e causam vasodila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52501"/>
            <a:ext cx="10566400" cy="3302000"/>
          </a:xfrm>
          <a:prstGeom prst="rect">
            <a:avLst/>
          </a:prstGeom>
        </p:spPr>
      </p:pic>
      <p:sp>
        <p:nvSpPr>
          <p:cNvPr id="5" name="Leitura: a dobutamina aumenta a produção"/>
          <p:cNvSpPr txBox="1"/>
          <p:nvPr/>
        </p:nvSpPr>
        <p:spPr>
          <a:xfrm>
            <a:off x="812800" y="5218842"/>
            <a:ext cx="105854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</a:t>
            </a:r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dobutamina aumenta a produção de AMPc; a milrinona reduz a degradação, sem depender do receptor β. Nos vasos, a mesma via relaxa o músculo liso: inodilatação. Com betabloqueador, o fundamento é farmacológico; no DOREMI, sem vantagem clínica.</a:t>
            </a:r>
            <a:endParaRPr lang="en-US" sz="1350" dirty="0"/>
          </a:p>
        </p:txBody>
      </p:sp>
      <p:sp>
        <p:nvSpPr>
          <p:cNvPr id="6" name="Esquema próprio · Zaccolo &amp; Kovanich, Ph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próprio · Zaccolo &amp; Kovanich, Physiol Rev 2025 · Di Santo, Crit Care 2021 (DOREMI, betabloqueador) · 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355578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suporte inotrópico: IC descompensada, dificuldade de saída de CEC, falência de VD com hipertensão pulmonar, ponte para transplante ou assistência ventricular.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608090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, muitas ve"/>
          <p:cNvSpPr txBox="1"/>
          <p:nvPr/>
        </p:nvSpPr>
        <p:spPr>
          <a:xfrm>
            <a:off x="4324350" y="4213069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min, muitas vezes omitido; manutenção de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0,375–0,75 mcg/kg/min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Eliminação renal: reduzir a dose na insuficiência renal. Hipotensão (associar NA) e arritmias. No choque cardiogênico, sem diferença significativa vs. dobutamina (DOREMI).</a:t>
            </a:r>
            <a:endParaRPr lang="en-US" sz="1350" dirty="0"/>
          </a:p>
        </p:txBody>
      </p:sp>
      <p:sp>
        <p:nvSpPr>
          <p:cNvPr id="21" name="Mathew, N Engl J Med 2021 (DOREMI) · Cuf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Cuffe, JAMA 2002 (OPTIME-CHF) · Miller’s Anesthesia, 10ª ed. (2025)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1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3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depois do receptor β; no DOREMI, sem vantagem clínica nesse subgrupo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Falência de VD com hipertensão pulmonar,"/>
          <p:cNvSpPr txBox="1"/>
          <p:nvPr/>
        </p:nvSpPr>
        <p:spPr>
          <a:xfrm>
            <a:off x="10223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VD com hipertensão pulmonar, inclusive na saída de CEC; taquicardia ou betabloqueio limitando a dobutamina (fundamento farmacológico).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Com indicação de inotrópico: hipotensão "/>
          <p:cNvSpPr txBox="1"/>
          <p:nvPr/>
        </p:nvSpPr>
        <p:spPr>
          <a:xfrm>
            <a:off x="64071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indicação de inotrópico: hipotensão associada; insuficiência renal; necessidade de titulação rápida; disfunção miocárdica da sepse (droga citada pela 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ALÊNCIA DE VD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FALÊNCIA DE VD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VD: o que fazer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Noradrenalina para sustentar a PAM e a p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 para sustentar a PAM e a perfusão coronariana do VD; vasopressina conforme a vasoplegia associada.</a:t>
            </a:r>
            <a:endParaRPr lang="en-US" sz="1250" dirty="0"/>
          </a:p>
        </p:txBody>
      </p:sp>
      <p:sp>
        <p:nvSpPr>
          <p:cNvPr id="8" name="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óxido nítrico ou prostaciclina inalados.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Milrinona, que também reduz a RVP, ou do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Milrinona, que também reduz a RVP, ou dobutamina; adrenalina se o choque for grave.</a:t>
            </a:r>
            <a:endParaRPr lang="en-US" sz="1250" dirty="0"/>
          </a:p>
        </p:txBody>
      </p:sp>
      <p:sp>
        <p:nvSpPr>
          <p:cNvPr id="16" name="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Volume e ritmo"/>
          <p:cNvSpPr txBox="1"/>
          <p:nvPr/>
        </p:nvSpPr>
        <p:spPr>
          <a:xfrm>
            <a:off x="6653907" y="3139627"/>
            <a:ext cx="453479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Evitar sobrecarga de volume; manter ritm"/>
          <p:cNvSpPr txBox="1"/>
          <p:nvPr/>
        </p:nvSpPr>
        <p:spPr>
          <a:xfrm>
            <a:off x="6653907" y="3397389"/>
            <a:ext cx="453479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 Se falhar, assistência mecânica.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Milrinona"/>
          <p:cNvSpPr txBox="1"/>
          <p:nvPr/>
        </p:nvSpPr>
        <p:spPr>
          <a:xfrm>
            <a:off x="1066800" y="4419653"/>
            <a:ext cx="1595636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2800" dirty="0"/>
          </a:p>
        </p:txBody>
      </p:sp>
      <p:sp>
        <p:nvSpPr>
          <p:cNvPr id="22" name="Inotrópica, com redução da RVP; associar"/>
          <p:cNvSpPr txBox="1"/>
          <p:nvPr/>
        </p:nvSpPr>
        <p:spPr>
          <a:xfrm>
            <a:off x="3049786" y="4430943"/>
            <a:ext cx="809446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Inotrópica, com redução da RVP; associar noradrenalina, porque pode baixar a PAM. Com débito preservado e RVS baixa, considerar vasoplegia: a droga é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RVS ↑↑ · FC ↓ · DC ↔/↓"/>
          <p:cNvSpPr txBox="1"/>
          <p:nvPr/>
        </p:nvSpPr>
        <p:spPr>
          <a:xfrm>
            <a:off x="3882430" y="2069740"/>
            <a:ext cx="187702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↑↑ · FC ↓ · DC ↔/↓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, em bolus de 50–100 m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em bolus de 50–100 mcg. A bradicardia reflexa pode reduzir o DC, mas é útil quando a taquicardia é indesejável, como em casos selecionados de estenose aórtica. Cesárea: infusão profilática de 25–50 mcg/min.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FC ↑ · DC ↑"/>
          <p:cNvSpPr txBox="1"/>
          <p:nvPr/>
        </p:nvSpPr>
        <p:spPr>
          <a:xfrm>
            <a:off x="9640292" y="2069740"/>
            <a:ext cx="150395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FC ↑ · DC 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mista: direta em α e β e indireta, 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mista: direta em α e β e indireta, liberando noradrenalina. Bolus de 5–10 mg; útil na hipotensão com bradicardia. Taquifilaxia com doses repetidas;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catecolaminas. No choque séptico, 200 mg/dia (sugerida pela SSC 2026).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30401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ngiotensina II"/>
          <p:cNvSpPr txBox="1"/>
          <p:nvPr/>
        </p:nvSpPr>
        <p:spPr>
          <a:xfrm>
            <a:off x="5289550" y="31953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Agonista AT1: eleva a PAM rapidamente e "/>
          <p:cNvSpPr txBox="1"/>
          <p:nvPr/>
        </p:nvSpPr>
        <p:spPr>
          <a:xfrm>
            <a:off x="5289550" y="34653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eleva a PAM rapidamente e poupa catecolamina. Pouco disponível; a NA continua preferida.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5080000" y="4200823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zul de metileno"/>
          <p:cNvSpPr txBox="1"/>
          <p:nvPr/>
        </p:nvSpPr>
        <p:spPr>
          <a:xfrm>
            <a:off x="5289550" y="4356048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Bloqueia a via óxido nítrico–GMPc: resga"/>
          <p:cNvSpPr txBox="1"/>
          <p:nvPr/>
        </p:nvSpPr>
        <p:spPr>
          <a:xfrm>
            <a:off x="5289550" y="4626012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a via óxido nítrico–GMPc: resgate na vasoplegia refratária (pós-CEC, reperfusão hepática). Evitar em uso de ISRS e na deficiência de G6PD.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PAM-alvo inicial de 65 mmHg (60–65 mmHg 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PAM-alvo inicial de 65 mmHg (60–65 mmHg a partir dos 65 anos). Antecipar sistematicamente a vasopressina não reduziu a mortalidade (VASSPR).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Hipoperfusão com volume e PAM adequados: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com NA, ou adrenalina. Hidrocortisona EV sugerida. Evitar levosimendana e terlipressina.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 em"/>
          <p:cNvSpPr txBox="1"/>
          <p:nvPr/>
        </p:nvSpPr>
        <p:spPr>
          <a:xfrm>
            <a:off x="946150" y="3170972"/>
            <a:ext cx="176401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 em bolus; NA em infusão se persistir</a:t>
            </a:r>
            <a:endParaRPr lang="en-US" sz="1250" dirty="0"/>
          </a:p>
        </p:txBody>
      </p:sp>
      <p:sp>
        <p:nvSpPr>
          <p:cNvPr id="12" name="Corrige o tônus sem taquicardia"/>
          <p:cNvSpPr txBox="1"/>
          <p:nvPr/>
        </p:nvSpPr>
        <p:spPr>
          <a:xfrm>
            <a:off x="946150" y="3878619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 o tônus sem taquicardia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295146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5" name="Efedrina 5–10 mg"/>
          <p:cNvSpPr txBox="1"/>
          <p:nvPr/>
        </p:nvSpPr>
        <p:spPr>
          <a:xfrm>
            <a:off x="3084810" y="3170972"/>
            <a:ext cx="176401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250" dirty="0"/>
          </a:p>
        </p:txBody>
      </p:sp>
      <p:sp>
        <p:nvSpPr>
          <p:cNvPr id="16" name="β1 e liberação de noradrenalina"/>
          <p:cNvSpPr txBox="1"/>
          <p:nvPr/>
        </p:nvSpPr>
        <p:spPr>
          <a:xfrm>
            <a:off x="3084810" y="3449994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 e liberação de noradrenalina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509012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9" name="Dobutamina; milrinona se VD com hiperten"/>
          <p:cNvSpPr txBox="1"/>
          <p:nvPr/>
        </p:nvSpPr>
        <p:spPr>
          <a:xfrm>
            <a:off x="5223470" y="3170972"/>
            <a:ext cx="176401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se VD com hipertensão pulmonar; NA se a PAM cair</a:t>
            </a:r>
            <a:endParaRPr lang="en-US" sz="1250" dirty="0"/>
          </a:p>
        </p:txBody>
      </p:sp>
      <p:sp>
        <p:nvSpPr>
          <p:cNvPr id="20" name="Inotropismo; a milrinona também reduz a "/>
          <p:cNvSpPr txBox="1"/>
          <p:nvPr/>
        </p:nvSpPr>
        <p:spPr>
          <a:xfrm>
            <a:off x="5223470" y="4092931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Inotropismo; a milrinona também reduz a RVP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722878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3" name="Vasopressina; azul de metileno como resg"/>
          <p:cNvSpPr txBox="1"/>
          <p:nvPr/>
        </p:nvSpPr>
        <p:spPr>
          <a:xfrm>
            <a:off x="7362130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</a:t>
            </a:r>
            <a:endParaRPr lang="en-US" sz="1250" dirty="0"/>
          </a:p>
        </p:txBody>
      </p:sp>
      <p:sp>
        <p:nvSpPr>
          <p:cNvPr id="24" name="Pós-CEC, IECA/BRA, reperfusão hepática"/>
          <p:cNvSpPr txBox="1"/>
          <p:nvPr/>
        </p:nvSpPr>
        <p:spPr>
          <a:xfrm>
            <a:off x="7362130" y="3661925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Pós-CEC, IECA/BRA, reperfusão hepática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9367441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7" name="Volume, se o débito responde"/>
          <p:cNvSpPr txBox="1"/>
          <p:nvPr/>
        </p:nvSpPr>
        <p:spPr>
          <a:xfrm>
            <a:off x="9500791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250" dirty="0"/>
          </a:p>
        </p:txBody>
      </p:sp>
      <p:sp>
        <p:nvSpPr>
          <p:cNvPr id="28" name="Hipovolemia não se corrige com amina"/>
          <p:cNvSpPr txBox="1"/>
          <p:nvPr/>
        </p:nvSpPr>
        <p:spPr>
          <a:xfrm>
            <a:off x="9500791" y="3661925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não se corrige com amina</a:t>
            </a:r>
            <a:endParaRPr lang="en-US" sz="1100" dirty="0"/>
          </a:p>
        </p:txBody>
      </p:sp>
      <p:sp>
        <p:nvSpPr>
          <p:cNvPr id="29" name="Raquianestesia na cesárea: fenilefrina p"/>
          <p:cNvSpPr txBox="1"/>
          <p:nvPr/>
        </p:nvSpPr>
        <p:spPr>
          <a:xfrm>
            <a:off x="812800" y="484052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Raquianestesia na cesárea:</a:t>
            </a:r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fenilefrina profilática 25–50 mcg/min, NA como alternativa; alvo de PAS ≥90% da basal.</a:t>
            </a:r>
            <a:endParaRPr lang="en-US" sz="1300" dirty="0"/>
          </a:p>
        </p:txBody>
      </p:sp>
      <p:sp>
        <p:nvSpPr>
          <p:cNvPr id="30" name="Transplante hepático (UFRJ): em 19 pacie"/>
          <p:cNvSpPr txBox="1"/>
          <p:nvPr/>
        </p:nvSpPr>
        <p:spPr>
          <a:xfrm>
            <a:off x="812800" y="5325604"/>
            <a:ext cx="105854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do VD ao ETE manteve-se preservada em todas as fases, inclusive após a reperfusão (Gouvêa et al., PLoS One 2022).</a:t>
            </a:r>
            <a:endParaRPr lang="en-US" sz="1300" dirty="0"/>
          </a:p>
        </p:txBody>
      </p:sp>
      <p:sp>
        <p:nvSpPr>
          <p:cNvPr id="31" name="Kinsella, Anaesthesia 2018 · Hajjar, An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Hajjar, Anesthesiology 2017 (VANCS) · Gouvêa, PLoS One 2022 · Miller’s Anesthesia, 10ª ed. (2025)</a:t>
            </a:r>
            <a:endParaRPr lang="en-US" sz="1200" dirty="0"/>
          </a:p>
        </p:txBody>
      </p:sp>
      <p:pic>
        <p:nvPicPr>
          <p:cNvPr id="3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&lt;65</a:t>
            </a:r>
            <a:endParaRPr lang="en-US" sz="4400" dirty="0"/>
          </a:p>
        </p:txBody>
      </p:sp>
      <p:sp>
        <p:nvSpPr>
          <p:cNvPr id="7" name="Em estudos observacionais, mesmo período"/>
          <p:cNvSpPr txBox="1"/>
          <p:nvPr/>
        </p:nvSpPr>
        <p:spPr>
          <a:xfrm>
            <a:off x="1066800" y="3148651"/>
            <a:ext cx="30670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estudos observacionais, mesmo períodos curtos abaixo de 65 mmHg se associam a lesão renal aguda, lesão miocárdica e delirium. Associação não prova que tratar evite o dano.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o limite seguro individual é incerto. Com pressão venosa ou compartimental alta, o alvo é maior.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PAM ≥80 (vs. ≥65) reduziu morte ou disfu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orgânica, sobretudo lesão renal aguda, em hipertensos de alto risco (HISTAP).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Manejo proativo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Antecipar e tratar cedo; monitorização f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(VPP, volume sistólico, eco) orienta a escolha entre volume, vasopressor e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20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41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sobretudo no VD com hipertensão pulmonar; NA se a PAM cair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 (anestesia)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ara discutir: no nosso serviço, como do"/>
          <p:cNvSpPr txBox="1"/>
          <p:nvPr/>
        </p:nvSpPr>
        <p:spPr>
          <a:xfrm>
            <a:off x="812800" y="5373125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discutir: no nosso serviço, como documentamos o baixo débito antes do inotrópico, e quando associamos vasopressina?</a:t>
            </a:r>
            <a:endParaRPr lang="en-US" sz="1400" dirty="0"/>
          </a:p>
        </p:txBody>
      </p:sp>
      <p:sp>
        <p:nvSpPr>
          <p:cNvPr id="6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 para perguntas"/>
          <p:cNvSpPr txBox="1"/>
          <p:nvPr/>
        </p:nvSpPr>
        <p:spPr>
          <a:xfrm>
            <a:off x="812800" y="2410271"/>
            <a:ext cx="10179050" cy="579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 para perguntas</a:t>
            </a:r>
            <a:endParaRPr lang="en-US" sz="3800" dirty="0"/>
          </a:p>
        </p:txBody>
      </p:sp>
      <p:sp>
        <p:nvSpPr>
          <p:cNvPr id="4" name="Material de apoio: detalhes, tabelas e r"/>
          <p:cNvSpPr txBox="1"/>
          <p:nvPr/>
        </p:nvSpPr>
        <p:spPr>
          <a:xfrm>
            <a:off x="812800" y="328346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apoio: detalhes, tabelas e referências.</a:t>
            </a:r>
            <a:endParaRPr lang="en-US" sz="1600" dirty="0"/>
          </a:p>
        </p:txBody>
      </p:sp>
      <p:sp>
        <p:nvSpPr>
          <p:cNvPr id="5" name="Síntese das drogas"/>
          <p:cNvSpPr/>
          <p:nvPr/>
        </p:nvSpPr>
        <p:spPr>
          <a:xfrm>
            <a:off x="812800" y="3888680"/>
            <a:ext cx="172204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6" name="Dopamina"/>
          <p:cNvSpPr/>
          <p:nvPr/>
        </p:nvSpPr>
        <p:spPr>
          <a:xfrm>
            <a:off x="2636441" y="3888680"/>
            <a:ext cx="111799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400" dirty="0"/>
          </a:p>
        </p:txBody>
      </p:sp>
      <p:sp>
        <p:nvSpPr>
          <p:cNvPr id="7" name="Dobutamina"/>
          <p:cNvSpPr/>
          <p:nvPr/>
        </p:nvSpPr>
        <p:spPr>
          <a:xfrm>
            <a:off x="3856037" y="3888680"/>
            <a:ext cx="127506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8" name="Fenilefrina"/>
          <p:cNvSpPr/>
          <p:nvPr/>
        </p:nvSpPr>
        <p:spPr>
          <a:xfrm>
            <a:off x="5232698" y="3888680"/>
            <a:ext cx="114528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9" name="Efedrina"/>
          <p:cNvSpPr/>
          <p:nvPr/>
        </p:nvSpPr>
        <p:spPr>
          <a:xfrm>
            <a:off x="6479580" y="3888680"/>
            <a:ext cx="97363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0" name="Vasopressina"/>
          <p:cNvSpPr/>
          <p:nvPr/>
        </p:nvSpPr>
        <p:spPr>
          <a:xfrm>
            <a:off x="7554813" y="3888680"/>
            <a:ext cx="133191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1" name="Choque refratário"/>
          <p:cNvSpPr/>
          <p:nvPr/>
        </p:nvSpPr>
        <p:spPr>
          <a:xfrm>
            <a:off x="8988326" y="3888680"/>
            <a:ext cx="16731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2" name="Sequência SSC"/>
          <p:cNvSpPr/>
          <p:nvPr/>
        </p:nvSpPr>
        <p:spPr>
          <a:xfrm>
            <a:off x="812800" y="4391521"/>
            <a:ext cx="141317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3" name="Alvo de PAM"/>
          <p:cNvSpPr/>
          <p:nvPr/>
        </p:nvSpPr>
        <p:spPr>
          <a:xfrm>
            <a:off x="2327573" y="4391521"/>
            <a:ext cx="13098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4" name="Início e via"/>
          <p:cNvSpPr/>
          <p:nvPr/>
        </p:nvSpPr>
        <p:spPr>
          <a:xfrm>
            <a:off x="3739059" y="4391521"/>
            <a:ext cx="114121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e via</a:t>
            </a:r>
            <a:endParaRPr lang="en-US" sz="1400" dirty="0"/>
          </a:p>
        </p:txBody>
      </p:sp>
      <p:sp>
        <p:nvSpPr>
          <p:cNvPr id="15" name="Alvo intraoperatório"/>
          <p:cNvSpPr/>
          <p:nvPr/>
        </p:nvSpPr>
        <p:spPr>
          <a:xfrm>
            <a:off x="4981873" y="4391521"/>
            <a:ext cx="186977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6" name="Roteiro"/>
          <p:cNvSpPr/>
          <p:nvPr/>
        </p:nvSpPr>
        <p:spPr>
          <a:xfrm>
            <a:off x="6953250" y="4391521"/>
            <a:ext cx="90497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sp>
        <p:nvSpPr>
          <p:cNvPr id="17" name="Referências"/>
          <p:cNvSpPr/>
          <p:nvPr/>
        </p:nvSpPr>
        <p:spPr>
          <a:xfrm>
            <a:off x="7959824" y="4391521"/>
            <a:ext cx="12159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4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 das drogas</a:t>
            </a:r>
            <a:endParaRPr lang="en-US" sz="3200" dirty="0"/>
          </a:p>
        </p:txBody>
      </p:sp>
      <p:graphicFrame>
        <p:nvGraphicFramePr>
          <p:cNvPr id="22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refratário; anafilaxia; PCR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sem medid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sem medida de afinidade · faixas usuais, titular pelo efeito · adaptado de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Faixa de 2 a 20 mcg/kg/min. Até cerca de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2 a 20 mcg/kg/min. Até cerca de 3: D1 (vasodilatação renal e mesentérica). De 3 a 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Dose “renal” não protege o rim (ANZICS,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(ANZICS, Lancet 2000). SOAP II: arritmias 24,1% vs. 12,4% com NA e maior mortalidade no subgrupo com choque cardiogênico. SSC 2026: recomendação forte contra o uso como primeira linha (certeza alta).</a:t>
            </a:r>
            <a:endParaRPr lang="en-US" sz="1350" dirty="0"/>
          </a:p>
        </p:txBody>
      </p:sp>
      <p:sp>
        <p:nvSpPr>
          <p:cNvPr id="2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2,5 a 20 mcg/kg/min. Mistura 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 de 2,5 a 20 mcg/kg/min. Mistura racêmica cujos efeitos α1 se anulam: efeito resultante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cardia, arritmia e maior consumo mi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oxigênio; tolerância após uso prolongado. Hipotensão na hipovolemia ou na vasoplegia. DOREMI (choque cardiogênico): sem diferença estatisticamente significativa vs. milrinona no desfecho composto (54% vs. 49%).</a:t>
            </a:r>
            <a:endParaRPr lang="en-US" sz="1350" dirty="0"/>
          </a:p>
        </p:txBody>
      </p:sp>
      <p:sp>
        <p:nvSpPr>
          <p:cNvPr id="28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2" name="Bolus de 50–100 mcg, início imediato e e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mcg, início imediato e efeito curto. Na cesárea sob raquianestesia, infusão profilática de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25–50 mcg/min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mantendo a PAS ≥90% da basal. Útil na vasodilatação com FC normal ou alta e, em casos selecionados, na estenose aórtica ou na obstrução dinâmica da via de saída do VE.</a:t>
            </a:r>
            <a:endParaRPr lang="en-US" sz="1350" dirty="0"/>
          </a:p>
        </p:txBody>
      </p:sp>
      <p:sp>
        <p:nvSpPr>
          <p:cNvPr id="23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5" name="A bradicardia barorreflexa pode reduzir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bradicardia barorreflexa pode reduzir o DC, sobretudo com disfunção de VE. Na cesárea, NA 6 mcg em bolus causou menos bradicardia que fenilefrina 100 mcg (10,7% vs. 37,5%). No choque séptico, sem evidência para uso como primeira linha.</a:t>
            </a:r>
            <a:endParaRPr lang="en-US" sz="1350" dirty="0"/>
          </a:p>
        </p:txBody>
      </p:sp>
      <p:sp>
        <p:nvSpPr>
          <p:cNvPr id="26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 · barras: escala qualitativa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Bolus de 5–10 mg EV, repetível. Agonist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repetível. Agonista direto α e β e indireto, liberando noradrenalina das terminações nervosas. Sem o anel catecol, resiste à MAO e à COMT e dura mais que as catecolaminas. Boa opção na hipotensão com bradicardia após indução ou raquianestesia.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filaxia por depleção dos estoques d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é reservada para resgate.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Mecanismo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6" name="Hormônio não adrenérgico que age no rece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 que age no receptor V1 do músculo liso vascular. Mantém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Us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9" name="Em geral, dose fixa de 0,03 U/min (até 0"/>
          <p:cNvSpPr txBox="1"/>
          <p:nvPr/>
        </p:nvSpPr>
        <p:spPr>
          <a:xfrm>
            <a:off x="4662984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de 0,03 U/min (até 0,04 U/min), ao contrário da NA, que é titulada. SSC 2026: associar quando a NA está em escalada (condicional, certeza moderada); na enquete dos painelistas, a mediana de NA para associar foi 0,3 mcg/kg/min.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Evidênci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39,3%). VASSPR (JAMA 2026; n = 3.959): políticas hospitalares de iniciar a vasopressina com NA 0,1 vs. 0,4 mcg/kg/min não mudaram a mortalidade (31,8% vs. 33,0%).</a:t>
            </a:r>
            <a:endParaRPr lang="en-US" sz="1350" dirty="0"/>
          </a:p>
        </p:txBody>
      </p:sp>
      <p:sp>
        <p:nvSpPr>
          <p:cNvPr id="13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</a:t>
            </a:r>
            <a:endParaRPr lang="en-US" sz="3200" dirty="0"/>
          </a:p>
        </p:txBody>
      </p:sp>
      <p:graphicFrame>
        <p:nvGraphicFramePr>
          <p:cNvPr id="2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resolução mais rápida do choque, sem ↓ mortalidade. APROCCHSS: ↓ 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(69,9% vs. 23,4%);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Inibidor da PDE3: inodilatador não adrenérgico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 no choque cardiogênico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dados para comparar com a dobutamina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Sensibilizador ao 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benefício clínico demonstrado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não usar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); iniciar cedo, inclusiv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 (forte); iniciar cedo, inclusive por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30155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certe"/>
          <p:cNvSpPr txBox="1"/>
          <p:nvPr/>
        </p:nvSpPr>
        <p:spPr>
          <a:xfrm>
            <a:off x="8444309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isfunção cardíaca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0" name="Hipoperfusão apesar de volume e PAM adeq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 + NA, ou adrenalina isolada. Na escolha inicial, NA se taquiarritmia, adrenalina se bradiarritmia. Evitar levosimendana.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djuvantes e o que evitar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3" name="Hidrocortisona EV sugerida (condicional,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 sugerida (condicional, certeza baixa). Não usar dopamina como primeira linha (forte). Evitar terlipressina. Azul de metileno: evidência insuficiente.</a:t>
            </a:r>
            <a:endParaRPr lang="en-US" sz="1350" dirty="0"/>
          </a:p>
        </p:txBody>
      </p:sp>
      <p:sp>
        <p:nvSpPr>
          <p:cNvPr id="24" name="Prescott, Crit Care Med 2026 (SSC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</a:t>
            </a:r>
            <a:endParaRPr lang="en-US" sz="1200" dirty="0"/>
          </a:p>
        </p:txBody>
      </p:sp>
      <p:sp>
        <p:nvSpPr>
          <p:cNvPr id="6" name="65"/>
          <p:cNvSpPr txBox="1"/>
          <p:nvPr/>
        </p:nvSpPr>
        <p:spPr>
          <a:xfrm>
            <a:off x="1066800" y="2549005"/>
            <a:ext cx="30670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066800" y="3650997"/>
            <a:ext cx="306705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 como alvo inicial no choque séptico (forte, certeza moderada). A partir dos 65 anos: 60–65 mmHg (condicional, certeza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65 trial · JAMA 2020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0" name="≥65 anos, PAM 60–65 mmHg vs. cuidado usu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anos, PAM 60–65 mmHg vs. cuidado usual: mortalidade em 90 dias 41,0% vs. 43,8% (NS), com menor dose e menor duração de vasopressor.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OPTPRESS · Intensive Care Med 2025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· Intensive Care Med 2025</a:t>
            </a:r>
            <a:endParaRPr lang="en-US" sz="1500" dirty="0"/>
          </a:p>
        </p:txBody>
      </p:sp>
      <p:sp>
        <p:nvSpPr>
          <p:cNvPr id="13" name="≥65 anos com choque séptico, alvo 80–85 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ESICM 2025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6" name="Individualizar: considerar alvo maior em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1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INÍCIO E V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INÍCIO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Início precoce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precoce</a:t>
            </a:r>
            <a:endParaRPr lang="en-US" sz="1700" dirty="0"/>
          </a:p>
        </p:txBody>
      </p:sp>
      <p:sp>
        <p:nvSpPr>
          <p:cNvPr id="6" name="CENSER: NA 0,05 mcg/kg/min desde a admis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 aumentou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Via periféric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periférica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leves; menos com protocolo de segurança (2,9% vs. 12%). SSC 2026: iniciar por via periférica em vez de esperar o acesso central.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escrição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2" name="No Brasil, a ampola de hemitartarato 2 m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 ampola de hemitartarato 2 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3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Kattan, Intensive Care Med 2024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intraoperatório: ensaios</a:t>
            </a:r>
            <a:endParaRPr lang="en-US" sz="3200" dirty="0"/>
          </a:p>
        </p:txBody>
      </p:sp>
      <p:graphicFrame>
        <p:nvGraphicFramePr>
          <p:cNvPr id="32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2"/>
                <a:gridCol w="2324596"/>
                <a:gridCol w="2535932"/>
                <a:gridCol w="316994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suspendendo anti-hipertensivos vs. ≥60 mantendo-os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 vs. 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393836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em pacientes de risco é o limite mínimo e não assegura perfusão; com pressão venosa ou compartimental alta, o alvo é maior. Acima desse piso, o benefício demonstrado até agora foi em hipertensos de alto risco (HISTAP).</a:t>
            </a:r>
            <a:endParaRPr lang="en-US" sz="1400" dirty="0"/>
          </a:p>
        </p:txBody>
      </p:sp>
      <p:sp>
        <p:nvSpPr>
          <p:cNvPr id="6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Cecconi, Intensive Care Med 2026 (HISTAP) · Saugel, Br J Anaesth 2024 (POQI)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, resistência vas"/>
          <p:cNvSpPr txBox="1"/>
          <p:nvPr/>
        </p:nvSpPr>
        <p:spPr>
          <a:xfrm>
            <a:off x="1371600" y="196428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débito, resistência vascular e perfusão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e classificação das aminas"/>
          <p:cNvSpPr txBox="1"/>
          <p:nvPr/>
        </p:nvSpPr>
        <p:spPr>
          <a:xfrm>
            <a:off x="6858000" y="1964280"/>
            <a:ext cx="332124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classificação das aminas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pam"/>
          <p:cNvSpPr txBox="1"/>
          <p:nvPr/>
        </p:nvSpPr>
        <p:spPr>
          <a:xfrm>
            <a:off x="1371600" y="2773111"/>
            <a:ext cx="4540250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dopamina, dobutamina, milrinona, fenilefrina e efedrina; quando preferir milrinona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862533"/>
            <a:ext cx="363408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 e alvo "/>
          <p:cNvSpPr txBox="1"/>
          <p:nvPr/>
        </p:nvSpPr>
        <p:spPr>
          <a:xfrm>
            <a:off x="6858000" y="3862533"/>
            <a:ext cx="446325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 e alvo de pressão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33515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"/>
          <p:cNvSpPr txBox="1"/>
          <p:nvPr/>
        </p:nvSpPr>
        <p:spPr>
          <a:xfrm>
            <a:off x="1371600" y="4441573"/>
            <a:ext cx="153441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1700" dirty="0"/>
          </a:p>
        </p:txBody>
      </p:sp>
      <p:sp>
        <p:nvSpPr>
          <p:cNvPr id="18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Miller’s Anesthesia, 10ª ed. (2025)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EFERÊNCI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REFERÊNCIAS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Prescott, Antonelli · SSC 2026 · Crit Ca"/>
          <p:cNvSpPr txBox="1"/>
          <p:nvPr/>
        </p:nvSpPr>
        <p:spPr>
          <a:xfrm>
            <a:off x="812800" y="17730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Antonelli · SSC 2026 · Crit Care Med 2026</a:t>
            </a:r>
            <a:endParaRPr lang="en-US" sz="1150" dirty="0"/>
          </a:p>
        </p:txBody>
      </p:sp>
      <p:sp>
        <p:nvSpPr>
          <p:cNvPr id="5" name="Monnet, Messina · ESICM 2025 · Intensive"/>
          <p:cNvSpPr txBox="1"/>
          <p:nvPr/>
        </p:nvSpPr>
        <p:spPr>
          <a:xfrm>
            <a:off x="812800" y="19682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Monnet, Messina · ESICM 2025 · Intensive Care Med 2025</a:t>
            </a:r>
            <a:endParaRPr lang="en-US" sz="1150" dirty="0"/>
          </a:p>
        </p:txBody>
      </p:sp>
      <p:sp>
        <p:nvSpPr>
          <p:cNvPr id="6" name="Miller’s Anesthesia, 10ª ed. · Elsevier "/>
          <p:cNvSpPr txBox="1"/>
          <p:nvPr/>
        </p:nvSpPr>
        <p:spPr>
          <a:xfrm>
            <a:off x="812800" y="21635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· Elsevier 2025</a:t>
            </a:r>
            <a:endParaRPr lang="en-US" sz="1150" dirty="0"/>
          </a:p>
        </p:txBody>
      </p:sp>
      <p:sp>
        <p:nvSpPr>
          <p:cNvPr id="7" name="De Backer · SOAP II · N Engl J Med 2010"/>
          <p:cNvSpPr txBox="1"/>
          <p:nvPr/>
        </p:nvSpPr>
        <p:spPr>
          <a:xfrm>
            <a:off x="812800" y="23587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 · SOAP II · N Engl J Med 2010</a:t>
            </a:r>
            <a:endParaRPr lang="en-US" sz="1150" dirty="0"/>
          </a:p>
        </p:txBody>
      </p:sp>
      <p:sp>
        <p:nvSpPr>
          <p:cNvPr id="8" name="Russell · VASST · N Engl J Med 2008"/>
          <p:cNvSpPr txBox="1"/>
          <p:nvPr/>
        </p:nvSpPr>
        <p:spPr>
          <a:xfrm>
            <a:off x="812800" y="25540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 · VASST · N Engl J Med 2008</a:t>
            </a:r>
            <a:endParaRPr lang="en-US" sz="1150" dirty="0"/>
          </a:p>
        </p:txBody>
      </p:sp>
      <p:sp>
        <p:nvSpPr>
          <p:cNvPr id="9" name="Gordon · VANISH · JAMA 2016"/>
          <p:cNvSpPr txBox="1"/>
          <p:nvPr/>
        </p:nvSpPr>
        <p:spPr>
          <a:xfrm>
            <a:off x="812800" y="27493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Gordon · VANISH · JAMA 2016</a:t>
            </a:r>
            <a:endParaRPr lang="en-US" sz="1150" dirty="0"/>
          </a:p>
        </p:txBody>
      </p:sp>
      <p:sp>
        <p:nvSpPr>
          <p:cNvPr id="10" name="Peltan · VASSPR · JAMA 2026"/>
          <p:cNvSpPr txBox="1"/>
          <p:nvPr/>
        </p:nvSpPr>
        <p:spPr>
          <a:xfrm>
            <a:off x="812800" y="29445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Peltan · VASSPR · JAMA 2026</a:t>
            </a:r>
            <a:endParaRPr lang="en-US" sz="1150" dirty="0"/>
          </a:p>
        </p:txBody>
      </p:sp>
      <p:sp>
        <p:nvSpPr>
          <p:cNvPr id="11" name="Lamontagne · 65 trial · JAMA 2020"/>
          <p:cNvSpPr txBox="1"/>
          <p:nvPr/>
        </p:nvSpPr>
        <p:spPr>
          <a:xfrm>
            <a:off x="812800" y="31398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 · 65 trial · JAMA 2020</a:t>
            </a:r>
            <a:endParaRPr lang="en-US" sz="1150" dirty="0"/>
          </a:p>
        </p:txBody>
      </p:sp>
      <p:sp>
        <p:nvSpPr>
          <p:cNvPr id="12" name="Endo · OPTPRESS · Intensive Care Med 202"/>
          <p:cNvSpPr txBox="1"/>
          <p:nvPr/>
        </p:nvSpPr>
        <p:spPr>
          <a:xfrm>
            <a:off x="812800" y="33351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 · OPTPRESS · Intensive Care Med 2025</a:t>
            </a:r>
            <a:endParaRPr lang="en-US" sz="1150" dirty="0"/>
          </a:p>
        </p:txBody>
      </p:sp>
      <p:sp>
        <p:nvSpPr>
          <p:cNvPr id="13" name="Permpikul · CENSER · Am J Respir Crit Ca"/>
          <p:cNvSpPr txBox="1"/>
          <p:nvPr/>
        </p:nvSpPr>
        <p:spPr>
          <a:xfrm>
            <a:off x="812800" y="35303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 · CENSER · Am J Respir Crit Care Med 2019</a:t>
            </a:r>
            <a:endParaRPr lang="en-US" sz="1150" dirty="0"/>
          </a:p>
        </p:txBody>
      </p:sp>
      <p:sp>
        <p:nvSpPr>
          <p:cNvPr id="14" name="Annane · CATS · Lancet 2007"/>
          <p:cNvSpPr txBox="1"/>
          <p:nvPr/>
        </p:nvSpPr>
        <p:spPr>
          <a:xfrm>
            <a:off x="812800" y="37256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CATS · Lancet 2007</a:t>
            </a:r>
            <a:endParaRPr lang="en-US" sz="1150" dirty="0"/>
          </a:p>
        </p:txBody>
      </p:sp>
      <p:sp>
        <p:nvSpPr>
          <p:cNvPr id="15" name="Myburgh · CAT · Intensive Care Med 2008"/>
          <p:cNvSpPr txBox="1"/>
          <p:nvPr/>
        </p:nvSpPr>
        <p:spPr>
          <a:xfrm>
            <a:off x="812800" y="39208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Myburgh · CAT · Intensive Care Med 2008</a:t>
            </a:r>
            <a:endParaRPr lang="en-US" sz="1150" dirty="0"/>
          </a:p>
        </p:txBody>
      </p:sp>
      <p:sp>
        <p:nvSpPr>
          <p:cNvPr id="16" name="Levy · OptimaCC · J Am Coll Cardiol 2018"/>
          <p:cNvSpPr txBox="1"/>
          <p:nvPr/>
        </p:nvSpPr>
        <p:spPr>
          <a:xfrm>
            <a:off x="812800" y="41161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Levy · OptimaCC · J Am Coll Cardiol 2018</a:t>
            </a:r>
            <a:endParaRPr lang="en-US" sz="1150" dirty="0"/>
          </a:p>
        </p:txBody>
      </p:sp>
      <p:sp>
        <p:nvSpPr>
          <p:cNvPr id="17" name="Mathew · DOREMI · N Engl J Med 2021"/>
          <p:cNvSpPr txBox="1"/>
          <p:nvPr/>
        </p:nvSpPr>
        <p:spPr>
          <a:xfrm>
            <a:off x="812800" y="43114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 · DOREMI · N Engl J Med 2021</a:t>
            </a:r>
            <a:endParaRPr lang="en-US" sz="1150" dirty="0"/>
          </a:p>
        </p:txBody>
      </p:sp>
      <p:sp>
        <p:nvSpPr>
          <p:cNvPr id="18" name="Di Santo · DOREMI, betabloqueador · Crit"/>
          <p:cNvSpPr txBox="1"/>
          <p:nvPr/>
        </p:nvSpPr>
        <p:spPr>
          <a:xfrm>
            <a:off x="812800" y="45066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Santo · DOREMI, betabloqueador · Crit Care 2021</a:t>
            </a:r>
            <a:endParaRPr lang="en-US" sz="1150" dirty="0"/>
          </a:p>
        </p:txBody>
      </p:sp>
      <p:sp>
        <p:nvSpPr>
          <p:cNvPr id="19" name="Cuffe · OPTIME-CHF · JAMA 2002"/>
          <p:cNvSpPr txBox="1"/>
          <p:nvPr/>
        </p:nvSpPr>
        <p:spPr>
          <a:xfrm>
            <a:off x="812800" y="47019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Cuffe · OPTIME-CHF · JAMA 2002</a:t>
            </a:r>
            <a:endParaRPr lang="en-US" sz="1150" dirty="0"/>
          </a:p>
        </p:txBody>
      </p:sp>
      <p:sp>
        <p:nvSpPr>
          <p:cNvPr id="20" name="Hajjar · VANCS · Anesthesiology 2017"/>
          <p:cNvSpPr txBox="1"/>
          <p:nvPr/>
        </p:nvSpPr>
        <p:spPr>
          <a:xfrm>
            <a:off x="812800" y="48972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Hajjar · VANCS · Anesthesiology 2017</a:t>
            </a:r>
            <a:endParaRPr lang="en-US" sz="1150" dirty="0"/>
          </a:p>
        </p:txBody>
      </p:sp>
      <p:sp>
        <p:nvSpPr>
          <p:cNvPr id="21" name="Khanna · ATHOS-3 · N Engl J Med 2017"/>
          <p:cNvSpPr txBox="1"/>
          <p:nvPr/>
        </p:nvSpPr>
        <p:spPr>
          <a:xfrm>
            <a:off x="812800" y="50924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Khanna · ATHOS-3 · N Engl J Med 2017</a:t>
            </a:r>
            <a:endParaRPr lang="en-US" sz="1150" dirty="0"/>
          </a:p>
        </p:txBody>
      </p:sp>
      <p:sp>
        <p:nvSpPr>
          <p:cNvPr id="22" name="Tongyoo · milrinona no choque séptico · "/>
          <p:cNvSpPr txBox="1"/>
          <p:nvPr/>
        </p:nvSpPr>
        <p:spPr>
          <a:xfrm>
            <a:off x="812800" y="52877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Tongyoo · milrinona no choque séptico · Ann Med 2025</a:t>
            </a:r>
            <a:endParaRPr lang="en-US" sz="1150" dirty="0"/>
          </a:p>
        </p:txBody>
      </p:sp>
      <p:sp>
        <p:nvSpPr>
          <p:cNvPr id="23" name="Gouvêa · VD no transplante hepático (UFR"/>
          <p:cNvSpPr txBox="1"/>
          <p:nvPr/>
        </p:nvSpPr>
        <p:spPr>
          <a:xfrm>
            <a:off x="812800" y="54829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 · VD no transplante hepático (UFRJ) · PLoS One 2022</a:t>
            </a:r>
            <a:endParaRPr lang="en-US" sz="1150" dirty="0"/>
          </a:p>
        </p:txBody>
      </p:sp>
      <p:sp>
        <p:nvSpPr>
          <p:cNvPr id="24" name="Bellomo · dopamina em dose baixa (ANZICS"/>
          <p:cNvSpPr txBox="1"/>
          <p:nvPr/>
        </p:nvSpPr>
        <p:spPr>
          <a:xfrm>
            <a:off x="6248400" y="17730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 · dopamina em dose baixa (ANZICS) · Lancet 2000</a:t>
            </a:r>
            <a:endParaRPr lang="en-US" sz="1150" dirty="0"/>
          </a:p>
        </p:txBody>
      </p:sp>
      <p:sp>
        <p:nvSpPr>
          <p:cNvPr id="25" name="Venkatesh · ADRENAL · N Engl J Med 2018"/>
          <p:cNvSpPr txBox="1"/>
          <p:nvPr/>
        </p:nvSpPr>
        <p:spPr>
          <a:xfrm>
            <a:off x="6248400" y="19682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 · ADRENAL · N Engl J Med 2018</a:t>
            </a:r>
            <a:endParaRPr lang="en-US" sz="1150" dirty="0"/>
          </a:p>
        </p:txBody>
      </p:sp>
      <p:sp>
        <p:nvSpPr>
          <p:cNvPr id="26" name="Annane · APROCCHSS · N Engl J Med 2018"/>
          <p:cNvSpPr txBox="1"/>
          <p:nvPr/>
        </p:nvSpPr>
        <p:spPr>
          <a:xfrm>
            <a:off x="6248400" y="21635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APROCCHSS · N Engl J Med 2018</a:t>
            </a:r>
            <a:endParaRPr lang="en-US" sz="1150" dirty="0"/>
          </a:p>
        </p:txBody>
      </p:sp>
      <p:sp>
        <p:nvSpPr>
          <p:cNvPr id="27" name="Kinsella · consenso cesárea · Anaesthesi"/>
          <p:cNvSpPr txBox="1"/>
          <p:nvPr/>
        </p:nvSpPr>
        <p:spPr>
          <a:xfrm>
            <a:off x="6248400" y="23587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 · consenso cesárea · Anaesthesia 2018</a:t>
            </a:r>
            <a:endParaRPr lang="en-US" sz="1150" dirty="0"/>
          </a:p>
        </p:txBody>
      </p:sp>
      <p:sp>
        <p:nvSpPr>
          <p:cNvPr id="28" name="Sharkey · NA vs. fenilefrina na cesárea "/>
          <p:cNvSpPr txBox="1"/>
          <p:nvPr/>
        </p:nvSpPr>
        <p:spPr>
          <a:xfrm>
            <a:off x="6248400" y="25540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Sharkey · NA vs. fenilefrina na cesárea · Anesth Analg 2019</a:t>
            </a:r>
            <a:endParaRPr lang="en-US" sz="1150" dirty="0"/>
          </a:p>
        </p:txBody>
      </p:sp>
      <p:sp>
        <p:nvSpPr>
          <p:cNvPr id="29" name="Park, Choi · vasopressores na cesárea · "/>
          <p:cNvSpPr txBox="1"/>
          <p:nvPr/>
        </p:nvSpPr>
        <p:spPr>
          <a:xfrm>
            <a:off x="6248400" y="27493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Park, Choi · vasopressores na cesárea · Anesth Pain Med 2024</a:t>
            </a:r>
            <a:endParaRPr lang="en-US" sz="1150" dirty="0"/>
          </a:p>
        </p:txBody>
      </p:sp>
      <p:sp>
        <p:nvSpPr>
          <p:cNvPr id="30" name="Marcucci · POISE-3 · Ann Intern Med 2023"/>
          <p:cNvSpPr txBox="1"/>
          <p:nvPr/>
        </p:nvSpPr>
        <p:spPr>
          <a:xfrm>
            <a:off x="6248400" y="29445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 · POISE-3 · Ann Intern Med 2023</a:t>
            </a:r>
            <a:endParaRPr lang="en-US" sz="1150" dirty="0"/>
          </a:p>
        </p:txBody>
      </p:sp>
      <p:sp>
        <p:nvSpPr>
          <p:cNvPr id="31" name="Saugel · POQI · Br J Anaesth 2024"/>
          <p:cNvSpPr txBox="1"/>
          <p:nvPr/>
        </p:nvSpPr>
        <p:spPr>
          <a:xfrm>
            <a:off x="6248400" y="31398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POQI · Br J Anaesth 2024</a:t>
            </a:r>
            <a:endParaRPr lang="en-US" sz="1150" dirty="0"/>
          </a:p>
        </p:txBody>
      </p:sp>
      <p:sp>
        <p:nvSpPr>
          <p:cNvPr id="32" name="Lineburger · custo da hipotensão · Braz "/>
          <p:cNvSpPr txBox="1"/>
          <p:nvPr/>
        </p:nvSpPr>
        <p:spPr>
          <a:xfrm>
            <a:off x="6248400" y="33351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 · custo da hipotensão · Braz J Anesthesiol 2025</a:t>
            </a:r>
            <a:endParaRPr lang="en-US" sz="1150" dirty="0"/>
          </a:p>
        </p:txBody>
      </p:sp>
      <p:sp>
        <p:nvSpPr>
          <p:cNvPr id="33" name="Salmasi · hipotensão e lesão orgânica · "/>
          <p:cNvSpPr txBox="1"/>
          <p:nvPr/>
        </p:nvSpPr>
        <p:spPr>
          <a:xfrm>
            <a:off x="6248400" y="35303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Salmasi · hipotensão e lesão orgânica · Anesthesiology 2017</a:t>
            </a:r>
            <a:endParaRPr lang="en-US" sz="1150" dirty="0"/>
          </a:p>
        </p:txBody>
      </p:sp>
      <p:sp>
        <p:nvSpPr>
          <p:cNvPr id="34" name="Saugel · IMPROVE-multi · JAMA 2025"/>
          <p:cNvSpPr txBox="1"/>
          <p:nvPr/>
        </p:nvSpPr>
        <p:spPr>
          <a:xfrm>
            <a:off x="6248400" y="37256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IMPROVE-multi · JAMA 2025</a:t>
            </a:r>
            <a:endParaRPr lang="en-US" sz="1150" dirty="0"/>
          </a:p>
        </p:txBody>
      </p:sp>
      <p:sp>
        <p:nvSpPr>
          <p:cNvPr id="35" name="Cecconi · HISTAP · Intensive Care Med 20"/>
          <p:cNvSpPr txBox="1"/>
          <p:nvPr/>
        </p:nvSpPr>
        <p:spPr>
          <a:xfrm>
            <a:off x="6248400" y="39208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 · HISTAP · Intensive Care Med 2026</a:t>
            </a:r>
            <a:endParaRPr lang="en-US" sz="1150" dirty="0"/>
          </a:p>
        </p:txBody>
      </p:sp>
      <p:sp>
        <p:nvSpPr>
          <p:cNvPr id="36" name="Tran · NA periférica · Am J Emerg Med 20"/>
          <p:cNvSpPr txBox="1"/>
          <p:nvPr/>
        </p:nvSpPr>
        <p:spPr>
          <a:xfrm>
            <a:off x="6248400" y="41161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 · NA periférica · Am J Emerg Med 2020</a:t>
            </a:r>
            <a:endParaRPr lang="en-US" sz="1150" dirty="0"/>
          </a:p>
        </p:txBody>
      </p:sp>
      <p:sp>
        <p:nvSpPr>
          <p:cNvPr id="37" name="Kattan · NA base vs. sal · Intensive Car"/>
          <p:cNvSpPr txBox="1"/>
          <p:nvPr/>
        </p:nvSpPr>
        <p:spPr>
          <a:xfrm>
            <a:off x="6248400" y="43114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Kattan · NA base vs. sal · Intensive Care Med 2024</a:t>
            </a:r>
            <a:endParaRPr lang="en-US" sz="1150" dirty="0"/>
          </a:p>
        </p:txBody>
      </p:sp>
      <p:sp>
        <p:nvSpPr>
          <p:cNvPr id="38" name="ANZCA/ANZAAG · anafilaxia perioperatória"/>
          <p:cNvSpPr txBox="1"/>
          <p:nvPr/>
        </p:nvSpPr>
        <p:spPr>
          <a:xfrm>
            <a:off x="6248400" y="45066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· anafilaxia perioperatória · 2022</a:t>
            </a:r>
            <a:endParaRPr lang="en-US" sz="1150" dirty="0"/>
          </a:p>
        </p:txBody>
      </p:sp>
      <p:sp>
        <p:nvSpPr>
          <p:cNvPr id="39" name="Overgaard, Džavík · revisão · Circulatio"/>
          <p:cNvSpPr txBox="1"/>
          <p:nvPr/>
        </p:nvSpPr>
        <p:spPr>
          <a:xfrm>
            <a:off x="6248400" y="47019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Overgaard, Džavík · revisão · Circulation 2008</a:t>
            </a:r>
            <a:endParaRPr lang="en-US" sz="1150" dirty="0"/>
          </a:p>
        </p:txBody>
      </p:sp>
      <p:sp>
        <p:nvSpPr>
          <p:cNvPr id="40" name="Persichini · NA e retorno venoso · Crit "/>
          <p:cNvSpPr txBox="1"/>
          <p:nvPr/>
        </p:nvSpPr>
        <p:spPr>
          <a:xfrm>
            <a:off x="6248400" y="48972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Persichini · NA e retorno venoso · Crit Care Med 2012</a:t>
            </a:r>
            <a:endParaRPr lang="en-US" sz="1150" dirty="0"/>
          </a:p>
        </p:txBody>
      </p:sp>
      <p:sp>
        <p:nvSpPr>
          <p:cNvPr id="41" name="Cecconi · consenso de choque (ESICM) · I"/>
          <p:cNvSpPr txBox="1"/>
          <p:nvPr/>
        </p:nvSpPr>
        <p:spPr>
          <a:xfrm>
            <a:off x="6248400" y="50924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 · consenso de choque (ESICM) · Intensive Care Med 2014</a:t>
            </a:r>
            <a:endParaRPr lang="en-US" sz="1150" dirty="0"/>
          </a:p>
        </p:txBody>
      </p:sp>
      <p:sp>
        <p:nvSpPr>
          <p:cNvPr id="42" name="Konstam · falência de VD (AHA) · Circula"/>
          <p:cNvSpPr txBox="1"/>
          <p:nvPr/>
        </p:nvSpPr>
        <p:spPr>
          <a:xfrm>
            <a:off x="6248400" y="52877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 · falência de VD (AHA) · Circulation 2018</a:t>
            </a:r>
            <a:endParaRPr lang="en-US" sz="1150" dirty="0"/>
          </a:p>
        </p:txBody>
      </p:sp>
      <p:sp>
        <p:nvSpPr>
          <p:cNvPr id="43" name="Zaccolo, Kovanich · AMPc em nanodomínios"/>
          <p:cNvSpPr txBox="1"/>
          <p:nvPr/>
        </p:nvSpPr>
        <p:spPr>
          <a:xfrm>
            <a:off x="6248400" y="54829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Zaccolo, Kovanich · AMPc em nanodomínios · Physiol Rev 2025</a:t>
            </a:r>
            <a:endParaRPr lang="en-US" sz="1150" dirty="0"/>
          </a:p>
        </p:txBody>
      </p:sp>
      <p:pic>
        <p:nvPicPr>
          <p:cNvPr id="4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2026-10-18T21:54:16Z</dcterms:created>
  <dcterms:modified xsi:type="dcterms:W3CDTF">2026-10-18T21:54:16Z</dcterms:modified>
</cp:coreProperties>
</file>