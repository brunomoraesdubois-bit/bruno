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ac1b1fb0-c2dc-f558-1803-a4b84bb81130}">
          <p14:sldIdLst>
            <p14:sldId id="256"/>
            <p14:sldId id="257"/>
          </p14:sldIdLst>
        </p14:section>
        <p14:section name="Fisiologia: pressão, débito e perfusão; farmacologia dos receptores" id="{507c090d-5a6e-b7ed-bcbc-248a40688ad8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372e12b8-317e-44c1-5fe5-46dfbfa4622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f24ba9fb-493b-ca3c-ddb0-8301ec81140f}">
          <p14:sldIdLst>
            <p14:sldId id="271"/>
          </p14:sldIdLst>
        </p14:section>
        <p14:section name="Perioperatório: escolha da droga e alvo de pressão" id="{abbbd452-6396-3bdb-4834-53bf79b071f6}">
          <p14:sldIdLst>
            <p14:sldId id="272"/>
            <p14:sldId id="273"/>
          </p14:sldIdLst>
        </p14:section>
        <p14:section name="Mensagens finais e encerramento" id="{a44af61a-67b7-2a28-5bfa-5fc270a577a8}">
          <p14:sldIdLst>
            <p14:sldId id="274"/>
            <p14:sldId id="275"/>
          </p14:sldIdLst>
        </p14:section>
        <p14:section name="Slides ocultos de reserva para perguntas (não aparecem na apresentação)" id="{fb7e2603-054e-fc13-4ad3-da740f1e88d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55 s nos 20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baixa: tônus baixo pede vasopressor, bomba fraca pede inotrópico, pré-carga baixa pede volume. ▸ Relacionar o perfil de receptores de cada droga ao seu efeito hemodinâmico. ▸ Conhecer ação, dose, indicações e cuidados de cada uma. ▸ Aplicar o raciocínio no choque séptico e no centro cirúrgico. ▸ A pergunta que organiza a aula: qual componente da PAM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(0:30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▸ Na vasoplegia o problema é o tônus: sepse, anestesia geral, neuroeixo, anafilaxia, saída de CEC. ▸ Na falência de bomba o débito é baixo, em geral com resistência alta; na sepse, a disfunção miocárdica pode coexistir com vasoplegia. ▸ Na pré-carga, hipovolemia se corrige com volume; e o α1 também contrai veias, recruta volume não estressado e aumenta o retorno venoso: Persichini e colaboradores mostraram, em pacientes com choque séptico, que reduzir a dose de noradrenalina diminui a pressão sistêmica média, o retorno venoso e o débito cardíaco. ▸ Para diferenciar, a ESICM 2025 recomenda eco como primeira imagem, parâmetros dinâmicos antes de mais volume e perfusão seriada pelo tempo de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o débito baixo. Por isso, a decisão de usar inotrópico depende de sinais de hipoperfusão e de uma estimativa do débito, e não apenas da pressão. ▸ Os sinais estão no slide: enchimento capilar, extremidades, lactato, saturação venosa, diurese e consciência. ▸ Antes da droga, vale perguntar se o débito responde a volume, com parâmetros dinâmicos ou um teste de volume medindo o débito; o eco mostra o VTI e a função dos ventrículos. ▸ O inverso também vale: aumentar o débito com uma droga não é o mesmo que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5 s (2:00 → 3:05)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 está na tabela apenas para lembrar que clonidina e dexmedetomidina são simpatolíticos, e não vasopressores. ▸ β1 aumenta contratilidade e frequência; β2 dilata vasos e brônquios e eleva glicemia e lactato. ▸ D1 dilata os leitos renal e mesentérico. ▸ V1 e PDE3 entram porque vasopressina e milrinona não dependem do adrenoceptor: a vasopressina age no receptor V1, e a milrinona inibe a enzima que degrada o AMPc, depois do receptor β. ▸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(3:05 → 3:50)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▸ A curta duração das catecolaminas facilita a titulação por infusão contínua; ▸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(3:50 → 4:25)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▸ É um α1 potente, com efeito β1 modesto: ▸ eleva a PAM pela resistência e pela venoconstrição, com débito mantido ou maior e frequência estável ou menor, por reflexo. ▸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(4:25 → 5:05)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▸ É a droga da anafilaxia e, no choque séptico, entra como terceira droga quando a PAM segue inadequada com noradrenalina e vasopressina. ▸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45 s (5:05 → 5:50)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▸ A dose “renal” não protege o rim: no ensaio da ANZICS, 328 pacientes críticos com disfunção renal inicial receberam dopamina em 2 mcg/kg/min ou placebo, sem diferença no pico de creatinina, na diálise ou na mortalidade. No SOAP II, 1.679 pacientes em choque receberam dopamina ou noradrenalina como primeira droga: mortalidade em 28 dias semelhante, 52,5 contra 48,5%, com o dobro de arritmias; por isso a SSC 2026 recomenda não usar a dopamina como primeira linha. ▸ Dobutamina: inotropismo β1 com queda discreta da resistência, ▸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5 s (5:50 → 6:55)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▸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demonstrado, como vamos ver no DOREMI daqui a dois slides.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20 s (6:55 → 8:15)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▸ A indicação é a disfunção ventricular com baixo débito que exige suporte inotrópico, o que no centro cirúrgico inclui a dificuldade de saída de CEC. ▸ Por ser vasodilatadora, muitas vezes exige associação com noradrenalina. Tem eliminação renal e meia-vida bem mais longa que a da dobutamina: é menos titulável e acumula na insuficiência renal; a dose máxima diária em bula é 1,13 mg/kg.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▸ Primeiro, a indicação: inotrópico se justifica quando há disfunção ventricular com baixo débito ou hipoperfusão, depois de otimizar volume e PAM. Se a hipotensão é por vasoplegia, a droga é o vasopressor, e um inodilatador baixa ainda mais a pressão. O único ensaio que comparou as duas é o DOREMI: randomizado e duplo-cego, 192 pacientes com choque cardiogênico receberam milrinona ou dobutamina. O desfecho composto, que incluía morte, parada ressuscitada, suporte mecânico ou transplante, infarto, AVC e diálise nova,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▸ a escolha fica farmacológica, e as diferenças da tabela são perfis esperados. ▸ A milrinona faz sentido no VD com hipertensão pulmonar, como na saída de CEC, porque reduz a resistência pulmonar, e quando a taquicardia ou o betabloqueio limitam a dobutamina. ▸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40 s (9:05 → 10:45)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▸ Primeiro, a pressão de perfusão: o VD fica isquêmico quando a PAM cai, então noradrenalina para sustentar a PAM e, conforme a vasoplegia associada, vasopressina. ▸ Segundo, a resistência pulmonar: corrigir hipóxia, hipercapnia e acidose e, se preciso, vasodilatador pulmonar inalado. ▸ Terceiro, a contratilidade: aqui a milrinona faz sentido, porque é inotrópica e reduz a resistência pulmonar; a dobutamina é alternativa. ▸ Quarto, volume e ritmo: o VD dilatado tolera mal mais volume. ▸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55 s (10:45 → 11:40)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▸ Isso é útil quando a taquicardia é indesejável, mas pode reduzir o débito quando ele depende da frequência. Na estenose aórtica, o objetivo é manter a pós-carga e evitar taquicardia, conforme a frequência e a função ventricular. Na cesárea, o consenso internacional de 2018 recomenda vasopressor α-agonista em infusão profilática, titulado para manter a PAS perto da basal. ▸ Efedrina: ação mista, direta em α e β e indireta, liberando noradrenalina. ▸ Por isso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50 s (11:40 → 12:30)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▸ a hidrocortisona restaura a resposta às catecolaminas;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(12:30 → 13:25)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iniciada cedo e, se preciso, por veia periférica. ▸ Vasopressina quando a dose de noradrenalina está subindo; a diretriz não define um limiar, e na enquete dos painelistas a mediana foi 0,3 mcg/kg/min. ▸ Adrenalina se a PAM continuar inadequada. ▸ Alvo inicial de 65 mmHg, ou 60 a 65 a partir dos 65 anos. Sobre o momento da vasopressina, o VASSPR, publicado neste mês: 3.959 pacientes com choque séptico em hospitais sorteados para iniciar a vasopressina com noradrenalina em 0,1 ou em 0,4 mcg/kg/min; a mortalidade foi igual, 31,8 contra 33,0%. Antecipar como regra não trouxe ganho. ▸ Na disfunção cardíaca com hipoperfusão apesar de volume e PAM adequados, dobutamina com noradrenalina, ou adrenalina; hidrocortisona sugerida; levosimendana e terlipressina, contra.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(13:25 → 14:30)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▸ tônus baixo com frequência preservada pede α1; ▸ bradicardia associada pede ação β1, com efedrina ou, se grave, adrenalina; ▸ baixo débito pede inotrópico, e a milrinona tem a vantagem de reduzir a resistência pulmonar. ▸ A vasoplegia que não responde às catecolaminas, como após CEC, com uso crônico de IECA ou BRA ou na reperfusão do enxerto hepático, pode responder à vasopressina, que age por outra via; o azul de metileno fica como resgate. ▸ E pré-carga baixa pede volume, não amina. ▸ Na cesárea, fenilefrina profilática, com a noradrenalina como alternativa. Na anafilaxia, adrenalina. ▸ Um dado do nosso serviço: Gouvêa, Diaz e colaboradores avaliaram por ETE a função do VD de 19 pacientes selecionados em cinco momentos do transplante hepático, do basal ao fechamento; TAPSE e fração de variação de área permaneceram normais, inclusive após a reperfusão. Mais um motivo para identificar o mecanismo da hipotensão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25 s (14:30 → 15:55)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hypotension”, de Lineburger e colaboradores, com Rodrigo Diaz entre os autores: a hipotensão intraoperatória, mesmo por períodos curtos, se associa a lesão renal aguda, lesão miocárdica, delirium e mortalidade. ▸ O POQI 2024 trata PAM de 60 em pacientes de risco como limite mínimo, não como garantia de perfusão; com pressão venosa ou compartimental alta, o alvo tende a ser maior. ▸ Acima do piso, o único ensaio positivo é o HISTAP: 630 pacientes com 60 anos ou mais, hipertensos, em cirurgia abdominal maior, randomizados para PAM de pelo menos 80 ou de pelo menos 65; morte ou disfunção orgânica em 38 contra 49%, sobretudo por menos lesão renal aguda. Os outros ensaios com alvos mais altos foram neutros. ▸ Daí a proposta do editorial: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1 min 10 s (15:55 → 17:05)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 pede noradrenalina e, quando a dose sobe, vasopressina; ▸ baixo débito com hipoperfusão pede inotrópico, com a milrinona reservada sobretudo para o VD com hipertensão pulmonar; ▸ na hipotensão anestésica com bradicardia, efedrina; ▸ com taquicardia, fenilefrina; ▸ anafilaxia, adrenalina; ▸ e, no intraoperatório, tratar cedo, com PAM mínima de 60 a 65. A droga certa é a que corrige esse componente,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40 s (17:05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(17:45 → 17:55)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síntese das drogas, um slide para cada droga de bolus e para a vasopressina, os adjuvantes do choque refratário, a sequência da SSC 2026, os alvos de pressão no choque e no intraoperatório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só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a mesma mortalidade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é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iguais,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[p3] 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[p1] 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[p1] 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[p2] 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[p2] 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[p3] 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[p1] 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1] 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[p1] 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[p2] 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2] 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[p2] 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/>
      <p:bldP spid="17" grpId="0" animBg="1"/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[p1] 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[p1] 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[p1] 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[p1] 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[p1] 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[p1] 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[p1] 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[p1] 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[p1] 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[p1] 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[p1] 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[p1] 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[p1] 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[p1] 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[p1] 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[p2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2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2] 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[p3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3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3] 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 animBg="1"/>
      <p:bldP spid="9" grpId="0"/>
      <p:bldP spid="10" grpId="0" animBg="1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[p1] 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[p2] 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[p2] 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2] 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3] 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  <p:bldP spid="34" grpId="0" animBg="1"/>
      <p:bldP spid="35" grpId="0" animBg="1"/>
      <p:bldP spid="3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[p5] 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[p1] 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[p2] 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[p2] 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[p2] 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[p3] 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[p3] 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[p3] 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[p4] 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[p4] 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[p4] 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[p5] 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[p5] 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[p5] 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[p6] 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[p7] 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/>
      <p:bldP spid="3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65812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2026-10-18T22:25:13Z</dcterms:created>
  <dcterms:modified xsi:type="dcterms:W3CDTF">2026-10-18T22:25:13Z</dcterms:modified>
</cp:coreProperties>
</file>