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85266978-4b45-a95c-5722-7312eebbce75}">
          <p14:sldIdLst>
            <p14:sldId id="256"/>
            <p14:sldId id="257"/>
          </p14:sldIdLst>
        </p14:section>
        <p14:section name="01 · Fisiologia: pressão, débito e perfusão" id="{1a9b62fd-9c58-7122-80e6-5fc3ba6dbf35}">
          <p14:sldIdLst>
            <p14:sldId id="258"/>
            <p14:sldId id="259"/>
          </p14:sldIdLst>
        </p14:section>
        <p14:section name="02 · Receptores" id="{8da31c8c-a687-b0ea-0041-5ae8391fbc74}">
          <p14:sldIdLst>
            <p14:sldId id="260"/>
          </p14:sldIdLst>
        </p14:section>
        <p14:section name="03 · Drogas: noradrenalina, adrenalina, dobutamina (e dopamina), milrinona (escolha), fenilefrina e efedrina" id="{f74d0e28-d962-2fc5-63f0-851bb30642ee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dd95bf7c-3cc3-7589-a2a4-0bd5f89b8c23}">
          <p14:sldIdLst>
            <p14:sldId id="267"/>
          </p14:sldIdLst>
        </p14:section>
        <p14:section name="05 · Perioperatório: escolha da droga e mensagem final" id="{48bccc8f-2484-17b0-cbf2-82aabe421ce4}">
          <p14:sldIdLst>
            <p14:sldId id="268"/>
          </p14:sldIdLst>
        </p14:section>
        <p14:section name="06 · Encerramento" id="{b01c6fda-3d56-e62d-d897-32af04d7ba9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11 min 15 s nos 14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O eco, transesofágico ou transtorácico, é sugerido como imagem de primeira linha para definir o tipo de choque: função do VE e do VD, tamanho das cavidades, pericárdio e o VTI na via de saída, que estima o volume sistólico e, repetido, mostra a resposta a volume ou a droga. Os monitores de débito dão o número e a resposta a uma intervenção. Os marcadores de perfusão tissular, lidos em conjunto,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55 s (1:50 → 2:45)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Eco: a ESICM 2025 sugere a ecocardiografia como imagem de primeira linha para definir o tipo de choque. VD: TAPSE abaixo de 17 mm e variação fracional de área abaixo de 35% indicam disfunção sistólica (ASE/EACVI 2015, quantificação de câmaras); ao ETE, o TAPSE sofre com o alinhamento do feixe nos cortes médio-esofágicos, por isso usa-se a variação fracional de área no corte médio-esofágico de quatro câmaras, o TAPSE por M-mode anatômico nos cortes transgástricos ou o TAPSE modificado (distância ânulo-ápice). Volume sistólico = área da via de saída do VE × VTI; débito = volume sistólico × FC; como a área é fixa no mesmo paciente, a variação do VTI acompanha a do volume sistólico. Na elevação passiva das pernas, aumento do débito de cerca de 10% prediz resposta (Monnet, Intensive Care Med 2016, metanálise de 21 estudos e 991 pacientes); nos estudos ecocardiográficos, pequenos, o limiar do VTI ficou em torno de 12%; após a prova de volume, aumento do VTI de 10 a 15% é a definição usual de respondedor. A área diastólica final do VE no corte transgástrico é índice estático de pré-carga, útil nos extremos, e não prediz isoladamente a resposta a volume.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 Monitores de débito: termodiluição pelo cateter de artéria pulmonar é a referência clínica (invasiva, intermitente ou semicontínua; sugerida no choque refratário e na disfunção de VD); contorno de pulso não calibrado (FloTrac, ClearSight) perde acurácia com RVS baixa e vasopressor: em cirróticos, versão antiga do FloTrac teve erro percentual de 54% vs. termodiluição, limite aceito 30% (Biancofiore, Br J Anaesth 2009); Zona cinzenta da VPP de 9–13% (Cannesson, Anesthesiology 2011); desafio de volume corrente 6 → 8 mL/kg por 1 min quando a limitação é apenas o volume corrente baixo (Myatra, Crit Care Med 2017); elevação passiva das pernas com ↑DC ≥ 10%: sensibilidade 85%, especificidade 91% (Monnet, Intensive Care Med 2016, metanálise de 21 estudos); minidesafio de 100 mL, ↑índice sistólico &gt; 6% (Biais, Anesthesiology 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reduz a liberação de noradrenalina no terminal pré-sináptico e, no tronco encefálico, dá sedação e simpatólise, o efeito da dexmedetomidina. β1 aumenta contratilidade e frequência. β2 dilata vasos e brônquios e eleva glicemia e lactato. D1 dilata os leitos renal e mesentérico. V1 e PDE3 estão na tabela porque vasopressina e milrinona não dependem do adrenoceptor. Catecolaminas têm meia-vida de minutos e vão em infusão; fenilefrina e efedrina duram mais e são as drogas habituais de bolus. O uso prolongado dessensibiliza os receptores, sobretudo os β.</a:t>
            </a:r>
            <a:endParaRPr lang="en-US" dirty="0"/>
          </a:p>
          <a:p>
            <a:r>
              <a:rPr lang="en-US" dirty="0"/>
              <a:t>TEMPO: 50 s (2:45 → 3:35)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(3:35 → 4:15)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(4:15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(4:55 → 5:30)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(5:30 → 6:25)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perfil, que está na tabela. Milrinona quando a circulação pulmonar e o VD são o problema, como na hipertensão pulmonar e na saída de CEC com resistência pulmonar alta, ou quando betabloqueio ou taquicardia limitam a dobutamina; a milrinona exige PAM sustentada, em geral com noradrenalina. Dobutamina, com vasopressor, quando o baixo débito vem com hipotensão ou vasoplegia, em que a vasodilatação e a meia-vida longa da milrinona pesam contra; na insuficiência renal; e para titulação rápida, com meia-vida de minutos. No choque séptico com disfunção miocárdica e hipoperfusão persistente, a Surviving Sepsis Campaign de 2026, a SSC, sugere dobutamina com noradrenalina, ou adrenalina, sem dados que a prefiram à milrinona: preferência prática, não superioridade demonstrada.</a:t>
            </a:r>
            <a:endParaRPr lang="en-US" dirty="0"/>
          </a:p>
          <a:p>
            <a:r>
              <a:rPr lang="en-US" dirty="0"/>
              <a:t>TEMPO: 1 min 15 s (6:25 → 7:40)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habituais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 também, de forma indireta,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(7:40 → 8:30)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recursos além das aminas. A vasopressina age no receptor V1, fora da via adrenérgica, e costuma manter efeito em acidose: no choque séptico com noradrenalina em escalada, dose em geral fixa de 0,03 unidades por minuto; na vasoplegia após CEC, dose titulada, como no VANCS; na hipotensão refratária com IECA ou BRA, bolus pequenos ou infusão; o risco é isquemia digital e mesentérica. A hidrocortisona restaura a resposta vascular às catecolaminas, 200 mg por dia no choque séptico. O azul de metileno inibe a via do óxido nítrico e fica como resgate na vasoplegia refratária, após CEC ou na reperfusão do enxerto hepático, onde a base são relatos e séries e o uso profilático não mostrou benefício. Cuidados: deficiência de G6PD, interferência na oximetria e síndrome serotoninérgica.</a:t>
            </a:r>
            <a:endParaRPr lang="en-US" dirty="0"/>
          </a:p>
          <a:p>
            <a:r>
              <a:rPr lang="en-US" dirty="0"/>
              <a:t>TEMPO: 1 min (8:30 → 9:30)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 com hipoperfusão, inotrópico, com noradrenalina se a PAM cair; vasoplegia persistente, a sequência da Surviving Sepsis Campaign de 2026: noradrenalina em escalada, depois vasopressina e, se a PAM seguir inadequada, adrenalina, com azul de metileno como resgate após CEC, com IECA ou BRA e na reperfusão do enxerto hepático; pré-carga baixa, volume; anafilaxia, adrenalina. Um dado do nosso serviço ajuda nessa decisão: Gouvêa, Diaz e colaboradores acompanharam por ecocardiografia transesofágica o VD de 19 pacientes selecionados em cinco fases do transplante hepático, e a função sistólica se manteve preservada nos momentos avaliados, inclusive trinta minutos após a reperfusão. Como não mediu os primeiros minutos da reperfusão, o estudo não diz se a instabilidade aguda é vasoplegia ou disfunção transitória do VD; o que fica para a prática é o método: usar o eco para separar disfunção de VD de vasoplegia antes de escolher entre inotrópico e vasopressor. Voltando à pergunta do início: a droga certa corrige o componente da PAM que falha, na menor dose eficaz e pelo menor tempo.</a:t>
            </a:r>
            <a:endParaRPr lang="en-US" dirty="0"/>
          </a:p>
          <a:p>
            <a:r>
              <a:rPr lang="en-US" dirty="0"/>
              <a:t>TEMPO: 1 min 35 s (9:30 → 11:05)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VD; a droga certa corrige o componente que falha.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 Choque séptico (SSC 2026): noradrenalina em primeira linha, iniciada cedo, mesmo em veia periférica; vasopressina quando a dose de noradrenalina sobe, sem limiar definido; adrenalina se a PAM continuar inadequada; inotrópico reservado à disfunção cardíaca com hipoperfusão. VASSPR (JAMA 2026, n = 3.959; cluster-crossover em 13 hospitais): iniciar vasopressina com 0,1 vs. 0,4 mcg/kg/min de noradrenalina-equivalente não mudou a mortalidade (31,8% vs. 33,0%). OPTPRESS: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(11:05 → 11:15)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09559"/>
            <a:ext cx="10718800" cy="838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803848"/>
                <a:gridCol w="5705971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encefálico; 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(dexmedetomidina); vasoconstrição (hipertensão transitória do bolus)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268762"/>
          </a:xfrm>
          <a:prstGeom prst="roundRect">
            <a:avLst>
              <a:gd name="adj" fmla="val 2331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Age fora da via adrenérgica; costuma man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fora da via adrenérgica; costuma manter efeito com acidose. Choque séptico: dose em geral fixa. Vasoplegia pós-CEC: titulada (0,01–0,06 U/min no VANCS).</a:t>
            </a:r>
            <a:endParaRPr lang="en-US" sz="1350" dirty="0"/>
          </a:p>
        </p:txBody>
      </p:sp>
      <p:sp>
        <p:nvSpPr>
          <p:cNvPr id="8" name="Indicações: noradrenalina em escalada, v"/>
          <p:cNvSpPr txBox="1"/>
          <p:nvPr/>
        </p:nvSpPr>
        <p:spPr>
          <a:xfrm>
            <a:off x="1066800" y="4132603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noradrenalina em escalada, vasoplegia pós-CEC, hipotensão refratária com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583630"/>
          </a:xfrm>
          <a:prstGeom prst="roundRect">
            <a:avLst>
              <a:gd name="adj" fmla="val 48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412552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682515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564731"/>
            <a:ext cx="6299200" cy="1583630"/>
          </a:xfrm>
          <a:prstGeom prst="roundRect">
            <a:avLst>
              <a:gd name="adj" fmla="val 48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3866702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4136665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Cuidados: deficiência de G6PD, oximetria, síndrome serotoninérgica.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 2002 · Fukazawa 2011 · Miller’s Anesthesia, 10ª ed. (2025), cap. 79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PERIOPERATÓRIO · SÍNTESE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PERIOPERATÓRIO · 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09559"/>
            <a:ext cx="10718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pt-BR" altLang="en-US" sz="30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droga: do mecanismo à conduta</a:t>
            </a:r>
            <a:endParaRPr lang="en-US" sz="3000" dirty="0"/>
          </a:p>
        </p:txBody>
      </p:sp>
      <p:sp>
        <p:nvSpPr>
          <p:cNvPr id="4" name="Hipotensão"/>
          <p:cNvSpPr/>
          <p:nvPr/>
        </p:nvSpPr>
        <p:spPr>
          <a:xfrm>
            <a:off x="812800" y="1676301"/>
            <a:ext cx="920055" cy="322560"/>
          </a:xfrm>
          <a:prstGeom prst="roundRect">
            <a:avLst>
              <a:gd name="adj" fmla="val 23624"/>
            </a:avLst>
          </a:prstGeom>
          <a:solidFill>
            <a:srgbClr val="1B2A3A"/>
          </a:solidFill>
          <a:ln/>
        </p:spPr>
        <p:txBody>
          <a:bodyPr wrap="none" lIns="127000" tIns="63500" rIns="127000" bIns="6350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100" dirty="0"/>
          </a:p>
        </p:txBody>
      </p:sp>
      <p:sp>
        <p:nvSpPr>
          <p:cNvPr id="5" name="→"/>
          <p:cNvSpPr txBox="1"/>
          <p:nvPr/>
        </p:nvSpPr>
        <p:spPr>
          <a:xfrm>
            <a:off x="1834455" y="1732817"/>
            <a:ext cx="22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143026" y="1661120"/>
            <a:ext cx="5803999" cy="353020"/>
          </a:xfrm>
          <a:prstGeom prst="roundRect">
            <a:avLst>
              <a:gd name="adj" fmla="val 21585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33350" tIns="69850" rIns="133350" bIns="698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048625" y="1732817"/>
            <a:ext cx="22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Qual mecanismo?"/>
          <p:cNvSpPr/>
          <p:nvPr/>
        </p:nvSpPr>
        <p:spPr>
          <a:xfrm>
            <a:off x="8357195" y="1676301"/>
            <a:ext cx="1289546" cy="322560"/>
          </a:xfrm>
          <a:prstGeom prst="roundRect">
            <a:avLst>
              <a:gd name="adj" fmla="val 23624"/>
            </a:avLst>
          </a:prstGeom>
          <a:solidFill>
            <a:srgbClr val="1B2A3A"/>
          </a:solidFill>
          <a:ln/>
        </p:spPr>
        <p:txBody>
          <a:bodyPr wrap="none" lIns="127000" tIns="63500" rIns="127000" bIns="6350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812800" y="21538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1601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150" dirty="0"/>
          </a:p>
        </p:txBody>
      </p:sp>
      <p:sp>
        <p:nvSpPr>
          <p:cNvPr id="11" name="Fenilefrina 50–100 mcg ou NA 5–10 mcg; N"/>
          <p:cNvSpPr txBox="1"/>
          <p:nvPr/>
        </p:nvSpPr>
        <p:spPr>
          <a:xfrm>
            <a:off x="933450" y="2576354"/>
            <a:ext cx="321518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NA em infusão se persistir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4377234" y="21538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4383584" y="21601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15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4497884" y="2576354"/>
            <a:ext cx="321518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7941667" y="21538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7948017" y="21601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150" dirty="0"/>
          </a:p>
        </p:txBody>
      </p:sp>
      <p:sp>
        <p:nvSpPr>
          <p:cNvPr id="17" name="Dobutamina (ou adrenalina no choque sépt"/>
          <p:cNvSpPr txBox="1"/>
          <p:nvPr/>
        </p:nvSpPr>
        <p:spPr>
          <a:xfrm>
            <a:off x="8062317" y="2576354"/>
            <a:ext cx="32151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 (ou adrenalina no choque séptico); milrinona no VD com hipertensão pulmonar; NA se a PAM cair</a:t>
            </a:r>
            <a:endParaRPr lang="en-US" sz="1250" dirty="0"/>
          </a:p>
        </p:txBody>
      </p:sp>
      <p:sp>
        <p:nvSpPr>
          <p:cNvPr id="18" name="Cartão"/>
          <p:cNvSpPr/>
          <p:nvPr/>
        </p:nvSpPr>
        <p:spPr>
          <a:xfrm>
            <a:off x="812800" y="34000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persistente ou refratária"/>
          <p:cNvSpPr/>
          <p:nvPr/>
        </p:nvSpPr>
        <p:spPr>
          <a:xfrm>
            <a:off x="819150" y="34063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persistente ou refratária</a:t>
            </a:r>
            <a:endParaRPr lang="en-US" sz="1150" dirty="0"/>
          </a:p>
        </p:txBody>
      </p:sp>
      <p:sp>
        <p:nvSpPr>
          <p:cNvPr id="20" name="NA em escalada → vasopressina → adrenali"/>
          <p:cNvSpPr txBox="1"/>
          <p:nvPr/>
        </p:nvSpPr>
        <p:spPr>
          <a:xfrm>
            <a:off x="933450" y="3822541"/>
            <a:ext cx="32151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→ vasopressina → adrenalina (SSC 2026); azul de metileno como resgate (pós-CEC, IECA/BRA, reperfusão hepática)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4377234" y="34000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4383584" y="34063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15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4497884" y="3822541"/>
            <a:ext cx="321518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4" name="Cartão"/>
          <p:cNvSpPr/>
          <p:nvPr/>
        </p:nvSpPr>
        <p:spPr>
          <a:xfrm>
            <a:off x="7941667" y="34000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Anafilaxia"/>
          <p:cNvSpPr/>
          <p:nvPr/>
        </p:nvSpPr>
        <p:spPr>
          <a:xfrm>
            <a:off x="7948017" y="34063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Anafilaxia</a:t>
            </a:r>
            <a:endParaRPr lang="en-US" sz="1150" dirty="0"/>
          </a:p>
        </p:txBody>
      </p:sp>
      <p:sp>
        <p:nvSpPr>
          <p:cNvPr id="26" name="Adrenalina: bolus titulados; infusão apó"/>
          <p:cNvSpPr txBox="1"/>
          <p:nvPr/>
        </p:nvSpPr>
        <p:spPr>
          <a:xfrm>
            <a:off x="8062317" y="3822541"/>
            <a:ext cx="321518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Adrenalina: bolus titulados; infusão após mais de três bolus</a:t>
            </a:r>
            <a:endParaRPr lang="en-US" sz="1250" dirty="0"/>
          </a:p>
        </p:txBody>
      </p:sp>
      <p:sp>
        <p:nvSpPr>
          <p:cNvPr id="27" name="Transplante hepático (UFRJ): em 19 pacie"/>
          <p:cNvSpPr txBox="1"/>
          <p:nvPr/>
        </p:nvSpPr>
        <p:spPr>
          <a:xfrm>
            <a:off x="812800" y="4674235"/>
            <a:ext cx="105854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250" dirty="0"/>
          </a:p>
        </p:txBody>
      </p:sp>
      <p:sp>
        <p:nvSpPr>
          <p:cNvPr id="28" name="A droga certa corrige o componente da PA"/>
          <p:cNvSpPr txBox="1"/>
          <p:nvPr/>
        </p:nvSpPr>
        <p:spPr>
          <a:xfrm>
            <a:off x="803275" y="5459143"/>
            <a:ext cx="105854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pt-BR" altLang="en-US" sz="15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droga certa corrige o componente da PAM que falha, na menor dose eficaz e pelo menor tempo.</a:t>
            </a:r>
            <a:endParaRPr lang="en-US" sz="1500" dirty="0"/>
          </a:p>
        </p:txBody>
      </p:sp>
      <p:sp>
        <p:nvSpPr>
          <p:cNvPr id="29" name="Gouvêa, PLoS One 2022 · SSC 2026 · Hajj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SSC 2026 · Hajjar, Anesthesiology 2017 (VANCS) · Miller’s Anesthesia, 10ª ed. (2025), cap. 16, 33, 56, 79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2026-10-21T02:24:46Z</dcterms:created>
  <dcterms:modified xsi:type="dcterms:W3CDTF">2026-10-21T02:24:46Z</dcterms:modified>
</cp:coreProperties>
</file>