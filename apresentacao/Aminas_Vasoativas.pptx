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69b8c48e-75fd-65fd-2eef-f7e0c541b0b3}">
          <p14:sldIdLst>
            <p14:sldId id="256"/>
            <p14:sldId id="257"/>
          </p14:sldIdLst>
        </p14:section>
        <p14:section name="01 · Fisiologia: pressão, débito e perfusão" id="{1f3e9d2c-c221-f918-8973-a9db4de40944}">
          <p14:sldIdLst>
            <p14:sldId id="258"/>
            <p14:sldId id="259"/>
          </p14:sldIdLst>
        </p14:section>
        <p14:section name="02 · Receptores e vias de sinalização" id="{8ae87b4d-1eaf-91fb-5727-3f2a59acd640}">
          <p14:sldIdLst>
            <p14:sldId id="260"/>
          </p14:sldIdLst>
        </p14:section>
        <p14:section name="03 · Drogas: noradrenalina, adrenalina, dobutamina (e dopamina), milrinona (escolha e falência de VD), fenilefrina e efedrina" id="{264d394e-0cc9-0266-6eea-4593fc892e59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7f80d2dd-fe24-f807-4d3c-26f8fdb4f058}">
          <p14:sldIdLst>
            <p14:sldId id="268"/>
          </p14:sldIdLst>
        </p14:section>
        <p14:section name="05 · Choque séptico: a sequência da SSC 2026" id="{5aac198f-a1fc-98fc-5cd4-89ac496943f8}">
          <p14:sldIdLst>
            <p14:sldId id="269"/>
          </p14:sldIdLst>
        </p14:section>
        <p14:section name="06 · Perioperatório: escolha da droga e alvo de pressão" id="{8d0d07e6-6e40-d024-5aed-4ad427301e41}">
          <p14:sldIdLst>
            <p14:sldId id="270"/>
            <p14:sldId id="271"/>
          </p14:sldIdLst>
        </p14:section>
        <p14:section name="07 · Mensagens finais e encerramento" id="{858ea339-4289-2d7b-93ae-cd094db9ffae}">
          <p14:sldIdLst>
            <p14:sldId id="272"/>
            <p14:sldId id="273"/>
          </p14:sldIdLst>
        </p14:section>
        <p14:section name="Slides ocultos de reserva para perguntas (não aparecem na apresentação)" id="{e95abbf8-34e1-f459-729c-894b30f2aa4d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14 min 05 s nos 18 slides principais;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Ligar o perfil de receptores de cada droga ao seu efeito hemodinâmico. ▸ Conhecer doses e cuidados, e quando preferir milrinona ou dobutamina. ▸ Aplicar isso no choque séptico e no centro cirúrgico. ▸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▸ Na vasoplegia o problema é o tônus arterial: sepse, anestesia geral, bloqueio de neuroeixo, anafilaxia, saída de CEC; as causas anestésicas e a anafilaxia somam venodilatação. ▸ Na falência de bomba o débito é baixo, em geral com resistência alta; na sepse, a disfunção miocárdica pode coexistir com vasoplegia. ▸ Na pré-carga baixa, a hipovolemia pede volume; e o α1 também contrai veias, recruta volume não estressado e aumenta o retorno venoso: Persichini, em 16 pacientes com choque séptico, reduziu a noradrenalina e viu caírem a pressão sistêmica média e o retorno venoso. ▸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▸ Os sinais estão no slide. ▸ Antes da droga, perguntar se o débito responde a volume; o eco mostra o VTI e a função dos ventrículos. ▸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(1:55 → 2:40)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▸ β1 aumenta contratilidade e frequência; β2 dilata vasos e brônquios e eleva glicemia e lactato. ▸ D1 dilata os leitos renal e mesentérico. ▸ V1 e PDE3 entram na tabela porque vasopressina e milrinona não dependem do adrenoceptor. ▸ Dois pontos práticos: as catecolaminas têm meia-vida de minutos, o que favorece a infusão contínua; fenilefrina e efedrina, sem o anel catecol, duram mais e costumam ir em bolus. E, com uso prolongado, os adrenoceptores se dessensibilizam, um dos fundamentos para associar uma droga de outra via.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50 s (2:40 → 3:30)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▸ sobe a PAM pela resistência e pela venoconstrição, com débito em geral mantido, podendo cair pela pós-carga, e frequência estável ou menor, por reflexo. ▸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(3:30 → 4:10)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▸ O efeito depende da dose: em dose baixa predominam β1 e β2, com débito alto e resistência que pode cair; em dose alta prevalece o α1. É a droga da anafilaxia e, no choque séptico, a terceira droga. ▸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(4:10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▸ Indicada no baixo débito com hipoperfusão, de 2,5 a 20 microgramas por quilo por minuto; se a PAM cair, associar vasopressor; taquicardia e arritmia limitam a dose. ▸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(4:55 → 5:45)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▸ A indicação é a disfunção ventricular com baixo débito que exige inotrópico, incluindo a saída difícil de CEC. ▸ Dose: ataque de 50 microgramas por quilo em 10 minutos, muitas vezes omitido, e manutenção de 0,375 a 0,75 microgramas por quilo por minuto. Por ser vasodilatadora, costuma exigir noradrenalina; tem eliminação renal e meia-vida bem mais longa que a da dobutamina,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(5:45 → 6:35)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quando há disfunção ventricular com baixo débito e hipoperfusão, depois de otimizar volume e PAM. Se a hipotensão é por vasoplegia, a droga é o vasopressor; um inodilatador baixa ainda mais a pressão. ▸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significativa; arritmia, hipotensão e necessidade de vasopressor também não diferiram; nos 93 pacientes betabloqueados, a milrinona não teve vantagem. Isso não comprova equivalência, mas a escolha fica farmacológica. ▸ Milrinona no VD com hipertensão pulmonar, como na saída de CEC, e quando taquicardia ou betabloqueio limitam a dobutamina. ▸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(6:35 → 7:55)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▸ Pressão de perfusão: o VD pode ficar isquêmico quando a PAM cai; noradrenalina e, se houver vasoplegia, vasopressina. ▸ Resistência pulmonar: corrigir hipóxia, hipercapnia e acidose; se preciso, vasodilatador inalado. ▸ Contratilidade: a milrinona faz sentido porque é inotrópica e reduz a resistência pulmonar; a dobutamina é alternativa; adrenalina no choque grave. ▸ Volume e ritmo: o VD dilatado tolera mal a sobrecarga de volume. ▸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(7:55 → 8:45)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▸ Em bolus de 50 a 100 microgramas, é útil quando a taquicardia é indesejável, mas pode reduzir o débito quando ele depende da frequência; na cesárea, o consenso de 2018 recomenda vasopressor α-agonista em infusão profilática. ▸ Efedrina: α1 e β1 moderados; sobe pressão, frequência e débito. ▸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(8:45 → 9:35)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▸ Adjuvantes: a hidrocortisona restaura a resposta às catecolaminas, 200 mg por dia;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(9:35 → 10:20)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cedo, mesmo por veia periférica. ▸ Vasopressina quando a dose de noradrenalina sobe, sem limiar definido. ▸ Adrenalina se a PAM continuar inadequada. ▸ Alvo inicial de 65 mmHg, ou 60 a 65 a partir dos 65 anos. Sobre o momento da vasopressina, o VASSPR, de outubro de 2026: 3.959 pacientes com choque séptico, em 13 hospitais que alternaram, por sorteio, iniciá-la com 0,1 ou com 0,4 microgramas por quilo por minuto de noradrenalina ou equivalente; mortalidade semelhante, 31,8 contra 33,0%. ▸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(10:20 → 11:10)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▸ tônus baixo com frequência normal ou alta pede agonista α1; ▸ bradicardia associada pede ação β1, efedrina ou, se grave, adrenalina; ▸ baixo débito pede inotrópico, e a milrinona ajuda no VD com hipertensão pulmonar; ▸ vasoplegia refratária às catecolaminas, como após CEC, com IECA ou BRA ou na reperfusão do enxerto hepático, pode responder à vasopressina, com azul de metileno como resgate; ▸ e pré-carga baixa pede volume, não amina. ▸ Um dado do nosso serviço: Gouvêa, Diaz e colaboradores avaliaram por ETE 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10 s (11:10 → 12:20)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▸ O POQI 2024 trata PAM de 60 em pacientes de risco como limite mínimo; com pressão venosa ou compartimental alta, o alvo sobe. ▸ Acima do piso, o ensaio positivo mais recente é o HISTAP: 630 hipertensos com 60 anos ou mais, em cirurgia abdominal maior, randomizados para PAM de pelo menos 80 ou de pelo menos 65; morte ou disfunção orgânica em 38 contra 49%, sobretudo por menos lesão renal aguda. Outros ensaios, como o POISE-3 e o IMPROVE-multi, foram neutros. ▸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(12:20 → 13:20)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Vasoplegia: noradrenalina e, quando a dose sobe, vasopressina. ▸ Baixo débito com hipoperfusão: inotrópico, com a milrinona sobretudo no VD com hipertensão pulmonar. ▸ Hipotensão vasodilatadora da anestesia com bradicardia: efedrina. ▸ Com taquicardia: fenilefrina. ▸ Anafilaxia: adrenalina. ▸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(13:20 → 13:55)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(13:55 → 14:05)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 esquema do AMPc;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minutos, o que favorece a infusão contínua. Fenilefrina e efedrina, sem o anel catecol, escapam da COMT, duram mais e costumam ir em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  <a:p>
            <a:r>
              <a:rPr lang="en-US" dirty="0"/>
              <a:t>SE PERGUNTAREM: a fenilefrina ainda é metabolizada pela MAO; a efedrina, com grupo α-metil, resiste também à MAO, o que explica a duração maior e a atividade 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 A noradrenalina tem ação β2 fraca, sem relevância clínica nas doses usuais; a tabela marca 0 por ser escala qualitativa. Adrenalina: 0,01–0,1 mcg/kg/min é a faixa de predomínio β; no choque, a dose é maior, titulada pela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em grande parte se cancelam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estimula o receptor β1; pela proteína Gs, a adenilato ciclase produz AMPc, que ativa a PKA. A PKA aumenta a entrada de cálcio pelo canal tipo L, que dispara a liberação pelo RyR2 do retículo, com mais cálcio na sístole; e fosforila o fosfolambam, que deixa de inibir a SERCA2a: a recaptação acelera e o retículo fica mais carregado para a sístole seguinte.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</a:t>
            </a:r>
            <a:endParaRPr lang="en-US" dirty="0"/>
          </a:p>
          <a:p>
            <a:r>
              <a:rPr lang="en-US" dirty="0"/>
              <a:t>USO: pergunta sobre o mecanismo da dobutamina e da milrinona (AMPc, PKA, PDE3), sobre betabloqueio ou sobre a figura.</a:t>
            </a:r>
            <a:endParaRPr lang="en-US" dirty="0"/>
          </a:p>
          <a:p>
            <a:r>
              <a:rPr lang="en-US" dirty="0"/>
              <a:t>PONTO-CHAVE: Dobutamina aumenta a produção de AMPc; milrinona impede a degradação; as duas convergem na PKA.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parte do efeito da PKA sobre o canal tipo L passa pela fosforilação da proteína Rad, que deixa de inibir o canal (Liu, Nature 2020). O cálcio que entra pelo canal L é o gatilho da liberação pelo RyR2 (liberação induzida por cálcio), e a maior parte do cálcio da sístole vem do retículo; a fosforilação do fosfolambam, ao acelerar a SERCA2a, também aumenta a carga de cálcio do retículo. A contribuição funcional da fosforilação do RyR2 pela PKA ainda é debatida; por isso a figura não desenha seta da PKA para o RyR2.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com ação β desprezível nas doses usuais: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quase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escapa da COMT, e o grupo α-metil a protege da MAO: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NA-equivalente de 0,1 vs. 0,4 mcg/kg/min (13 hospitais, cluster-crossover); vasopressina usada em 52,4% vs. 32,9%; mortalidade 31,8% vs. 33,0%. No escore de equivalente de noradrenalina (Kotani, Crit Care 2023), a vasopressina entra como U/min × 2,5: 0,03 U/min ≈ 0,075 mcg/kg/min. É convenção para comparar estudos, não equipotência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contraindicado na deficiência de G6PD; subestima a SpO₂ e reduz o BIS; síndrome serotoninérgica com serotoninérgicos, por inibir a MAO-A.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lugar: recomendação forte em relação à dopamina, condicional em relação à vasopressina e à angiotensina II;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as sugestões contra levosimendana e terlipressina também são de 2021 e foram mantidas em 2026 (condicionais; a da terlipressina com certeza baixa).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 estatisticamente significativa,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80, IECA e BRA suspensos e os demais anti-hipertensivos condicionados à pressão sistólica, a evitar hipertensão, com PAM de 60 e todos os anti-hipertensivos mantidos: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[p3] 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[p1] 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[p2] 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[p2] 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[p3] 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[p3] 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1] 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[p2] 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[p2] 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[p2] 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[p2] 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[p2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2] 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[p5] 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(2025), cap. 13, 50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[p2] 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[p2] 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[p3] 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[p4] 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[p4] 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[p5] 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[p6] 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Classificação"/>
          <p:cNvSpPr/>
          <p:nvPr/>
        </p:nvSpPr>
        <p:spPr>
          <a:xfrm>
            <a:off x="812800" y="3888680"/>
            <a:ext cx="128657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400" dirty="0"/>
          </a:p>
        </p:txBody>
      </p:sp>
      <p:sp>
        <p:nvSpPr>
          <p:cNvPr id="6" name="Síntese das drogas"/>
          <p:cNvSpPr/>
          <p:nvPr/>
        </p:nvSpPr>
        <p:spPr>
          <a:xfrm>
            <a:off x="220097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4024610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24420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Sinalização AMPc"/>
          <p:cNvSpPr/>
          <p:nvPr/>
        </p:nvSpPr>
        <p:spPr>
          <a:xfrm>
            <a:off x="6620867" y="3888680"/>
            <a:ext cx="164246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Sinalização AMPc</a:t>
            </a:r>
            <a:endParaRPr lang="en-US" sz="1400" dirty="0"/>
          </a:p>
        </p:txBody>
      </p:sp>
      <p:sp>
        <p:nvSpPr>
          <p:cNvPr id="10" name="Fenilefrina"/>
          <p:cNvSpPr/>
          <p:nvPr/>
        </p:nvSpPr>
        <p:spPr>
          <a:xfrm>
            <a:off x="8364934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1" name="Efedrina"/>
          <p:cNvSpPr/>
          <p:nvPr/>
        </p:nvSpPr>
        <p:spPr>
          <a:xfrm>
            <a:off x="9611816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2" name="Vasopressina"/>
          <p:cNvSpPr/>
          <p:nvPr/>
        </p:nvSpPr>
        <p:spPr>
          <a:xfrm>
            <a:off x="812800" y="4391521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3" name="Choque refratário"/>
          <p:cNvSpPr/>
          <p:nvPr/>
        </p:nvSpPr>
        <p:spPr>
          <a:xfrm>
            <a:off x="2246312" y="4391521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4" name="Sequência SSC"/>
          <p:cNvSpPr/>
          <p:nvPr/>
        </p:nvSpPr>
        <p:spPr>
          <a:xfrm>
            <a:off x="4021038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5" name="Alvo de PAM"/>
          <p:cNvSpPr/>
          <p:nvPr/>
        </p:nvSpPr>
        <p:spPr>
          <a:xfrm>
            <a:off x="5535811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6" name="Início e via"/>
          <p:cNvSpPr/>
          <p:nvPr/>
        </p:nvSpPr>
        <p:spPr>
          <a:xfrm>
            <a:off x="6947297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7" name="Alvo intraoperatório"/>
          <p:cNvSpPr/>
          <p:nvPr/>
        </p:nvSpPr>
        <p:spPr>
          <a:xfrm>
            <a:off x="8190111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8" name="Roteiro"/>
          <p:cNvSpPr/>
          <p:nvPr/>
        </p:nvSpPr>
        <p:spPr>
          <a:xfrm>
            <a:off x="10161488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 (β); maior no choque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1ª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em grande parte se cancelam: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INALIZAÇÃO DO AMPc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SINALIZAÇÃO DO AMPc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(2025), cap. 13,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1ª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escapa da COMT; o grupo α-metil a protege da MAO: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0,1 vs. 0,4 mcg/kg/min de NA-equivalente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no choque séptico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vs.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688802"/>
          </a:xfrm>
          <a:prstGeom prst="roundRect">
            <a:avLst>
              <a:gd name="adj" fmla="val 4512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 vs. dopamina; condiciona"/>
          <p:cNvSpPr txBox="1"/>
          <p:nvPr/>
        </p:nvSpPr>
        <p:spPr>
          <a:xfrm>
            <a:off x="1016000" y="2658901"/>
            <a:ext cx="275084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 vs. dopamina; condicional vs. vasopressina e angiotensina II);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1ª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103425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≥80, IECA/BRA suspensos e demais anti‑hipertensivos se PAS ≥130 vs. PAM ≥60 com todos mantidos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82047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vias de sinalização"/>
          <p:cNvSpPr txBox="1"/>
          <p:nvPr/>
        </p:nvSpPr>
        <p:spPr>
          <a:xfrm>
            <a:off x="6858000" y="1964280"/>
            <a:ext cx="281483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vias de sinalização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but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dobutamina (e dopamina), milrinona, fenilefrina e efedrina; quando preferir milrinona; falência de VD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2026-10-19T21:11:39Z</dcterms:created>
  <dcterms:modified xsi:type="dcterms:W3CDTF">2026-10-19T21:11:39Z</dcterms:modified>
</cp:coreProperties>
</file>